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256" r:id="rId2"/>
    <p:sldId id="258" r:id="rId3"/>
    <p:sldId id="257" r:id="rId4"/>
    <p:sldId id="260" r:id="rId5"/>
    <p:sldId id="267" r:id="rId6"/>
    <p:sldId id="268" r:id="rId7"/>
    <p:sldId id="269" r:id="rId8"/>
    <p:sldId id="270" r:id="rId9"/>
    <p:sldId id="271" r:id="rId10"/>
    <p:sldId id="272" r:id="rId11"/>
    <p:sldId id="275" r:id="rId12"/>
    <p:sldId id="276" r:id="rId13"/>
    <p:sldId id="277" r:id="rId14"/>
    <p:sldId id="278" r:id="rId15"/>
    <p:sldId id="279" r:id="rId16"/>
    <p:sldId id="280" r:id="rId17"/>
    <p:sldId id="281" r:id="rId18"/>
    <p:sldId id="313" r:id="rId19"/>
    <p:sldId id="314" r:id="rId20"/>
    <p:sldId id="308" r:id="rId21"/>
    <p:sldId id="309" r:id="rId22"/>
    <p:sldId id="310" r:id="rId23"/>
    <p:sldId id="311" r:id="rId24"/>
    <p:sldId id="312" r:id="rId25"/>
    <p:sldId id="285" r:id="rId26"/>
    <p:sldId id="286" r:id="rId27"/>
    <p:sldId id="287" r:id="rId28"/>
    <p:sldId id="288" r:id="rId29"/>
    <p:sldId id="289" r:id="rId30"/>
    <p:sldId id="290" r:id="rId31"/>
    <p:sldId id="291" r:id="rId32"/>
    <p:sldId id="292" r:id="rId33"/>
    <p:sldId id="293" r:id="rId34"/>
    <p:sldId id="294" r:id="rId35"/>
    <p:sldId id="295" r:id="rId36"/>
    <p:sldId id="315" r:id="rId37"/>
    <p:sldId id="306" r:id="rId38"/>
    <p:sldId id="307" r:id="rId39"/>
    <p:sldId id="284" r:id="rId40"/>
    <p:sldId id="266"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500"/>
    <a:srgbClr val="FF66CC"/>
    <a:srgbClr val="64C0A7"/>
    <a:srgbClr val="FECC36"/>
    <a:srgbClr val="67C7DF"/>
    <a:srgbClr val="5EB130"/>
    <a:srgbClr val="346E9E"/>
    <a:srgbClr val="60B659"/>
    <a:srgbClr val="3772A2"/>
    <a:srgbClr val="CD00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85" autoAdjust="0"/>
    <p:restoredTop sz="94280" autoAdjust="0"/>
  </p:normalViewPr>
  <p:slideViewPr>
    <p:cSldViewPr snapToGrid="0">
      <p:cViewPr varScale="1">
        <p:scale>
          <a:sx n="113" d="100"/>
          <a:sy n="113" d="100"/>
        </p:scale>
        <p:origin x="154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BDF935-9821-4834-9D99-7DEFA719F44D}" type="datetimeFigureOut">
              <a:rPr lang="en-US" smtClean="0"/>
              <a:t>10/30/2025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76C599-AFDD-4E70-A5D7-287F6F8DCAAF}" type="slidenum">
              <a:rPr lang="en-US" smtClean="0"/>
              <a:t>‹#›</a:t>
            </a:fld>
            <a:endParaRPr lang="en-US"/>
          </a:p>
        </p:txBody>
      </p:sp>
    </p:spTree>
    <p:extLst>
      <p:ext uri="{BB962C8B-B14F-4D97-AF65-F5344CB8AC3E}">
        <p14:creationId xmlns:p14="http://schemas.microsoft.com/office/powerpoint/2010/main" val="219590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0" y="0"/>
            <a:ext cx="9144000" cy="685800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43576" y="2133600"/>
            <a:ext cx="3400425" cy="4724400"/>
          </a:xfrm>
          <a:prstGeom prst="rect">
            <a:avLst/>
          </a:prstGeom>
        </p:spPr>
      </p:pic>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704975" cy="4724400"/>
          </a:xfrm>
          <a:prstGeom prst="rect">
            <a:avLst/>
          </a:prstGeom>
        </p:spPr>
      </p:pic>
    </p:spTree>
    <p:extLst>
      <p:ext uri="{BB962C8B-B14F-4D97-AF65-F5344CB8AC3E}">
        <p14:creationId xmlns:p14="http://schemas.microsoft.com/office/powerpoint/2010/main" val="221593065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6"/>
          <p:cNvSpPr/>
          <p:nvPr userDrawn="1"/>
        </p:nvSpPr>
        <p:spPr>
          <a:xfrm>
            <a:off x="0" y="2"/>
            <a:ext cx="9144000" cy="669849"/>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6648450"/>
            <a:ext cx="9144000" cy="20955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12"/>
          </p:nvPr>
        </p:nvSpPr>
        <p:spPr>
          <a:xfrm>
            <a:off x="7919049" y="6648451"/>
            <a:ext cx="837841" cy="209551"/>
          </a:xfrm>
        </p:spPr>
        <p:txBody>
          <a:bodyPr/>
          <a:lstStyle>
            <a:lvl1pPr>
              <a:defRPr>
                <a:solidFill>
                  <a:schemeClr val="bg1"/>
                </a:solidFill>
              </a:defRPr>
            </a:lvl1pPr>
          </a:lstStyle>
          <a:p>
            <a:fld id="{7D9EC917-02A2-4152-9EE3-DFE2775A77C7}" type="slidenum">
              <a:rPr lang="en-US" smtClean="0"/>
              <a:pPr/>
              <a:t>‹#›</a:t>
            </a:fld>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24626" y="-1"/>
            <a:ext cx="2619375" cy="361950"/>
          </a:xfrm>
          <a:prstGeom prst="rect">
            <a:avLst/>
          </a:prstGeom>
        </p:spPr>
      </p:pic>
      <p:sp>
        <p:nvSpPr>
          <p:cNvPr id="12" name="TextBox 11"/>
          <p:cNvSpPr txBox="1"/>
          <p:nvPr userDrawn="1"/>
        </p:nvSpPr>
        <p:spPr>
          <a:xfrm>
            <a:off x="2862565" y="134871"/>
            <a:ext cx="3662060" cy="400110"/>
          </a:xfrm>
          <a:prstGeom prst="rect">
            <a:avLst/>
          </a:prstGeom>
          <a:noFill/>
        </p:spPr>
        <p:txBody>
          <a:bodyPr wrap="square" rtlCol="0">
            <a:spAutoFit/>
          </a:bodyPr>
          <a:lstStyle/>
          <a:p>
            <a:r>
              <a:rPr lang="en-US" sz="2000" b="0" dirty="0" smtClean="0">
                <a:solidFill>
                  <a:schemeClr val="bg1"/>
                </a:solidFill>
                <a:latin typeface="+mj-lt"/>
                <a:ea typeface="Roboto" pitchFamily="2" charset="0"/>
                <a:cs typeface="Arial" panose="020B0604020202020204" pitchFamily="34" charset="0"/>
              </a:rPr>
              <a:t>Học</a:t>
            </a:r>
            <a:r>
              <a:rPr lang="en-US" sz="2000" b="0" baseline="0" dirty="0" smtClean="0">
                <a:solidFill>
                  <a:schemeClr val="bg1"/>
                </a:solidFill>
                <a:latin typeface="+mj-lt"/>
                <a:ea typeface="Roboto" pitchFamily="2" charset="0"/>
                <a:cs typeface="Arial" panose="020B0604020202020204" pitchFamily="34" charset="0"/>
              </a:rPr>
              <a:t> l</a:t>
            </a:r>
            <a:r>
              <a:rPr lang="en-US" sz="2000" b="0" dirty="0" smtClean="0">
                <a:solidFill>
                  <a:schemeClr val="bg1"/>
                </a:solidFill>
                <a:latin typeface="+mj-lt"/>
                <a:ea typeface="Roboto" pitchFamily="2" charset="0"/>
                <a:cs typeface="Arial" panose="020B0604020202020204" pitchFamily="34" charset="0"/>
              </a:rPr>
              <a:t>ập</a:t>
            </a:r>
            <a:r>
              <a:rPr lang="en-US" sz="2000" b="0" baseline="0" dirty="0" smtClean="0">
                <a:solidFill>
                  <a:schemeClr val="bg1"/>
                </a:solidFill>
                <a:latin typeface="+mj-lt"/>
                <a:ea typeface="Roboto" pitchFamily="2" charset="0"/>
                <a:cs typeface="Arial" panose="020B0604020202020204" pitchFamily="34" charset="0"/>
              </a:rPr>
              <a:t> </a:t>
            </a:r>
            <a:r>
              <a:rPr lang="en-US" sz="2000" b="0" baseline="0" dirty="0" err="1" smtClean="0">
                <a:solidFill>
                  <a:schemeClr val="bg1"/>
                </a:solidFill>
                <a:latin typeface="+mj-lt"/>
                <a:ea typeface="Roboto" pitchFamily="2" charset="0"/>
                <a:cs typeface="Arial" panose="020B0604020202020204" pitchFamily="34" charset="0"/>
              </a:rPr>
              <a:t>trình</a:t>
            </a:r>
            <a:r>
              <a:rPr lang="en-US" sz="2000" b="0" baseline="0" dirty="0" smtClean="0">
                <a:solidFill>
                  <a:schemeClr val="bg1"/>
                </a:solidFill>
                <a:latin typeface="+mj-lt"/>
                <a:ea typeface="Roboto" pitchFamily="2" charset="0"/>
                <a:cs typeface="Arial" panose="020B0604020202020204" pitchFamily="34" charset="0"/>
              </a:rPr>
              <a:t> Python </a:t>
            </a:r>
            <a:r>
              <a:rPr lang="en-US" sz="2000" b="0" baseline="0" dirty="0" err="1" smtClean="0">
                <a:solidFill>
                  <a:schemeClr val="bg1"/>
                </a:solidFill>
                <a:latin typeface="+mj-lt"/>
                <a:ea typeface="Roboto" pitchFamily="2" charset="0"/>
                <a:cs typeface="Arial" panose="020B0604020202020204" pitchFamily="34" charset="0"/>
              </a:rPr>
              <a:t>Cơ</a:t>
            </a:r>
            <a:r>
              <a:rPr lang="en-US" sz="2000" b="0" baseline="0" dirty="0" smtClean="0">
                <a:solidFill>
                  <a:schemeClr val="bg1"/>
                </a:solidFill>
                <a:latin typeface="+mj-lt"/>
                <a:ea typeface="Roboto" pitchFamily="2" charset="0"/>
                <a:cs typeface="Arial" panose="020B0604020202020204" pitchFamily="34" charset="0"/>
              </a:rPr>
              <a:t> </a:t>
            </a:r>
            <a:r>
              <a:rPr lang="en-US" sz="2000" b="0" baseline="0" dirty="0" err="1" smtClean="0">
                <a:solidFill>
                  <a:schemeClr val="bg1"/>
                </a:solidFill>
                <a:latin typeface="+mj-lt"/>
                <a:ea typeface="Roboto" pitchFamily="2" charset="0"/>
                <a:cs typeface="Arial" panose="020B0604020202020204" pitchFamily="34" charset="0"/>
              </a:rPr>
              <a:t>Bản</a:t>
            </a:r>
            <a:endParaRPr lang="en-US" sz="2000" b="0" dirty="0">
              <a:solidFill>
                <a:schemeClr val="bg1"/>
              </a:solidFill>
              <a:latin typeface="+mj-lt"/>
              <a:ea typeface="Roboto" pitchFamily="2" charset="0"/>
              <a:cs typeface="Arial" panose="020B0604020202020204" pitchFamily="34" charset="0"/>
            </a:endParaRPr>
          </a:p>
        </p:txBody>
      </p:sp>
      <p:pic>
        <p:nvPicPr>
          <p:cNvPr id="1026" name="Picture 2" descr="https://aptech-danang.edu.vn/Content/ace/images/banner-sm.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4739"/>
            <a:ext cx="2727799" cy="665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902947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Rectangle 6"/>
          <p:cNvSpPr/>
          <p:nvPr userDrawn="1"/>
        </p:nvSpPr>
        <p:spPr>
          <a:xfrm>
            <a:off x="0" y="2"/>
            <a:ext cx="9144000" cy="669849"/>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6648450"/>
            <a:ext cx="9144000" cy="20955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12"/>
          </p:nvPr>
        </p:nvSpPr>
        <p:spPr>
          <a:xfrm>
            <a:off x="7919049" y="6648451"/>
            <a:ext cx="837841" cy="209551"/>
          </a:xfrm>
        </p:spPr>
        <p:txBody>
          <a:bodyPr/>
          <a:lstStyle>
            <a:lvl1pPr>
              <a:defRPr>
                <a:solidFill>
                  <a:schemeClr val="bg1"/>
                </a:solidFill>
              </a:defRPr>
            </a:lvl1pPr>
          </a:lstStyle>
          <a:p>
            <a:fld id="{7D9EC917-02A2-4152-9EE3-DFE2775A77C7}" type="slidenum">
              <a:rPr lang="en-US" smtClean="0"/>
              <a:pPr/>
              <a:t>‹#›</a:t>
            </a:fld>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24626" y="-1"/>
            <a:ext cx="2619375" cy="361950"/>
          </a:xfrm>
          <a:prstGeom prst="rect">
            <a:avLst/>
          </a:prstGeom>
        </p:spPr>
      </p:pic>
      <p:sp>
        <p:nvSpPr>
          <p:cNvPr id="12" name="TextBox 11"/>
          <p:cNvSpPr txBox="1"/>
          <p:nvPr userDrawn="1"/>
        </p:nvSpPr>
        <p:spPr>
          <a:xfrm>
            <a:off x="2862565" y="134871"/>
            <a:ext cx="3662060" cy="400110"/>
          </a:xfrm>
          <a:prstGeom prst="rect">
            <a:avLst/>
          </a:prstGeom>
          <a:noFill/>
        </p:spPr>
        <p:txBody>
          <a:bodyPr wrap="square" rtlCol="0">
            <a:spAutoFit/>
          </a:bodyPr>
          <a:lstStyle/>
          <a:p>
            <a:r>
              <a:rPr lang="en-US" sz="2000" b="1" dirty="0" smtClean="0">
                <a:solidFill>
                  <a:schemeClr val="bg1"/>
                </a:solidFill>
                <a:latin typeface="+mj-lt"/>
                <a:ea typeface="Roboto" pitchFamily="2" charset="0"/>
                <a:cs typeface="Arial" panose="020B0604020202020204" pitchFamily="34" charset="0"/>
              </a:rPr>
              <a:t>Học</a:t>
            </a:r>
            <a:r>
              <a:rPr lang="en-US" sz="2000" b="1" baseline="0" dirty="0" smtClean="0">
                <a:solidFill>
                  <a:schemeClr val="bg1"/>
                </a:solidFill>
                <a:latin typeface="+mj-lt"/>
                <a:ea typeface="Roboto" pitchFamily="2" charset="0"/>
                <a:cs typeface="Arial" panose="020B0604020202020204" pitchFamily="34" charset="0"/>
              </a:rPr>
              <a:t> l</a:t>
            </a:r>
            <a:r>
              <a:rPr lang="en-US" sz="2000" b="1" dirty="0" smtClean="0">
                <a:solidFill>
                  <a:schemeClr val="bg1"/>
                </a:solidFill>
                <a:latin typeface="+mj-lt"/>
                <a:ea typeface="Roboto" pitchFamily="2" charset="0"/>
                <a:cs typeface="Arial" panose="020B0604020202020204" pitchFamily="34" charset="0"/>
              </a:rPr>
              <a:t>ập</a:t>
            </a:r>
            <a:r>
              <a:rPr lang="en-US" sz="2000" b="1" baseline="0" dirty="0" smtClean="0">
                <a:solidFill>
                  <a:schemeClr val="bg1"/>
                </a:solidFill>
                <a:latin typeface="+mj-lt"/>
                <a:ea typeface="Roboto" pitchFamily="2" charset="0"/>
                <a:cs typeface="Arial" panose="020B0604020202020204" pitchFamily="34" charset="0"/>
              </a:rPr>
              <a:t> </a:t>
            </a:r>
            <a:r>
              <a:rPr lang="en-US" sz="2000" b="1" baseline="0" dirty="0" err="1" smtClean="0">
                <a:solidFill>
                  <a:schemeClr val="bg1"/>
                </a:solidFill>
                <a:latin typeface="+mj-lt"/>
                <a:ea typeface="Roboto" pitchFamily="2" charset="0"/>
                <a:cs typeface="Arial" panose="020B0604020202020204" pitchFamily="34" charset="0"/>
              </a:rPr>
              <a:t>trình</a:t>
            </a:r>
            <a:r>
              <a:rPr lang="en-US" sz="2000" b="1" baseline="0" dirty="0" smtClean="0">
                <a:solidFill>
                  <a:schemeClr val="bg1"/>
                </a:solidFill>
                <a:latin typeface="+mj-lt"/>
                <a:ea typeface="Roboto" pitchFamily="2" charset="0"/>
                <a:cs typeface="Arial" panose="020B0604020202020204" pitchFamily="34" charset="0"/>
              </a:rPr>
              <a:t> Python </a:t>
            </a:r>
            <a:r>
              <a:rPr lang="en-US" sz="2000" b="1" baseline="0" dirty="0" err="1" smtClean="0">
                <a:solidFill>
                  <a:schemeClr val="bg1"/>
                </a:solidFill>
                <a:latin typeface="+mj-lt"/>
                <a:ea typeface="Roboto" pitchFamily="2" charset="0"/>
                <a:cs typeface="Arial" panose="020B0604020202020204" pitchFamily="34" charset="0"/>
              </a:rPr>
              <a:t>Cơ</a:t>
            </a:r>
            <a:r>
              <a:rPr lang="en-US" sz="2000" b="1" baseline="0" dirty="0" smtClean="0">
                <a:solidFill>
                  <a:schemeClr val="bg1"/>
                </a:solidFill>
                <a:latin typeface="+mj-lt"/>
                <a:ea typeface="Roboto" pitchFamily="2" charset="0"/>
                <a:cs typeface="Arial" panose="020B0604020202020204" pitchFamily="34" charset="0"/>
              </a:rPr>
              <a:t> </a:t>
            </a:r>
            <a:r>
              <a:rPr lang="en-US" sz="2000" b="1" baseline="0" dirty="0" err="1" smtClean="0">
                <a:solidFill>
                  <a:schemeClr val="bg1"/>
                </a:solidFill>
                <a:latin typeface="+mj-lt"/>
                <a:ea typeface="Roboto" pitchFamily="2" charset="0"/>
                <a:cs typeface="Arial" panose="020B0604020202020204" pitchFamily="34" charset="0"/>
              </a:rPr>
              <a:t>Bản</a:t>
            </a:r>
            <a:endParaRPr lang="en-US" sz="2000" b="1" dirty="0">
              <a:solidFill>
                <a:schemeClr val="bg1"/>
              </a:solidFill>
              <a:latin typeface="+mj-lt"/>
              <a:ea typeface="Roboto" pitchFamily="2" charset="0"/>
              <a:cs typeface="Arial" panose="020B0604020202020204" pitchFamily="34" charset="0"/>
            </a:endParaRPr>
          </a:p>
        </p:txBody>
      </p:sp>
      <p:pic>
        <p:nvPicPr>
          <p:cNvPr id="1026" name="Picture 2" descr="https://aptech-danang.edu.vn/Content/ace/images/banner-sm.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4739"/>
            <a:ext cx="2727799" cy="66511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userDrawn="1"/>
        </p:nvSpPr>
        <p:spPr>
          <a:xfrm>
            <a:off x="301925" y="1290010"/>
            <a:ext cx="8454964" cy="27432"/>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sz="quarter" idx="13" hasCustomPrompt="1"/>
          </p:nvPr>
        </p:nvSpPr>
        <p:spPr>
          <a:xfrm>
            <a:off x="301925" y="851289"/>
            <a:ext cx="8454964" cy="424732"/>
          </a:xfrm>
          <a:noFill/>
        </p:spPr>
        <p:txBody>
          <a:bodyPr wrap="square" rtlCol="0">
            <a:spAutoFit/>
          </a:bodyPr>
          <a:lstStyle>
            <a:lvl1pPr marL="0" indent="0">
              <a:buNone/>
              <a:defRPr lang="en-US" sz="2400" b="1" dirty="0" smtClean="0">
                <a:solidFill>
                  <a:srgbClr val="64C7E9"/>
                </a:solidFill>
                <a:ea typeface="Roboto" pitchFamily="2" charset="0"/>
              </a:defRPr>
            </a:lvl1pPr>
          </a:lstStyle>
          <a:p>
            <a:pPr marL="0" lvl="0"/>
            <a:r>
              <a:rPr lang="en-US" dirty="0" smtClean="0"/>
              <a:t>Tittle</a:t>
            </a:r>
          </a:p>
        </p:txBody>
      </p:sp>
    </p:spTree>
    <p:extLst>
      <p:ext uri="{BB962C8B-B14F-4D97-AF65-F5344CB8AC3E}">
        <p14:creationId xmlns:p14="http://schemas.microsoft.com/office/powerpoint/2010/main" val="351256245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EC917-02A2-4152-9EE3-DFE2775A77C7}" type="slidenum">
              <a:rPr lang="en-US" smtClean="0"/>
              <a:t>‹#›</a:t>
            </a:fld>
            <a:endParaRPr lang="en-US"/>
          </a:p>
        </p:txBody>
      </p:sp>
    </p:spTree>
    <p:extLst>
      <p:ext uri="{BB962C8B-B14F-4D97-AF65-F5344CB8AC3E}">
        <p14:creationId xmlns:p14="http://schemas.microsoft.com/office/powerpoint/2010/main" val="2732116784"/>
      </p:ext>
    </p:extLst>
  </p:cSld>
  <p:clrMap bg1="lt1" tx1="dk1" bg2="lt2" tx2="dk2" accent1="accent1" accent2="accent2" accent3="accent3" accent4="accent4" accent5="accent5" accent6="accent6" hlink="hlink" folHlink="folHlink"/>
  <p:sldLayoutIdLst>
    <p:sldLayoutId id="2147483661" r:id="rId1"/>
    <p:sldLayoutId id="2147483673" r:id="rId2"/>
    <p:sldLayoutId id="2147483674" r:id="rId3"/>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hyperlink" Target="https://www.w3schools.com/python/python_strings_methods.asp" TargetMode="External"/><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hyperlink" Target="https://www.w3schools.com/python/python_variables.asp" TargetMode="External"/><Relationship Id="rId7" Type="http://schemas.openxmlformats.org/officeDocument/2006/relationships/hyperlink" Target="https://www.w3schools.com/python/python_strings_methods.asp" TargetMode="External"/><Relationship Id="rId2"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hyperlink" Target="https://www.w3schools.com/python/python_strings.asp" TargetMode="External"/><Relationship Id="rId5" Type="http://schemas.openxmlformats.org/officeDocument/2006/relationships/hyperlink" Target="https://www.w3schools.com/python/python_operators.asp" TargetMode="External"/><Relationship Id="rId4" Type="http://schemas.openxmlformats.org/officeDocument/2006/relationships/hyperlink" Target="https://www.w3schools.com/python/python_datatypes.asp"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82502"/>
            <a:ext cx="9144000" cy="1924493"/>
          </a:xfrm>
          <a:prstGeom prst="rect">
            <a:avLst/>
          </a:prstGeom>
          <a:solidFill>
            <a:srgbClr val="FFC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3032185" y="3398810"/>
            <a:ext cx="3079630" cy="646331"/>
          </a:xfrm>
          <a:prstGeom prst="rect">
            <a:avLst/>
          </a:prstGeom>
          <a:noFill/>
        </p:spPr>
        <p:txBody>
          <a:bodyPr wrap="square" rtlCol="0">
            <a:spAutoFit/>
          </a:bodyPr>
          <a:lstStyle/>
          <a:p>
            <a:pPr algn="ctr"/>
            <a:r>
              <a:rPr lang="en-US" sz="3600" b="1" dirty="0">
                <a:solidFill>
                  <a:schemeClr val="bg1"/>
                </a:solidFill>
              </a:rPr>
              <a:t>BÀI </a:t>
            </a:r>
            <a:r>
              <a:rPr lang="en-US" sz="3600" b="1" dirty="0" smtClean="0">
                <a:solidFill>
                  <a:schemeClr val="bg1"/>
                </a:solidFill>
              </a:rPr>
              <a:t>2</a:t>
            </a:r>
            <a:endParaRPr lang="en-US" sz="3600" b="1" dirty="0">
              <a:solidFill>
                <a:schemeClr val="bg1"/>
              </a:solidFill>
            </a:endParaRPr>
          </a:p>
        </p:txBody>
      </p:sp>
      <p:sp>
        <p:nvSpPr>
          <p:cNvPr id="7" name="TextBox 6"/>
          <p:cNvSpPr txBox="1"/>
          <p:nvPr/>
        </p:nvSpPr>
        <p:spPr>
          <a:xfrm>
            <a:off x="1137019" y="4179138"/>
            <a:ext cx="6869962" cy="707886"/>
          </a:xfrm>
          <a:prstGeom prst="rect">
            <a:avLst/>
          </a:prstGeom>
          <a:noFill/>
        </p:spPr>
        <p:txBody>
          <a:bodyPr wrap="square" rtlCol="0">
            <a:spAutoFit/>
          </a:bodyPr>
          <a:lstStyle/>
          <a:p>
            <a:pPr algn="ctr"/>
            <a:r>
              <a:rPr lang="en-US" sz="4000" b="1" dirty="0" err="1" smtClean="0">
                <a:solidFill>
                  <a:schemeClr val="bg1"/>
                </a:solidFill>
                <a:ea typeface="Roboto" pitchFamily="2" charset="0"/>
              </a:rPr>
              <a:t>Biến</a:t>
            </a:r>
            <a:r>
              <a:rPr lang="en-US" sz="4000" b="1" dirty="0" smtClean="0">
                <a:solidFill>
                  <a:schemeClr val="bg1"/>
                </a:solidFill>
                <a:ea typeface="Roboto" pitchFamily="2" charset="0"/>
              </a:rPr>
              <a:t> </a:t>
            </a:r>
            <a:r>
              <a:rPr lang="en-US" sz="4000" b="1" dirty="0" err="1" smtClean="0">
                <a:solidFill>
                  <a:schemeClr val="bg1"/>
                </a:solidFill>
                <a:ea typeface="Roboto" pitchFamily="2" charset="0"/>
              </a:rPr>
              <a:t>và</a:t>
            </a:r>
            <a:r>
              <a:rPr lang="en-US" sz="4000" b="1" dirty="0" smtClean="0">
                <a:solidFill>
                  <a:schemeClr val="bg1"/>
                </a:solidFill>
                <a:ea typeface="Roboto" pitchFamily="2" charset="0"/>
              </a:rPr>
              <a:t> </a:t>
            </a:r>
            <a:r>
              <a:rPr lang="en-US" sz="4000" b="1" dirty="0" err="1" smtClean="0">
                <a:solidFill>
                  <a:schemeClr val="bg1"/>
                </a:solidFill>
                <a:ea typeface="Roboto" pitchFamily="2" charset="0"/>
              </a:rPr>
              <a:t>Kiểu</a:t>
            </a:r>
            <a:r>
              <a:rPr lang="en-US" sz="4000" b="1" dirty="0" smtClean="0">
                <a:solidFill>
                  <a:schemeClr val="bg1"/>
                </a:solidFill>
                <a:ea typeface="Roboto" pitchFamily="2" charset="0"/>
              </a:rPr>
              <a:t> </a:t>
            </a:r>
            <a:r>
              <a:rPr lang="en-US" sz="4000" b="1" dirty="0" err="1" smtClean="0">
                <a:solidFill>
                  <a:schemeClr val="bg1"/>
                </a:solidFill>
                <a:ea typeface="Roboto" pitchFamily="2" charset="0"/>
              </a:rPr>
              <a:t>dữ</a:t>
            </a:r>
            <a:r>
              <a:rPr lang="en-US" sz="4000" b="1" dirty="0" smtClean="0">
                <a:solidFill>
                  <a:schemeClr val="bg1"/>
                </a:solidFill>
                <a:ea typeface="Roboto" pitchFamily="2" charset="0"/>
              </a:rPr>
              <a:t> </a:t>
            </a:r>
            <a:r>
              <a:rPr lang="en-US" sz="4000" b="1" dirty="0" err="1" smtClean="0">
                <a:solidFill>
                  <a:schemeClr val="bg1"/>
                </a:solidFill>
                <a:ea typeface="Roboto" pitchFamily="2" charset="0"/>
              </a:rPr>
              <a:t>liệu</a:t>
            </a:r>
            <a:endParaRPr lang="en-US" sz="4000" b="1" dirty="0">
              <a:solidFill>
                <a:schemeClr val="bg1"/>
              </a:solidFill>
              <a:ea typeface="Roboto" pitchFamily="2" charset="0"/>
            </a:endParaRPr>
          </a:p>
        </p:txBody>
      </p:sp>
      <p:pic>
        <p:nvPicPr>
          <p:cNvPr id="2050" name="Picture 2" descr="https://aptech-danang.edu.vn/Content/ace/images/banner-s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8978" y="1263702"/>
            <a:ext cx="4766044" cy="1162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34682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a:t>
            </a:fld>
            <a:endParaRPr lang="en-US"/>
          </a:p>
        </p:txBody>
      </p:sp>
      <p:sp>
        <p:nvSpPr>
          <p:cNvPr id="3" name="Text Placeholder 2"/>
          <p:cNvSpPr>
            <a:spLocks noGrp="1"/>
          </p:cNvSpPr>
          <p:nvPr>
            <p:ph type="body" sz="quarter" idx="13"/>
          </p:nvPr>
        </p:nvSpPr>
        <p:spPr>
          <a:xfrm>
            <a:off x="301926" y="797441"/>
            <a:ext cx="8454964" cy="424732"/>
          </a:xfrm>
        </p:spPr>
        <p:txBody>
          <a:bodyPr/>
          <a:lstStyle/>
          <a:p>
            <a:r>
              <a:rPr lang="en-US" dirty="0" err="1" smtClean="0"/>
              <a:t>Tóm</a:t>
            </a:r>
            <a:r>
              <a:rPr lang="en-US" dirty="0" smtClean="0"/>
              <a:t> </a:t>
            </a:r>
            <a:r>
              <a:rPr lang="en-US" dirty="0" err="1" smtClean="0"/>
              <a:t>Tắt</a:t>
            </a:r>
            <a:r>
              <a:rPr lang="en-US" dirty="0" smtClean="0"/>
              <a:t> </a:t>
            </a:r>
            <a:r>
              <a:rPr lang="en-US" dirty="0" err="1" smtClean="0"/>
              <a:t>Nội</a:t>
            </a:r>
            <a:r>
              <a:rPr lang="en-US" dirty="0" smtClean="0"/>
              <a:t> Dung</a:t>
            </a:r>
            <a:endParaRPr lang="en-US" dirty="0"/>
          </a:p>
        </p:txBody>
      </p:sp>
      <p:sp>
        <p:nvSpPr>
          <p:cNvPr id="4" name="Oval 3"/>
          <p:cNvSpPr/>
          <p:nvPr/>
        </p:nvSpPr>
        <p:spPr>
          <a:xfrm>
            <a:off x="602143" y="2356514"/>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1</a:t>
            </a:r>
            <a:endParaRPr lang="en-US" b="1" dirty="0"/>
          </a:p>
        </p:txBody>
      </p:sp>
      <p:sp>
        <p:nvSpPr>
          <p:cNvPr id="6" name="TextBox 5"/>
          <p:cNvSpPr txBox="1"/>
          <p:nvPr/>
        </p:nvSpPr>
        <p:spPr>
          <a:xfrm>
            <a:off x="1201479" y="2373866"/>
            <a:ext cx="5178056" cy="369332"/>
          </a:xfrm>
          <a:prstGeom prst="rect">
            <a:avLst/>
          </a:prstGeom>
          <a:noFill/>
        </p:spPr>
        <p:txBody>
          <a:bodyPr wrap="square" rtlCol="0">
            <a:spAutoFit/>
          </a:bodyPr>
          <a:lstStyle/>
          <a:p>
            <a:r>
              <a:rPr lang="en-US" dirty="0" err="1" smtClean="0"/>
              <a:t>Cách</a:t>
            </a:r>
            <a:r>
              <a:rPr lang="en-US" dirty="0" smtClean="0"/>
              <a:t> </a:t>
            </a:r>
            <a:r>
              <a:rPr lang="en-US" dirty="0" err="1" smtClean="0"/>
              <a:t>khai</a:t>
            </a:r>
            <a:r>
              <a:rPr lang="en-US" dirty="0" smtClean="0"/>
              <a:t> </a:t>
            </a:r>
            <a:r>
              <a:rPr lang="en-US" dirty="0" err="1" smtClean="0"/>
              <a:t>báo</a:t>
            </a:r>
            <a:r>
              <a:rPr lang="en-US" dirty="0" smtClean="0"/>
              <a:t> BIẾN </a:t>
            </a:r>
            <a:r>
              <a:rPr lang="en-US" dirty="0" err="1" smtClean="0"/>
              <a:t>trong</a:t>
            </a:r>
            <a:r>
              <a:rPr lang="en-US" dirty="0" smtClean="0"/>
              <a:t> Python</a:t>
            </a:r>
            <a:endParaRPr lang="en-US" dirty="0"/>
          </a:p>
        </p:txBody>
      </p:sp>
      <p:sp>
        <p:nvSpPr>
          <p:cNvPr id="7" name="Oval 6"/>
          <p:cNvSpPr/>
          <p:nvPr/>
        </p:nvSpPr>
        <p:spPr>
          <a:xfrm>
            <a:off x="602143" y="3100793"/>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sp>
        <p:nvSpPr>
          <p:cNvPr id="8" name="TextBox 7"/>
          <p:cNvSpPr txBox="1"/>
          <p:nvPr/>
        </p:nvSpPr>
        <p:spPr>
          <a:xfrm>
            <a:off x="1201479" y="3118145"/>
            <a:ext cx="5178056" cy="369332"/>
          </a:xfrm>
          <a:prstGeom prst="rect">
            <a:avLst/>
          </a:prstGeom>
          <a:noFill/>
        </p:spPr>
        <p:txBody>
          <a:bodyPr wrap="square" rtlCol="0">
            <a:spAutoFit/>
          </a:bodyPr>
          <a:lstStyle/>
          <a:p>
            <a:r>
              <a:rPr lang="en-US" dirty="0" err="1" smtClean="0"/>
              <a:t>Nguyên</a:t>
            </a:r>
            <a:r>
              <a:rPr lang="en-US" dirty="0" smtClean="0"/>
              <a:t> </a:t>
            </a:r>
            <a:r>
              <a:rPr lang="en-US" dirty="0" err="1" smtClean="0"/>
              <a:t>tắc</a:t>
            </a:r>
            <a:r>
              <a:rPr lang="en-US" dirty="0" smtClean="0"/>
              <a:t> </a:t>
            </a:r>
            <a:r>
              <a:rPr lang="en-US" dirty="0" err="1" smtClean="0"/>
              <a:t>đặt</a:t>
            </a:r>
            <a:r>
              <a:rPr lang="en-US" dirty="0" smtClean="0"/>
              <a:t> </a:t>
            </a:r>
            <a:r>
              <a:rPr lang="en-US" dirty="0" err="1" smtClean="0"/>
              <a:t>tên</a:t>
            </a:r>
            <a:r>
              <a:rPr lang="en-US" dirty="0" smtClean="0"/>
              <a:t> BIẾN</a:t>
            </a:r>
            <a:endParaRPr lang="en-US" dirty="0"/>
          </a:p>
        </p:txBody>
      </p:sp>
      <p:sp>
        <p:nvSpPr>
          <p:cNvPr id="11" name="Oval 10"/>
          <p:cNvSpPr/>
          <p:nvPr/>
        </p:nvSpPr>
        <p:spPr>
          <a:xfrm>
            <a:off x="602143" y="3823807"/>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3</a:t>
            </a:r>
            <a:endParaRPr lang="en-US" b="1" dirty="0"/>
          </a:p>
        </p:txBody>
      </p:sp>
      <p:sp>
        <p:nvSpPr>
          <p:cNvPr id="12" name="TextBox 11"/>
          <p:cNvSpPr txBox="1"/>
          <p:nvPr/>
        </p:nvSpPr>
        <p:spPr>
          <a:xfrm>
            <a:off x="1201479" y="5386792"/>
            <a:ext cx="6020588" cy="369332"/>
          </a:xfrm>
          <a:prstGeom prst="rect">
            <a:avLst/>
          </a:prstGeom>
          <a:noFill/>
        </p:spPr>
        <p:txBody>
          <a:bodyPr wrap="square" rtlCol="0">
            <a:spAutoFit/>
          </a:bodyPr>
          <a:lstStyle/>
          <a:p>
            <a:r>
              <a:rPr lang="en-US" smtClean="0"/>
              <a:t>Dữ liệu kiểu chuỗi và các phương thức xử lý chuỗi</a:t>
            </a:r>
            <a:endParaRPr lang="en-US" dirty="0"/>
          </a:p>
        </p:txBody>
      </p:sp>
      <p:sp>
        <p:nvSpPr>
          <p:cNvPr id="15" name="Oval 14"/>
          <p:cNvSpPr/>
          <p:nvPr/>
        </p:nvSpPr>
        <p:spPr>
          <a:xfrm>
            <a:off x="602143" y="4589351"/>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4</a:t>
            </a:r>
          </a:p>
        </p:txBody>
      </p:sp>
      <p:sp>
        <p:nvSpPr>
          <p:cNvPr id="16" name="TextBox 15"/>
          <p:cNvSpPr txBox="1"/>
          <p:nvPr/>
        </p:nvSpPr>
        <p:spPr>
          <a:xfrm>
            <a:off x="1201479" y="3862424"/>
            <a:ext cx="5178056" cy="369332"/>
          </a:xfrm>
          <a:prstGeom prst="rect">
            <a:avLst/>
          </a:prstGeom>
          <a:noFill/>
        </p:spPr>
        <p:txBody>
          <a:bodyPr wrap="square" rtlCol="0">
            <a:spAutoFit/>
          </a:bodyPr>
          <a:lstStyle/>
          <a:p>
            <a:r>
              <a:rPr lang="en-US" dirty="0" err="1" smtClean="0"/>
              <a:t>Các</a:t>
            </a:r>
            <a:r>
              <a:rPr lang="en-US" dirty="0" smtClean="0"/>
              <a:t> </a:t>
            </a:r>
            <a:r>
              <a:rPr lang="en-US" dirty="0" err="1" smtClean="0"/>
              <a:t>kiểu</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của</a:t>
            </a:r>
            <a:r>
              <a:rPr lang="en-US" dirty="0" smtClean="0"/>
              <a:t> BIẾN</a:t>
            </a:r>
            <a:endParaRPr lang="en-US" dirty="0"/>
          </a:p>
        </p:txBody>
      </p:sp>
      <p:sp>
        <p:nvSpPr>
          <p:cNvPr id="17" name="Oval 16"/>
          <p:cNvSpPr/>
          <p:nvPr/>
        </p:nvSpPr>
        <p:spPr>
          <a:xfrm>
            <a:off x="602143" y="5386792"/>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5</a:t>
            </a:r>
          </a:p>
        </p:txBody>
      </p:sp>
      <p:sp>
        <p:nvSpPr>
          <p:cNvPr id="18" name="TextBox 17"/>
          <p:cNvSpPr txBox="1"/>
          <p:nvPr/>
        </p:nvSpPr>
        <p:spPr>
          <a:xfrm>
            <a:off x="1201479" y="4599810"/>
            <a:ext cx="6262577" cy="369332"/>
          </a:xfrm>
          <a:prstGeom prst="rect">
            <a:avLst/>
          </a:prstGeom>
          <a:noFill/>
        </p:spPr>
        <p:txBody>
          <a:bodyPr wrap="square" rtlCol="0">
            <a:spAutoFit/>
          </a:bodyPr>
          <a:lstStyle/>
          <a:p>
            <a:r>
              <a:rPr lang="en-US" dirty="0" err="1" smtClean="0"/>
              <a:t>Dữ</a:t>
            </a:r>
            <a:r>
              <a:rPr lang="en-US" dirty="0" smtClean="0"/>
              <a:t> </a:t>
            </a:r>
            <a:r>
              <a:rPr lang="en-US" dirty="0" err="1" smtClean="0"/>
              <a:t>liệu</a:t>
            </a:r>
            <a:r>
              <a:rPr lang="en-US" dirty="0" smtClean="0"/>
              <a:t> </a:t>
            </a:r>
            <a:r>
              <a:rPr lang="en-US" dirty="0" err="1" smtClean="0"/>
              <a:t>kiểu</a:t>
            </a:r>
            <a:r>
              <a:rPr lang="en-US" dirty="0" smtClean="0"/>
              <a:t> </a:t>
            </a:r>
            <a:r>
              <a:rPr lang="en-US" dirty="0" err="1" smtClean="0"/>
              <a:t>số</a:t>
            </a:r>
            <a:r>
              <a:rPr lang="en-US" dirty="0" smtClean="0"/>
              <a:t> </a:t>
            </a:r>
            <a:r>
              <a:rPr lang="en-US" dirty="0" err="1" smtClean="0"/>
              <a:t>và</a:t>
            </a:r>
            <a:r>
              <a:rPr lang="en-US" dirty="0" smtClean="0"/>
              <a:t> </a:t>
            </a:r>
            <a:r>
              <a:rPr lang="en-US" dirty="0" err="1" smtClean="0"/>
              <a:t>Các</a:t>
            </a:r>
            <a:r>
              <a:rPr lang="en-US" dirty="0" smtClean="0"/>
              <a:t> </a:t>
            </a:r>
            <a:r>
              <a:rPr lang="en-US" dirty="0" err="1" smtClean="0"/>
              <a:t>toán</a:t>
            </a:r>
            <a:r>
              <a:rPr lang="en-US" dirty="0" smtClean="0"/>
              <a:t> </a:t>
            </a:r>
            <a:r>
              <a:rPr lang="en-US" dirty="0" err="1" smtClean="0"/>
              <a:t>tử</a:t>
            </a:r>
            <a:r>
              <a:rPr lang="en-US" dirty="0" smtClean="0"/>
              <a:t> </a:t>
            </a:r>
            <a:r>
              <a:rPr lang="en-US" dirty="0" err="1" smtClean="0"/>
              <a:t>số</a:t>
            </a:r>
            <a:r>
              <a:rPr lang="en-US" dirty="0" smtClean="0"/>
              <a:t> </a:t>
            </a:r>
            <a:r>
              <a:rPr lang="en-US" dirty="0" err="1" smtClean="0"/>
              <a:t>học</a:t>
            </a:r>
            <a:r>
              <a:rPr lang="en-US" dirty="0" smtClean="0"/>
              <a:t> </a:t>
            </a:r>
            <a:r>
              <a:rPr lang="en-US" dirty="0" err="1" smtClean="0"/>
              <a:t>trong</a:t>
            </a:r>
            <a:r>
              <a:rPr lang="en-US" dirty="0" smtClean="0"/>
              <a:t> Python</a:t>
            </a:r>
            <a:endParaRPr lang="en-US" dirty="0"/>
          </a:p>
        </p:txBody>
      </p:sp>
      <p:sp>
        <p:nvSpPr>
          <p:cNvPr id="14" name="TextBox 13"/>
          <p:cNvSpPr txBox="1"/>
          <p:nvPr/>
        </p:nvSpPr>
        <p:spPr>
          <a:xfrm>
            <a:off x="516657" y="1526604"/>
            <a:ext cx="8240233" cy="369332"/>
          </a:xfrm>
          <a:prstGeom prst="rect">
            <a:avLst/>
          </a:prstGeom>
          <a:noFill/>
        </p:spPr>
        <p:txBody>
          <a:bodyPr wrap="square" rtlCol="0">
            <a:spAutoFit/>
          </a:bodyPr>
          <a:lstStyle/>
          <a:p>
            <a:r>
              <a:rPr lang="en-US" dirty="0" err="1" smtClean="0"/>
              <a:t>Trong</a:t>
            </a:r>
            <a:r>
              <a:rPr lang="en-US" dirty="0" smtClean="0"/>
              <a:t> </a:t>
            </a:r>
            <a:r>
              <a:rPr lang="en-US" dirty="0" err="1" smtClean="0"/>
              <a:t>bài</a:t>
            </a:r>
            <a:r>
              <a:rPr lang="en-US" dirty="0" smtClean="0"/>
              <a:t> </a:t>
            </a:r>
            <a:r>
              <a:rPr lang="en-US" dirty="0" err="1" smtClean="0"/>
              <a:t>học</a:t>
            </a:r>
            <a:r>
              <a:rPr lang="en-US" dirty="0" smtClean="0"/>
              <a:t> </a:t>
            </a:r>
            <a:r>
              <a:rPr lang="en-US" dirty="0" err="1" smtClean="0"/>
              <a:t>này</a:t>
            </a:r>
            <a:r>
              <a:rPr lang="en-US" dirty="0" smtClean="0"/>
              <a:t> </a:t>
            </a:r>
            <a:r>
              <a:rPr lang="en-US" dirty="0" err="1" smtClean="0"/>
              <a:t>chúng</a:t>
            </a:r>
            <a:r>
              <a:rPr lang="en-US" dirty="0" smtClean="0"/>
              <a:t> ta </a:t>
            </a:r>
            <a:r>
              <a:rPr lang="en-US" dirty="0" err="1" smtClean="0"/>
              <a:t>sẽ</a:t>
            </a:r>
            <a:r>
              <a:rPr lang="en-US" dirty="0" smtClean="0"/>
              <a:t> </a:t>
            </a:r>
            <a:r>
              <a:rPr lang="en-US" dirty="0" err="1" smtClean="0"/>
              <a:t>đi</a:t>
            </a:r>
            <a:r>
              <a:rPr lang="en-US" dirty="0" smtClean="0"/>
              <a:t> </a:t>
            </a:r>
            <a:r>
              <a:rPr lang="en-US" dirty="0" err="1" smtClean="0"/>
              <a:t>tìm</a:t>
            </a:r>
            <a:r>
              <a:rPr lang="en-US" dirty="0" smtClean="0"/>
              <a:t> </a:t>
            </a:r>
            <a:r>
              <a:rPr lang="en-US" dirty="0" err="1" smtClean="0"/>
              <a:t>hiều</a:t>
            </a:r>
            <a:r>
              <a:rPr lang="en-US" dirty="0" smtClean="0"/>
              <a:t> </a:t>
            </a:r>
            <a:r>
              <a:rPr lang="en-US" dirty="0" err="1" smtClean="0"/>
              <a:t>lần</a:t>
            </a:r>
            <a:r>
              <a:rPr lang="en-US" dirty="0" smtClean="0"/>
              <a:t> </a:t>
            </a:r>
            <a:r>
              <a:rPr lang="en-US" dirty="0" err="1" smtClean="0"/>
              <a:t>lượt</a:t>
            </a:r>
            <a:r>
              <a:rPr lang="en-US" dirty="0" smtClean="0"/>
              <a:t> </a:t>
            </a:r>
            <a:r>
              <a:rPr lang="en-US" dirty="0" err="1" smtClean="0"/>
              <a:t>các</a:t>
            </a:r>
            <a:r>
              <a:rPr lang="en-US" dirty="0" smtClean="0"/>
              <a:t> </a:t>
            </a:r>
            <a:r>
              <a:rPr lang="en-US" dirty="0" err="1" smtClean="0"/>
              <a:t>nội</a:t>
            </a:r>
            <a:r>
              <a:rPr lang="en-US" dirty="0" smtClean="0"/>
              <a:t> dung</a:t>
            </a:r>
            <a:endParaRPr lang="en-US" dirty="0"/>
          </a:p>
        </p:txBody>
      </p:sp>
    </p:spTree>
    <p:extLst>
      <p:ext uri="{BB962C8B-B14F-4D97-AF65-F5344CB8AC3E}">
        <p14:creationId xmlns:p14="http://schemas.microsoft.com/office/powerpoint/2010/main" val="19358138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3</a:t>
            </a:fld>
            <a:endParaRPr lang="en-US"/>
          </a:p>
        </p:txBody>
      </p:sp>
      <p:sp>
        <p:nvSpPr>
          <p:cNvPr id="3" name="Text Placeholder 2"/>
          <p:cNvSpPr>
            <a:spLocks noGrp="1"/>
          </p:cNvSpPr>
          <p:nvPr>
            <p:ph type="body" sz="quarter" idx="13"/>
          </p:nvPr>
        </p:nvSpPr>
        <p:spPr>
          <a:xfrm>
            <a:off x="301925" y="851289"/>
            <a:ext cx="8454964" cy="424732"/>
          </a:xfrm>
        </p:spPr>
        <p:txBody>
          <a:bodyPr/>
          <a:lstStyle/>
          <a:p>
            <a:r>
              <a:rPr lang="en-US" dirty="0"/>
              <a:t>2.1 </a:t>
            </a:r>
            <a:r>
              <a:rPr lang="en-US" dirty="0" err="1"/>
              <a:t>Cách</a:t>
            </a:r>
            <a:r>
              <a:rPr lang="en-US" dirty="0"/>
              <a:t> </a:t>
            </a:r>
            <a:r>
              <a:rPr lang="en-US" dirty="0" err="1"/>
              <a:t>khai</a:t>
            </a:r>
            <a:r>
              <a:rPr lang="en-US" dirty="0"/>
              <a:t> </a:t>
            </a:r>
            <a:r>
              <a:rPr lang="en-US" dirty="0" err="1"/>
              <a:t>báo</a:t>
            </a:r>
            <a:r>
              <a:rPr lang="en-US" dirty="0"/>
              <a:t> BIẾN </a:t>
            </a:r>
            <a:r>
              <a:rPr lang="en-US" dirty="0" err="1"/>
              <a:t>trong</a:t>
            </a:r>
            <a:r>
              <a:rPr lang="en-US" dirty="0"/>
              <a:t> </a:t>
            </a:r>
            <a:r>
              <a:rPr lang="en-US" dirty="0" smtClean="0"/>
              <a:t>Python</a:t>
            </a:r>
            <a:endParaRPr lang="en-US" dirty="0"/>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80670"/>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621244"/>
            <a:ext cx="2955849" cy="369332"/>
          </a:xfrm>
          <a:prstGeom prst="rect">
            <a:avLst/>
          </a:prstGeom>
          <a:noFill/>
        </p:spPr>
        <p:txBody>
          <a:bodyPr wrap="square" rtlCol="0">
            <a:spAutoFit/>
          </a:bodyPr>
          <a:lstStyle/>
          <a:p>
            <a:r>
              <a:rPr lang="en-US" b="1" dirty="0" err="1" smtClean="0"/>
              <a:t>Định</a:t>
            </a:r>
            <a:r>
              <a:rPr lang="en-US" b="1" dirty="0" smtClean="0"/>
              <a:t> </a:t>
            </a:r>
            <a:r>
              <a:rPr lang="en-US" b="1" dirty="0" err="1"/>
              <a:t>n</a:t>
            </a:r>
            <a:r>
              <a:rPr lang="en-US" b="1" dirty="0" err="1" smtClean="0"/>
              <a:t>ghĩa</a:t>
            </a:r>
            <a:r>
              <a:rPr lang="en-US" b="1" dirty="0" smtClean="0"/>
              <a:t>: </a:t>
            </a:r>
            <a:r>
              <a:rPr lang="en-US" b="1" dirty="0" err="1" smtClean="0">
                <a:solidFill>
                  <a:srgbClr val="FF0000"/>
                </a:solidFill>
              </a:rPr>
              <a:t>Biến</a:t>
            </a:r>
            <a:r>
              <a:rPr lang="en-US" b="1" dirty="0" smtClean="0">
                <a:solidFill>
                  <a:srgbClr val="FF0000"/>
                </a:solidFill>
              </a:rPr>
              <a:t> </a:t>
            </a:r>
            <a:r>
              <a:rPr lang="en-US" b="1" dirty="0" err="1" smtClean="0">
                <a:solidFill>
                  <a:srgbClr val="FF0000"/>
                </a:solidFill>
              </a:rPr>
              <a:t>là</a:t>
            </a:r>
            <a:r>
              <a:rPr lang="en-US" b="1" dirty="0" smtClean="0">
                <a:solidFill>
                  <a:srgbClr val="FF0000"/>
                </a:solidFill>
              </a:rPr>
              <a:t> </a:t>
            </a:r>
            <a:r>
              <a:rPr lang="en-US" b="1" dirty="0" err="1" smtClean="0">
                <a:solidFill>
                  <a:srgbClr val="FF0000"/>
                </a:solidFill>
              </a:rPr>
              <a:t>gì</a:t>
            </a:r>
            <a:r>
              <a:rPr lang="en-US" b="1" dirty="0" smtClean="0">
                <a:solidFill>
                  <a:srgbClr val="FF0000"/>
                </a:solidFill>
              </a:rPr>
              <a:t> ?</a:t>
            </a:r>
            <a:endParaRPr lang="en-US" b="1" dirty="0">
              <a:solidFill>
                <a:srgbClr val="FF0000"/>
              </a:solidFill>
            </a:endParaRPr>
          </a:p>
        </p:txBody>
      </p:sp>
      <p:sp>
        <p:nvSpPr>
          <p:cNvPr id="12" name="Rounded Rectangle 11"/>
          <p:cNvSpPr/>
          <p:nvPr/>
        </p:nvSpPr>
        <p:spPr>
          <a:xfrm>
            <a:off x="659155" y="2335799"/>
            <a:ext cx="7740503" cy="3937410"/>
          </a:xfrm>
          <a:prstGeom prst="roundRect">
            <a:avLst>
              <a:gd name="adj" fmla="val 2567"/>
            </a:avLst>
          </a:prstGeom>
          <a:solidFill>
            <a:schemeClr val="bg1"/>
          </a:solidFill>
          <a:ln w="19050">
            <a:solidFill>
              <a:srgbClr val="67C7D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925033" y="2515864"/>
            <a:ext cx="7230139" cy="1200329"/>
          </a:xfrm>
          <a:prstGeom prst="rect">
            <a:avLst/>
          </a:prstGeom>
          <a:noFill/>
        </p:spPr>
        <p:txBody>
          <a:bodyPr wrap="square" rtlCol="0">
            <a:spAutoFit/>
          </a:bodyPr>
          <a:lstStyle/>
          <a:p>
            <a:r>
              <a:rPr lang="en-US" b="1" dirty="0" err="1" smtClean="0"/>
              <a:t>Biến</a:t>
            </a:r>
            <a:r>
              <a:rPr lang="en-US" dirty="0" smtClean="0"/>
              <a:t> (variable) </a:t>
            </a:r>
            <a:r>
              <a:rPr lang="vi-VN" dirty="0"/>
              <a:t>là một khái niệm cơ bản trong lập </a:t>
            </a:r>
            <a:r>
              <a:rPr lang="vi-VN" dirty="0" smtClean="0"/>
              <a:t>trình</a:t>
            </a:r>
            <a:r>
              <a:rPr lang="en-US" dirty="0" smtClean="0"/>
              <a:t>, </a:t>
            </a:r>
            <a:r>
              <a:rPr lang="en-US" dirty="0" err="1" smtClean="0"/>
              <a:t>nó</a:t>
            </a:r>
            <a:r>
              <a:rPr lang="en-US" dirty="0" smtClean="0"/>
              <a:t> </a:t>
            </a:r>
            <a:r>
              <a:rPr lang="en-US" dirty="0" err="1" smtClean="0"/>
              <a:t>là</a:t>
            </a:r>
            <a:r>
              <a:rPr lang="vi-VN" dirty="0" smtClean="0"/>
              <a:t> </a:t>
            </a:r>
            <a:r>
              <a:rPr lang="en-US" dirty="0" err="1" smtClean="0"/>
              <a:t>tên</a:t>
            </a:r>
            <a:r>
              <a:rPr lang="en-US" dirty="0" smtClean="0"/>
              <a:t> </a:t>
            </a:r>
            <a:r>
              <a:rPr lang="en-US" dirty="0" err="1" smtClean="0"/>
              <a:t>của</a:t>
            </a:r>
            <a:r>
              <a:rPr lang="en-US" dirty="0" smtClean="0"/>
              <a:t> </a:t>
            </a:r>
            <a:r>
              <a:rPr lang="vi-VN" dirty="0" smtClean="0"/>
              <a:t>một </a:t>
            </a:r>
            <a:r>
              <a:rPr lang="vi-VN" dirty="0"/>
              <a:t>khu </a:t>
            </a:r>
            <a:r>
              <a:rPr lang="vi-VN" dirty="0" smtClean="0"/>
              <a:t>vực</a:t>
            </a:r>
            <a:r>
              <a:rPr lang="en-US" dirty="0" smtClean="0"/>
              <a:t> </a:t>
            </a:r>
            <a:r>
              <a:rPr lang="en-US" dirty="0" err="1" smtClean="0"/>
              <a:t>trong</a:t>
            </a:r>
            <a:r>
              <a:rPr lang="vi-VN" dirty="0" smtClean="0"/>
              <a:t> </a:t>
            </a:r>
            <a:r>
              <a:rPr lang="vi-VN" dirty="0"/>
              <a:t>bộ nhớ </a:t>
            </a:r>
            <a:r>
              <a:rPr lang="vi-VN" dirty="0" smtClean="0"/>
              <a:t>của </a:t>
            </a:r>
            <a:r>
              <a:rPr lang="vi-VN" dirty="0"/>
              <a:t>máy </a:t>
            </a:r>
            <a:r>
              <a:rPr lang="vi-VN" dirty="0" smtClean="0"/>
              <a:t>tính</a:t>
            </a:r>
            <a:r>
              <a:rPr lang="en-US" dirty="0" smtClean="0"/>
              <a:t>, </a:t>
            </a:r>
            <a:r>
              <a:rPr lang="en-US" dirty="0" err="1" smtClean="0"/>
              <a:t>được</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để</a:t>
            </a:r>
            <a:r>
              <a:rPr lang="en-US" dirty="0" smtClean="0"/>
              <a:t> </a:t>
            </a:r>
            <a:r>
              <a:rPr lang="vi-VN" dirty="0" smtClean="0"/>
              <a:t>lưu </a:t>
            </a:r>
            <a:r>
              <a:rPr lang="vi-VN" dirty="0"/>
              <a:t>trữ và đại diện cho các giá trị dữ liệu như số, chuỗi, đối tượng, và nhiều loại dữ liệu khác</a:t>
            </a:r>
            <a:endParaRPr lang="en-US" dirty="0"/>
          </a:p>
        </p:txBody>
      </p:sp>
      <p:sp>
        <p:nvSpPr>
          <p:cNvPr id="14" name="TextBox 13"/>
          <p:cNvSpPr txBox="1"/>
          <p:nvPr/>
        </p:nvSpPr>
        <p:spPr>
          <a:xfrm>
            <a:off x="925033" y="3844934"/>
            <a:ext cx="7230139" cy="1200329"/>
          </a:xfrm>
          <a:prstGeom prst="rect">
            <a:avLst/>
          </a:prstGeom>
          <a:noFill/>
        </p:spPr>
        <p:txBody>
          <a:bodyPr wrap="square" rtlCol="0">
            <a:spAutoFit/>
          </a:bodyPr>
          <a:lstStyle/>
          <a:p>
            <a:r>
              <a:rPr lang="vi-VN" dirty="0"/>
              <a:t>Khi ta tạo một biến trong Python, ta đang cung cấp một tên duy nhất cho biến đó và gán cho nó một giá trị cụ thể. Biến có thể được sử dụng để tham chiếu đến giá trị của nó trong các phép toán, điều kiện, hoặc các phần khác của chương trình.</a:t>
            </a:r>
            <a:endParaRPr lang="en-US" dirty="0"/>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76707" y="1606559"/>
            <a:ext cx="845194" cy="971973"/>
          </a:xfrm>
          <a:prstGeom prst="rect">
            <a:avLst/>
          </a:prstGeom>
        </p:spPr>
      </p:pic>
      <p:sp>
        <p:nvSpPr>
          <p:cNvPr id="16" name="TextBox 15"/>
          <p:cNvSpPr txBox="1"/>
          <p:nvPr/>
        </p:nvSpPr>
        <p:spPr>
          <a:xfrm>
            <a:off x="925033" y="5280329"/>
            <a:ext cx="7230139" cy="369332"/>
          </a:xfrm>
          <a:prstGeom prst="rect">
            <a:avLst/>
          </a:prstGeom>
          <a:noFill/>
        </p:spPr>
        <p:txBody>
          <a:bodyPr wrap="square" rtlCol="0">
            <a:spAutoFit/>
          </a:bodyPr>
          <a:lstStyle/>
          <a:p>
            <a:r>
              <a:rPr lang="en-US" b="1" dirty="0" err="1" smtClean="0"/>
              <a:t>Biến</a:t>
            </a:r>
            <a:r>
              <a:rPr lang="en-US" dirty="0" smtClean="0"/>
              <a:t> </a:t>
            </a:r>
            <a:r>
              <a:rPr lang="en-US" dirty="0" err="1" smtClean="0"/>
              <a:t>có</a:t>
            </a:r>
            <a:r>
              <a:rPr lang="en-US" dirty="0" smtClean="0"/>
              <a:t> </a:t>
            </a:r>
            <a:r>
              <a:rPr lang="en-US" dirty="0" err="1" smtClean="0"/>
              <a:t>thể</a:t>
            </a:r>
            <a:r>
              <a:rPr lang="en-US" dirty="0" smtClean="0"/>
              <a:t> </a:t>
            </a:r>
            <a:r>
              <a:rPr lang="en-US" dirty="0" err="1" smtClean="0"/>
              <a:t>chứa</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kiểu</a:t>
            </a:r>
            <a:r>
              <a:rPr lang="en-US" dirty="0" smtClean="0"/>
              <a:t> </a:t>
            </a:r>
            <a:r>
              <a:rPr lang="en-US" dirty="0" err="1" smtClean="0"/>
              <a:t>số</a:t>
            </a:r>
            <a:r>
              <a:rPr lang="en-US" dirty="0" smtClean="0"/>
              <a:t> (</a:t>
            </a:r>
            <a:r>
              <a:rPr lang="en-US" dirty="0" err="1" smtClean="0"/>
              <a:t>int</a:t>
            </a:r>
            <a:r>
              <a:rPr lang="en-US" dirty="0" smtClean="0"/>
              <a:t>), </a:t>
            </a:r>
            <a:r>
              <a:rPr lang="en-US" dirty="0" err="1" smtClean="0"/>
              <a:t>chuỗi</a:t>
            </a:r>
            <a:r>
              <a:rPr lang="en-US" dirty="0" smtClean="0"/>
              <a:t> (</a:t>
            </a:r>
            <a:r>
              <a:rPr lang="en-US" dirty="0" err="1" smtClean="0"/>
              <a:t>str</a:t>
            </a:r>
            <a:r>
              <a:rPr lang="en-US" dirty="0" smtClean="0"/>
              <a:t>), logic (bool)…</a:t>
            </a:r>
            <a:endParaRPr lang="en-US" dirty="0"/>
          </a:p>
        </p:txBody>
      </p:sp>
    </p:spTree>
    <p:extLst>
      <p:ext uri="{BB962C8B-B14F-4D97-AF65-F5344CB8AC3E}">
        <p14:creationId xmlns:p14="http://schemas.microsoft.com/office/powerpoint/2010/main" val="21719734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4</a:t>
            </a:fld>
            <a:endParaRPr lang="en-US"/>
          </a:p>
        </p:txBody>
      </p:sp>
      <p:sp>
        <p:nvSpPr>
          <p:cNvPr id="11" name="Text Placeholder 2"/>
          <p:cNvSpPr txBox="1">
            <a:spLocks/>
          </p:cNvSpPr>
          <p:nvPr/>
        </p:nvSpPr>
        <p:spPr>
          <a:xfrm>
            <a:off x="227558" y="828573"/>
            <a:ext cx="8454964" cy="424732"/>
          </a:xfrm>
          <a:prstGeom prst="rect">
            <a:avLst/>
          </a:prstGeom>
          <a:noFill/>
        </p:spPr>
        <p:txBody>
          <a:bodyPr vert="horz" wrap="square" lIns="91440" tIns="45720" rIns="91440" bIns="45720" rtlCol="0">
            <a:spAutoFit/>
          </a:bodyPr>
          <a:lstStyle>
            <a:lvl1pPr marL="0" indent="0" algn="l" defTabSz="914400" rtl="0" eaLnBrk="1" latinLnBrk="0" hangingPunct="1">
              <a:lnSpc>
                <a:spcPct val="90000"/>
              </a:lnSpc>
              <a:spcBef>
                <a:spcPts val="1000"/>
              </a:spcBef>
              <a:buFont typeface="Arial" panose="020B0604020202020204" pitchFamily="34" charset="0"/>
              <a:buNone/>
              <a:defRPr lang="en-US" sz="2400" b="1" kern="1200" dirty="0" smtClean="0">
                <a:solidFill>
                  <a:srgbClr val="64C7E9"/>
                </a:solidFill>
                <a:latin typeface="+mn-lt"/>
                <a:ea typeface="Roboto"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mtClean="0"/>
              <a:t>2.1 Cách khai báo BIẾN trong Python</a:t>
            </a:r>
            <a:endParaRPr lang="en-US"/>
          </a:p>
        </p:txBody>
      </p:sp>
      <p:pic>
        <p:nvPicPr>
          <p:cNvPr id="12"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80670"/>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1041993" y="1621244"/>
            <a:ext cx="2955849" cy="369332"/>
          </a:xfrm>
          <a:prstGeom prst="rect">
            <a:avLst/>
          </a:prstGeom>
          <a:noFill/>
        </p:spPr>
        <p:txBody>
          <a:bodyPr wrap="square" rtlCol="0">
            <a:spAutoFit/>
          </a:bodyPr>
          <a:lstStyle/>
          <a:p>
            <a:r>
              <a:rPr lang="en-US" b="1" dirty="0" err="1" smtClean="0"/>
              <a:t>Cú</a:t>
            </a:r>
            <a:r>
              <a:rPr lang="en-US" b="1" dirty="0" smtClean="0"/>
              <a:t> </a:t>
            </a:r>
            <a:r>
              <a:rPr lang="en-US" b="1" dirty="0" err="1" smtClean="0"/>
              <a:t>pháp</a:t>
            </a:r>
            <a:r>
              <a:rPr lang="en-US" b="1" dirty="0" smtClean="0"/>
              <a:t> </a:t>
            </a:r>
            <a:r>
              <a:rPr lang="en-US" b="1" dirty="0" err="1" smtClean="0"/>
              <a:t>khai</a:t>
            </a:r>
            <a:r>
              <a:rPr lang="en-US" b="1" dirty="0" smtClean="0"/>
              <a:t> </a:t>
            </a:r>
            <a:r>
              <a:rPr lang="en-US" b="1" dirty="0" err="1" smtClean="0"/>
              <a:t>báo</a:t>
            </a:r>
            <a:r>
              <a:rPr lang="en-US" b="1" dirty="0" smtClean="0"/>
              <a:t> </a:t>
            </a:r>
            <a:r>
              <a:rPr lang="en-US" b="1" dirty="0" err="1" smtClean="0"/>
              <a:t>biến</a:t>
            </a:r>
            <a:endParaRPr lang="en-US" b="1" dirty="0">
              <a:solidFill>
                <a:srgbClr val="FF0000"/>
              </a:solidFill>
            </a:endParaRPr>
          </a:p>
        </p:txBody>
      </p:sp>
      <p:sp>
        <p:nvSpPr>
          <p:cNvPr id="14" name="TextBox 13"/>
          <p:cNvSpPr txBox="1"/>
          <p:nvPr/>
        </p:nvSpPr>
        <p:spPr>
          <a:xfrm>
            <a:off x="2722958" y="2206035"/>
            <a:ext cx="3698084" cy="584775"/>
          </a:xfrm>
          <a:prstGeom prst="rect">
            <a:avLst/>
          </a:prstGeom>
          <a:noFill/>
        </p:spPr>
        <p:txBody>
          <a:bodyPr wrap="square" rtlCol="0">
            <a:spAutoFit/>
          </a:bodyPr>
          <a:lstStyle/>
          <a:p>
            <a:r>
              <a:rPr lang="en-US" sz="3200" b="1" dirty="0" err="1">
                <a:solidFill>
                  <a:srgbClr val="FF0000"/>
                </a:solidFill>
              </a:rPr>
              <a:t>tên_biến</a:t>
            </a:r>
            <a:r>
              <a:rPr lang="en-US" sz="3200" b="1" dirty="0">
                <a:solidFill>
                  <a:srgbClr val="FF0000"/>
                </a:solidFill>
              </a:rPr>
              <a:t> = </a:t>
            </a:r>
            <a:r>
              <a:rPr lang="en-US" sz="3200" b="1" dirty="0" err="1">
                <a:solidFill>
                  <a:srgbClr val="FF0000"/>
                </a:solidFill>
              </a:rPr>
              <a:t>giá_trị</a:t>
            </a:r>
            <a:endParaRPr lang="en-US" sz="3200" b="1" dirty="0" smtClean="0">
              <a:solidFill>
                <a:srgbClr val="FF0000"/>
              </a:solidFill>
            </a:endParaRPr>
          </a:p>
        </p:txBody>
      </p:sp>
      <p:sp>
        <p:nvSpPr>
          <p:cNvPr id="15" name="TextBox 14"/>
          <p:cNvSpPr txBox="1"/>
          <p:nvPr/>
        </p:nvSpPr>
        <p:spPr>
          <a:xfrm>
            <a:off x="1041993" y="3088537"/>
            <a:ext cx="5603356" cy="369332"/>
          </a:xfrm>
          <a:prstGeom prst="rect">
            <a:avLst/>
          </a:prstGeom>
          <a:noFill/>
        </p:spPr>
        <p:txBody>
          <a:bodyPr wrap="square" rtlCol="0">
            <a:spAutoFit/>
          </a:bodyPr>
          <a:lstStyle/>
          <a:p>
            <a:r>
              <a:rPr lang="en-US" b="1" dirty="0" err="1"/>
              <a:t>tên_biến</a:t>
            </a:r>
            <a:r>
              <a:rPr lang="en-US" dirty="0"/>
              <a:t> </a:t>
            </a:r>
            <a:r>
              <a:rPr lang="en-US" dirty="0" err="1"/>
              <a:t>là</a:t>
            </a:r>
            <a:r>
              <a:rPr lang="en-US" dirty="0"/>
              <a:t> </a:t>
            </a:r>
            <a:r>
              <a:rPr lang="en-US" dirty="0" err="1"/>
              <a:t>tên</a:t>
            </a:r>
            <a:r>
              <a:rPr lang="en-US" dirty="0"/>
              <a:t> </a:t>
            </a:r>
            <a:r>
              <a:rPr lang="en-US" dirty="0" err="1"/>
              <a:t>mà</a:t>
            </a:r>
            <a:r>
              <a:rPr lang="en-US" dirty="0"/>
              <a:t> ta </a:t>
            </a:r>
            <a:r>
              <a:rPr lang="en-US" dirty="0" err="1"/>
              <a:t>muốn</a:t>
            </a:r>
            <a:r>
              <a:rPr lang="en-US" dirty="0"/>
              <a:t> </a:t>
            </a:r>
            <a:r>
              <a:rPr lang="en-US" dirty="0" err="1"/>
              <a:t>đặt</a:t>
            </a:r>
            <a:r>
              <a:rPr lang="en-US" dirty="0"/>
              <a:t> </a:t>
            </a:r>
            <a:r>
              <a:rPr lang="en-US" dirty="0" err="1"/>
              <a:t>cho</a:t>
            </a:r>
            <a:r>
              <a:rPr lang="en-US" dirty="0"/>
              <a:t> </a:t>
            </a:r>
            <a:r>
              <a:rPr lang="en-US" dirty="0" err="1"/>
              <a:t>biến</a:t>
            </a:r>
            <a:endParaRPr lang="en-US" dirty="0"/>
          </a:p>
        </p:txBody>
      </p:sp>
      <p:sp>
        <p:nvSpPr>
          <p:cNvPr id="17" name="TextBox 16"/>
          <p:cNvSpPr txBox="1"/>
          <p:nvPr/>
        </p:nvSpPr>
        <p:spPr>
          <a:xfrm>
            <a:off x="1041993" y="3620165"/>
            <a:ext cx="5603356" cy="369332"/>
          </a:xfrm>
          <a:prstGeom prst="rect">
            <a:avLst/>
          </a:prstGeom>
          <a:noFill/>
        </p:spPr>
        <p:txBody>
          <a:bodyPr wrap="square" rtlCol="0">
            <a:spAutoFit/>
          </a:bodyPr>
          <a:lstStyle/>
          <a:p>
            <a:r>
              <a:rPr lang="en-US" b="1" dirty="0" err="1" smtClean="0"/>
              <a:t>giá_trị</a:t>
            </a:r>
            <a:r>
              <a:rPr lang="en-US" dirty="0" smtClean="0"/>
              <a:t> </a:t>
            </a:r>
            <a:r>
              <a:rPr lang="en-US" dirty="0" err="1"/>
              <a:t>là</a:t>
            </a:r>
            <a:r>
              <a:rPr lang="en-US" dirty="0"/>
              <a:t> </a:t>
            </a:r>
            <a:r>
              <a:rPr lang="en-US" dirty="0" err="1"/>
              <a:t>giá</a:t>
            </a:r>
            <a:r>
              <a:rPr lang="en-US" dirty="0"/>
              <a:t> </a:t>
            </a:r>
            <a:r>
              <a:rPr lang="en-US" dirty="0" err="1"/>
              <a:t>trị</a:t>
            </a:r>
            <a:r>
              <a:rPr lang="en-US" dirty="0"/>
              <a:t> </a:t>
            </a:r>
            <a:r>
              <a:rPr lang="en-US" dirty="0" err="1"/>
              <a:t>mà</a:t>
            </a:r>
            <a:r>
              <a:rPr lang="en-US" dirty="0"/>
              <a:t> ta </a:t>
            </a:r>
            <a:r>
              <a:rPr lang="en-US" dirty="0" err="1"/>
              <a:t>muốn</a:t>
            </a:r>
            <a:r>
              <a:rPr lang="en-US" dirty="0"/>
              <a:t> </a:t>
            </a:r>
            <a:r>
              <a:rPr lang="en-US" dirty="0" err="1"/>
              <a:t>gán</a:t>
            </a:r>
            <a:r>
              <a:rPr lang="en-US" dirty="0"/>
              <a:t> </a:t>
            </a:r>
            <a:r>
              <a:rPr lang="en-US" dirty="0" err="1"/>
              <a:t>cho</a:t>
            </a:r>
            <a:r>
              <a:rPr lang="en-US" dirty="0"/>
              <a:t> </a:t>
            </a:r>
            <a:r>
              <a:rPr lang="en-US" dirty="0" err="1"/>
              <a:t>biến</a:t>
            </a:r>
            <a:endParaRPr lang="en-US" dirty="0"/>
          </a:p>
        </p:txBody>
      </p:sp>
      <p:sp>
        <p:nvSpPr>
          <p:cNvPr id="18" name="Diamond 17"/>
          <p:cNvSpPr/>
          <p:nvPr/>
        </p:nvSpPr>
        <p:spPr>
          <a:xfrm>
            <a:off x="774221" y="3180870"/>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iamond 18"/>
          <p:cNvSpPr/>
          <p:nvPr/>
        </p:nvSpPr>
        <p:spPr>
          <a:xfrm>
            <a:off x="774221" y="3723131"/>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p:cNvSpPr/>
          <p:nvPr/>
        </p:nvSpPr>
        <p:spPr>
          <a:xfrm>
            <a:off x="548981" y="4515255"/>
            <a:ext cx="8133541" cy="1853646"/>
          </a:xfrm>
          <a:prstGeom prst="roundRect">
            <a:avLst>
              <a:gd name="adj" fmla="val 5900"/>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22" name="TextBox 21"/>
          <p:cNvSpPr txBox="1"/>
          <p:nvPr/>
        </p:nvSpPr>
        <p:spPr>
          <a:xfrm>
            <a:off x="752253" y="4649311"/>
            <a:ext cx="7639493" cy="1200329"/>
          </a:xfrm>
          <a:prstGeom prst="rect">
            <a:avLst/>
          </a:prstGeom>
          <a:noFill/>
        </p:spPr>
        <p:txBody>
          <a:bodyPr wrap="square" rtlCol="0">
            <a:spAutoFit/>
          </a:bodyPr>
          <a:lstStyle/>
          <a:p>
            <a:r>
              <a:rPr lang="en-US" dirty="0" err="1" smtClean="0">
                <a:solidFill>
                  <a:schemeClr val="bg1"/>
                </a:solidFill>
              </a:rPr>
              <a:t>Khi</a:t>
            </a:r>
            <a:r>
              <a:rPr lang="en-US" dirty="0" smtClean="0">
                <a:solidFill>
                  <a:schemeClr val="bg1"/>
                </a:solidFill>
              </a:rPr>
              <a:t> </a:t>
            </a:r>
            <a:r>
              <a:rPr lang="en-US" dirty="0" err="1" smtClean="0">
                <a:solidFill>
                  <a:schemeClr val="bg1"/>
                </a:solidFill>
              </a:rPr>
              <a:t>khai</a:t>
            </a:r>
            <a:r>
              <a:rPr lang="en-US" dirty="0" smtClean="0">
                <a:solidFill>
                  <a:schemeClr val="bg1"/>
                </a:solidFill>
              </a:rPr>
              <a:t> </a:t>
            </a:r>
            <a:r>
              <a:rPr lang="en-US" dirty="0" err="1" smtClean="0">
                <a:solidFill>
                  <a:schemeClr val="bg1"/>
                </a:solidFill>
              </a:rPr>
              <a:t>báo</a:t>
            </a:r>
            <a:r>
              <a:rPr lang="en-US" dirty="0" smtClean="0">
                <a:solidFill>
                  <a:schemeClr val="bg1"/>
                </a:solidFill>
              </a:rPr>
              <a:t> </a:t>
            </a:r>
            <a:r>
              <a:rPr lang="en-US" dirty="0" err="1" smtClean="0">
                <a:solidFill>
                  <a:schemeClr val="bg1"/>
                </a:solidFill>
              </a:rPr>
              <a:t>biến</a:t>
            </a:r>
            <a:r>
              <a:rPr lang="en-US" dirty="0" smtClean="0">
                <a:solidFill>
                  <a:schemeClr val="bg1"/>
                </a:solidFill>
              </a:rPr>
              <a:t> </a:t>
            </a:r>
            <a:r>
              <a:rPr lang="vi-VN" dirty="0" smtClean="0">
                <a:solidFill>
                  <a:schemeClr val="bg1"/>
                </a:solidFill>
              </a:rPr>
              <a:t>trong </a:t>
            </a:r>
            <a:r>
              <a:rPr lang="vi-VN" dirty="0">
                <a:solidFill>
                  <a:schemeClr val="bg1"/>
                </a:solidFill>
              </a:rPr>
              <a:t>Python ta không cần phải khai báo kiểu dữ liệu ta chỉ cần gán một </a:t>
            </a:r>
            <a:r>
              <a:rPr lang="vi-VN" dirty="0" smtClean="0">
                <a:solidFill>
                  <a:schemeClr val="bg1"/>
                </a:solidFill>
              </a:rPr>
              <a:t>giá</a:t>
            </a:r>
            <a:r>
              <a:rPr lang="en-US" dirty="0" smtClean="0">
                <a:solidFill>
                  <a:schemeClr val="bg1"/>
                </a:solidFill>
              </a:rPr>
              <a:t> </a:t>
            </a:r>
            <a:r>
              <a:rPr lang="vi-VN" dirty="0" smtClean="0">
                <a:solidFill>
                  <a:schemeClr val="bg1"/>
                </a:solidFill>
              </a:rPr>
              <a:t>trị </a:t>
            </a:r>
            <a:r>
              <a:rPr lang="vi-VN" dirty="0">
                <a:solidFill>
                  <a:schemeClr val="bg1"/>
                </a:solidFill>
              </a:rPr>
              <a:t>cho tên biến, Python sẽ tự động suy ra kiểu dữ liệu tương cho biến </a:t>
            </a:r>
            <a:r>
              <a:rPr lang="vi-VN" dirty="0" smtClean="0">
                <a:solidFill>
                  <a:schemeClr val="bg1"/>
                </a:solidFill>
              </a:rPr>
              <a:t>đó</a:t>
            </a:r>
            <a:r>
              <a:rPr lang="en-US" dirty="0" smtClean="0">
                <a:solidFill>
                  <a:schemeClr val="bg1"/>
                </a:solidFill>
              </a:rPr>
              <a:t>.</a:t>
            </a:r>
            <a:endParaRPr lang="vi-VN" dirty="0">
              <a:solidFill>
                <a:schemeClr val="bg1"/>
              </a:solidFill>
            </a:endParaRPr>
          </a:p>
          <a:p>
            <a:endParaRPr lang="en-US" dirty="0">
              <a:solidFill>
                <a:schemeClr val="bg1"/>
              </a:solidFill>
            </a:endParaRPr>
          </a:p>
        </p:txBody>
      </p:sp>
      <p:sp>
        <p:nvSpPr>
          <p:cNvPr id="24" name="TextBox 23"/>
          <p:cNvSpPr txBox="1"/>
          <p:nvPr/>
        </p:nvSpPr>
        <p:spPr>
          <a:xfrm>
            <a:off x="752253" y="5627504"/>
            <a:ext cx="7930269" cy="369332"/>
          </a:xfrm>
          <a:prstGeom prst="rect">
            <a:avLst/>
          </a:prstGeom>
          <a:noFill/>
        </p:spPr>
        <p:txBody>
          <a:bodyPr wrap="square" rtlCol="0">
            <a:spAutoFit/>
          </a:bodyPr>
          <a:lstStyle/>
          <a:p>
            <a:r>
              <a:rPr lang="en-US" dirty="0" err="1" smtClean="0">
                <a:solidFill>
                  <a:schemeClr val="bg1"/>
                </a:solidFill>
              </a:rPr>
              <a:t>Sử</a:t>
            </a:r>
            <a:r>
              <a:rPr lang="en-US" dirty="0" smtClean="0">
                <a:solidFill>
                  <a:schemeClr val="bg1"/>
                </a:solidFill>
              </a:rPr>
              <a:t> </a:t>
            </a:r>
            <a:r>
              <a:rPr lang="en-US" dirty="0" err="1" smtClean="0">
                <a:solidFill>
                  <a:schemeClr val="bg1"/>
                </a:solidFill>
              </a:rPr>
              <a:t>dụng</a:t>
            </a:r>
            <a:r>
              <a:rPr lang="en-US" dirty="0" smtClean="0">
                <a:solidFill>
                  <a:schemeClr val="bg1"/>
                </a:solidFill>
              </a:rPr>
              <a:t> </a:t>
            </a:r>
            <a:r>
              <a:rPr lang="en-US" dirty="0" err="1" smtClean="0">
                <a:solidFill>
                  <a:schemeClr val="bg1"/>
                </a:solidFill>
              </a:rPr>
              <a:t>hàm</a:t>
            </a:r>
            <a:r>
              <a:rPr lang="en-US" dirty="0" smtClean="0">
                <a:solidFill>
                  <a:schemeClr val="bg1"/>
                </a:solidFill>
              </a:rPr>
              <a:t> </a:t>
            </a:r>
            <a:r>
              <a:rPr lang="en-US" b="1" dirty="0" smtClean="0">
                <a:solidFill>
                  <a:srgbClr val="FFFF00"/>
                </a:solidFill>
              </a:rPr>
              <a:t>type()</a:t>
            </a:r>
            <a:r>
              <a:rPr lang="en-US" b="1" dirty="0" smtClean="0">
                <a:solidFill>
                  <a:schemeClr val="bg1"/>
                </a:solidFill>
              </a:rPr>
              <a:t> </a:t>
            </a:r>
            <a:r>
              <a:rPr lang="en-US" dirty="0" err="1" smtClean="0">
                <a:solidFill>
                  <a:schemeClr val="bg1"/>
                </a:solidFill>
              </a:rPr>
              <a:t>để</a:t>
            </a:r>
            <a:r>
              <a:rPr lang="en-US" dirty="0" smtClean="0">
                <a:solidFill>
                  <a:schemeClr val="bg1"/>
                </a:solidFill>
              </a:rPr>
              <a:t> </a:t>
            </a:r>
            <a:r>
              <a:rPr lang="en-US" dirty="0" err="1" smtClean="0">
                <a:solidFill>
                  <a:schemeClr val="bg1"/>
                </a:solidFill>
              </a:rPr>
              <a:t>kiểm</a:t>
            </a:r>
            <a:r>
              <a:rPr lang="en-US" dirty="0" smtClean="0">
                <a:solidFill>
                  <a:schemeClr val="bg1"/>
                </a:solidFill>
              </a:rPr>
              <a:t> </a:t>
            </a:r>
            <a:r>
              <a:rPr lang="en-US" dirty="0" err="1" smtClean="0">
                <a:solidFill>
                  <a:schemeClr val="bg1"/>
                </a:solidFill>
              </a:rPr>
              <a:t>tra</a:t>
            </a:r>
            <a:r>
              <a:rPr lang="en-US" dirty="0" smtClean="0">
                <a:solidFill>
                  <a:schemeClr val="bg1"/>
                </a:solidFill>
              </a:rPr>
              <a:t> </a:t>
            </a:r>
            <a:r>
              <a:rPr lang="en-US" dirty="0" err="1" smtClean="0">
                <a:solidFill>
                  <a:schemeClr val="bg1"/>
                </a:solidFill>
              </a:rPr>
              <a:t>kiểu</a:t>
            </a:r>
            <a:r>
              <a:rPr lang="en-US" dirty="0" smtClean="0">
                <a:solidFill>
                  <a:schemeClr val="bg1"/>
                </a:solidFill>
              </a:rPr>
              <a:t> </a:t>
            </a:r>
            <a:r>
              <a:rPr lang="en-US" dirty="0" err="1" smtClean="0">
                <a:solidFill>
                  <a:schemeClr val="bg1"/>
                </a:solidFill>
              </a:rPr>
              <a:t>dữ</a:t>
            </a:r>
            <a:r>
              <a:rPr lang="en-US" dirty="0" smtClean="0">
                <a:solidFill>
                  <a:schemeClr val="bg1"/>
                </a:solidFill>
              </a:rPr>
              <a:t> </a:t>
            </a:r>
            <a:r>
              <a:rPr lang="en-US" dirty="0" err="1" smtClean="0">
                <a:solidFill>
                  <a:schemeClr val="bg1"/>
                </a:solidFill>
              </a:rPr>
              <a:t>liệu</a:t>
            </a:r>
            <a:r>
              <a:rPr lang="en-US" dirty="0" smtClean="0">
                <a:solidFill>
                  <a:schemeClr val="bg1"/>
                </a:solidFill>
              </a:rPr>
              <a:t> </a:t>
            </a:r>
            <a:r>
              <a:rPr lang="en-US" dirty="0" err="1" smtClean="0">
                <a:solidFill>
                  <a:schemeClr val="bg1"/>
                </a:solidFill>
              </a:rPr>
              <a:t>hiện</a:t>
            </a:r>
            <a:r>
              <a:rPr lang="en-US" dirty="0" smtClean="0">
                <a:solidFill>
                  <a:schemeClr val="bg1"/>
                </a:solidFill>
              </a:rPr>
              <a:t> </a:t>
            </a:r>
            <a:r>
              <a:rPr lang="en-US" dirty="0" err="1" smtClean="0">
                <a:solidFill>
                  <a:schemeClr val="bg1"/>
                </a:solidFill>
              </a:rPr>
              <a:t>tại</a:t>
            </a:r>
            <a:r>
              <a:rPr lang="en-US" dirty="0" smtClean="0">
                <a:solidFill>
                  <a:schemeClr val="bg1"/>
                </a:solidFill>
              </a:rPr>
              <a:t> </a:t>
            </a:r>
            <a:r>
              <a:rPr lang="en-US" dirty="0" err="1" smtClean="0">
                <a:solidFill>
                  <a:schemeClr val="bg1"/>
                </a:solidFill>
              </a:rPr>
              <a:t>của</a:t>
            </a:r>
            <a:r>
              <a:rPr lang="en-US" dirty="0" smtClean="0">
                <a:solidFill>
                  <a:schemeClr val="bg1"/>
                </a:solidFill>
              </a:rPr>
              <a:t> </a:t>
            </a:r>
            <a:r>
              <a:rPr lang="en-US" dirty="0" err="1" smtClean="0">
                <a:solidFill>
                  <a:schemeClr val="bg1"/>
                </a:solidFill>
              </a:rPr>
              <a:t>biến</a:t>
            </a:r>
            <a:endParaRPr lang="en-US" dirty="0">
              <a:solidFill>
                <a:schemeClr val="bg1"/>
              </a:solidFill>
            </a:endParaRPr>
          </a:p>
        </p:txBody>
      </p:sp>
    </p:spTree>
    <p:extLst>
      <p:ext uri="{BB962C8B-B14F-4D97-AF65-F5344CB8AC3E}">
        <p14:creationId xmlns:p14="http://schemas.microsoft.com/office/powerpoint/2010/main" val="29480631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5</a:t>
            </a:fld>
            <a:endParaRPr lang="en-US"/>
          </a:p>
        </p:txBody>
      </p:sp>
      <p:sp>
        <p:nvSpPr>
          <p:cNvPr id="11" name="Text Placeholder 2"/>
          <p:cNvSpPr txBox="1">
            <a:spLocks/>
          </p:cNvSpPr>
          <p:nvPr/>
        </p:nvSpPr>
        <p:spPr>
          <a:xfrm>
            <a:off x="227558" y="828573"/>
            <a:ext cx="8454964" cy="424732"/>
          </a:xfrm>
          <a:prstGeom prst="rect">
            <a:avLst/>
          </a:prstGeom>
          <a:noFill/>
        </p:spPr>
        <p:txBody>
          <a:bodyPr vert="horz" wrap="square" lIns="91440" tIns="45720" rIns="91440" bIns="45720" rtlCol="0">
            <a:spAutoFit/>
          </a:bodyPr>
          <a:lstStyle>
            <a:lvl1pPr marL="0" indent="0" algn="l" defTabSz="914400" rtl="0" eaLnBrk="1" latinLnBrk="0" hangingPunct="1">
              <a:lnSpc>
                <a:spcPct val="90000"/>
              </a:lnSpc>
              <a:spcBef>
                <a:spcPts val="1000"/>
              </a:spcBef>
              <a:buFont typeface="Arial" panose="020B0604020202020204" pitchFamily="34" charset="0"/>
              <a:buNone/>
              <a:defRPr lang="en-US" sz="2400" b="1" kern="1200" dirty="0" smtClean="0">
                <a:solidFill>
                  <a:srgbClr val="64C7E9"/>
                </a:solidFill>
                <a:latin typeface="+mn-lt"/>
                <a:ea typeface="Roboto"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mtClean="0"/>
              <a:t>2.1 Cách khai báo BIẾN trong Python</a:t>
            </a:r>
            <a:endParaRPr lang="en-US"/>
          </a:p>
        </p:txBody>
      </p:sp>
      <p:pic>
        <p:nvPicPr>
          <p:cNvPr id="12"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80670"/>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1041993" y="1621244"/>
            <a:ext cx="2955849" cy="369332"/>
          </a:xfrm>
          <a:prstGeom prst="rect">
            <a:avLst/>
          </a:prstGeom>
          <a:noFill/>
        </p:spPr>
        <p:txBody>
          <a:bodyPr wrap="square" rtlCol="0">
            <a:spAutoFit/>
          </a:bodyPr>
          <a:lstStyle/>
          <a:p>
            <a:r>
              <a:rPr lang="en-US" b="1" dirty="0" err="1" smtClean="0"/>
              <a:t>Ví</a:t>
            </a:r>
            <a:r>
              <a:rPr lang="en-US" b="1" dirty="0" smtClean="0"/>
              <a:t> </a:t>
            </a:r>
            <a:r>
              <a:rPr lang="en-US" b="1" dirty="0" err="1" smtClean="0"/>
              <a:t>dụ</a:t>
            </a:r>
            <a:r>
              <a:rPr lang="en-US" b="1" dirty="0" smtClean="0"/>
              <a:t> </a:t>
            </a:r>
            <a:r>
              <a:rPr lang="en-US" b="1" dirty="0" err="1" smtClean="0"/>
              <a:t>về</a:t>
            </a:r>
            <a:r>
              <a:rPr lang="en-US" b="1" dirty="0" smtClean="0"/>
              <a:t> </a:t>
            </a:r>
            <a:r>
              <a:rPr lang="en-US" b="1" dirty="0" err="1" smtClean="0"/>
              <a:t>khai</a:t>
            </a:r>
            <a:r>
              <a:rPr lang="en-US" b="1" dirty="0" smtClean="0"/>
              <a:t> </a:t>
            </a:r>
            <a:r>
              <a:rPr lang="en-US" b="1" dirty="0" err="1" smtClean="0"/>
              <a:t>báo</a:t>
            </a:r>
            <a:r>
              <a:rPr lang="en-US" b="1" dirty="0" smtClean="0"/>
              <a:t> </a:t>
            </a:r>
            <a:r>
              <a:rPr lang="en-US" b="1" dirty="0" err="1" smtClean="0"/>
              <a:t>biến</a:t>
            </a:r>
            <a:endParaRPr lang="en-US" b="1" dirty="0">
              <a:solidFill>
                <a:srgbClr val="FF0000"/>
              </a:solidFill>
            </a:endParaRPr>
          </a:p>
        </p:txBody>
      </p:sp>
      <p:sp>
        <p:nvSpPr>
          <p:cNvPr id="16" name="Rectangle 15"/>
          <p:cNvSpPr/>
          <p:nvPr/>
        </p:nvSpPr>
        <p:spPr>
          <a:xfrm>
            <a:off x="627321" y="2728297"/>
            <a:ext cx="7846828" cy="78061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808075" y="2917174"/>
            <a:ext cx="7110974" cy="369332"/>
          </a:xfrm>
          <a:prstGeom prst="rect">
            <a:avLst/>
          </a:prstGeom>
          <a:noFill/>
        </p:spPr>
        <p:txBody>
          <a:bodyPr wrap="square" rtlCol="0">
            <a:spAutoFit/>
          </a:bodyPr>
          <a:lstStyle/>
          <a:p>
            <a:r>
              <a:rPr lang="en-US" dirty="0">
                <a:solidFill>
                  <a:schemeClr val="bg1"/>
                </a:solidFill>
              </a:rPr>
              <a:t>n</a:t>
            </a:r>
            <a:r>
              <a:rPr lang="en-US" dirty="0" smtClean="0">
                <a:solidFill>
                  <a:schemeClr val="bg1"/>
                </a:solidFill>
              </a:rPr>
              <a:t>ame  = </a:t>
            </a:r>
            <a:r>
              <a:rPr lang="en-US" dirty="0" smtClean="0">
                <a:solidFill>
                  <a:schemeClr val="accent2">
                    <a:lumMod val="75000"/>
                  </a:schemeClr>
                </a:solidFill>
              </a:rPr>
              <a:t>‘Python’ </a:t>
            </a:r>
            <a:r>
              <a:rPr lang="en-US" dirty="0" smtClean="0">
                <a:solidFill>
                  <a:srgbClr val="60B659"/>
                </a:solidFill>
              </a:rPr>
              <a:t># name </a:t>
            </a:r>
            <a:r>
              <a:rPr lang="en-US" dirty="0" err="1" smtClean="0">
                <a:solidFill>
                  <a:srgbClr val="60B659"/>
                </a:solidFill>
              </a:rPr>
              <a:t>là</a:t>
            </a:r>
            <a:r>
              <a:rPr lang="en-US" dirty="0" smtClean="0">
                <a:solidFill>
                  <a:srgbClr val="60B659"/>
                </a:solidFill>
              </a:rPr>
              <a:t> </a:t>
            </a:r>
            <a:r>
              <a:rPr lang="en-US" dirty="0" err="1" smtClean="0">
                <a:solidFill>
                  <a:srgbClr val="60B659"/>
                </a:solidFill>
              </a:rPr>
              <a:t>kiểu</a:t>
            </a:r>
            <a:r>
              <a:rPr lang="en-US" dirty="0" smtClean="0">
                <a:solidFill>
                  <a:srgbClr val="60B659"/>
                </a:solidFill>
              </a:rPr>
              <a:t> </a:t>
            </a:r>
            <a:r>
              <a:rPr lang="en-US" dirty="0" err="1" smtClean="0">
                <a:solidFill>
                  <a:srgbClr val="60B659"/>
                </a:solidFill>
              </a:rPr>
              <a:t>chuỗi</a:t>
            </a:r>
            <a:r>
              <a:rPr lang="en-US" dirty="0" smtClean="0">
                <a:solidFill>
                  <a:srgbClr val="60B659"/>
                </a:solidFill>
              </a:rPr>
              <a:t> </a:t>
            </a:r>
            <a:r>
              <a:rPr lang="en-US" dirty="0" err="1" smtClean="0">
                <a:solidFill>
                  <a:srgbClr val="60B659"/>
                </a:solidFill>
              </a:rPr>
              <a:t>str</a:t>
            </a:r>
            <a:endParaRPr lang="en-US" dirty="0">
              <a:solidFill>
                <a:srgbClr val="60B659"/>
              </a:solidFill>
            </a:endParaRPr>
          </a:p>
        </p:txBody>
      </p:sp>
      <p:sp>
        <p:nvSpPr>
          <p:cNvPr id="25" name="TextBox 24"/>
          <p:cNvSpPr txBox="1"/>
          <p:nvPr/>
        </p:nvSpPr>
        <p:spPr>
          <a:xfrm>
            <a:off x="435934" y="2186024"/>
            <a:ext cx="7687339" cy="369332"/>
          </a:xfrm>
          <a:prstGeom prst="rect">
            <a:avLst/>
          </a:prstGeom>
          <a:noFill/>
        </p:spPr>
        <p:txBody>
          <a:bodyPr wrap="square" rtlCol="0">
            <a:spAutoFit/>
          </a:bodyPr>
          <a:lstStyle/>
          <a:p>
            <a:r>
              <a:rPr lang="en-US" dirty="0" err="1" smtClean="0"/>
              <a:t>Ví</a:t>
            </a:r>
            <a:r>
              <a:rPr lang="en-US" dirty="0" smtClean="0"/>
              <a:t> </a:t>
            </a:r>
            <a:r>
              <a:rPr lang="en-US" dirty="0" err="1" smtClean="0"/>
              <a:t>dụ</a:t>
            </a:r>
            <a:r>
              <a:rPr lang="en-US" dirty="0" smtClean="0"/>
              <a:t> </a:t>
            </a:r>
            <a:r>
              <a:rPr lang="en-US" dirty="0" err="1" smtClean="0"/>
              <a:t>để</a:t>
            </a:r>
            <a:r>
              <a:rPr lang="en-US" dirty="0" smtClean="0"/>
              <a:t> </a:t>
            </a:r>
            <a:r>
              <a:rPr lang="en-US" dirty="0" err="1" smtClean="0"/>
              <a:t>định</a:t>
            </a:r>
            <a:r>
              <a:rPr lang="en-US" dirty="0" smtClean="0"/>
              <a:t> </a:t>
            </a:r>
            <a:r>
              <a:rPr lang="en-US" dirty="0" err="1" smtClean="0"/>
              <a:t>nghĩa</a:t>
            </a:r>
            <a:r>
              <a:rPr lang="en-US" dirty="0" smtClean="0"/>
              <a:t> </a:t>
            </a:r>
            <a:r>
              <a:rPr lang="en-US" dirty="0" err="1" smtClean="0"/>
              <a:t>biến</a:t>
            </a:r>
            <a:r>
              <a:rPr lang="en-US" dirty="0" smtClean="0"/>
              <a:t> </a:t>
            </a:r>
            <a:r>
              <a:rPr lang="en-US" b="1" dirty="0" smtClean="0"/>
              <a:t>name</a:t>
            </a:r>
            <a:r>
              <a:rPr lang="en-US" dirty="0" smtClean="0"/>
              <a:t> </a:t>
            </a:r>
            <a:r>
              <a:rPr lang="en-US" dirty="0" err="1" smtClean="0"/>
              <a:t>với</a:t>
            </a:r>
            <a:r>
              <a:rPr lang="en-US" dirty="0" smtClean="0"/>
              <a:t> </a:t>
            </a:r>
            <a:r>
              <a:rPr lang="en-US" dirty="0" err="1" smtClean="0"/>
              <a:t>giá</a:t>
            </a:r>
            <a:r>
              <a:rPr lang="en-US" dirty="0" smtClean="0"/>
              <a:t> </a:t>
            </a:r>
            <a:r>
              <a:rPr lang="en-US" dirty="0" err="1" smtClean="0"/>
              <a:t>trị</a:t>
            </a:r>
            <a:r>
              <a:rPr lang="en-US" dirty="0" smtClean="0"/>
              <a:t> </a:t>
            </a:r>
            <a:r>
              <a:rPr lang="en-US" b="1" dirty="0" smtClean="0"/>
              <a:t>Python</a:t>
            </a:r>
            <a:r>
              <a:rPr lang="en-US" dirty="0" smtClean="0"/>
              <a:t> ta </a:t>
            </a:r>
            <a:r>
              <a:rPr lang="en-US" dirty="0" err="1" smtClean="0"/>
              <a:t>viết</a:t>
            </a:r>
            <a:r>
              <a:rPr lang="en-US" dirty="0" smtClean="0"/>
              <a:t> </a:t>
            </a:r>
            <a:r>
              <a:rPr lang="en-US" dirty="0" err="1" smtClean="0"/>
              <a:t>như</a:t>
            </a:r>
            <a:r>
              <a:rPr lang="en-US" dirty="0" smtClean="0"/>
              <a:t> </a:t>
            </a:r>
            <a:r>
              <a:rPr lang="en-US" dirty="0" err="1" smtClean="0"/>
              <a:t>sau</a:t>
            </a:r>
            <a:r>
              <a:rPr lang="en-US" dirty="0" smtClean="0"/>
              <a:t>:</a:t>
            </a:r>
            <a:endParaRPr lang="en-US" b="1" dirty="0"/>
          </a:p>
        </p:txBody>
      </p:sp>
      <p:sp>
        <p:nvSpPr>
          <p:cNvPr id="26" name="TextBox 25"/>
          <p:cNvSpPr txBox="1"/>
          <p:nvPr/>
        </p:nvSpPr>
        <p:spPr>
          <a:xfrm>
            <a:off x="435934" y="3659553"/>
            <a:ext cx="7687339" cy="369332"/>
          </a:xfrm>
          <a:prstGeom prst="rect">
            <a:avLst/>
          </a:prstGeom>
          <a:noFill/>
        </p:spPr>
        <p:txBody>
          <a:bodyPr wrap="square" rtlCol="0">
            <a:spAutoFit/>
          </a:bodyPr>
          <a:lstStyle/>
          <a:p>
            <a:r>
              <a:rPr lang="en-US" dirty="0" err="1" smtClean="0"/>
              <a:t>Ví</a:t>
            </a:r>
            <a:r>
              <a:rPr lang="en-US" dirty="0" smtClean="0"/>
              <a:t> </a:t>
            </a:r>
            <a:r>
              <a:rPr lang="en-US" dirty="0" err="1" smtClean="0"/>
              <a:t>dụ</a:t>
            </a:r>
            <a:r>
              <a:rPr lang="en-US" dirty="0" smtClean="0"/>
              <a:t> </a:t>
            </a:r>
            <a:r>
              <a:rPr lang="en-US" dirty="0" err="1" smtClean="0"/>
              <a:t>để</a:t>
            </a:r>
            <a:r>
              <a:rPr lang="en-US" dirty="0" smtClean="0"/>
              <a:t> </a:t>
            </a:r>
            <a:r>
              <a:rPr lang="en-US" dirty="0" err="1" smtClean="0"/>
              <a:t>định</a:t>
            </a:r>
            <a:r>
              <a:rPr lang="en-US" dirty="0" smtClean="0"/>
              <a:t> </a:t>
            </a:r>
            <a:r>
              <a:rPr lang="en-US" dirty="0" err="1" smtClean="0"/>
              <a:t>nghĩa</a:t>
            </a:r>
            <a:r>
              <a:rPr lang="en-US" dirty="0" smtClean="0"/>
              <a:t> </a:t>
            </a:r>
            <a:r>
              <a:rPr lang="en-US" dirty="0" err="1" smtClean="0"/>
              <a:t>biến</a:t>
            </a:r>
            <a:r>
              <a:rPr lang="en-US" dirty="0" smtClean="0"/>
              <a:t> </a:t>
            </a:r>
            <a:r>
              <a:rPr lang="en-US" b="1" dirty="0" smtClean="0"/>
              <a:t>age</a:t>
            </a:r>
            <a:r>
              <a:rPr lang="en-US" dirty="0" smtClean="0"/>
              <a:t> </a:t>
            </a:r>
            <a:r>
              <a:rPr lang="en-US" dirty="0" err="1" smtClean="0"/>
              <a:t>với</a:t>
            </a:r>
            <a:r>
              <a:rPr lang="en-US" dirty="0" smtClean="0"/>
              <a:t> </a:t>
            </a:r>
            <a:r>
              <a:rPr lang="en-US" dirty="0" err="1" smtClean="0"/>
              <a:t>giá</a:t>
            </a:r>
            <a:r>
              <a:rPr lang="en-US" dirty="0" smtClean="0"/>
              <a:t> </a:t>
            </a:r>
            <a:r>
              <a:rPr lang="en-US" dirty="0" err="1" smtClean="0"/>
              <a:t>trị</a:t>
            </a:r>
            <a:r>
              <a:rPr lang="en-US" dirty="0" smtClean="0"/>
              <a:t> </a:t>
            </a:r>
            <a:r>
              <a:rPr lang="en-US" b="1" dirty="0" smtClean="0"/>
              <a:t>35</a:t>
            </a:r>
            <a:r>
              <a:rPr lang="en-US" dirty="0" smtClean="0"/>
              <a:t> ta </a:t>
            </a:r>
            <a:r>
              <a:rPr lang="en-US" dirty="0" err="1" smtClean="0"/>
              <a:t>viết</a:t>
            </a:r>
            <a:r>
              <a:rPr lang="en-US" dirty="0" smtClean="0"/>
              <a:t> </a:t>
            </a:r>
            <a:r>
              <a:rPr lang="en-US" dirty="0" err="1" smtClean="0"/>
              <a:t>như</a:t>
            </a:r>
            <a:r>
              <a:rPr lang="en-US" dirty="0" smtClean="0"/>
              <a:t> </a:t>
            </a:r>
            <a:r>
              <a:rPr lang="en-US" dirty="0" err="1" smtClean="0"/>
              <a:t>sau</a:t>
            </a:r>
            <a:r>
              <a:rPr lang="en-US" dirty="0" smtClean="0"/>
              <a:t>:</a:t>
            </a:r>
            <a:endParaRPr lang="en-US" b="1" dirty="0"/>
          </a:p>
        </p:txBody>
      </p:sp>
      <p:sp>
        <p:nvSpPr>
          <p:cNvPr id="27" name="Rectangle 26"/>
          <p:cNvSpPr/>
          <p:nvPr/>
        </p:nvSpPr>
        <p:spPr>
          <a:xfrm>
            <a:off x="627321" y="4192954"/>
            <a:ext cx="7846828" cy="78061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808075" y="4381831"/>
            <a:ext cx="6974958" cy="369332"/>
          </a:xfrm>
          <a:prstGeom prst="rect">
            <a:avLst/>
          </a:prstGeom>
          <a:noFill/>
        </p:spPr>
        <p:txBody>
          <a:bodyPr wrap="square" rtlCol="0">
            <a:spAutoFit/>
          </a:bodyPr>
          <a:lstStyle/>
          <a:p>
            <a:r>
              <a:rPr lang="en-US" dirty="0" smtClean="0">
                <a:solidFill>
                  <a:schemeClr val="bg1"/>
                </a:solidFill>
              </a:rPr>
              <a:t>age  = </a:t>
            </a:r>
            <a:r>
              <a:rPr lang="en-US" dirty="0" smtClean="0">
                <a:solidFill>
                  <a:schemeClr val="accent6">
                    <a:lumMod val="40000"/>
                    <a:lumOff val="60000"/>
                  </a:schemeClr>
                </a:solidFill>
              </a:rPr>
              <a:t>35 </a:t>
            </a:r>
            <a:r>
              <a:rPr lang="en-US" dirty="0" smtClean="0">
                <a:solidFill>
                  <a:srgbClr val="60B659"/>
                </a:solidFill>
              </a:rPr>
              <a:t># age </a:t>
            </a:r>
            <a:r>
              <a:rPr lang="en-US" dirty="0" err="1" smtClean="0">
                <a:solidFill>
                  <a:srgbClr val="60B659"/>
                </a:solidFill>
              </a:rPr>
              <a:t>là</a:t>
            </a:r>
            <a:r>
              <a:rPr lang="en-US" dirty="0" smtClean="0">
                <a:solidFill>
                  <a:srgbClr val="60B659"/>
                </a:solidFill>
              </a:rPr>
              <a:t> </a:t>
            </a:r>
            <a:r>
              <a:rPr lang="en-US" dirty="0" err="1" smtClean="0">
                <a:solidFill>
                  <a:srgbClr val="60B659"/>
                </a:solidFill>
              </a:rPr>
              <a:t>kiểu</a:t>
            </a:r>
            <a:r>
              <a:rPr lang="en-US" dirty="0" smtClean="0">
                <a:solidFill>
                  <a:srgbClr val="60B659"/>
                </a:solidFill>
              </a:rPr>
              <a:t> </a:t>
            </a:r>
            <a:r>
              <a:rPr lang="en-US" dirty="0" err="1" smtClean="0">
                <a:solidFill>
                  <a:srgbClr val="60B659"/>
                </a:solidFill>
              </a:rPr>
              <a:t>số</a:t>
            </a:r>
            <a:r>
              <a:rPr lang="en-US" dirty="0" smtClean="0">
                <a:solidFill>
                  <a:srgbClr val="60B659"/>
                </a:solidFill>
              </a:rPr>
              <a:t> </a:t>
            </a:r>
            <a:r>
              <a:rPr lang="en-US" dirty="0" err="1" smtClean="0">
                <a:solidFill>
                  <a:srgbClr val="60B659"/>
                </a:solidFill>
              </a:rPr>
              <a:t>int</a:t>
            </a:r>
            <a:endParaRPr lang="en-US" dirty="0">
              <a:solidFill>
                <a:srgbClr val="60B659"/>
              </a:solidFill>
            </a:endParaRPr>
          </a:p>
        </p:txBody>
      </p:sp>
      <p:sp>
        <p:nvSpPr>
          <p:cNvPr id="29" name="TextBox 28"/>
          <p:cNvSpPr txBox="1"/>
          <p:nvPr/>
        </p:nvSpPr>
        <p:spPr>
          <a:xfrm>
            <a:off x="435934" y="5162441"/>
            <a:ext cx="7687339" cy="369332"/>
          </a:xfrm>
          <a:prstGeom prst="rect">
            <a:avLst/>
          </a:prstGeom>
          <a:noFill/>
        </p:spPr>
        <p:txBody>
          <a:bodyPr wrap="square" rtlCol="0">
            <a:spAutoFit/>
          </a:bodyPr>
          <a:lstStyle/>
          <a:p>
            <a:r>
              <a:rPr lang="en-US" dirty="0" err="1" smtClean="0"/>
              <a:t>Kiểm</a:t>
            </a:r>
            <a:r>
              <a:rPr lang="en-US" dirty="0" smtClean="0"/>
              <a:t> </a:t>
            </a:r>
            <a:r>
              <a:rPr lang="en-US" dirty="0" err="1" smtClean="0"/>
              <a:t>tra</a:t>
            </a:r>
            <a:r>
              <a:rPr lang="en-US" dirty="0" smtClean="0"/>
              <a:t> </a:t>
            </a:r>
            <a:r>
              <a:rPr lang="en-US" dirty="0" err="1" smtClean="0"/>
              <a:t>kiểu</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hiện</a:t>
            </a:r>
            <a:r>
              <a:rPr lang="en-US" dirty="0" smtClean="0"/>
              <a:t> </a:t>
            </a:r>
            <a:r>
              <a:rPr lang="en-US" dirty="0" err="1" smtClean="0"/>
              <a:t>tại</a:t>
            </a:r>
            <a:r>
              <a:rPr lang="en-US" dirty="0" smtClean="0"/>
              <a:t> </a:t>
            </a:r>
            <a:r>
              <a:rPr lang="en-US" dirty="0" err="1" smtClean="0"/>
              <a:t>của</a:t>
            </a:r>
            <a:r>
              <a:rPr lang="en-US" dirty="0" smtClean="0"/>
              <a:t> </a:t>
            </a:r>
            <a:r>
              <a:rPr lang="en-US" dirty="0" err="1" smtClean="0"/>
              <a:t>biến</a:t>
            </a:r>
            <a:endParaRPr lang="en-US" b="1" dirty="0"/>
          </a:p>
        </p:txBody>
      </p:sp>
      <p:sp>
        <p:nvSpPr>
          <p:cNvPr id="30" name="Rectangle 29"/>
          <p:cNvSpPr/>
          <p:nvPr/>
        </p:nvSpPr>
        <p:spPr>
          <a:xfrm>
            <a:off x="627321" y="5587594"/>
            <a:ext cx="7846828" cy="78061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808075" y="5776471"/>
            <a:ext cx="7666074" cy="369332"/>
          </a:xfrm>
          <a:prstGeom prst="rect">
            <a:avLst/>
          </a:prstGeom>
          <a:noFill/>
        </p:spPr>
        <p:txBody>
          <a:bodyPr wrap="square" rtlCol="0">
            <a:spAutoFit/>
          </a:bodyPr>
          <a:lstStyle/>
          <a:p>
            <a:r>
              <a:rPr lang="en-US" dirty="0" smtClean="0">
                <a:solidFill>
                  <a:schemeClr val="bg1"/>
                </a:solidFill>
              </a:rPr>
              <a:t>print</a:t>
            </a:r>
            <a:r>
              <a:rPr lang="en-US" dirty="0" smtClean="0">
                <a:solidFill>
                  <a:srgbClr val="FECC36"/>
                </a:solidFill>
              </a:rPr>
              <a:t>(</a:t>
            </a:r>
            <a:r>
              <a:rPr lang="en-US" dirty="0" smtClean="0">
                <a:solidFill>
                  <a:schemeClr val="bg1"/>
                </a:solidFill>
              </a:rPr>
              <a:t>type</a:t>
            </a:r>
            <a:r>
              <a:rPr lang="en-US" dirty="0" smtClean="0">
                <a:solidFill>
                  <a:srgbClr val="FF66CC"/>
                </a:solidFill>
              </a:rPr>
              <a:t>(</a:t>
            </a:r>
            <a:r>
              <a:rPr lang="en-US" dirty="0" smtClean="0">
                <a:solidFill>
                  <a:schemeClr val="bg1"/>
                </a:solidFill>
              </a:rPr>
              <a:t>name</a:t>
            </a:r>
            <a:r>
              <a:rPr lang="en-US" dirty="0" smtClean="0">
                <a:solidFill>
                  <a:srgbClr val="FF0000"/>
                </a:solidFill>
              </a:rPr>
              <a:t>)</a:t>
            </a:r>
            <a:r>
              <a:rPr lang="en-US" dirty="0" smtClean="0">
                <a:solidFill>
                  <a:srgbClr val="FECC36"/>
                </a:solidFill>
              </a:rPr>
              <a:t>) </a:t>
            </a:r>
            <a:r>
              <a:rPr lang="en-US" dirty="0" smtClean="0">
                <a:solidFill>
                  <a:srgbClr val="60B659"/>
                </a:solidFill>
              </a:rPr>
              <a:t># </a:t>
            </a:r>
            <a:r>
              <a:rPr lang="en-US" dirty="0" err="1" smtClean="0">
                <a:solidFill>
                  <a:srgbClr val="60B659"/>
                </a:solidFill>
              </a:rPr>
              <a:t>Kết</a:t>
            </a:r>
            <a:r>
              <a:rPr lang="en-US" dirty="0" smtClean="0">
                <a:solidFill>
                  <a:srgbClr val="60B659"/>
                </a:solidFill>
              </a:rPr>
              <a:t> </a:t>
            </a:r>
            <a:r>
              <a:rPr lang="en-US" dirty="0" err="1" smtClean="0">
                <a:solidFill>
                  <a:srgbClr val="60B659"/>
                </a:solidFill>
              </a:rPr>
              <a:t>quả</a:t>
            </a:r>
            <a:r>
              <a:rPr lang="en-US" dirty="0" smtClean="0">
                <a:solidFill>
                  <a:srgbClr val="60B659"/>
                </a:solidFill>
              </a:rPr>
              <a:t> in </a:t>
            </a:r>
            <a:r>
              <a:rPr lang="en-US" dirty="0" err="1" smtClean="0">
                <a:solidFill>
                  <a:srgbClr val="60B659"/>
                </a:solidFill>
              </a:rPr>
              <a:t>ra</a:t>
            </a:r>
            <a:r>
              <a:rPr lang="en-US" dirty="0">
                <a:solidFill>
                  <a:srgbClr val="60B659"/>
                </a:solidFill>
              </a:rPr>
              <a:t> Terminal: &lt;type '</a:t>
            </a:r>
            <a:r>
              <a:rPr lang="en-US" dirty="0" err="1">
                <a:solidFill>
                  <a:srgbClr val="60B659"/>
                </a:solidFill>
              </a:rPr>
              <a:t>str</a:t>
            </a:r>
            <a:r>
              <a:rPr lang="en-US" dirty="0">
                <a:solidFill>
                  <a:srgbClr val="60B659"/>
                </a:solidFill>
              </a:rPr>
              <a:t>'&gt;</a:t>
            </a:r>
          </a:p>
        </p:txBody>
      </p:sp>
    </p:spTree>
    <p:extLst>
      <p:ext uri="{BB962C8B-B14F-4D97-AF65-F5344CB8AC3E}">
        <p14:creationId xmlns:p14="http://schemas.microsoft.com/office/powerpoint/2010/main" val="19236176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6</a:t>
            </a:fld>
            <a:endParaRPr lang="en-US"/>
          </a:p>
        </p:txBody>
      </p:sp>
      <p:sp>
        <p:nvSpPr>
          <p:cNvPr id="3" name="Text Placeholder 2"/>
          <p:cNvSpPr>
            <a:spLocks noGrp="1"/>
          </p:cNvSpPr>
          <p:nvPr>
            <p:ph type="body" sz="quarter" idx="13"/>
          </p:nvPr>
        </p:nvSpPr>
        <p:spPr/>
        <p:txBody>
          <a:bodyPr/>
          <a:lstStyle/>
          <a:p>
            <a:r>
              <a:rPr lang="en-US" dirty="0" smtClean="0"/>
              <a:t>2.2 </a:t>
            </a:r>
            <a:r>
              <a:rPr lang="en-US" dirty="0" err="1" smtClean="0"/>
              <a:t>Nguyên</a:t>
            </a:r>
            <a:r>
              <a:rPr lang="en-US" dirty="0" smtClean="0"/>
              <a:t> </a:t>
            </a:r>
            <a:r>
              <a:rPr lang="en-US" dirty="0" err="1" smtClean="0"/>
              <a:t>tắc</a:t>
            </a:r>
            <a:r>
              <a:rPr lang="en-US" dirty="0" smtClean="0"/>
              <a:t> </a:t>
            </a:r>
            <a:r>
              <a:rPr lang="en-US" dirty="0" err="1" smtClean="0"/>
              <a:t>đặt</a:t>
            </a:r>
            <a:r>
              <a:rPr lang="en-US" dirty="0" smtClean="0"/>
              <a:t> </a:t>
            </a:r>
            <a:r>
              <a:rPr lang="en-US" dirty="0" err="1" smtClean="0"/>
              <a:t>tên</a:t>
            </a:r>
            <a:r>
              <a:rPr lang="en-US" dirty="0" smtClean="0"/>
              <a:t> </a:t>
            </a:r>
            <a:r>
              <a:rPr lang="en-US" dirty="0" err="1" smtClean="0"/>
              <a:t>biến</a:t>
            </a:r>
            <a:r>
              <a:rPr lang="en-US" dirty="0" smtClean="0"/>
              <a:t> </a:t>
            </a:r>
            <a:r>
              <a:rPr lang="en-US" dirty="0" err="1" smtClean="0"/>
              <a:t>trong</a:t>
            </a:r>
            <a:r>
              <a:rPr lang="en-US" dirty="0" smtClean="0"/>
              <a:t> Python</a:t>
            </a:r>
            <a:endParaRPr lang="en-US" dirty="0"/>
          </a:p>
        </p:txBody>
      </p:sp>
      <p:sp>
        <p:nvSpPr>
          <p:cNvPr id="4" name="Oval 3"/>
          <p:cNvSpPr/>
          <p:nvPr/>
        </p:nvSpPr>
        <p:spPr>
          <a:xfrm>
            <a:off x="602143" y="1654766"/>
            <a:ext cx="312257" cy="312257"/>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1</a:t>
            </a:r>
            <a:endParaRPr lang="en-US" b="1" dirty="0"/>
          </a:p>
        </p:txBody>
      </p:sp>
      <p:sp>
        <p:nvSpPr>
          <p:cNvPr id="5" name="Oval 4"/>
          <p:cNvSpPr/>
          <p:nvPr/>
        </p:nvSpPr>
        <p:spPr>
          <a:xfrm>
            <a:off x="602143" y="2183145"/>
            <a:ext cx="312257" cy="312257"/>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sp>
        <p:nvSpPr>
          <p:cNvPr id="6" name="Oval 5"/>
          <p:cNvSpPr/>
          <p:nvPr/>
        </p:nvSpPr>
        <p:spPr>
          <a:xfrm>
            <a:off x="602143" y="2696427"/>
            <a:ext cx="312257" cy="312257"/>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3</a:t>
            </a:r>
            <a:endParaRPr lang="en-US" b="1" dirty="0"/>
          </a:p>
        </p:txBody>
      </p:sp>
      <p:sp>
        <p:nvSpPr>
          <p:cNvPr id="7" name="Oval 6"/>
          <p:cNvSpPr/>
          <p:nvPr/>
        </p:nvSpPr>
        <p:spPr>
          <a:xfrm>
            <a:off x="602143" y="3239902"/>
            <a:ext cx="312257" cy="312257"/>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4</a:t>
            </a:r>
          </a:p>
        </p:txBody>
      </p:sp>
      <p:sp>
        <p:nvSpPr>
          <p:cNvPr id="8" name="Oval 7"/>
          <p:cNvSpPr/>
          <p:nvPr/>
        </p:nvSpPr>
        <p:spPr>
          <a:xfrm>
            <a:off x="602143" y="3997408"/>
            <a:ext cx="312257" cy="312257"/>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5</a:t>
            </a:r>
          </a:p>
        </p:txBody>
      </p:sp>
      <p:sp>
        <p:nvSpPr>
          <p:cNvPr id="10" name="TextBox 9"/>
          <p:cNvSpPr txBox="1"/>
          <p:nvPr/>
        </p:nvSpPr>
        <p:spPr>
          <a:xfrm>
            <a:off x="1069550" y="2200142"/>
            <a:ext cx="7687339" cy="369332"/>
          </a:xfrm>
          <a:prstGeom prst="rect">
            <a:avLst/>
          </a:prstGeom>
          <a:noFill/>
        </p:spPr>
        <p:txBody>
          <a:bodyPr wrap="square" rtlCol="0">
            <a:spAutoFit/>
          </a:bodyPr>
          <a:lstStyle/>
          <a:p>
            <a:r>
              <a:rPr lang="en-US" dirty="0" smtClean="0"/>
              <a:t>Phải bắt đầu bằng một ký </a:t>
            </a:r>
            <a:r>
              <a:rPr lang="en-US" dirty="0"/>
              <a:t>tự chữ a-z, A-Z </a:t>
            </a:r>
            <a:r>
              <a:rPr lang="en-US" dirty="0" smtClean="0"/>
              <a:t>hoặc dấu gạch dưới _</a:t>
            </a:r>
            <a:endParaRPr lang="en-US" b="1" dirty="0"/>
          </a:p>
        </p:txBody>
      </p:sp>
      <p:sp>
        <p:nvSpPr>
          <p:cNvPr id="11" name="TextBox 10"/>
          <p:cNvSpPr txBox="1"/>
          <p:nvPr/>
        </p:nvSpPr>
        <p:spPr>
          <a:xfrm>
            <a:off x="1069550" y="2685361"/>
            <a:ext cx="7687339" cy="369332"/>
          </a:xfrm>
          <a:prstGeom prst="rect">
            <a:avLst/>
          </a:prstGeom>
          <a:noFill/>
        </p:spPr>
        <p:txBody>
          <a:bodyPr wrap="square" rtlCol="0">
            <a:spAutoFit/>
          </a:bodyPr>
          <a:lstStyle/>
          <a:p>
            <a:r>
              <a:rPr lang="en-US" dirty="0" err="1" smtClean="0"/>
              <a:t>Tên</a:t>
            </a:r>
            <a:r>
              <a:rPr lang="en-US" dirty="0" smtClean="0"/>
              <a:t> </a:t>
            </a:r>
            <a:r>
              <a:rPr lang="en-US" dirty="0" err="1" smtClean="0"/>
              <a:t>biến</a:t>
            </a:r>
            <a:r>
              <a:rPr lang="en-US" dirty="0" smtClean="0"/>
              <a:t> </a:t>
            </a:r>
            <a:r>
              <a:rPr lang="en-US" dirty="0" err="1" smtClean="0">
                <a:solidFill>
                  <a:srgbClr val="FF0000"/>
                </a:solidFill>
              </a:rPr>
              <a:t>không</a:t>
            </a:r>
            <a:r>
              <a:rPr lang="en-US" dirty="0" smtClean="0">
                <a:solidFill>
                  <a:srgbClr val="FF0000"/>
                </a:solidFill>
              </a:rPr>
              <a:t> </a:t>
            </a:r>
            <a:r>
              <a:rPr lang="en-US" dirty="0" err="1" smtClean="0"/>
              <a:t>bắt</a:t>
            </a:r>
            <a:r>
              <a:rPr lang="en-US" dirty="0" smtClean="0"/>
              <a:t> </a:t>
            </a:r>
            <a:r>
              <a:rPr lang="en-US" dirty="0" err="1" smtClean="0"/>
              <a:t>đầu</a:t>
            </a:r>
            <a:r>
              <a:rPr lang="en-US" dirty="0" smtClean="0"/>
              <a:t> </a:t>
            </a:r>
            <a:r>
              <a:rPr lang="en-US" dirty="0" err="1" smtClean="0"/>
              <a:t>bằng</a:t>
            </a:r>
            <a:r>
              <a:rPr lang="en-US" dirty="0" smtClean="0"/>
              <a:t> </a:t>
            </a:r>
            <a:r>
              <a:rPr lang="en-US" dirty="0" err="1" smtClean="0"/>
              <a:t>một</a:t>
            </a:r>
            <a:r>
              <a:rPr lang="en-US" dirty="0" smtClean="0"/>
              <a:t> con </a:t>
            </a:r>
            <a:r>
              <a:rPr lang="en-US" dirty="0" err="1" smtClean="0"/>
              <a:t>số</a:t>
            </a:r>
            <a:endParaRPr lang="en-US" b="1" dirty="0"/>
          </a:p>
        </p:txBody>
      </p:sp>
      <p:sp>
        <p:nvSpPr>
          <p:cNvPr id="12" name="TextBox 11"/>
          <p:cNvSpPr txBox="1"/>
          <p:nvPr/>
        </p:nvSpPr>
        <p:spPr>
          <a:xfrm>
            <a:off x="1069550" y="1682421"/>
            <a:ext cx="7687339" cy="369332"/>
          </a:xfrm>
          <a:prstGeom prst="rect">
            <a:avLst/>
          </a:prstGeom>
          <a:noFill/>
        </p:spPr>
        <p:txBody>
          <a:bodyPr wrap="square" rtlCol="0">
            <a:spAutoFit/>
          </a:bodyPr>
          <a:lstStyle/>
          <a:p>
            <a:r>
              <a:rPr lang="en-US" dirty="0" err="1" smtClean="0"/>
              <a:t>Tên</a:t>
            </a:r>
            <a:r>
              <a:rPr lang="en-US" dirty="0" smtClean="0"/>
              <a:t> </a:t>
            </a:r>
            <a:r>
              <a:rPr lang="en-US" dirty="0" err="1" smtClean="0"/>
              <a:t>biến</a:t>
            </a:r>
            <a:r>
              <a:rPr lang="en-US" dirty="0" smtClean="0"/>
              <a:t> </a:t>
            </a:r>
            <a:r>
              <a:rPr lang="en-US" dirty="0" err="1" smtClean="0"/>
              <a:t>chỉ</a:t>
            </a:r>
            <a:r>
              <a:rPr lang="en-US" dirty="0" smtClean="0"/>
              <a:t> </a:t>
            </a:r>
            <a:r>
              <a:rPr lang="en-US" dirty="0" err="1" smtClean="0"/>
              <a:t>chứa</a:t>
            </a:r>
            <a:r>
              <a:rPr lang="en-US" dirty="0" smtClean="0"/>
              <a:t> </a:t>
            </a:r>
            <a:r>
              <a:rPr lang="en-US" dirty="0" err="1" smtClean="0"/>
              <a:t>các</a:t>
            </a:r>
            <a:r>
              <a:rPr lang="en-US" dirty="0" smtClean="0"/>
              <a:t> </a:t>
            </a:r>
            <a:r>
              <a:rPr lang="en-US" dirty="0" err="1" smtClean="0"/>
              <a:t>ký</a:t>
            </a:r>
            <a:r>
              <a:rPr lang="en-US" dirty="0" smtClean="0"/>
              <a:t> </a:t>
            </a:r>
            <a:r>
              <a:rPr lang="en-US" dirty="0" err="1" smtClean="0"/>
              <a:t>tự</a:t>
            </a:r>
            <a:r>
              <a:rPr lang="en-US" dirty="0" smtClean="0"/>
              <a:t> a-z, A-Z, 0-9  </a:t>
            </a:r>
            <a:r>
              <a:rPr lang="en-US" dirty="0" err="1" smtClean="0"/>
              <a:t>và</a:t>
            </a:r>
            <a:r>
              <a:rPr lang="en-US" dirty="0" smtClean="0"/>
              <a:t> </a:t>
            </a:r>
            <a:r>
              <a:rPr lang="en-US" dirty="0" err="1" smtClean="0"/>
              <a:t>dấu</a:t>
            </a:r>
            <a:r>
              <a:rPr lang="en-US" dirty="0" smtClean="0"/>
              <a:t> </a:t>
            </a:r>
            <a:r>
              <a:rPr lang="en-US" dirty="0" err="1" smtClean="0"/>
              <a:t>gạch</a:t>
            </a:r>
            <a:r>
              <a:rPr lang="en-US" dirty="0" smtClean="0"/>
              <a:t> </a:t>
            </a:r>
            <a:r>
              <a:rPr lang="en-US" dirty="0" err="1" smtClean="0"/>
              <a:t>dưới</a:t>
            </a:r>
            <a:r>
              <a:rPr lang="en-US" dirty="0" smtClean="0"/>
              <a:t> _</a:t>
            </a:r>
            <a:endParaRPr lang="en-US" b="1" dirty="0"/>
          </a:p>
        </p:txBody>
      </p:sp>
      <p:sp>
        <p:nvSpPr>
          <p:cNvPr id="13" name="TextBox 12"/>
          <p:cNvSpPr txBox="1"/>
          <p:nvPr/>
        </p:nvSpPr>
        <p:spPr>
          <a:xfrm>
            <a:off x="1069550" y="3216988"/>
            <a:ext cx="7687339" cy="646331"/>
          </a:xfrm>
          <a:prstGeom prst="rect">
            <a:avLst/>
          </a:prstGeom>
          <a:noFill/>
        </p:spPr>
        <p:txBody>
          <a:bodyPr wrap="square" rtlCol="0">
            <a:spAutoFit/>
          </a:bodyPr>
          <a:lstStyle/>
          <a:p>
            <a:r>
              <a:rPr lang="vi-VN" dirty="0"/>
              <a:t>Tên biến </a:t>
            </a:r>
            <a:r>
              <a:rPr lang="vi-VN" dirty="0">
                <a:solidFill>
                  <a:srgbClr val="FF0000"/>
                </a:solidFill>
              </a:rPr>
              <a:t>phân biệt </a:t>
            </a:r>
            <a:r>
              <a:rPr lang="vi-VN" dirty="0"/>
              <a:t>chữ hoa chữ </a:t>
            </a:r>
            <a:r>
              <a:rPr lang="vi-VN" dirty="0" smtClean="0"/>
              <a:t>thường</a:t>
            </a:r>
            <a:r>
              <a:rPr lang="en-US" dirty="0" smtClean="0"/>
              <a:t> </a:t>
            </a:r>
            <a:r>
              <a:rPr lang="en-US" dirty="0"/>
              <a:t>(age, Age </a:t>
            </a:r>
            <a:r>
              <a:rPr lang="en-US" dirty="0" smtClean="0"/>
              <a:t>, AGE </a:t>
            </a:r>
            <a:r>
              <a:rPr lang="en-US" dirty="0" err="1" smtClean="0"/>
              <a:t>là</a:t>
            </a:r>
            <a:r>
              <a:rPr lang="en-US" dirty="0" smtClean="0"/>
              <a:t> 3 </a:t>
            </a:r>
            <a:r>
              <a:rPr lang="en-US" dirty="0" err="1" smtClean="0"/>
              <a:t>biến</a:t>
            </a:r>
            <a:r>
              <a:rPr lang="en-US" dirty="0" smtClean="0"/>
              <a:t> </a:t>
            </a:r>
            <a:r>
              <a:rPr lang="en-US" dirty="0" err="1" smtClean="0"/>
              <a:t>khác</a:t>
            </a:r>
            <a:r>
              <a:rPr lang="en-US" dirty="0" smtClean="0"/>
              <a:t> </a:t>
            </a:r>
            <a:r>
              <a:rPr lang="en-US" dirty="0" err="1" smtClean="0"/>
              <a:t>nhau</a:t>
            </a:r>
            <a:r>
              <a:rPr lang="en-US" dirty="0" smtClean="0"/>
              <a:t>)</a:t>
            </a:r>
            <a:endParaRPr lang="en-US" b="1" dirty="0"/>
          </a:p>
        </p:txBody>
      </p:sp>
      <p:sp>
        <p:nvSpPr>
          <p:cNvPr id="14" name="TextBox 13"/>
          <p:cNvSpPr txBox="1"/>
          <p:nvPr/>
        </p:nvSpPr>
        <p:spPr>
          <a:xfrm>
            <a:off x="1069550" y="3971898"/>
            <a:ext cx="7687339" cy="369332"/>
          </a:xfrm>
          <a:prstGeom prst="rect">
            <a:avLst/>
          </a:prstGeom>
          <a:noFill/>
        </p:spPr>
        <p:txBody>
          <a:bodyPr wrap="square" rtlCol="0">
            <a:spAutoFit/>
          </a:bodyPr>
          <a:lstStyle/>
          <a:p>
            <a:r>
              <a:rPr lang="vi-VN" dirty="0"/>
              <a:t>Tên biến </a:t>
            </a:r>
            <a:r>
              <a:rPr lang="en-US" dirty="0" err="1" smtClean="0">
                <a:solidFill>
                  <a:srgbClr val="FF0000"/>
                </a:solidFill>
              </a:rPr>
              <a:t>không</a:t>
            </a:r>
            <a:r>
              <a:rPr lang="en-US" dirty="0" smtClean="0">
                <a:solidFill>
                  <a:srgbClr val="FF0000"/>
                </a:solidFill>
              </a:rPr>
              <a:t> </a:t>
            </a:r>
            <a:r>
              <a:rPr lang="en-US" dirty="0" err="1" smtClean="0"/>
              <a:t>chứa</a:t>
            </a:r>
            <a:r>
              <a:rPr lang="en-US" dirty="0" smtClean="0"/>
              <a:t> </a:t>
            </a:r>
            <a:r>
              <a:rPr lang="en-US" dirty="0" err="1" smtClean="0"/>
              <a:t>các</a:t>
            </a:r>
            <a:r>
              <a:rPr lang="en-US" dirty="0" smtClean="0"/>
              <a:t> </a:t>
            </a:r>
            <a:r>
              <a:rPr lang="en-US" dirty="0" err="1" smtClean="0"/>
              <a:t>từ</a:t>
            </a:r>
            <a:r>
              <a:rPr lang="en-US" dirty="0" smtClean="0"/>
              <a:t> </a:t>
            </a:r>
            <a:r>
              <a:rPr lang="en-US" dirty="0" err="1" smtClean="0"/>
              <a:t>khóa</a:t>
            </a:r>
            <a:r>
              <a:rPr lang="en-US" dirty="0" smtClean="0"/>
              <a:t> </a:t>
            </a:r>
            <a:r>
              <a:rPr lang="en-US" dirty="0" err="1" smtClean="0"/>
              <a:t>của</a:t>
            </a:r>
            <a:r>
              <a:rPr lang="en-US" dirty="0" smtClean="0"/>
              <a:t> Python</a:t>
            </a:r>
            <a:endParaRPr lang="en-US" b="1" dirty="0"/>
          </a:p>
        </p:txBody>
      </p:sp>
      <p:pic>
        <p:nvPicPr>
          <p:cNvPr id="3076" name="Picture 4" descr="https://www.python.org/static/apple-touch-icon-144x144-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3143" y="4668803"/>
            <a:ext cx="1371600" cy="1371601"/>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p:cNvSpPr txBox="1"/>
          <p:nvPr/>
        </p:nvSpPr>
        <p:spPr>
          <a:xfrm>
            <a:off x="758271" y="5031439"/>
            <a:ext cx="5756127" cy="646331"/>
          </a:xfrm>
          <a:prstGeom prst="rect">
            <a:avLst/>
          </a:prstGeom>
          <a:noFill/>
        </p:spPr>
        <p:txBody>
          <a:bodyPr wrap="square" rtlCol="0">
            <a:spAutoFit/>
          </a:bodyPr>
          <a:lstStyle/>
          <a:p>
            <a:r>
              <a:rPr lang="en-US" sz="3600" b="1" dirty="0" err="1" smtClean="0">
                <a:solidFill>
                  <a:srgbClr val="346E9E"/>
                </a:solidFill>
              </a:rPr>
              <a:t>Langue_name</a:t>
            </a:r>
            <a:r>
              <a:rPr lang="en-US" sz="3600" b="1" dirty="0" smtClean="0">
                <a:solidFill>
                  <a:srgbClr val="346E9E"/>
                </a:solidFill>
              </a:rPr>
              <a:t> = ‘Python’</a:t>
            </a:r>
            <a:endParaRPr lang="en-US" sz="3600" b="1" dirty="0">
              <a:solidFill>
                <a:srgbClr val="346E9E"/>
              </a:solidFill>
            </a:endParaRPr>
          </a:p>
        </p:txBody>
      </p:sp>
    </p:spTree>
    <p:extLst>
      <p:ext uri="{BB962C8B-B14F-4D97-AF65-F5344CB8AC3E}">
        <p14:creationId xmlns:p14="http://schemas.microsoft.com/office/powerpoint/2010/main" val="33007715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7</a:t>
            </a:fld>
            <a:endParaRPr lang="en-US"/>
          </a:p>
        </p:txBody>
      </p:sp>
      <p:sp>
        <p:nvSpPr>
          <p:cNvPr id="3" name="Text Placeholder 2"/>
          <p:cNvSpPr>
            <a:spLocks noGrp="1"/>
          </p:cNvSpPr>
          <p:nvPr>
            <p:ph type="body" sz="quarter" idx="13"/>
          </p:nvPr>
        </p:nvSpPr>
        <p:spPr/>
        <p:txBody>
          <a:bodyPr/>
          <a:lstStyle/>
          <a:p>
            <a:r>
              <a:rPr lang="en-US" dirty="0" err="1" smtClean="0"/>
              <a:t>Từ</a:t>
            </a:r>
            <a:r>
              <a:rPr lang="en-US" dirty="0" smtClean="0"/>
              <a:t> </a:t>
            </a:r>
            <a:r>
              <a:rPr lang="en-US" dirty="0" err="1" smtClean="0"/>
              <a:t>khóa</a:t>
            </a:r>
            <a:r>
              <a:rPr lang="en-US" dirty="0" smtClean="0"/>
              <a:t> </a:t>
            </a:r>
            <a:r>
              <a:rPr lang="en-US" dirty="0" err="1" smtClean="0"/>
              <a:t>trong</a:t>
            </a:r>
            <a:r>
              <a:rPr lang="en-US" dirty="0" smtClean="0"/>
              <a:t>  Python</a:t>
            </a:r>
            <a:endParaRPr lang="en-US" dirty="0"/>
          </a:p>
        </p:txBody>
      </p:sp>
      <p:pic>
        <p:nvPicPr>
          <p:cNvPr id="4" name="Picture 2" descr="Python Keywords an Introduction - YouTube"/>
          <p:cNvPicPr>
            <a:picLocks noChangeAspect="1" noChangeArrowheads="1"/>
          </p:cNvPicPr>
          <p:nvPr/>
        </p:nvPicPr>
        <p:blipFill rotWithShape="1">
          <a:blip r:embed="rId2">
            <a:extLst>
              <a:ext uri="{28A0092B-C50C-407E-A947-70E740481C1C}">
                <a14:useLocalDpi xmlns:a14="http://schemas.microsoft.com/office/drawing/2010/main" val="0"/>
              </a:ext>
            </a:extLst>
          </a:blip>
          <a:srcRect b="9659"/>
          <a:stretch/>
        </p:blipFill>
        <p:spPr bwMode="auto">
          <a:xfrm>
            <a:off x="324356" y="1764774"/>
            <a:ext cx="8432533" cy="4285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26155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8</a:t>
            </a:fld>
            <a:endParaRPr lang="en-US"/>
          </a:p>
        </p:txBody>
      </p:sp>
      <p:sp>
        <p:nvSpPr>
          <p:cNvPr id="4" name="Text Placeholder 2"/>
          <p:cNvSpPr txBox="1">
            <a:spLocks/>
          </p:cNvSpPr>
          <p:nvPr/>
        </p:nvSpPr>
        <p:spPr>
          <a:xfrm>
            <a:off x="209777" y="854833"/>
            <a:ext cx="8454964" cy="424732"/>
          </a:xfrm>
          <a:prstGeom prst="rect">
            <a:avLst/>
          </a:prstGeom>
          <a:noFill/>
        </p:spPr>
        <p:txBody>
          <a:bodyPr vert="horz" wrap="square" lIns="91440" tIns="45720" rIns="91440" bIns="45720" rtlCol="0">
            <a:spAutoFit/>
          </a:bodyPr>
          <a:lstStyle>
            <a:lvl1pPr marL="0" indent="0" algn="l" defTabSz="914400" rtl="0" eaLnBrk="1" latinLnBrk="0" hangingPunct="1">
              <a:lnSpc>
                <a:spcPct val="90000"/>
              </a:lnSpc>
              <a:spcBef>
                <a:spcPts val="1000"/>
              </a:spcBef>
              <a:buFont typeface="Arial" panose="020B0604020202020204" pitchFamily="34" charset="0"/>
              <a:buNone/>
              <a:defRPr lang="en-US" sz="2400" b="1" kern="1200" dirty="0" smtClean="0">
                <a:solidFill>
                  <a:srgbClr val="64C7E9"/>
                </a:solidFill>
                <a:latin typeface="+mn-lt"/>
                <a:ea typeface="Roboto"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2.2 </a:t>
            </a:r>
            <a:r>
              <a:rPr lang="en-US" dirty="0" err="1" smtClean="0"/>
              <a:t>Nguyên</a:t>
            </a:r>
            <a:r>
              <a:rPr lang="en-US" dirty="0" smtClean="0"/>
              <a:t> </a:t>
            </a:r>
            <a:r>
              <a:rPr lang="en-US" dirty="0" err="1" smtClean="0"/>
              <a:t>tắc</a:t>
            </a:r>
            <a:r>
              <a:rPr lang="en-US" dirty="0" smtClean="0"/>
              <a:t> </a:t>
            </a:r>
            <a:r>
              <a:rPr lang="en-US" dirty="0" err="1" smtClean="0"/>
              <a:t>đặt</a:t>
            </a:r>
            <a:r>
              <a:rPr lang="en-US" dirty="0" smtClean="0"/>
              <a:t> </a:t>
            </a:r>
            <a:r>
              <a:rPr lang="en-US" dirty="0" err="1" smtClean="0"/>
              <a:t>tên</a:t>
            </a:r>
            <a:r>
              <a:rPr lang="en-US" dirty="0" smtClean="0"/>
              <a:t> </a:t>
            </a:r>
            <a:r>
              <a:rPr lang="en-US" dirty="0" err="1" smtClean="0"/>
              <a:t>biến</a:t>
            </a:r>
            <a:r>
              <a:rPr lang="en-US" dirty="0" smtClean="0"/>
              <a:t> </a:t>
            </a:r>
            <a:r>
              <a:rPr lang="en-US" dirty="0" err="1" smtClean="0"/>
              <a:t>trong</a:t>
            </a:r>
            <a:r>
              <a:rPr lang="en-US" dirty="0" smtClean="0"/>
              <a:t> Python</a:t>
            </a:r>
            <a:endParaRPr lang="en-US" dirty="0"/>
          </a:p>
        </p:txBody>
      </p:sp>
      <p:sp>
        <p:nvSpPr>
          <p:cNvPr id="5" name="Rectangle 4"/>
          <p:cNvSpPr/>
          <p:nvPr/>
        </p:nvSpPr>
        <p:spPr>
          <a:xfrm>
            <a:off x="563525" y="2024651"/>
            <a:ext cx="3508745" cy="205825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44280" y="2024650"/>
            <a:ext cx="2923954" cy="1754326"/>
          </a:xfrm>
          <a:prstGeom prst="rect">
            <a:avLst/>
          </a:prstGeom>
          <a:noFill/>
        </p:spPr>
        <p:txBody>
          <a:bodyPr wrap="square" rtlCol="0">
            <a:spAutoFit/>
          </a:bodyPr>
          <a:lstStyle/>
          <a:p>
            <a:r>
              <a:rPr lang="en-US" dirty="0" err="1">
                <a:solidFill>
                  <a:schemeClr val="bg1"/>
                </a:solidFill>
              </a:rPr>
              <a:t>myvar</a:t>
            </a:r>
            <a:r>
              <a:rPr lang="en-US" dirty="0">
                <a:solidFill>
                  <a:schemeClr val="bg1"/>
                </a:solidFill>
              </a:rPr>
              <a:t> = </a:t>
            </a:r>
            <a:r>
              <a:rPr lang="en-US" dirty="0">
                <a:solidFill>
                  <a:schemeClr val="accent2">
                    <a:lumMod val="75000"/>
                  </a:schemeClr>
                </a:solidFill>
              </a:rPr>
              <a:t>"John"</a:t>
            </a:r>
            <a:br>
              <a:rPr lang="en-US" dirty="0">
                <a:solidFill>
                  <a:schemeClr val="accent2">
                    <a:lumMod val="75000"/>
                  </a:schemeClr>
                </a:solidFill>
              </a:rPr>
            </a:br>
            <a:r>
              <a:rPr lang="en-US" dirty="0" err="1">
                <a:solidFill>
                  <a:schemeClr val="bg1"/>
                </a:solidFill>
              </a:rPr>
              <a:t>my_var</a:t>
            </a:r>
            <a:r>
              <a:rPr lang="en-US" dirty="0">
                <a:solidFill>
                  <a:schemeClr val="bg1"/>
                </a:solidFill>
              </a:rPr>
              <a:t> = </a:t>
            </a:r>
            <a:r>
              <a:rPr lang="en-US" dirty="0">
                <a:solidFill>
                  <a:schemeClr val="accent2">
                    <a:lumMod val="75000"/>
                  </a:schemeClr>
                </a:solidFill>
              </a:rPr>
              <a:t>"John"</a:t>
            </a:r>
            <a:br>
              <a:rPr lang="en-US" dirty="0">
                <a:solidFill>
                  <a:schemeClr val="accent2">
                    <a:lumMod val="75000"/>
                  </a:schemeClr>
                </a:solidFill>
              </a:rPr>
            </a:br>
            <a:r>
              <a:rPr lang="en-US" dirty="0">
                <a:solidFill>
                  <a:schemeClr val="bg1"/>
                </a:solidFill>
              </a:rPr>
              <a:t>_</a:t>
            </a:r>
            <a:r>
              <a:rPr lang="en-US" dirty="0" err="1">
                <a:solidFill>
                  <a:schemeClr val="bg1"/>
                </a:solidFill>
              </a:rPr>
              <a:t>my_var</a:t>
            </a:r>
            <a:r>
              <a:rPr lang="en-US" dirty="0">
                <a:solidFill>
                  <a:schemeClr val="bg1"/>
                </a:solidFill>
              </a:rPr>
              <a:t> =</a:t>
            </a:r>
            <a:r>
              <a:rPr lang="en-US" dirty="0">
                <a:solidFill>
                  <a:schemeClr val="accent2">
                    <a:lumMod val="75000"/>
                  </a:schemeClr>
                </a:solidFill>
              </a:rPr>
              <a:t> "John"</a:t>
            </a:r>
            <a:br>
              <a:rPr lang="en-US" dirty="0">
                <a:solidFill>
                  <a:schemeClr val="accent2">
                    <a:lumMod val="75000"/>
                  </a:schemeClr>
                </a:solidFill>
              </a:rPr>
            </a:br>
            <a:r>
              <a:rPr lang="en-US" dirty="0" err="1">
                <a:solidFill>
                  <a:schemeClr val="bg1"/>
                </a:solidFill>
              </a:rPr>
              <a:t>myVar</a:t>
            </a:r>
            <a:r>
              <a:rPr lang="en-US" dirty="0">
                <a:solidFill>
                  <a:schemeClr val="bg1"/>
                </a:solidFill>
              </a:rPr>
              <a:t> = </a:t>
            </a:r>
            <a:r>
              <a:rPr lang="en-US" dirty="0">
                <a:solidFill>
                  <a:schemeClr val="accent2">
                    <a:lumMod val="75000"/>
                  </a:schemeClr>
                </a:solidFill>
              </a:rPr>
              <a:t>"John"</a:t>
            </a:r>
            <a:br>
              <a:rPr lang="en-US" dirty="0">
                <a:solidFill>
                  <a:schemeClr val="accent2">
                    <a:lumMod val="75000"/>
                  </a:schemeClr>
                </a:solidFill>
              </a:rPr>
            </a:br>
            <a:r>
              <a:rPr lang="en-US" dirty="0">
                <a:solidFill>
                  <a:schemeClr val="bg1"/>
                </a:solidFill>
              </a:rPr>
              <a:t>MYVAR = </a:t>
            </a:r>
            <a:r>
              <a:rPr lang="en-US" dirty="0">
                <a:solidFill>
                  <a:schemeClr val="accent2">
                    <a:lumMod val="75000"/>
                  </a:schemeClr>
                </a:solidFill>
              </a:rPr>
              <a:t>"John"</a:t>
            </a:r>
            <a:br>
              <a:rPr lang="en-US" dirty="0">
                <a:solidFill>
                  <a:schemeClr val="accent2">
                    <a:lumMod val="75000"/>
                  </a:schemeClr>
                </a:solidFill>
              </a:rPr>
            </a:br>
            <a:r>
              <a:rPr lang="en-US" dirty="0">
                <a:solidFill>
                  <a:schemeClr val="bg1"/>
                </a:solidFill>
              </a:rPr>
              <a:t>myvar2 = </a:t>
            </a:r>
            <a:r>
              <a:rPr lang="en-US" dirty="0">
                <a:solidFill>
                  <a:schemeClr val="accent2">
                    <a:lumMod val="75000"/>
                  </a:schemeClr>
                </a:solidFill>
              </a:rPr>
              <a:t>"John"</a:t>
            </a:r>
          </a:p>
        </p:txBody>
      </p:sp>
      <p:sp>
        <p:nvSpPr>
          <p:cNvPr id="7" name="TextBox 6"/>
          <p:cNvSpPr txBox="1"/>
          <p:nvPr/>
        </p:nvSpPr>
        <p:spPr>
          <a:xfrm>
            <a:off x="563526" y="1520299"/>
            <a:ext cx="3508744" cy="369332"/>
          </a:xfrm>
          <a:prstGeom prst="rect">
            <a:avLst/>
          </a:prstGeom>
          <a:noFill/>
        </p:spPr>
        <p:txBody>
          <a:bodyPr wrap="square" rtlCol="0">
            <a:spAutoFit/>
          </a:bodyPr>
          <a:lstStyle/>
          <a:p>
            <a:r>
              <a:rPr lang="en-US" dirty="0" err="1" smtClean="0"/>
              <a:t>Một</a:t>
            </a:r>
            <a:r>
              <a:rPr lang="en-US" dirty="0" smtClean="0"/>
              <a:t> </a:t>
            </a:r>
            <a:r>
              <a:rPr lang="en-US" dirty="0" err="1" smtClean="0"/>
              <a:t>số</a:t>
            </a:r>
            <a:r>
              <a:rPr lang="en-US" dirty="0" smtClean="0"/>
              <a:t> </a:t>
            </a:r>
            <a:r>
              <a:rPr lang="en-US" dirty="0" err="1" smtClean="0"/>
              <a:t>cách</a:t>
            </a:r>
            <a:r>
              <a:rPr lang="en-US" dirty="0" smtClean="0"/>
              <a:t> </a:t>
            </a:r>
            <a:r>
              <a:rPr lang="en-US" dirty="0" err="1" smtClean="0"/>
              <a:t>đặt</a:t>
            </a:r>
            <a:r>
              <a:rPr lang="en-US" dirty="0" smtClean="0"/>
              <a:t> </a:t>
            </a:r>
            <a:r>
              <a:rPr lang="en-US" b="1" dirty="0" err="1" smtClean="0"/>
              <a:t>hợp</a:t>
            </a:r>
            <a:r>
              <a:rPr lang="en-US" b="1" dirty="0" smtClean="0"/>
              <a:t> </a:t>
            </a:r>
            <a:r>
              <a:rPr lang="en-US" b="1" dirty="0" err="1" smtClean="0"/>
              <a:t>lệ</a:t>
            </a:r>
            <a:endParaRPr lang="en-US" b="1" dirty="0"/>
          </a:p>
        </p:txBody>
      </p:sp>
      <p:sp>
        <p:nvSpPr>
          <p:cNvPr id="8" name="TextBox 7"/>
          <p:cNvSpPr txBox="1"/>
          <p:nvPr/>
        </p:nvSpPr>
        <p:spPr>
          <a:xfrm>
            <a:off x="489099" y="4310904"/>
            <a:ext cx="4210493" cy="369332"/>
          </a:xfrm>
          <a:prstGeom prst="rect">
            <a:avLst/>
          </a:prstGeom>
          <a:noFill/>
        </p:spPr>
        <p:txBody>
          <a:bodyPr wrap="square" rtlCol="0">
            <a:spAutoFit/>
          </a:bodyPr>
          <a:lstStyle/>
          <a:p>
            <a:r>
              <a:rPr lang="en-US" dirty="0" err="1" smtClean="0"/>
              <a:t>Một</a:t>
            </a:r>
            <a:r>
              <a:rPr lang="en-US" dirty="0" smtClean="0"/>
              <a:t> </a:t>
            </a:r>
            <a:r>
              <a:rPr lang="en-US" dirty="0" err="1" smtClean="0"/>
              <a:t>số</a:t>
            </a:r>
            <a:r>
              <a:rPr lang="en-US" dirty="0" smtClean="0"/>
              <a:t> </a:t>
            </a:r>
            <a:r>
              <a:rPr lang="en-US" dirty="0" err="1" smtClean="0"/>
              <a:t>cách</a:t>
            </a:r>
            <a:r>
              <a:rPr lang="en-US" dirty="0" smtClean="0"/>
              <a:t> </a:t>
            </a:r>
            <a:r>
              <a:rPr lang="en-US" dirty="0" err="1" smtClean="0"/>
              <a:t>đặt</a:t>
            </a:r>
            <a:r>
              <a:rPr lang="en-US" dirty="0" smtClean="0"/>
              <a:t> </a:t>
            </a:r>
            <a:r>
              <a:rPr lang="en-US" b="1" dirty="0" err="1" smtClean="0"/>
              <a:t>không</a:t>
            </a:r>
            <a:r>
              <a:rPr lang="en-US" b="1" dirty="0" smtClean="0"/>
              <a:t> </a:t>
            </a:r>
            <a:r>
              <a:rPr lang="en-US" b="1" dirty="0" err="1" smtClean="0"/>
              <a:t>hợp</a:t>
            </a:r>
            <a:r>
              <a:rPr lang="en-US" b="1" dirty="0" smtClean="0"/>
              <a:t> </a:t>
            </a:r>
            <a:r>
              <a:rPr lang="en-US" b="1" dirty="0" err="1" smtClean="0"/>
              <a:t>lệ</a:t>
            </a:r>
            <a:endParaRPr lang="en-US" b="1" dirty="0"/>
          </a:p>
        </p:txBody>
      </p:sp>
      <p:sp>
        <p:nvSpPr>
          <p:cNvPr id="9" name="Rectangle 8"/>
          <p:cNvSpPr/>
          <p:nvPr/>
        </p:nvSpPr>
        <p:spPr>
          <a:xfrm>
            <a:off x="563525" y="4852912"/>
            <a:ext cx="3508745" cy="126171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744280" y="4999025"/>
            <a:ext cx="2923954" cy="923330"/>
          </a:xfrm>
          <a:prstGeom prst="rect">
            <a:avLst/>
          </a:prstGeom>
          <a:noFill/>
        </p:spPr>
        <p:txBody>
          <a:bodyPr wrap="square" rtlCol="0">
            <a:spAutoFit/>
          </a:bodyPr>
          <a:lstStyle/>
          <a:p>
            <a:r>
              <a:rPr lang="en-US" dirty="0" smtClean="0">
                <a:solidFill>
                  <a:schemeClr val="bg1"/>
                </a:solidFill>
              </a:rPr>
              <a:t>2myvar </a:t>
            </a:r>
            <a:r>
              <a:rPr lang="en-US" dirty="0">
                <a:solidFill>
                  <a:schemeClr val="bg1"/>
                </a:solidFill>
              </a:rPr>
              <a:t>= </a:t>
            </a:r>
            <a:r>
              <a:rPr lang="en-US" dirty="0">
                <a:solidFill>
                  <a:schemeClr val="accent2">
                    <a:lumMod val="75000"/>
                  </a:schemeClr>
                </a:solidFill>
              </a:rPr>
              <a:t>"John"</a:t>
            </a:r>
            <a:br>
              <a:rPr lang="en-US" dirty="0">
                <a:solidFill>
                  <a:schemeClr val="accent2">
                    <a:lumMod val="75000"/>
                  </a:schemeClr>
                </a:solidFill>
              </a:rPr>
            </a:br>
            <a:r>
              <a:rPr lang="en-US" dirty="0" smtClean="0">
                <a:solidFill>
                  <a:schemeClr val="bg1"/>
                </a:solidFill>
              </a:rPr>
              <a:t>my-</a:t>
            </a:r>
            <a:r>
              <a:rPr lang="en-US" dirty="0" err="1" smtClean="0">
                <a:solidFill>
                  <a:schemeClr val="bg1"/>
                </a:solidFill>
              </a:rPr>
              <a:t>var</a:t>
            </a:r>
            <a:r>
              <a:rPr lang="en-US" dirty="0" smtClean="0">
                <a:solidFill>
                  <a:schemeClr val="bg1"/>
                </a:solidFill>
              </a:rPr>
              <a:t> </a:t>
            </a:r>
            <a:r>
              <a:rPr lang="en-US" dirty="0">
                <a:solidFill>
                  <a:schemeClr val="bg1"/>
                </a:solidFill>
              </a:rPr>
              <a:t>= </a:t>
            </a:r>
            <a:r>
              <a:rPr lang="en-US" dirty="0">
                <a:solidFill>
                  <a:schemeClr val="accent2">
                    <a:lumMod val="75000"/>
                  </a:schemeClr>
                </a:solidFill>
              </a:rPr>
              <a:t>"John"</a:t>
            </a:r>
            <a:br>
              <a:rPr lang="en-US" dirty="0">
                <a:solidFill>
                  <a:schemeClr val="accent2">
                    <a:lumMod val="75000"/>
                  </a:schemeClr>
                </a:solidFill>
              </a:rPr>
            </a:br>
            <a:r>
              <a:rPr lang="en-US" dirty="0" smtClean="0">
                <a:solidFill>
                  <a:schemeClr val="bg1"/>
                </a:solidFill>
              </a:rPr>
              <a:t>my </a:t>
            </a:r>
            <a:r>
              <a:rPr lang="en-US" dirty="0" err="1" smtClean="0">
                <a:solidFill>
                  <a:schemeClr val="bg1"/>
                </a:solidFill>
              </a:rPr>
              <a:t>var</a:t>
            </a:r>
            <a:r>
              <a:rPr lang="en-US" dirty="0" smtClean="0">
                <a:solidFill>
                  <a:schemeClr val="bg1"/>
                </a:solidFill>
              </a:rPr>
              <a:t> </a:t>
            </a:r>
            <a:r>
              <a:rPr lang="en-US" dirty="0">
                <a:solidFill>
                  <a:schemeClr val="bg1"/>
                </a:solidFill>
              </a:rPr>
              <a:t>=</a:t>
            </a:r>
            <a:r>
              <a:rPr lang="en-US" dirty="0">
                <a:solidFill>
                  <a:schemeClr val="accent2">
                    <a:lumMod val="75000"/>
                  </a:schemeClr>
                </a:solidFill>
              </a:rPr>
              <a:t> "John</a:t>
            </a:r>
            <a:r>
              <a:rPr lang="en-US" dirty="0" smtClean="0">
                <a:solidFill>
                  <a:schemeClr val="accent2">
                    <a:lumMod val="75000"/>
                  </a:schemeClr>
                </a:solidFill>
              </a:rPr>
              <a:t>"</a:t>
            </a:r>
            <a:endParaRPr lang="en-US" dirty="0">
              <a:solidFill>
                <a:schemeClr val="accent2">
                  <a:lumMod val="75000"/>
                </a:schemeClr>
              </a:solidFill>
            </a:endParaRPr>
          </a:p>
        </p:txBody>
      </p:sp>
      <p:sp>
        <p:nvSpPr>
          <p:cNvPr id="11" name="TextBox 10"/>
          <p:cNvSpPr txBox="1"/>
          <p:nvPr/>
        </p:nvSpPr>
        <p:spPr>
          <a:xfrm>
            <a:off x="4699592" y="1520299"/>
            <a:ext cx="3508744" cy="369332"/>
          </a:xfrm>
          <a:prstGeom prst="rect">
            <a:avLst/>
          </a:prstGeom>
          <a:noFill/>
        </p:spPr>
        <p:txBody>
          <a:bodyPr wrap="square" rtlCol="0">
            <a:spAutoFit/>
          </a:bodyPr>
          <a:lstStyle/>
          <a:p>
            <a:r>
              <a:rPr lang="en-US" dirty="0" err="1" smtClean="0"/>
              <a:t>Đặt</a:t>
            </a:r>
            <a:r>
              <a:rPr lang="en-US" dirty="0" smtClean="0"/>
              <a:t> </a:t>
            </a:r>
            <a:r>
              <a:rPr lang="en-US" dirty="0" err="1" smtClean="0"/>
              <a:t>tên</a:t>
            </a:r>
            <a:r>
              <a:rPr lang="en-US" dirty="0" smtClean="0"/>
              <a:t> </a:t>
            </a:r>
            <a:r>
              <a:rPr lang="en-US" dirty="0" err="1" smtClean="0"/>
              <a:t>kiểu</a:t>
            </a:r>
            <a:r>
              <a:rPr lang="en-US" dirty="0" smtClean="0"/>
              <a:t> </a:t>
            </a:r>
            <a:r>
              <a:rPr lang="en-US" b="1" dirty="0" smtClean="0"/>
              <a:t>Snake Case</a:t>
            </a:r>
            <a:endParaRPr lang="en-US" b="1" dirty="0"/>
          </a:p>
        </p:txBody>
      </p:sp>
      <p:sp>
        <p:nvSpPr>
          <p:cNvPr id="12" name="Rectangle 11"/>
          <p:cNvSpPr/>
          <p:nvPr/>
        </p:nvSpPr>
        <p:spPr>
          <a:xfrm>
            <a:off x="4752754" y="2024651"/>
            <a:ext cx="3508745" cy="65475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4862562" y="2130365"/>
            <a:ext cx="3189766" cy="369332"/>
          </a:xfrm>
          <a:prstGeom prst="rect">
            <a:avLst/>
          </a:prstGeom>
          <a:noFill/>
        </p:spPr>
        <p:txBody>
          <a:bodyPr wrap="square" rtlCol="0">
            <a:spAutoFit/>
          </a:bodyPr>
          <a:lstStyle/>
          <a:p>
            <a:r>
              <a:rPr lang="en-US" dirty="0" err="1">
                <a:solidFill>
                  <a:schemeClr val="bg1"/>
                </a:solidFill>
              </a:rPr>
              <a:t>my_variable_name</a:t>
            </a:r>
            <a:r>
              <a:rPr lang="en-US" dirty="0">
                <a:solidFill>
                  <a:schemeClr val="bg1"/>
                </a:solidFill>
              </a:rPr>
              <a:t> </a:t>
            </a:r>
            <a:r>
              <a:rPr lang="en-US" dirty="0" smtClean="0">
                <a:solidFill>
                  <a:schemeClr val="bg1"/>
                </a:solidFill>
              </a:rPr>
              <a:t> </a:t>
            </a:r>
            <a:r>
              <a:rPr lang="en-US" dirty="0">
                <a:solidFill>
                  <a:schemeClr val="bg1"/>
                </a:solidFill>
              </a:rPr>
              <a:t>= </a:t>
            </a:r>
            <a:r>
              <a:rPr lang="en-US" dirty="0">
                <a:solidFill>
                  <a:schemeClr val="accent2">
                    <a:lumMod val="75000"/>
                  </a:schemeClr>
                </a:solidFill>
              </a:rPr>
              <a:t>"John</a:t>
            </a:r>
            <a:r>
              <a:rPr lang="en-US" dirty="0" smtClean="0">
                <a:solidFill>
                  <a:schemeClr val="accent2">
                    <a:lumMod val="75000"/>
                  </a:schemeClr>
                </a:solidFill>
              </a:rPr>
              <a:t>"</a:t>
            </a:r>
            <a:endParaRPr lang="en-US" dirty="0">
              <a:solidFill>
                <a:schemeClr val="accent2">
                  <a:lumMod val="75000"/>
                </a:schemeClr>
              </a:solidFill>
            </a:endParaRPr>
          </a:p>
        </p:txBody>
      </p:sp>
      <p:sp>
        <p:nvSpPr>
          <p:cNvPr id="14" name="TextBox 13"/>
          <p:cNvSpPr txBox="1"/>
          <p:nvPr/>
        </p:nvSpPr>
        <p:spPr>
          <a:xfrm>
            <a:off x="4699592" y="2923797"/>
            <a:ext cx="3508744" cy="369332"/>
          </a:xfrm>
          <a:prstGeom prst="rect">
            <a:avLst/>
          </a:prstGeom>
          <a:noFill/>
        </p:spPr>
        <p:txBody>
          <a:bodyPr wrap="square" rtlCol="0">
            <a:spAutoFit/>
          </a:bodyPr>
          <a:lstStyle/>
          <a:p>
            <a:r>
              <a:rPr lang="en-US" dirty="0" err="1" smtClean="0"/>
              <a:t>Đặt</a:t>
            </a:r>
            <a:r>
              <a:rPr lang="en-US" dirty="0" smtClean="0"/>
              <a:t> </a:t>
            </a:r>
            <a:r>
              <a:rPr lang="en-US" dirty="0" err="1" smtClean="0"/>
              <a:t>tên</a:t>
            </a:r>
            <a:r>
              <a:rPr lang="en-US" dirty="0" smtClean="0"/>
              <a:t> </a:t>
            </a:r>
            <a:r>
              <a:rPr lang="en-US" dirty="0" err="1" smtClean="0"/>
              <a:t>kiểu</a:t>
            </a:r>
            <a:r>
              <a:rPr lang="en-US" dirty="0" smtClean="0"/>
              <a:t> </a:t>
            </a:r>
            <a:r>
              <a:rPr lang="en-US" b="1" dirty="0" smtClean="0"/>
              <a:t>Pascal Case</a:t>
            </a:r>
            <a:endParaRPr lang="en-US" b="1" dirty="0"/>
          </a:p>
        </p:txBody>
      </p:sp>
      <p:sp>
        <p:nvSpPr>
          <p:cNvPr id="15" name="Rectangle 14"/>
          <p:cNvSpPr/>
          <p:nvPr/>
        </p:nvSpPr>
        <p:spPr>
          <a:xfrm>
            <a:off x="4752754" y="3428149"/>
            <a:ext cx="3508745" cy="65475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4862562" y="3533863"/>
            <a:ext cx="3189766" cy="369332"/>
          </a:xfrm>
          <a:prstGeom prst="rect">
            <a:avLst/>
          </a:prstGeom>
          <a:noFill/>
        </p:spPr>
        <p:txBody>
          <a:bodyPr wrap="square" rtlCol="0">
            <a:spAutoFit/>
          </a:bodyPr>
          <a:lstStyle/>
          <a:p>
            <a:r>
              <a:rPr lang="en-US" dirty="0" err="1" smtClean="0">
                <a:solidFill>
                  <a:schemeClr val="bg1"/>
                </a:solidFill>
              </a:rPr>
              <a:t>MyVariableName</a:t>
            </a:r>
            <a:r>
              <a:rPr lang="en-US" dirty="0">
                <a:solidFill>
                  <a:schemeClr val="bg1"/>
                </a:solidFill>
              </a:rPr>
              <a:t> </a:t>
            </a:r>
            <a:r>
              <a:rPr lang="en-US" dirty="0" smtClean="0">
                <a:solidFill>
                  <a:schemeClr val="bg1"/>
                </a:solidFill>
              </a:rPr>
              <a:t> </a:t>
            </a:r>
            <a:r>
              <a:rPr lang="en-US" dirty="0">
                <a:solidFill>
                  <a:schemeClr val="bg1"/>
                </a:solidFill>
              </a:rPr>
              <a:t>= </a:t>
            </a:r>
            <a:r>
              <a:rPr lang="en-US" dirty="0">
                <a:solidFill>
                  <a:schemeClr val="accent2">
                    <a:lumMod val="75000"/>
                  </a:schemeClr>
                </a:solidFill>
              </a:rPr>
              <a:t>"John</a:t>
            </a:r>
            <a:r>
              <a:rPr lang="en-US" dirty="0" smtClean="0">
                <a:solidFill>
                  <a:schemeClr val="accent2">
                    <a:lumMod val="75000"/>
                  </a:schemeClr>
                </a:solidFill>
              </a:rPr>
              <a:t>"</a:t>
            </a:r>
            <a:endParaRPr lang="en-US" dirty="0">
              <a:solidFill>
                <a:schemeClr val="accent2">
                  <a:lumMod val="75000"/>
                </a:schemeClr>
              </a:solidFill>
            </a:endParaRPr>
          </a:p>
        </p:txBody>
      </p:sp>
      <p:sp>
        <p:nvSpPr>
          <p:cNvPr id="17" name="TextBox 16"/>
          <p:cNvSpPr txBox="1"/>
          <p:nvPr/>
        </p:nvSpPr>
        <p:spPr>
          <a:xfrm>
            <a:off x="4699592" y="4348560"/>
            <a:ext cx="3508744" cy="369332"/>
          </a:xfrm>
          <a:prstGeom prst="rect">
            <a:avLst/>
          </a:prstGeom>
          <a:noFill/>
        </p:spPr>
        <p:txBody>
          <a:bodyPr wrap="square" rtlCol="0">
            <a:spAutoFit/>
          </a:bodyPr>
          <a:lstStyle/>
          <a:p>
            <a:r>
              <a:rPr lang="en-US" dirty="0" err="1" smtClean="0"/>
              <a:t>Đặt</a:t>
            </a:r>
            <a:r>
              <a:rPr lang="en-US" dirty="0" smtClean="0"/>
              <a:t> </a:t>
            </a:r>
            <a:r>
              <a:rPr lang="en-US" dirty="0" err="1" smtClean="0"/>
              <a:t>tên</a:t>
            </a:r>
            <a:r>
              <a:rPr lang="en-US" dirty="0" smtClean="0"/>
              <a:t> </a:t>
            </a:r>
            <a:r>
              <a:rPr lang="en-US" dirty="0" err="1" smtClean="0"/>
              <a:t>kiểu</a:t>
            </a:r>
            <a:r>
              <a:rPr lang="en-US" dirty="0" smtClean="0"/>
              <a:t> </a:t>
            </a:r>
            <a:r>
              <a:rPr lang="en-US" b="1" dirty="0" smtClean="0"/>
              <a:t>Camel Case</a:t>
            </a:r>
            <a:endParaRPr lang="en-US" b="1" dirty="0"/>
          </a:p>
        </p:txBody>
      </p:sp>
      <p:sp>
        <p:nvSpPr>
          <p:cNvPr id="18" name="Rectangle 17"/>
          <p:cNvSpPr/>
          <p:nvPr/>
        </p:nvSpPr>
        <p:spPr>
          <a:xfrm>
            <a:off x="4752754" y="4852912"/>
            <a:ext cx="3508745" cy="65475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4862562" y="4958626"/>
            <a:ext cx="3189766" cy="369332"/>
          </a:xfrm>
          <a:prstGeom prst="rect">
            <a:avLst/>
          </a:prstGeom>
          <a:noFill/>
        </p:spPr>
        <p:txBody>
          <a:bodyPr wrap="square" rtlCol="0">
            <a:spAutoFit/>
          </a:bodyPr>
          <a:lstStyle/>
          <a:p>
            <a:r>
              <a:rPr lang="en-US" dirty="0" err="1">
                <a:solidFill>
                  <a:schemeClr val="bg1"/>
                </a:solidFill>
              </a:rPr>
              <a:t>m</a:t>
            </a:r>
            <a:r>
              <a:rPr lang="en-US" dirty="0" err="1" smtClean="0">
                <a:solidFill>
                  <a:schemeClr val="bg1"/>
                </a:solidFill>
              </a:rPr>
              <a:t>yVariableName</a:t>
            </a:r>
            <a:r>
              <a:rPr lang="en-US" dirty="0">
                <a:solidFill>
                  <a:schemeClr val="bg1"/>
                </a:solidFill>
              </a:rPr>
              <a:t> </a:t>
            </a:r>
            <a:r>
              <a:rPr lang="en-US" dirty="0" smtClean="0">
                <a:solidFill>
                  <a:schemeClr val="bg1"/>
                </a:solidFill>
              </a:rPr>
              <a:t> </a:t>
            </a:r>
            <a:r>
              <a:rPr lang="en-US" dirty="0">
                <a:solidFill>
                  <a:schemeClr val="bg1"/>
                </a:solidFill>
              </a:rPr>
              <a:t>= </a:t>
            </a:r>
            <a:r>
              <a:rPr lang="en-US" dirty="0">
                <a:solidFill>
                  <a:schemeClr val="accent2">
                    <a:lumMod val="75000"/>
                  </a:schemeClr>
                </a:solidFill>
              </a:rPr>
              <a:t>"John</a:t>
            </a:r>
            <a:r>
              <a:rPr lang="en-US" dirty="0" smtClean="0">
                <a:solidFill>
                  <a:schemeClr val="accent2">
                    <a:lumMod val="75000"/>
                  </a:schemeClr>
                </a:solidFill>
              </a:rPr>
              <a:t>"</a:t>
            </a:r>
            <a:endParaRPr lang="en-US" dirty="0">
              <a:solidFill>
                <a:schemeClr val="accent2">
                  <a:lumMod val="75000"/>
                </a:schemeClr>
              </a:solidFill>
            </a:endParaRPr>
          </a:p>
        </p:txBody>
      </p:sp>
    </p:spTree>
    <p:extLst>
      <p:ext uri="{BB962C8B-B14F-4D97-AF65-F5344CB8AC3E}">
        <p14:creationId xmlns:p14="http://schemas.microsoft.com/office/powerpoint/2010/main" val="30239687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9</a:t>
            </a:fld>
            <a:endParaRPr lang="en-US"/>
          </a:p>
        </p:txBody>
      </p:sp>
      <p:sp>
        <p:nvSpPr>
          <p:cNvPr id="4" name="Text Placeholder 2"/>
          <p:cNvSpPr txBox="1">
            <a:spLocks/>
          </p:cNvSpPr>
          <p:nvPr/>
        </p:nvSpPr>
        <p:spPr>
          <a:xfrm>
            <a:off x="209777" y="854833"/>
            <a:ext cx="8454964" cy="424732"/>
          </a:xfrm>
          <a:prstGeom prst="rect">
            <a:avLst/>
          </a:prstGeom>
          <a:noFill/>
        </p:spPr>
        <p:txBody>
          <a:bodyPr vert="horz" wrap="square" lIns="91440" tIns="45720" rIns="91440" bIns="45720" rtlCol="0">
            <a:spAutoFit/>
          </a:bodyPr>
          <a:lstStyle>
            <a:lvl1pPr marL="0" indent="0" algn="l" defTabSz="914400" rtl="0" eaLnBrk="1" latinLnBrk="0" hangingPunct="1">
              <a:lnSpc>
                <a:spcPct val="90000"/>
              </a:lnSpc>
              <a:spcBef>
                <a:spcPts val="1000"/>
              </a:spcBef>
              <a:buFont typeface="Arial" panose="020B0604020202020204" pitchFamily="34" charset="0"/>
              <a:buNone/>
              <a:defRPr lang="en-US" sz="2400" b="1" kern="1200" dirty="0" smtClean="0">
                <a:solidFill>
                  <a:srgbClr val="64C7E9"/>
                </a:solidFill>
                <a:latin typeface="+mn-lt"/>
                <a:ea typeface="Roboto"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2.2 </a:t>
            </a:r>
            <a:r>
              <a:rPr lang="en-US" dirty="0" err="1" smtClean="0"/>
              <a:t>Nguyên</a:t>
            </a:r>
            <a:r>
              <a:rPr lang="en-US" dirty="0" smtClean="0"/>
              <a:t> </a:t>
            </a:r>
            <a:r>
              <a:rPr lang="en-US" dirty="0" err="1" smtClean="0"/>
              <a:t>tắc</a:t>
            </a:r>
            <a:r>
              <a:rPr lang="en-US" dirty="0" smtClean="0"/>
              <a:t> </a:t>
            </a:r>
            <a:r>
              <a:rPr lang="en-US" dirty="0" err="1" smtClean="0"/>
              <a:t>đặt</a:t>
            </a:r>
            <a:r>
              <a:rPr lang="en-US" dirty="0" smtClean="0"/>
              <a:t> </a:t>
            </a:r>
            <a:r>
              <a:rPr lang="en-US" dirty="0" err="1" smtClean="0"/>
              <a:t>tên</a:t>
            </a:r>
            <a:r>
              <a:rPr lang="en-US" dirty="0" smtClean="0"/>
              <a:t> </a:t>
            </a:r>
            <a:r>
              <a:rPr lang="en-US" dirty="0" err="1" smtClean="0"/>
              <a:t>biến</a:t>
            </a:r>
            <a:r>
              <a:rPr lang="en-US" dirty="0" smtClean="0"/>
              <a:t> </a:t>
            </a:r>
            <a:r>
              <a:rPr lang="en-US" dirty="0" err="1" smtClean="0"/>
              <a:t>trong</a:t>
            </a:r>
            <a:r>
              <a:rPr lang="en-US" dirty="0" smtClean="0"/>
              <a:t> Python</a:t>
            </a:r>
            <a:endParaRPr lang="en-US" dirty="0"/>
          </a:p>
        </p:txBody>
      </p:sp>
      <p:sp>
        <p:nvSpPr>
          <p:cNvPr id="5" name="Rectangle 4"/>
          <p:cNvSpPr/>
          <p:nvPr/>
        </p:nvSpPr>
        <p:spPr>
          <a:xfrm>
            <a:off x="563525" y="2332255"/>
            <a:ext cx="7899991" cy="153799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63710" y="2483676"/>
            <a:ext cx="7347097" cy="1200329"/>
          </a:xfrm>
          <a:prstGeom prst="rect">
            <a:avLst/>
          </a:prstGeom>
          <a:noFill/>
        </p:spPr>
        <p:txBody>
          <a:bodyPr wrap="square" rtlCol="0">
            <a:spAutoFit/>
          </a:bodyPr>
          <a:lstStyle/>
          <a:p>
            <a:r>
              <a:rPr lang="en-US" dirty="0" smtClean="0">
                <a:solidFill>
                  <a:schemeClr val="bg1"/>
                </a:solidFill>
              </a:rPr>
              <a:t>x, y, z  = </a:t>
            </a:r>
            <a:r>
              <a:rPr lang="en-US" dirty="0">
                <a:solidFill>
                  <a:schemeClr val="bg1"/>
                </a:solidFill>
              </a:rPr>
              <a:t> </a:t>
            </a:r>
            <a:r>
              <a:rPr lang="en-US" dirty="0">
                <a:solidFill>
                  <a:schemeClr val="accent2">
                    <a:lumMod val="75000"/>
                  </a:schemeClr>
                </a:solidFill>
              </a:rPr>
              <a:t>"Orange", "Banana", "Cherry"</a:t>
            </a:r>
            <a:br>
              <a:rPr lang="en-US" dirty="0">
                <a:solidFill>
                  <a:schemeClr val="accent2">
                    <a:lumMod val="75000"/>
                  </a:schemeClr>
                </a:solidFill>
              </a:rPr>
            </a:br>
            <a:r>
              <a:rPr lang="en-US" dirty="0">
                <a:solidFill>
                  <a:schemeClr val="bg1"/>
                </a:solidFill>
              </a:rPr>
              <a:t>print</a:t>
            </a:r>
            <a:r>
              <a:rPr lang="en-US" dirty="0">
                <a:solidFill>
                  <a:srgbClr val="FFC500"/>
                </a:solidFill>
              </a:rPr>
              <a:t>(</a:t>
            </a:r>
            <a:r>
              <a:rPr lang="en-US" dirty="0">
                <a:solidFill>
                  <a:schemeClr val="bg1"/>
                </a:solidFill>
              </a:rPr>
              <a:t>x</a:t>
            </a:r>
            <a:r>
              <a:rPr lang="en-US" dirty="0" smtClean="0">
                <a:solidFill>
                  <a:srgbClr val="FFC500"/>
                </a:solidFill>
              </a:rPr>
              <a:t>) </a:t>
            </a:r>
            <a:r>
              <a:rPr lang="en-US" dirty="0" smtClean="0">
                <a:solidFill>
                  <a:schemeClr val="accent6">
                    <a:lumMod val="75000"/>
                  </a:schemeClr>
                </a:solidFill>
              </a:rPr>
              <a:t># x = </a:t>
            </a:r>
            <a:r>
              <a:rPr lang="en-US" dirty="0">
                <a:solidFill>
                  <a:schemeClr val="accent6">
                    <a:lumMod val="75000"/>
                  </a:schemeClr>
                </a:solidFill>
              </a:rPr>
              <a:t>Orange</a:t>
            </a:r>
            <a:r>
              <a:rPr lang="en-US" dirty="0">
                <a:solidFill>
                  <a:schemeClr val="bg1"/>
                </a:solidFill>
              </a:rPr>
              <a:t/>
            </a:r>
            <a:br>
              <a:rPr lang="en-US" dirty="0">
                <a:solidFill>
                  <a:schemeClr val="bg1"/>
                </a:solidFill>
              </a:rPr>
            </a:br>
            <a:r>
              <a:rPr lang="en-US" dirty="0">
                <a:solidFill>
                  <a:schemeClr val="bg1"/>
                </a:solidFill>
              </a:rPr>
              <a:t>print</a:t>
            </a:r>
            <a:r>
              <a:rPr lang="en-US" dirty="0">
                <a:solidFill>
                  <a:srgbClr val="FFC500"/>
                </a:solidFill>
              </a:rPr>
              <a:t>(</a:t>
            </a:r>
            <a:r>
              <a:rPr lang="en-US" dirty="0">
                <a:solidFill>
                  <a:schemeClr val="bg1"/>
                </a:solidFill>
              </a:rPr>
              <a:t>y</a:t>
            </a:r>
            <a:r>
              <a:rPr lang="en-US" dirty="0" smtClean="0">
                <a:solidFill>
                  <a:srgbClr val="FFC500"/>
                </a:solidFill>
              </a:rPr>
              <a:t>) </a:t>
            </a:r>
            <a:r>
              <a:rPr lang="en-US" dirty="0" smtClean="0">
                <a:solidFill>
                  <a:schemeClr val="accent6">
                    <a:lumMod val="75000"/>
                  </a:schemeClr>
                </a:solidFill>
              </a:rPr>
              <a:t># y = </a:t>
            </a:r>
            <a:r>
              <a:rPr lang="en-US" dirty="0">
                <a:solidFill>
                  <a:schemeClr val="accent6">
                    <a:lumMod val="75000"/>
                  </a:schemeClr>
                </a:solidFill>
              </a:rPr>
              <a:t>Banana</a:t>
            </a:r>
            <a:r>
              <a:rPr lang="en-US" dirty="0">
                <a:solidFill>
                  <a:schemeClr val="bg1"/>
                </a:solidFill>
              </a:rPr>
              <a:t/>
            </a:r>
            <a:br>
              <a:rPr lang="en-US" dirty="0">
                <a:solidFill>
                  <a:schemeClr val="bg1"/>
                </a:solidFill>
              </a:rPr>
            </a:br>
            <a:r>
              <a:rPr lang="en-US" dirty="0">
                <a:solidFill>
                  <a:schemeClr val="bg1"/>
                </a:solidFill>
              </a:rPr>
              <a:t>print</a:t>
            </a:r>
            <a:r>
              <a:rPr lang="en-US" dirty="0">
                <a:solidFill>
                  <a:srgbClr val="FFC500"/>
                </a:solidFill>
              </a:rPr>
              <a:t>(</a:t>
            </a:r>
            <a:r>
              <a:rPr lang="en-US" dirty="0">
                <a:solidFill>
                  <a:schemeClr val="bg1"/>
                </a:solidFill>
              </a:rPr>
              <a:t>z</a:t>
            </a:r>
            <a:r>
              <a:rPr lang="en-US" dirty="0" smtClean="0">
                <a:solidFill>
                  <a:srgbClr val="FFC500"/>
                </a:solidFill>
              </a:rPr>
              <a:t>) </a:t>
            </a:r>
            <a:r>
              <a:rPr lang="en-US" dirty="0" smtClean="0">
                <a:solidFill>
                  <a:schemeClr val="accent6">
                    <a:lumMod val="75000"/>
                  </a:schemeClr>
                </a:solidFill>
              </a:rPr>
              <a:t># z = </a:t>
            </a:r>
            <a:r>
              <a:rPr lang="en-US" dirty="0">
                <a:solidFill>
                  <a:schemeClr val="accent6">
                    <a:lumMod val="75000"/>
                  </a:schemeClr>
                </a:solidFill>
              </a:rPr>
              <a:t>Cherry</a:t>
            </a:r>
          </a:p>
        </p:txBody>
      </p:sp>
      <p:pic>
        <p:nvPicPr>
          <p:cNvPr id="20"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80670"/>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p:cNvSpPr txBox="1"/>
          <p:nvPr/>
        </p:nvSpPr>
        <p:spPr>
          <a:xfrm>
            <a:off x="1041993" y="1621244"/>
            <a:ext cx="4125430" cy="369332"/>
          </a:xfrm>
          <a:prstGeom prst="rect">
            <a:avLst/>
          </a:prstGeom>
          <a:noFill/>
        </p:spPr>
        <p:txBody>
          <a:bodyPr wrap="square" rtlCol="0">
            <a:spAutoFit/>
          </a:bodyPr>
          <a:lstStyle/>
          <a:p>
            <a:r>
              <a:rPr lang="en-US" b="1" dirty="0" err="1" smtClean="0"/>
              <a:t>Gán</a:t>
            </a:r>
            <a:r>
              <a:rPr lang="en-US" b="1" dirty="0" smtClean="0"/>
              <a:t> </a:t>
            </a:r>
            <a:r>
              <a:rPr lang="en-US" b="1" dirty="0" err="1" smtClean="0">
                <a:solidFill>
                  <a:srgbClr val="FF0000"/>
                </a:solidFill>
              </a:rPr>
              <a:t>nhiều</a:t>
            </a:r>
            <a:r>
              <a:rPr lang="en-US" b="1" dirty="0" smtClean="0"/>
              <a:t> </a:t>
            </a:r>
            <a:r>
              <a:rPr lang="en-US" b="1" dirty="0" err="1" smtClean="0"/>
              <a:t>giá</a:t>
            </a:r>
            <a:r>
              <a:rPr lang="en-US" b="1" dirty="0" smtClean="0"/>
              <a:t> </a:t>
            </a:r>
            <a:r>
              <a:rPr lang="en-US" b="1" dirty="0" err="1" smtClean="0"/>
              <a:t>trị</a:t>
            </a:r>
            <a:r>
              <a:rPr lang="en-US" b="1" dirty="0" smtClean="0"/>
              <a:t> </a:t>
            </a:r>
            <a:r>
              <a:rPr lang="en-US" b="1" dirty="0" err="1" smtClean="0"/>
              <a:t>cho</a:t>
            </a:r>
            <a:r>
              <a:rPr lang="en-US" b="1" dirty="0" smtClean="0"/>
              <a:t> </a:t>
            </a:r>
            <a:r>
              <a:rPr lang="en-US" b="1" dirty="0" err="1" smtClean="0">
                <a:solidFill>
                  <a:srgbClr val="FF0000"/>
                </a:solidFill>
              </a:rPr>
              <a:t>nhiều</a:t>
            </a:r>
            <a:r>
              <a:rPr lang="en-US" b="1" dirty="0" smtClean="0"/>
              <a:t> </a:t>
            </a:r>
            <a:r>
              <a:rPr lang="en-US" b="1" dirty="0" err="1" smtClean="0"/>
              <a:t>biến</a:t>
            </a:r>
            <a:endParaRPr lang="en-US" b="1" dirty="0">
              <a:solidFill>
                <a:srgbClr val="FF0000"/>
              </a:solidFill>
            </a:endParaRPr>
          </a:p>
        </p:txBody>
      </p:sp>
      <p:pic>
        <p:nvPicPr>
          <p:cNvPr id="22"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4100586"/>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p:cNvSpPr txBox="1"/>
          <p:nvPr/>
        </p:nvSpPr>
        <p:spPr>
          <a:xfrm>
            <a:off x="1041993" y="4141160"/>
            <a:ext cx="5380072" cy="369332"/>
          </a:xfrm>
          <a:prstGeom prst="rect">
            <a:avLst/>
          </a:prstGeom>
          <a:noFill/>
        </p:spPr>
        <p:txBody>
          <a:bodyPr wrap="square" rtlCol="0">
            <a:spAutoFit/>
          </a:bodyPr>
          <a:lstStyle/>
          <a:p>
            <a:r>
              <a:rPr lang="en-US" b="1" dirty="0" err="1" smtClean="0"/>
              <a:t>Hoán</a:t>
            </a:r>
            <a:r>
              <a:rPr lang="en-US" b="1" dirty="0" smtClean="0"/>
              <a:t> </a:t>
            </a:r>
            <a:r>
              <a:rPr lang="en-US" b="1" dirty="0" err="1" smtClean="0"/>
              <a:t>đổi</a:t>
            </a:r>
            <a:r>
              <a:rPr lang="en-US" b="1" dirty="0" smtClean="0"/>
              <a:t> </a:t>
            </a:r>
            <a:r>
              <a:rPr lang="en-US" b="1" dirty="0" err="1" smtClean="0"/>
              <a:t>giá</a:t>
            </a:r>
            <a:r>
              <a:rPr lang="en-US" b="1" dirty="0" smtClean="0"/>
              <a:t> </a:t>
            </a:r>
            <a:r>
              <a:rPr lang="en-US" b="1" dirty="0" err="1" smtClean="0"/>
              <a:t>trị</a:t>
            </a:r>
            <a:r>
              <a:rPr lang="en-US" b="1" dirty="0" smtClean="0"/>
              <a:t> </a:t>
            </a:r>
            <a:r>
              <a:rPr lang="en-US" b="1" dirty="0" err="1" smtClean="0"/>
              <a:t>của</a:t>
            </a:r>
            <a:r>
              <a:rPr lang="en-US" b="1" dirty="0" smtClean="0"/>
              <a:t> </a:t>
            </a:r>
            <a:r>
              <a:rPr lang="en-US" b="1" dirty="0" err="1" smtClean="0"/>
              <a:t>biến</a:t>
            </a:r>
            <a:r>
              <a:rPr lang="en-US" b="1" dirty="0" smtClean="0"/>
              <a:t> </a:t>
            </a:r>
            <a:r>
              <a:rPr lang="en-US" b="1" dirty="0" err="1" smtClean="0"/>
              <a:t>gán</a:t>
            </a:r>
            <a:r>
              <a:rPr lang="en-US" b="1" dirty="0" smtClean="0"/>
              <a:t> </a:t>
            </a:r>
            <a:r>
              <a:rPr lang="en-US" b="1" dirty="0" err="1" smtClean="0"/>
              <a:t>đồng</a:t>
            </a:r>
            <a:r>
              <a:rPr lang="en-US" b="1" dirty="0" smtClean="0"/>
              <a:t> </a:t>
            </a:r>
            <a:r>
              <a:rPr lang="en-US" b="1" dirty="0" err="1" smtClean="0"/>
              <a:t>thời</a:t>
            </a:r>
            <a:endParaRPr lang="en-US" b="1" dirty="0">
              <a:solidFill>
                <a:srgbClr val="FF0000"/>
              </a:solidFill>
            </a:endParaRPr>
          </a:p>
        </p:txBody>
      </p:sp>
      <p:sp>
        <p:nvSpPr>
          <p:cNvPr id="24" name="Rectangle 23"/>
          <p:cNvSpPr/>
          <p:nvPr/>
        </p:nvSpPr>
        <p:spPr>
          <a:xfrm>
            <a:off x="563525" y="4724580"/>
            <a:ext cx="7899991" cy="153799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763710" y="4876001"/>
            <a:ext cx="7347097" cy="1200329"/>
          </a:xfrm>
          <a:prstGeom prst="rect">
            <a:avLst/>
          </a:prstGeom>
          <a:noFill/>
        </p:spPr>
        <p:txBody>
          <a:bodyPr wrap="square" rtlCol="0">
            <a:spAutoFit/>
          </a:bodyPr>
          <a:lstStyle/>
          <a:p>
            <a:r>
              <a:rPr lang="en-US" dirty="0">
                <a:solidFill>
                  <a:schemeClr val="bg1"/>
                </a:solidFill>
              </a:rPr>
              <a:t>x, </a:t>
            </a:r>
            <a:r>
              <a:rPr lang="en-US" dirty="0" smtClean="0">
                <a:solidFill>
                  <a:schemeClr val="bg1"/>
                </a:solidFill>
              </a:rPr>
              <a:t>y   =  </a:t>
            </a:r>
            <a:r>
              <a:rPr lang="en-US" dirty="0" smtClean="0">
                <a:solidFill>
                  <a:schemeClr val="accent6">
                    <a:lumMod val="40000"/>
                    <a:lumOff val="60000"/>
                  </a:schemeClr>
                </a:solidFill>
              </a:rPr>
              <a:t>1, 2</a:t>
            </a:r>
          </a:p>
          <a:p>
            <a:r>
              <a:rPr lang="en-US" dirty="0" smtClean="0">
                <a:solidFill>
                  <a:schemeClr val="bg1"/>
                </a:solidFill>
              </a:rPr>
              <a:t>print</a:t>
            </a:r>
            <a:r>
              <a:rPr lang="en-US" dirty="0" smtClean="0">
                <a:solidFill>
                  <a:srgbClr val="FFC500"/>
                </a:solidFill>
              </a:rPr>
              <a:t>(</a:t>
            </a:r>
            <a:r>
              <a:rPr lang="en-US" dirty="0" smtClean="0">
                <a:solidFill>
                  <a:schemeClr val="bg1"/>
                </a:solidFill>
              </a:rPr>
              <a:t>x, y</a:t>
            </a:r>
            <a:r>
              <a:rPr lang="en-US" dirty="0" smtClean="0">
                <a:solidFill>
                  <a:srgbClr val="FFC500"/>
                </a:solidFill>
              </a:rPr>
              <a:t>) </a:t>
            </a:r>
            <a:r>
              <a:rPr lang="en-US" dirty="0" smtClean="0">
                <a:solidFill>
                  <a:schemeClr val="accent6">
                    <a:lumMod val="75000"/>
                  </a:schemeClr>
                </a:solidFill>
              </a:rPr>
              <a:t># (1, 2)</a:t>
            </a:r>
          </a:p>
          <a:p>
            <a:r>
              <a:rPr lang="en-US" dirty="0" smtClean="0">
                <a:solidFill>
                  <a:schemeClr val="bg1"/>
                </a:solidFill>
              </a:rPr>
              <a:t>x, y = y, x </a:t>
            </a:r>
            <a:r>
              <a:rPr lang="en-US" dirty="0" smtClean="0">
                <a:solidFill>
                  <a:srgbClr val="FFC500"/>
                </a:solidFill>
              </a:rPr>
              <a:t> </a:t>
            </a:r>
            <a:r>
              <a:rPr lang="en-US" dirty="0" smtClean="0">
                <a:solidFill>
                  <a:schemeClr val="accent6">
                    <a:lumMod val="75000"/>
                  </a:schemeClr>
                </a:solidFill>
              </a:rPr>
              <a:t># </a:t>
            </a:r>
            <a:r>
              <a:rPr lang="en-US" dirty="0" err="1" smtClean="0">
                <a:solidFill>
                  <a:schemeClr val="accent6">
                    <a:lumMod val="75000"/>
                  </a:schemeClr>
                </a:solidFill>
              </a:rPr>
              <a:t>Hoán</a:t>
            </a:r>
            <a:r>
              <a:rPr lang="en-US" dirty="0" smtClean="0">
                <a:solidFill>
                  <a:schemeClr val="accent6">
                    <a:lumMod val="75000"/>
                  </a:schemeClr>
                </a:solidFill>
              </a:rPr>
              <a:t> </a:t>
            </a:r>
            <a:r>
              <a:rPr lang="en-US" dirty="0" err="1" smtClean="0">
                <a:solidFill>
                  <a:schemeClr val="accent6">
                    <a:lumMod val="75000"/>
                  </a:schemeClr>
                </a:solidFill>
              </a:rPr>
              <a:t>đổi</a:t>
            </a:r>
            <a:r>
              <a:rPr lang="en-US" dirty="0" smtClean="0">
                <a:solidFill>
                  <a:schemeClr val="accent6">
                    <a:lumMod val="75000"/>
                  </a:schemeClr>
                </a:solidFill>
              </a:rPr>
              <a:t> </a:t>
            </a:r>
            <a:r>
              <a:rPr lang="en-US" dirty="0" err="1" smtClean="0">
                <a:solidFill>
                  <a:schemeClr val="accent6">
                    <a:lumMod val="75000"/>
                  </a:schemeClr>
                </a:solidFill>
              </a:rPr>
              <a:t>giá</a:t>
            </a:r>
            <a:r>
              <a:rPr lang="en-US" dirty="0" smtClean="0">
                <a:solidFill>
                  <a:schemeClr val="accent6">
                    <a:lumMod val="75000"/>
                  </a:schemeClr>
                </a:solidFill>
              </a:rPr>
              <a:t> </a:t>
            </a:r>
            <a:r>
              <a:rPr lang="en-US" dirty="0" err="1" smtClean="0">
                <a:solidFill>
                  <a:schemeClr val="accent6">
                    <a:lumMod val="75000"/>
                  </a:schemeClr>
                </a:solidFill>
              </a:rPr>
              <a:t>trị</a:t>
            </a:r>
            <a:r>
              <a:rPr lang="en-US" dirty="0" smtClean="0">
                <a:solidFill>
                  <a:schemeClr val="accent6">
                    <a:lumMod val="75000"/>
                  </a:schemeClr>
                </a:solidFill>
              </a:rPr>
              <a:t> x </a:t>
            </a:r>
            <a:r>
              <a:rPr lang="en-US" dirty="0" err="1" smtClean="0">
                <a:solidFill>
                  <a:schemeClr val="accent6">
                    <a:lumMod val="75000"/>
                  </a:schemeClr>
                </a:solidFill>
              </a:rPr>
              <a:t>và</a:t>
            </a:r>
            <a:r>
              <a:rPr lang="en-US" dirty="0" smtClean="0">
                <a:solidFill>
                  <a:schemeClr val="accent6">
                    <a:lumMod val="75000"/>
                  </a:schemeClr>
                </a:solidFill>
              </a:rPr>
              <a:t> y </a:t>
            </a:r>
            <a:r>
              <a:rPr lang="en-US" dirty="0" err="1" smtClean="0">
                <a:solidFill>
                  <a:schemeClr val="accent6">
                    <a:lumMod val="75000"/>
                  </a:schemeClr>
                </a:solidFill>
              </a:rPr>
              <a:t>cho</a:t>
            </a:r>
            <a:r>
              <a:rPr lang="en-US" dirty="0" smtClean="0">
                <a:solidFill>
                  <a:schemeClr val="accent6">
                    <a:lumMod val="75000"/>
                  </a:schemeClr>
                </a:solidFill>
              </a:rPr>
              <a:t> </a:t>
            </a:r>
            <a:r>
              <a:rPr lang="en-US" dirty="0" err="1" smtClean="0">
                <a:solidFill>
                  <a:schemeClr val="accent6">
                    <a:lumMod val="75000"/>
                  </a:schemeClr>
                </a:solidFill>
              </a:rPr>
              <a:t>nhau</a:t>
            </a:r>
            <a:endParaRPr lang="en-US" dirty="0" smtClean="0">
              <a:solidFill>
                <a:schemeClr val="accent6">
                  <a:lumMod val="75000"/>
                </a:schemeClr>
              </a:solidFill>
            </a:endParaRPr>
          </a:p>
          <a:p>
            <a:r>
              <a:rPr lang="en-US" dirty="0">
                <a:solidFill>
                  <a:schemeClr val="bg1"/>
                </a:solidFill>
              </a:rPr>
              <a:t>print</a:t>
            </a:r>
            <a:r>
              <a:rPr lang="en-US" dirty="0">
                <a:solidFill>
                  <a:srgbClr val="FFC500"/>
                </a:solidFill>
              </a:rPr>
              <a:t>(</a:t>
            </a:r>
            <a:r>
              <a:rPr lang="en-US" dirty="0">
                <a:solidFill>
                  <a:schemeClr val="bg1"/>
                </a:solidFill>
              </a:rPr>
              <a:t>x, y</a:t>
            </a:r>
            <a:r>
              <a:rPr lang="en-US" dirty="0">
                <a:solidFill>
                  <a:srgbClr val="FFC500"/>
                </a:solidFill>
              </a:rPr>
              <a:t>) </a:t>
            </a:r>
            <a:r>
              <a:rPr lang="en-US" dirty="0">
                <a:solidFill>
                  <a:schemeClr val="accent6">
                    <a:lumMod val="75000"/>
                  </a:schemeClr>
                </a:solidFill>
              </a:rPr>
              <a:t># </a:t>
            </a:r>
            <a:r>
              <a:rPr lang="en-US" dirty="0" smtClean="0">
                <a:solidFill>
                  <a:schemeClr val="accent6">
                    <a:lumMod val="75000"/>
                  </a:schemeClr>
                </a:solidFill>
              </a:rPr>
              <a:t>(2, 1)</a:t>
            </a:r>
            <a:endParaRPr lang="en-US" dirty="0">
              <a:solidFill>
                <a:schemeClr val="accent6">
                  <a:lumMod val="75000"/>
                </a:schemeClr>
              </a:solidFill>
            </a:endParaRPr>
          </a:p>
        </p:txBody>
      </p:sp>
    </p:spTree>
    <p:extLst>
      <p:ext uri="{BB962C8B-B14F-4D97-AF65-F5344CB8AC3E}">
        <p14:creationId xmlns:p14="http://schemas.microsoft.com/office/powerpoint/2010/main" val="20484894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10</a:t>
            </a:fld>
            <a:endParaRPr lang="en-US"/>
          </a:p>
        </p:txBody>
      </p:sp>
      <p:sp>
        <p:nvSpPr>
          <p:cNvPr id="4" name="Text Placeholder 2"/>
          <p:cNvSpPr txBox="1">
            <a:spLocks/>
          </p:cNvSpPr>
          <p:nvPr/>
        </p:nvSpPr>
        <p:spPr>
          <a:xfrm>
            <a:off x="209777" y="854833"/>
            <a:ext cx="8454964" cy="424732"/>
          </a:xfrm>
          <a:prstGeom prst="rect">
            <a:avLst/>
          </a:prstGeom>
          <a:noFill/>
        </p:spPr>
        <p:txBody>
          <a:bodyPr vert="horz" wrap="square" lIns="91440" tIns="45720" rIns="91440" bIns="45720" rtlCol="0">
            <a:spAutoFit/>
          </a:bodyPr>
          <a:lstStyle>
            <a:lvl1pPr marL="0" indent="0" algn="l" defTabSz="914400" rtl="0" eaLnBrk="1" latinLnBrk="0" hangingPunct="1">
              <a:lnSpc>
                <a:spcPct val="90000"/>
              </a:lnSpc>
              <a:spcBef>
                <a:spcPts val="1000"/>
              </a:spcBef>
              <a:buFont typeface="Arial" panose="020B0604020202020204" pitchFamily="34" charset="0"/>
              <a:buNone/>
              <a:defRPr lang="en-US" sz="2400" b="1" kern="1200" dirty="0" smtClean="0">
                <a:solidFill>
                  <a:srgbClr val="64C7E9"/>
                </a:solidFill>
                <a:latin typeface="+mn-lt"/>
                <a:ea typeface="Roboto"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2.2 </a:t>
            </a:r>
            <a:r>
              <a:rPr lang="en-US" dirty="0" err="1" smtClean="0"/>
              <a:t>Nguyên</a:t>
            </a:r>
            <a:r>
              <a:rPr lang="en-US" dirty="0" smtClean="0"/>
              <a:t> </a:t>
            </a:r>
            <a:r>
              <a:rPr lang="en-US" dirty="0" err="1" smtClean="0"/>
              <a:t>tắc</a:t>
            </a:r>
            <a:r>
              <a:rPr lang="en-US" dirty="0" smtClean="0"/>
              <a:t> </a:t>
            </a:r>
            <a:r>
              <a:rPr lang="en-US" dirty="0" err="1" smtClean="0"/>
              <a:t>đặt</a:t>
            </a:r>
            <a:r>
              <a:rPr lang="en-US" dirty="0" smtClean="0"/>
              <a:t> </a:t>
            </a:r>
            <a:r>
              <a:rPr lang="en-US" dirty="0" err="1" smtClean="0"/>
              <a:t>tên</a:t>
            </a:r>
            <a:r>
              <a:rPr lang="en-US" dirty="0" smtClean="0"/>
              <a:t> </a:t>
            </a:r>
            <a:r>
              <a:rPr lang="en-US" dirty="0" err="1" smtClean="0"/>
              <a:t>biến</a:t>
            </a:r>
            <a:r>
              <a:rPr lang="en-US" dirty="0" smtClean="0"/>
              <a:t> </a:t>
            </a:r>
            <a:r>
              <a:rPr lang="en-US" dirty="0" err="1" smtClean="0"/>
              <a:t>trong</a:t>
            </a:r>
            <a:r>
              <a:rPr lang="en-US" dirty="0" smtClean="0"/>
              <a:t> Python</a:t>
            </a:r>
            <a:endParaRPr lang="en-US" dirty="0"/>
          </a:p>
        </p:txBody>
      </p:sp>
      <p:pic>
        <p:nvPicPr>
          <p:cNvPr id="22"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07433"/>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p:cNvSpPr txBox="1"/>
          <p:nvPr/>
        </p:nvSpPr>
        <p:spPr>
          <a:xfrm>
            <a:off x="1041993" y="1548007"/>
            <a:ext cx="4125430" cy="369332"/>
          </a:xfrm>
          <a:prstGeom prst="rect">
            <a:avLst/>
          </a:prstGeom>
          <a:noFill/>
        </p:spPr>
        <p:txBody>
          <a:bodyPr wrap="square" rtlCol="0">
            <a:spAutoFit/>
          </a:bodyPr>
          <a:lstStyle/>
          <a:p>
            <a:r>
              <a:rPr lang="en-US" b="1" dirty="0" err="1" smtClean="0"/>
              <a:t>Gán</a:t>
            </a:r>
            <a:r>
              <a:rPr lang="en-US" b="1" dirty="0" smtClean="0"/>
              <a:t> </a:t>
            </a:r>
            <a:r>
              <a:rPr lang="en-US" b="1" dirty="0" err="1" smtClean="0">
                <a:solidFill>
                  <a:srgbClr val="FF0000"/>
                </a:solidFill>
              </a:rPr>
              <a:t>một</a:t>
            </a:r>
            <a:r>
              <a:rPr lang="en-US" b="1" dirty="0" smtClean="0"/>
              <a:t> </a:t>
            </a:r>
            <a:r>
              <a:rPr lang="en-US" b="1" dirty="0" err="1" smtClean="0"/>
              <a:t>giá</a:t>
            </a:r>
            <a:r>
              <a:rPr lang="en-US" b="1" dirty="0" smtClean="0"/>
              <a:t> </a:t>
            </a:r>
            <a:r>
              <a:rPr lang="en-US" b="1" dirty="0" err="1" smtClean="0"/>
              <a:t>trị</a:t>
            </a:r>
            <a:r>
              <a:rPr lang="en-US" b="1" dirty="0" smtClean="0"/>
              <a:t> </a:t>
            </a:r>
            <a:r>
              <a:rPr lang="en-US" b="1" dirty="0" err="1" smtClean="0"/>
              <a:t>cho</a:t>
            </a:r>
            <a:r>
              <a:rPr lang="en-US" b="1" dirty="0" smtClean="0"/>
              <a:t> </a:t>
            </a:r>
            <a:r>
              <a:rPr lang="en-US" b="1" dirty="0" err="1" smtClean="0">
                <a:solidFill>
                  <a:srgbClr val="FF0000"/>
                </a:solidFill>
              </a:rPr>
              <a:t>nhiều</a:t>
            </a:r>
            <a:r>
              <a:rPr lang="en-US" b="1" dirty="0" smtClean="0"/>
              <a:t> </a:t>
            </a:r>
            <a:r>
              <a:rPr lang="en-US" b="1" dirty="0" err="1" smtClean="0"/>
              <a:t>biến</a:t>
            </a:r>
            <a:endParaRPr lang="en-US" b="1" dirty="0">
              <a:solidFill>
                <a:srgbClr val="FF0000"/>
              </a:solidFill>
            </a:endParaRPr>
          </a:p>
        </p:txBody>
      </p:sp>
      <p:sp>
        <p:nvSpPr>
          <p:cNvPr id="24" name="Rectangle 23"/>
          <p:cNvSpPr/>
          <p:nvPr/>
        </p:nvSpPr>
        <p:spPr>
          <a:xfrm>
            <a:off x="563525" y="2131427"/>
            <a:ext cx="7899991" cy="153799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763710" y="2282848"/>
            <a:ext cx="7347097" cy="1200329"/>
          </a:xfrm>
          <a:prstGeom prst="rect">
            <a:avLst/>
          </a:prstGeom>
          <a:noFill/>
        </p:spPr>
        <p:txBody>
          <a:bodyPr wrap="square" rtlCol="0">
            <a:spAutoFit/>
          </a:bodyPr>
          <a:lstStyle/>
          <a:p>
            <a:r>
              <a:rPr lang="en-US" dirty="0">
                <a:solidFill>
                  <a:schemeClr val="bg1"/>
                </a:solidFill>
              </a:rPr>
              <a:t>x</a:t>
            </a:r>
            <a:r>
              <a:rPr lang="en-US" dirty="0" smtClean="0">
                <a:solidFill>
                  <a:schemeClr val="bg1"/>
                </a:solidFill>
              </a:rPr>
              <a:t> = y = z  = </a:t>
            </a:r>
            <a:r>
              <a:rPr lang="en-US" dirty="0">
                <a:solidFill>
                  <a:schemeClr val="bg1"/>
                </a:solidFill>
              </a:rPr>
              <a:t> </a:t>
            </a:r>
            <a:r>
              <a:rPr lang="en-US" dirty="0">
                <a:solidFill>
                  <a:schemeClr val="accent2">
                    <a:lumMod val="75000"/>
                  </a:schemeClr>
                </a:solidFill>
              </a:rPr>
              <a:t>"</a:t>
            </a:r>
            <a:r>
              <a:rPr lang="en-US" dirty="0" smtClean="0">
                <a:solidFill>
                  <a:schemeClr val="accent2">
                    <a:lumMod val="75000"/>
                  </a:schemeClr>
                </a:solidFill>
              </a:rPr>
              <a:t>Orange“</a:t>
            </a:r>
          </a:p>
          <a:p>
            <a:r>
              <a:rPr lang="en-US" dirty="0" smtClean="0">
                <a:solidFill>
                  <a:schemeClr val="bg1"/>
                </a:solidFill>
              </a:rPr>
              <a:t>print</a:t>
            </a:r>
            <a:r>
              <a:rPr lang="en-US" dirty="0" smtClean="0">
                <a:solidFill>
                  <a:srgbClr val="FFC500"/>
                </a:solidFill>
              </a:rPr>
              <a:t>(</a:t>
            </a:r>
            <a:r>
              <a:rPr lang="en-US" dirty="0" smtClean="0">
                <a:solidFill>
                  <a:schemeClr val="bg1"/>
                </a:solidFill>
              </a:rPr>
              <a:t>x</a:t>
            </a:r>
            <a:r>
              <a:rPr lang="en-US" dirty="0" smtClean="0">
                <a:solidFill>
                  <a:srgbClr val="FFC500"/>
                </a:solidFill>
              </a:rPr>
              <a:t>) </a:t>
            </a:r>
            <a:r>
              <a:rPr lang="en-US" dirty="0" smtClean="0">
                <a:solidFill>
                  <a:schemeClr val="accent6">
                    <a:lumMod val="75000"/>
                  </a:schemeClr>
                </a:solidFill>
              </a:rPr>
              <a:t># x = </a:t>
            </a:r>
            <a:r>
              <a:rPr lang="en-US" dirty="0">
                <a:solidFill>
                  <a:schemeClr val="accent6">
                    <a:lumMod val="75000"/>
                  </a:schemeClr>
                </a:solidFill>
              </a:rPr>
              <a:t>Orange</a:t>
            </a:r>
            <a:r>
              <a:rPr lang="en-US" dirty="0">
                <a:solidFill>
                  <a:schemeClr val="bg1"/>
                </a:solidFill>
              </a:rPr>
              <a:t/>
            </a:r>
            <a:br>
              <a:rPr lang="en-US" dirty="0">
                <a:solidFill>
                  <a:schemeClr val="bg1"/>
                </a:solidFill>
              </a:rPr>
            </a:br>
            <a:r>
              <a:rPr lang="en-US" dirty="0">
                <a:solidFill>
                  <a:schemeClr val="bg1"/>
                </a:solidFill>
              </a:rPr>
              <a:t>print</a:t>
            </a:r>
            <a:r>
              <a:rPr lang="en-US" dirty="0">
                <a:solidFill>
                  <a:srgbClr val="FFC500"/>
                </a:solidFill>
              </a:rPr>
              <a:t>(</a:t>
            </a:r>
            <a:r>
              <a:rPr lang="en-US" dirty="0">
                <a:solidFill>
                  <a:schemeClr val="bg1"/>
                </a:solidFill>
              </a:rPr>
              <a:t>y</a:t>
            </a:r>
            <a:r>
              <a:rPr lang="en-US" dirty="0" smtClean="0">
                <a:solidFill>
                  <a:srgbClr val="FFC500"/>
                </a:solidFill>
              </a:rPr>
              <a:t>) </a:t>
            </a:r>
            <a:r>
              <a:rPr lang="en-US" dirty="0" smtClean="0">
                <a:solidFill>
                  <a:schemeClr val="accent6">
                    <a:lumMod val="75000"/>
                  </a:schemeClr>
                </a:solidFill>
              </a:rPr>
              <a:t># y = </a:t>
            </a:r>
            <a:r>
              <a:rPr lang="en-US" dirty="0">
                <a:solidFill>
                  <a:schemeClr val="accent6">
                    <a:lumMod val="75000"/>
                  </a:schemeClr>
                </a:solidFill>
              </a:rPr>
              <a:t>Orange</a:t>
            </a:r>
            <a:r>
              <a:rPr lang="en-US" dirty="0">
                <a:solidFill>
                  <a:schemeClr val="bg1"/>
                </a:solidFill>
              </a:rPr>
              <a:t/>
            </a:r>
            <a:br>
              <a:rPr lang="en-US" dirty="0">
                <a:solidFill>
                  <a:schemeClr val="bg1"/>
                </a:solidFill>
              </a:rPr>
            </a:br>
            <a:r>
              <a:rPr lang="en-US" dirty="0">
                <a:solidFill>
                  <a:schemeClr val="bg1"/>
                </a:solidFill>
              </a:rPr>
              <a:t>print</a:t>
            </a:r>
            <a:r>
              <a:rPr lang="en-US" dirty="0">
                <a:solidFill>
                  <a:srgbClr val="FFC500"/>
                </a:solidFill>
              </a:rPr>
              <a:t>(</a:t>
            </a:r>
            <a:r>
              <a:rPr lang="en-US" dirty="0">
                <a:solidFill>
                  <a:schemeClr val="bg1"/>
                </a:solidFill>
              </a:rPr>
              <a:t>z</a:t>
            </a:r>
            <a:r>
              <a:rPr lang="en-US" dirty="0" smtClean="0">
                <a:solidFill>
                  <a:srgbClr val="FFC500"/>
                </a:solidFill>
              </a:rPr>
              <a:t>) </a:t>
            </a:r>
            <a:r>
              <a:rPr lang="en-US" dirty="0" smtClean="0">
                <a:solidFill>
                  <a:schemeClr val="accent6">
                    <a:lumMod val="75000"/>
                  </a:schemeClr>
                </a:solidFill>
              </a:rPr>
              <a:t># z = </a:t>
            </a:r>
            <a:r>
              <a:rPr lang="en-US" dirty="0">
                <a:solidFill>
                  <a:schemeClr val="accent6">
                    <a:lumMod val="75000"/>
                  </a:schemeClr>
                </a:solidFill>
              </a:rPr>
              <a:t>Orange</a:t>
            </a:r>
          </a:p>
        </p:txBody>
      </p:sp>
      <p:pic>
        <p:nvPicPr>
          <p:cNvPr id="12"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3878494"/>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1041993" y="3919068"/>
            <a:ext cx="4848444" cy="369332"/>
          </a:xfrm>
          <a:prstGeom prst="rect">
            <a:avLst/>
          </a:prstGeom>
          <a:noFill/>
        </p:spPr>
        <p:txBody>
          <a:bodyPr wrap="square" rtlCol="0">
            <a:spAutoFit/>
          </a:bodyPr>
          <a:lstStyle/>
          <a:p>
            <a:r>
              <a:rPr lang="en-US" b="1" dirty="0" err="1" smtClean="0"/>
              <a:t>Xuất</a:t>
            </a:r>
            <a:r>
              <a:rPr lang="en-US" b="1" dirty="0" smtClean="0"/>
              <a:t> </a:t>
            </a:r>
            <a:r>
              <a:rPr lang="en-US" b="1" dirty="0" err="1" smtClean="0"/>
              <a:t>giá</a:t>
            </a:r>
            <a:r>
              <a:rPr lang="en-US" b="1" dirty="0" smtClean="0"/>
              <a:t> </a:t>
            </a:r>
            <a:r>
              <a:rPr lang="en-US" b="1" dirty="0" err="1" smtClean="0"/>
              <a:t>trị</a:t>
            </a:r>
            <a:r>
              <a:rPr lang="en-US" b="1" dirty="0" smtClean="0"/>
              <a:t> </a:t>
            </a:r>
            <a:r>
              <a:rPr lang="en-US" b="1" dirty="0" err="1" smtClean="0"/>
              <a:t>của</a:t>
            </a:r>
            <a:r>
              <a:rPr lang="en-US" b="1" dirty="0" smtClean="0"/>
              <a:t> </a:t>
            </a:r>
            <a:r>
              <a:rPr lang="en-US" b="1" dirty="0" err="1" smtClean="0"/>
              <a:t>biến</a:t>
            </a:r>
            <a:r>
              <a:rPr lang="en-US" b="1" dirty="0" smtClean="0"/>
              <a:t> (Output variables)   </a:t>
            </a:r>
            <a:endParaRPr lang="en-US" b="1" dirty="0">
              <a:solidFill>
                <a:srgbClr val="FF0000"/>
              </a:solidFill>
            </a:endParaRPr>
          </a:p>
        </p:txBody>
      </p:sp>
      <p:sp>
        <p:nvSpPr>
          <p:cNvPr id="14" name="Rectangle 13"/>
          <p:cNvSpPr/>
          <p:nvPr/>
        </p:nvSpPr>
        <p:spPr>
          <a:xfrm>
            <a:off x="563525" y="4459958"/>
            <a:ext cx="7899991" cy="162874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763710" y="4611379"/>
            <a:ext cx="7347097" cy="1477328"/>
          </a:xfrm>
          <a:prstGeom prst="rect">
            <a:avLst/>
          </a:prstGeom>
          <a:noFill/>
        </p:spPr>
        <p:txBody>
          <a:bodyPr wrap="square" rtlCol="0">
            <a:spAutoFit/>
          </a:bodyPr>
          <a:lstStyle/>
          <a:p>
            <a:r>
              <a:rPr lang="en-US" dirty="0">
                <a:solidFill>
                  <a:schemeClr val="bg1"/>
                </a:solidFill>
              </a:rPr>
              <a:t>x</a:t>
            </a:r>
            <a:r>
              <a:rPr lang="en-US" dirty="0" smtClean="0">
                <a:solidFill>
                  <a:schemeClr val="bg1"/>
                </a:solidFill>
              </a:rPr>
              <a:t> = </a:t>
            </a:r>
            <a:r>
              <a:rPr lang="en-US" dirty="0">
                <a:solidFill>
                  <a:schemeClr val="bg1"/>
                </a:solidFill>
              </a:rPr>
              <a:t> </a:t>
            </a:r>
            <a:r>
              <a:rPr lang="en-US" dirty="0" smtClean="0">
                <a:solidFill>
                  <a:schemeClr val="accent2">
                    <a:lumMod val="75000"/>
                  </a:schemeClr>
                </a:solidFill>
              </a:rPr>
              <a:t>“Hello“</a:t>
            </a:r>
          </a:p>
          <a:p>
            <a:r>
              <a:rPr lang="en-US" dirty="0" smtClean="0">
                <a:solidFill>
                  <a:schemeClr val="bg1"/>
                </a:solidFill>
              </a:rPr>
              <a:t>y </a:t>
            </a:r>
            <a:r>
              <a:rPr lang="en-US" dirty="0">
                <a:solidFill>
                  <a:schemeClr val="bg1"/>
                </a:solidFill>
              </a:rPr>
              <a:t>=  </a:t>
            </a:r>
            <a:r>
              <a:rPr lang="en-US" dirty="0" smtClean="0">
                <a:solidFill>
                  <a:schemeClr val="accent2">
                    <a:lumMod val="75000"/>
                  </a:schemeClr>
                </a:solidFill>
              </a:rPr>
              <a:t>“Python“</a:t>
            </a:r>
            <a:endParaRPr lang="en-US" dirty="0">
              <a:solidFill>
                <a:schemeClr val="accent2">
                  <a:lumMod val="75000"/>
                </a:schemeClr>
              </a:solidFill>
            </a:endParaRPr>
          </a:p>
          <a:p>
            <a:r>
              <a:rPr lang="en-US" dirty="0" smtClean="0">
                <a:solidFill>
                  <a:schemeClr val="bg1"/>
                </a:solidFill>
              </a:rPr>
              <a:t>print</a:t>
            </a:r>
            <a:r>
              <a:rPr lang="en-US" dirty="0" smtClean="0">
                <a:solidFill>
                  <a:srgbClr val="FFC500"/>
                </a:solidFill>
              </a:rPr>
              <a:t>(</a:t>
            </a:r>
            <a:r>
              <a:rPr lang="en-US" dirty="0" smtClean="0">
                <a:solidFill>
                  <a:schemeClr val="bg1"/>
                </a:solidFill>
              </a:rPr>
              <a:t>x, y</a:t>
            </a:r>
            <a:r>
              <a:rPr lang="en-US" dirty="0" smtClean="0">
                <a:solidFill>
                  <a:srgbClr val="FFC500"/>
                </a:solidFill>
              </a:rPr>
              <a:t>)</a:t>
            </a:r>
          </a:p>
          <a:p>
            <a:r>
              <a:rPr lang="en-US" dirty="0" smtClean="0">
                <a:solidFill>
                  <a:schemeClr val="bg1"/>
                </a:solidFill>
              </a:rPr>
              <a:t>print</a:t>
            </a:r>
            <a:r>
              <a:rPr lang="en-US" dirty="0" smtClean="0">
                <a:solidFill>
                  <a:srgbClr val="FFC500"/>
                </a:solidFill>
              </a:rPr>
              <a:t>(</a:t>
            </a:r>
            <a:r>
              <a:rPr lang="en-US" dirty="0" smtClean="0">
                <a:solidFill>
                  <a:schemeClr val="bg1"/>
                </a:solidFill>
              </a:rPr>
              <a:t>x + y</a:t>
            </a:r>
            <a:r>
              <a:rPr lang="en-US" dirty="0">
                <a:solidFill>
                  <a:srgbClr val="FFC500"/>
                </a:solidFill>
              </a:rPr>
              <a:t>)</a:t>
            </a:r>
          </a:p>
          <a:p>
            <a:endParaRPr lang="en-US" dirty="0">
              <a:solidFill>
                <a:schemeClr val="accent6">
                  <a:lumMod val="75000"/>
                </a:schemeClr>
              </a:solidFill>
            </a:endParaRPr>
          </a:p>
        </p:txBody>
      </p:sp>
    </p:spTree>
    <p:extLst>
      <p:ext uri="{BB962C8B-B14F-4D97-AF65-F5344CB8AC3E}">
        <p14:creationId xmlns:p14="http://schemas.microsoft.com/office/powerpoint/2010/main" val="15689667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11</a:t>
            </a:fld>
            <a:endParaRPr lang="en-US"/>
          </a:p>
        </p:txBody>
      </p:sp>
      <p:sp>
        <p:nvSpPr>
          <p:cNvPr id="3" name="Text Placeholder 2"/>
          <p:cNvSpPr>
            <a:spLocks noGrp="1"/>
          </p:cNvSpPr>
          <p:nvPr>
            <p:ph type="body" sz="quarter" idx="13"/>
          </p:nvPr>
        </p:nvSpPr>
        <p:spPr/>
        <p:txBody>
          <a:bodyPr/>
          <a:lstStyle/>
          <a:p>
            <a:r>
              <a:rPr lang="en-US" dirty="0" smtClean="0"/>
              <a:t>2.4 </a:t>
            </a:r>
            <a:r>
              <a:rPr lang="en-US" dirty="0" err="1" smtClean="0"/>
              <a:t>Các</a:t>
            </a:r>
            <a:r>
              <a:rPr lang="en-US" dirty="0" smtClean="0"/>
              <a:t> </a:t>
            </a:r>
            <a:r>
              <a:rPr lang="en-US" dirty="0" err="1" smtClean="0"/>
              <a:t>Kiểu</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trong</a:t>
            </a:r>
            <a:r>
              <a:rPr lang="en-US" dirty="0" smtClean="0"/>
              <a:t> Python</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523739272"/>
              </p:ext>
            </p:extLst>
          </p:nvPr>
        </p:nvGraphicFramePr>
        <p:xfrm>
          <a:off x="439479" y="1567121"/>
          <a:ext cx="8317410" cy="4820920"/>
        </p:xfrm>
        <a:graphic>
          <a:graphicData uri="http://schemas.openxmlformats.org/drawingml/2006/table">
            <a:tbl>
              <a:tblPr firstRow="1" bandRow="1">
                <a:tableStyleId>{5C22544A-7EE6-4342-B048-85BDC9FD1C3A}</a:tableStyleId>
              </a:tblPr>
              <a:tblGrid>
                <a:gridCol w="6067647">
                  <a:extLst>
                    <a:ext uri="{9D8B030D-6E8A-4147-A177-3AD203B41FA5}">
                      <a16:colId xmlns:a16="http://schemas.microsoft.com/office/drawing/2014/main" xmlns="" val="775735029"/>
                    </a:ext>
                  </a:extLst>
                </a:gridCol>
                <a:gridCol w="2249763">
                  <a:extLst>
                    <a:ext uri="{9D8B030D-6E8A-4147-A177-3AD203B41FA5}">
                      <a16:colId xmlns:a16="http://schemas.microsoft.com/office/drawing/2014/main" xmlns="" val="12961995"/>
                    </a:ext>
                  </a:extLst>
                </a:gridCol>
              </a:tblGrid>
              <a:tr h="370840">
                <a:tc>
                  <a:txBody>
                    <a:bodyPr/>
                    <a:lstStyle/>
                    <a:p>
                      <a:r>
                        <a:rPr lang="en-US" sz="1800" b="1" i="0" kern="1200" dirty="0" err="1" smtClean="0">
                          <a:solidFill>
                            <a:schemeClr val="lt1"/>
                          </a:solidFill>
                          <a:effectLst/>
                          <a:latin typeface="+mn-lt"/>
                          <a:ea typeface="+mn-ea"/>
                          <a:cs typeface="+mn-cs"/>
                        </a:rPr>
                        <a:t>Ví</a:t>
                      </a:r>
                      <a:r>
                        <a:rPr lang="en-US" sz="1800" b="1" i="0" kern="1200" baseline="0" dirty="0" smtClean="0">
                          <a:solidFill>
                            <a:schemeClr val="lt1"/>
                          </a:solidFill>
                          <a:effectLst/>
                          <a:latin typeface="+mn-lt"/>
                          <a:ea typeface="+mn-ea"/>
                          <a:cs typeface="+mn-cs"/>
                        </a:rPr>
                        <a:t> </a:t>
                      </a:r>
                      <a:r>
                        <a:rPr lang="en-US" sz="1800" b="1" i="0" kern="1200" baseline="0" dirty="0" err="1" smtClean="0">
                          <a:solidFill>
                            <a:schemeClr val="lt1"/>
                          </a:solidFill>
                          <a:effectLst/>
                          <a:latin typeface="+mn-lt"/>
                          <a:ea typeface="+mn-ea"/>
                          <a:cs typeface="+mn-cs"/>
                        </a:rPr>
                        <a:t>dụ</a:t>
                      </a:r>
                      <a:endParaRPr lang="en-US" dirty="0"/>
                    </a:p>
                  </a:txBody>
                  <a:tcPr/>
                </a:tc>
                <a:tc>
                  <a:txBody>
                    <a:bodyPr/>
                    <a:lstStyle/>
                    <a:p>
                      <a:r>
                        <a:rPr lang="en-US" sz="1800" b="1" i="0" kern="1200" dirty="0" smtClean="0">
                          <a:solidFill>
                            <a:schemeClr val="lt1"/>
                          </a:solidFill>
                          <a:effectLst/>
                          <a:latin typeface="+mn-lt"/>
                          <a:ea typeface="+mn-ea"/>
                          <a:cs typeface="+mn-cs"/>
                        </a:rPr>
                        <a:t>Data Type</a:t>
                      </a:r>
                      <a:endParaRPr lang="en-US" dirty="0"/>
                    </a:p>
                  </a:txBody>
                  <a:tcPr/>
                </a:tc>
                <a:extLst>
                  <a:ext uri="{0D108BD9-81ED-4DB2-BD59-A6C34878D82A}">
                    <a16:rowId xmlns:a16="http://schemas.microsoft.com/office/drawing/2014/main" xmlns="" val="168433935"/>
                  </a:ext>
                </a:extLst>
              </a:tr>
              <a:tr h="370840">
                <a:tc>
                  <a:txBody>
                    <a:bodyPr/>
                    <a:lstStyle/>
                    <a:p>
                      <a:r>
                        <a:rPr lang="en-US" sz="1800" b="0" i="0" kern="1200" dirty="0" smtClean="0">
                          <a:solidFill>
                            <a:schemeClr val="dk1"/>
                          </a:solidFill>
                          <a:effectLst/>
                          <a:latin typeface="+mn-lt"/>
                          <a:ea typeface="+mn-ea"/>
                          <a:cs typeface="+mn-cs"/>
                        </a:rPr>
                        <a:t>x = "Hello World"</a:t>
                      </a:r>
                      <a:endParaRPr lang="en-US" dirty="0"/>
                    </a:p>
                  </a:txBody>
                  <a:tcPr/>
                </a:tc>
                <a:tc>
                  <a:txBody>
                    <a:bodyPr/>
                    <a:lstStyle/>
                    <a:p>
                      <a:r>
                        <a:rPr lang="en-US" sz="1800" b="0" i="0" kern="1200" dirty="0" err="1" smtClean="0">
                          <a:solidFill>
                            <a:schemeClr val="dk1"/>
                          </a:solidFill>
                          <a:effectLst/>
                          <a:latin typeface="+mn-lt"/>
                          <a:ea typeface="+mn-ea"/>
                          <a:cs typeface="+mn-cs"/>
                        </a:rPr>
                        <a:t>str</a:t>
                      </a:r>
                      <a:endParaRPr lang="en-US" dirty="0"/>
                    </a:p>
                  </a:txBody>
                  <a:tcPr/>
                </a:tc>
                <a:extLst>
                  <a:ext uri="{0D108BD9-81ED-4DB2-BD59-A6C34878D82A}">
                    <a16:rowId xmlns:a16="http://schemas.microsoft.com/office/drawing/2014/main" xmlns="" val="1233761583"/>
                  </a:ext>
                </a:extLst>
              </a:tr>
              <a:tr h="370840">
                <a:tc>
                  <a:txBody>
                    <a:bodyPr/>
                    <a:lstStyle/>
                    <a:p>
                      <a:r>
                        <a:rPr lang="en-US" sz="1800" b="0" i="0" kern="1200" dirty="0" smtClean="0">
                          <a:solidFill>
                            <a:schemeClr val="dk1"/>
                          </a:solidFill>
                          <a:effectLst/>
                          <a:latin typeface="+mn-lt"/>
                          <a:ea typeface="+mn-ea"/>
                          <a:cs typeface="+mn-cs"/>
                        </a:rPr>
                        <a:t>x = 20</a:t>
                      </a:r>
                      <a:endParaRPr lang="en-US" dirty="0"/>
                    </a:p>
                  </a:txBody>
                  <a:tcPr/>
                </a:tc>
                <a:tc>
                  <a:txBody>
                    <a:bodyPr/>
                    <a:lstStyle/>
                    <a:p>
                      <a:r>
                        <a:rPr lang="en-US" sz="1800" b="0" i="0" kern="1200" dirty="0" err="1" smtClean="0">
                          <a:solidFill>
                            <a:schemeClr val="dk1"/>
                          </a:solidFill>
                          <a:effectLst/>
                          <a:latin typeface="+mn-lt"/>
                          <a:ea typeface="+mn-ea"/>
                          <a:cs typeface="+mn-cs"/>
                        </a:rPr>
                        <a:t>int</a:t>
                      </a:r>
                      <a:endParaRPr lang="en-US" dirty="0"/>
                    </a:p>
                  </a:txBody>
                  <a:tcPr/>
                </a:tc>
                <a:extLst>
                  <a:ext uri="{0D108BD9-81ED-4DB2-BD59-A6C34878D82A}">
                    <a16:rowId xmlns:a16="http://schemas.microsoft.com/office/drawing/2014/main" xmlns="" val="2501194884"/>
                  </a:ext>
                </a:extLst>
              </a:tr>
              <a:tr h="370840">
                <a:tc>
                  <a:txBody>
                    <a:bodyPr/>
                    <a:lstStyle/>
                    <a:p>
                      <a:r>
                        <a:rPr lang="en-US" sz="1800" b="0" i="0" kern="1200" dirty="0" smtClean="0">
                          <a:solidFill>
                            <a:schemeClr val="dk1"/>
                          </a:solidFill>
                          <a:effectLst/>
                          <a:latin typeface="+mn-lt"/>
                          <a:ea typeface="+mn-ea"/>
                          <a:cs typeface="+mn-cs"/>
                        </a:rPr>
                        <a:t>x = 20.5</a:t>
                      </a:r>
                      <a:endParaRPr lang="en-US" dirty="0"/>
                    </a:p>
                  </a:txBody>
                  <a:tcPr/>
                </a:tc>
                <a:tc>
                  <a:txBody>
                    <a:bodyPr/>
                    <a:lstStyle/>
                    <a:p>
                      <a:r>
                        <a:rPr lang="en-US" sz="1800" b="0" i="0" kern="1200" dirty="0" smtClean="0">
                          <a:solidFill>
                            <a:schemeClr val="dk1"/>
                          </a:solidFill>
                          <a:effectLst/>
                          <a:latin typeface="+mn-lt"/>
                          <a:ea typeface="+mn-ea"/>
                          <a:cs typeface="+mn-cs"/>
                        </a:rPr>
                        <a:t>float</a:t>
                      </a:r>
                      <a:endParaRPr lang="en-US" dirty="0"/>
                    </a:p>
                  </a:txBody>
                  <a:tcPr/>
                </a:tc>
                <a:extLst>
                  <a:ext uri="{0D108BD9-81ED-4DB2-BD59-A6C34878D82A}">
                    <a16:rowId xmlns:a16="http://schemas.microsoft.com/office/drawing/2014/main" xmlns="" val="421867804"/>
                  </a:ext>
                </a:extLst>
              </a:tr>
              <a:tr h="370840">
                <a:tc>
                  <a:txBody>
                    <a:bodyPr/>
                    <a:lstStyle/>
                    <a:p>
                      <a:r>
                        <a:rPr lang="en-US" sz="1800" b="0" i="0" kern="1200" dirty="0" smtClean="0">
                          <a:solidFill>
                            <a:schemeClr val="dk1"/>
                          </a:solidFill>
                          <a:effectLst/>
                          <a:latin typeface="+mn-lt"/>
                          <a:ea typeface="+mn-ea"/>
                          <a:cs typeface="+mn-cs"/>
                        </a:rPr>
                        <a:t>x = 1j</a:t>
                      </a:r>
                      <a:endParaRPr lang="en-US" dirty="0"/>
                    </a:p>
                  </a:txBody>
                  <a:tcPr/>
                </a:tc>
                <a:tc>
                  <a:txBody>
                    <a:bodyPr/>
                    <a:lstStyle/>
                    <a:p>
                      <a:r>
                        <a:rPr lang="en-US" sz="1800" b="0" i="0" kern="1200" dirty="0" smtClean="0">
                          <a:solidFill>
                            <a:schemeClr val="dk1"/>
                          </a:solidFill>
                          <a:effectLst/>
                          <a:latin typeface="+mn-lt"/>
                          <a:ea typeface="+mn-ea"/>
                          <a:cs typeface="+mn-cs"/>
                        </a:rPr>
                        <a:t>complex</a:t>
                      </a:r>
                      <a:endParaRPr lang="en-US" dirty="0"/>
                    </a:p>
                  </a:txBody>
                  <a:tcPr/>
                </a:tc>
                <a:extLst>
                  <a:ext uri="{0D108BD9-81ED-4DB2-BD59-A6C34878D82A}">
                    <a16:rowId xmlns:a16="http://schemas.microsoft.com/office/drawing/2014/main" xmlns="" val="3693021815"/>
                  </a:ext>
                </a:extLst>
              </a:tr>
              <a:tr h="370840">
                <a:tc>
                  <a:txBody>
                    <a:bodyPr/>
                    <a:lstStyle/>
                    <a:p>
                      <a:r>
                        <a:rPr lang="en-US" sz="1800" b="0" i="0" kern="1200" dirty="0" smtClean="0">
                          <a:solidFill>
                            <a:schemeClr val="dk1"/>
                          </a:solidFill>
                          <a:effectLst/>
                          <a:latin typeface="+mn-lt"/>
                          <a:ea typeface="+mn-ea"/>
                          <a:cs typeface="+mn-cs"/>
                        </a:rPr>
                        <a:t>x = ["apple", "banana", "cherry"]</a:t>
                      </a:r>
                      <a:endParaRPr lang="en-US" dirty="0"/>
                    </a:p>
                  </a:txBody>
                  <a:tcPr/>
                </a:tc>
                <a:tc>
                  <a:txBody>
                    <a:bodyPr/>
                    <a:lstStyle/>
                    <a:p>
                      <a:r>
                        <a:rPr lang="en-US" sz="1800" b="0" i="0" kern="1200" dirty="0" smtClean="0">
                          <a:solidFill>
                            <a:schemeClr val="dk1"/>
                          </a:solidFill>
                          <a:effectLst/>
                          <a:latin typeface="+mn-lt"/>
                          <a:ea typeface="+mn-ea"/>
                          <a:cs typeface="+mn-cs"/>
                        </a:rPr>
                        <a:t>list</a:t>
                      </a:r>
                      <a:endParaRPr lang="en-US" dirty="0"/>
                    </a:p>
                  </a:txBody>
                  <a:tcPr/>
                </a:tc>
                <a:extLst>
                  <a:ext uri="{0D108BD9-81ED-4DB2-BD59-A6C34878D82A}">
                    <a16:rowId xmlns:a16="http://schemas.microsoft.com/office/drawing/2014/main" xmlns="" val="284616189"/>
                  </a:ext>
                </a:extLst>
              </a:tr>
              <a:tr h="370840">
                <a:tc>
                  <a:txBody>
                    <a:bodyPr/>
                    <a:lstStyle/>
                    <a:p>
                      <a:r>
                        <a:rPr lang="en-US" sz="1800" b="0" i="0" kern="1200" dirty="0" smtClean="0">
                          <a:solidFill>
                            <a:schemeClr val="dk1"/>
                          </a:solidFill>
                          <a:effectLst/>
                          <a:latin typeface="+mn-lt"/>
                          <a:ea typeface="+mn-ea"/>
                          <a:cs typeface="+mn-cs"/>
                        </a:rPr>
                        <a:t>x = ("apple", "banana", "cherry")</a:t>
                      </a:r>
                      <a:endParaRPr lang="en-US" dirty="0"/>
                    </a:p>
                  </a:txBody>
                  <a:tcPr/>
                </a:tc>
                <a:tc>
                  <a:txBody>
                    <a:bodyPr/>
                    <a:lstStyle/>
                    <a:p>
                      <a:r>
                        <a:rPr lang="en-US" sz="1800" b="0" i="0" kern="1200" dirty="0" smtClean="0">
                          <a:solidFill>
                            <a:schemeClr val="dk1"/>
                          </a:solidFill>
                          <a:effectLst/>
                          <a:latin typeface="+mn-lt"/>
                          <a:ea typeface="+mn-ea"/>
                          <a:cs typeface="+mn-cs"/>
                        </a:rPr>
                        <a:t>tuple</a:t>
                      </a:r>
                      <a:endParaRPr lang="en-US" dirty="0"/>
                    </a:p>
                  </a:txBody>
                  <a:tcPr/>
                </a:tc>
                <a:extLst>
                  <a:ext uri="{0D108BD9-81ED-4DB2-BD59-A6C34878D82A}">
                    <a16:rowId xmlns:a16="http://schemas.microsoft.com/office/drawing/2014/main" xmlns="" val="775566249"/>
                  </a:ext>
                </a:extLst>
              </a:tr>
              <a:tr h="370840">
                <a:tc>
                  <a:txBody>
                    <a:bodyPr/>
                    <a:lstStyle/>
                    <a:p>
                      <a:r>
                        <a:rPr lang="en-US" sz="1800" b="0" i="0" kern="1200" dirty="0" smtClean="0">
                          <a:solidFill>
                            <a:schemeClr val="dk1"/>
                          </a:solidFill>
                          <a:effectLst/>
                          <a:latin typeface="+mn-lt"/>
                          <a:ea typeface="+mn-ea"/>
                          <a:cs typeface="+mn-cs"/>
                        </a:rPr>
                        <a:t>x = range(6)</a:t>
                      </a:r>
                      <a:endParaRPr lang="en-US" dirty="0"/>
                    </a:p>
                  </a:txBody>
                  <a:tcPr/>
                </a:tc>
                <a:tc>
                  <a:txBody>
                    <a:bodyPr/>
                    <a:lstStyle/>
                    <a:p>
                      <a:r>
                        <a:rPr lang="en-US" sz="1800" b="0" i="0" kern="1200" dirty="0" smtClean="0">
                          <a:solidFill>
                            <a:schemeClr val="dk1"/>
                          </a:solidFill>
                          <a:effectLst/>
                          <a:latin typeface="+mn-lt"/>
                          <a:ea typeface="+mn-ea"/>
                          <a:cs typeface="+mn-cs"/>
                        </a:rPr>
                        <a:t>Range</a:t>
                      </a:r>
                      <a:endParaRPr lang="en-US" dirty="0"/>
                    </a:p>
                  </a:txBody>
                  <a:tcPr/>
                </a:tc>
                <a:extLst>
                  <a:ext uri="{0D108BD9-81ED-4DB2-BD59-A6C34878D82A}">
                    <a16:rowId xmlns:a16="http://schemas.microsoft.com/office/drawing/2014/main" xmlns="" val="196749783"/>
                  </a:ext>
                </a:extLst>
              </a:tr>
              <a:tr h="370840">
                <a:tc>
                  <a:txBody>
                    <a:bodyPr/>
                    <a:lstStyle/>
                    <a:p>
                      <a:r>
                        <a:rPr lang="en-US" sz="1800" b="0" i="0" kern="1200" dirty="0" smtClean="0">
                          <a:solidFill>
                            <a:schemeClr val="dk1"/>
                          </a:solidFill>
                          <a:effectLst/>
                          <a:latin typeface="+mn-lt"/>
                          <a:ea typeface="+mn-ea"/>
                          <a:cs typeface="+mn-cs"/>
                        </a:rPr>
                        <a:t>x = {"name" : "John", "age" : 36}</a:t>
                      </a:r>
                      <a:endParaRPr lang="en-US" dirty="0"/>
                    </a:p>
                  </a:txBody>
                  <a:tcPr/>
                </a:tc>
                <a:tc>
                  <a:txBody>
                    <a:bodyPr/>
                    <a:lstStyle/>
                    <a:p>
                      <a:r>
                        <a:rPr lang="en-US" sz="1800" b="0" i="0" kern="1200" dirty="0" err="1" smtClean="0">
                          <a:solidFill>
                            <a:schemeClr val="dk1"/>
                          </a:solidFill>
                          <a:effectLst/>
                          <a:latin typeface="+mn-lt"/>
                          <a:ea typeface="+mn-ea"/>
                          <a:cs typeface="+mn-cs"/>
                        </a:rPr>
                        <a:t>dict</a:t>
                      </a:r>
                      <a:endParaRPr lang="en-US" dirty="0"/>
                    </a:p>
                  </a:txBody>
                  <a:tcPr/>
                </a:tc>
                <a:extLst>
                  <a:ext uri="{0D108BD9-81ED-4DB2-BD59-A6C34878D82A}">
                    <a16:rowId xmlns:a16="http://schemas.microsoft.com/office/drawing/2014/main" xmlns="" val="3862280917"/>
                  </a:ext>
                </a:extLst>
              </a:tr>
              <a:tr h="370840">
                <a:tc>
                  <a:txBody>
                    <a:bodyPr/>
                    <a:lstStyle/>
                    <a:p>
                      <a:r>
                        <a:rPr lang="en-US" sz="1800" b="0" i="0" kern="1200" dirty="0" smtClean="0">
                          <a:solidFill>
                            <a:schemeClr val="dk1"/>
                          </a:solidFill>
                          <a:effectLst/>
                          <a:latin typeface="+mn-lt"/>
                          <a:ea typeface="+mn-ea"/>
                          <a:cs typeface="+mn-cs"/>
                        </a:rPr>
                        <a:t>x = {"apple", "banana", "cherry"}</a:t>
                      </a:r>
                      <a:endParaRPr lang="en-US" dirty="0"/>
                    </a:p>
                  </a:txBody>
                  <a:tcPr/>
                </a:tc>
                <a:tc>
                  <a:txBody>
                    <a:bodyPr/>
                    <a:lstStyle/>
                    <a:p>
                      <a:r>
                        <a:rPr lang="en-US" sz="1800" b="0" i="0" kern="1200" dirty="0" smtClean="0">
                          <a:solidFill>
                            <a:schemeClr val="dk1"/>
                          </a:solidFill>
                          <a:effectLst/>
                          <a:latin typeface="+mn-lt"/>
                          <a:ea typeface="+mn-ea"/>
                          <a:cs typeface="+mn-cs"/>
                        </a:rPr>
                        <a:t>set</a:t>
                      </a:r>
                      <a:endParaRPr lang="en-US" dirty="0"/>
                    </a:p>
                  </a:txBody>
                  <a:tcPr/>
                </a:tc>
                <a:extLst>
                  <a:ext uri="{0D108BD9-81ED-4DB2-BD59-A6C34878D82A}">
                    <a16:rowId xmlns:a16="http://schemas.microsoft.com/office/drawing/2014/main" xmlns="" val="2432953681"/>
                  </a:ext>
                </a:extLst>
              </a:tr>
              <a:tr h="370840">
                <a:tc>
                  <a:txBody>
                    <a:bodyPr/>
                    <a:lstStyle/>
                    <a:p>
                      <a:r>
                        <a:rPr lang="en-US" sz="1800" b="0" i="0" kern="1200" dirty="0" smtClean="0">
                          <a:solidFill>
                            <a:schemeClr val="dk1"/>
                          </a:solidFill>
                          <a:effectLst/>
                          <a:latin typeface="+mn-lt"/>
                          <a:ea typeface="+mn-ea"/>
                          <a:cs typeface="+mn-cs"/>
                        </a:rPr>
                        <a:t>x = </a:t>
                      </a:r>
                      <a:r>
                        <a:rPr lang="en-US" sz="1800" b="0" i="0" kern="1200" dirty="0" err="1" smtClean="0">
                          <a:solidFill>
                            <a:schemeClr val="dk1"/>
                          </a:solidFill>
                          <a:effectLst/>
                          <a:latin typeface="+mn-lt"/>
                          <a:ea typeface="+mn-ea"/>
                          <a:cs typeface="+mn-cs"/>
                        </a:rPr>
                        <a:t>frozenset</a:t>
                      </a:r>
                      <a:r>
                        <a:rPr lang="en-US" sz="1800" b="0" i="0" kern="1200" dirty="0" smtClean="0">
                          <a:solidFill>
                            <a:schemeClr val="dk1"/>
                          </a:solidFill>
                          <a:effectLst/>
                          <a:latin typeface="+mn-lt"/>
                          <a:ea typeface="+mn-ea"/>
                          <a:cs typeface="+mn-cs"/>
                        </a:rPr>
                        <a:t>({"apple", "banana", "cherry"})</a:t>
                      </a:r>
                      <a:endParaRPr lang="en-US" dirty="0"/>
                    </a:p>
                  </a:txBody>
                  <a:tcPr/>
                </a:tc>
                <a:tc>
                  <a:txBody>
                    <a:bodyPr/>
                    <a:lstStyle/>
                    <a:p>
                      <a:r>
                        <a:rPr lang="en-US" sz="1800" b="0" i="0" kern="1200" dirty="0" err="1" smtClean="0">
                          <a:solidFill>
                            <a:schemeClr val="dk1"/>
                          </a:solidFill>
                          <a:effectLst/>
                          <a:latin typeface="+mn-lt"/>
                          <a:ea typeface="+mn-ea"/>
                          <a:cs typeface="+mn-cs"/>
                        </a:rPr>
                        <a:t>frozenset</a:t>
                      </a:r>
                      <a:endParaRPr lang="en-US" dirty="0"/>
                    </a:p>
                  </a:txBody>
                  <a:tcPr/>
                </a:tc>
                <a:extLst>
                  <a:ext uri="{0D108BD9-81ED-4DB2-BD59-A6C34878D82A}">
                    <a16:rowId xmlns:a16="http://schemas.microsoft.com/office/drawing/2014/main" xmlns="" val="1828059704"/>
                  </a:ext>
                </a:extLst>
              </a:tr>
              <a:tr h="370840">
                <a:tc>
                  <a:txBody>
                    <a:bodyPr/>
                    <a:lstStyle/>
                    <a:p>
                      <a:r>
                        <a:rPr lang="en-US" sz="1800" b="0" i="0" kern="1200" dirty="0" smtClean="0">
                          <a:solidFill>
                            <a:schemeClr val="dk1"/>
                          </a:solidFill>
                          <a:effectLst/>
                          <a:latin typeface="+mn-lt"/>
                          <a:ea typeface="+mn-ea"/>
                          <a:cs typeface="+mn-cs"/>
                        </a:rPr>
                        <a:t>x = True</a:t>
                      </a:r>
                      <a:endParaRPr lang="en-US" dirty="0"/>
                    </a:p>
                  </a:txBody>
                  <a:tcPr/>
                </a:tc>
                <a:tc>
                  <a:txBody>
                    <a:bodyPr/>
                    <a:lstStyle/>
                    <a:p>
                      <a:r>
                        <a:rPr lang="en-US" sz="1800" b="0" i="0" kern="1200" dirty="0" smtClean="0">
                          <a:solidFill>
                            <a:schemeClr val="dk1"/>
                          </a:solidFill>
                          <a:effectLst/>
                          <a:latin typeface="+mn-lt"/>
                          <a:ea typeface="+mn-ea"/>
                          <a:cs typeface="+mn-cs"/>
                        </a:rPr>
                        <a:t>bool</a:t>
                      </a:r>
                      <a:endParaRPr lang="en-US" dirty="0"/>
                    </a:p>
                  </a:txBody>
                  <a:tcPr/>
                </a:tc>
                <a:extLst>
                  <a:ext uri="{0D108BD9-81ED-4DB2-BD59-A6C34878D82A}">
                    <a16:rowId xmlns:a16="http://schemas.microsoft.com/office/drawing/2014/main" xmlns="" val="2453704909"/>
                  </a:ext>
                </a:extLst>
              </a:tr>
              <a:tr h="370840">
                <a:tc>
                  <a:txBody>
                    <a:bodyPr/>
                    <a:lstStyle/>
                    <a:p>
                      <a:r>
                        <a:rPr lang="en-US" sz="1800" b="0" i="0" kern="1200" dirty="0" smtClean="0">
                          <a:solidFill>
                            <a:schemeClr val="dk1"/>
                          </a:solidFill>
                          <a:effectLst/>
                          <a:latin typeface="+mn-lt"/>
                          <a:ea typeface="+mn-ea"/>
                          <a:cs typeface="+mn-cs"/>
                        </a:rPr>
                        <a:t>x = None</a:t>
                      </a:r>
                      <a:endParaRPr lang="en-US" dirty="0"/>
                    </a:p>
                  </a:txBody>
                  <a:tcPr/>
                </a:tc>
                <a:tc>
                  <a:txBody>
                    <a:bodyPr/>
                    <a:lstStyle/>
                    <a:p>
                      <a:r>
                        <a:rPr lang="en-US" sz="1800" b="0" i="0" kern="1200" dirty="0" err="1" smtClean="0">
                          <a:solidFill>
                            <a:schemeClr val="dk1"/>
                          </a:solidFill>
                          <a:effectLst/>
                          <a:latin typeface="+mn-lt"/>
                          <a:ea typeface="+mn-ea"/>
                          <a:cs typeface="+mn-cs"/>
                        </a:rPr>
                        <a:t>NoneType</a:t>
                      </a:r>
                      <a:endParaRPr lang="en-US" dirty="0"/>
                    </a:p>
                  </a:txBody>
                  <a:tcPr/>
                </a:tc>
                <a:extLst>
                  <a:ext uri="{0D108BD9-81ED-4DB2-BD59-A6C34878D82A}">
                    <a16:rowId xmlns:a16="http://schemas.microsoft.com/office/drawing/2014/main" xmlns="" val="1616845405"/>
                  </a:ext>
                </a:extLst>
              </a:tr>
            </a:tbl>
          </a:graphicData>
        </a:graphic>
      </p:graphicFrame>
    </p:spTree>
    <p:extLst>
      <p:ext uri="{BB962C8B-B14F-4D97-AF65-F5344CB8AC3E}">
        <p14:creationId xmlns:p14="http://schemas.microsoft.com/office/powerpoint/2010/main" val="37399893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12</a:t>
            </a:fld>
            <a:endParaRPr lang="en-US"/>
          </a:p>
        </p:txBody>
      </p:sp>
      <p:sp>
        <p:nvSpPr>
          <p:cNvPr id="3" name="Text Placeholder 2"/>
          <p:cNvSpPr>
            <a:spLocks noGrp="1"/>
          </p:cNvSpPr>
          <p:nvPr>
            <p:ph type="body" sz="quarter" idx="13"/>
          </p:nvPr>
        </p:nvSpPr>
        <p:spPr/>
        <p:txBody>
          <a:bodyPr/>
          <a:lstStyle/>
          <a:p>
            <a:r>
              <a:rPr lang="en-US" dirty="0" smtClean="0"/>
              <a:t>2.4 </a:t>
            </a:r>
            <a:r>
              <a:rPr lang="en-US" dirty="0" err="1" smtClean="0"/>
              <a:t>Các</a:t>
            </a:r>
            <a:r>
              <a:rPr lang="en-US" dirty="0" smtClean="0"/>
              <a:t> </a:t>
            </a:r>
            <a:r>
              <a:rPr lang="en-US" dirty="0" err="1" smtClean="0"/>
              <a:t>Kiểu</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trong</a:t>
            </a:r>
            <a:r>
              <a:rPr lang="en-US" dirty="0" smtClean="0"/>
              <a:t> Python</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809257658"/>
              </p:ext>
            </p:extLst>
          </p:nvPr>
        </p:nvGraphicFramePr>
        <p:xfrm>
          <a:off x="439479" y="1567121"/>
          <a:ext cx="8317410" cy="4450080"/>
        </p:xfrm>
        <a:graphic>
          <a:graphicData uri="http://schemas.openxmlformats.org/drawingml/2006/table">
            <a:tbl>
              <a:tblPr firstRow="1" bandRow="1">
                <a:tableStyleId>{5C22544A-7EE6-4342-B048-85BDC9FD1C3A}</a:tableStyleId>
              </a:tblPr>
              <a:tblGrid>
                <a:gridCol w="6067647">
                  <a:extLst>
                    <a:ext uri="{9D8B030D-6E8A-4147-A177-3AD203B41FA5}">
                      <a16:colId xmlns:a16="http://schemas.microsoft.com/office/drawing/2014/main" xmlns="" val="775735029"/>
                    </a:ext>
                  </a:extLst>
                </a:gridCol>
                <a:gridCol w="2249763">
                  <a:extLst>
                    <a:ext uri="{9D8B030D-6E8A-4147-A177-3AD203B41FA5}">
                      <a16:colId xmlns:a16="http://schemas.microsoft.com/office/drawing/2014/main" xmlns="" val="12961995"/>
                    </a:ext>
                  </a:extLst>
                </a:gridCol>
              </a:tblGrid>
              <a:tr h="370840">
                <a:tc>
                  <a:txBody>
                    <a:bodyPr/>
                    <a:lstStyle/>
                    <a:p>
                      <a:r>
                        <a:rPr lang="en-US" sz="1800" b="1" i="0" kern="1200" dirty="0" err="1" smtClean="0">
                          <a:solidFill>
                            <a:schemeClr val="lt1"/>
                          </a:solidFill>
                          <a:effectLst/>
                          <a:latin typeface="+mn-lt"/>
                          <a:ea typeface="+mn-ea"/>
                          <a:cs typeface="+mn-cs"/>
                        </a:rPr>
                        <a:t>Ép</a:t>
                      </a:r>
                      <a:r>
                        <a:rPr lang="en-US" sz="1800" b="1" i="0" kern="1200" baseline="0" dirty="0" smtClean="0">
                          <a:solidFill>
                            <a:schemeClr val="lt1"/>
                          </a:solidFill>
                          <a:effectLst/>
                          <a:latin typeface="+mn-lt"/>
                          <a:ea typeface="+mn-ea"/>
                          <a:cs typeface="+mn-cs"/>
                        </a:rPr>
                        <a:t> </a:t>
                      </a:r>
                      <a:r>
                        <a:rPr lang="en-US" sz="1800" b="1" i="0" kern="1200" baseline="0" dirty="0" err="1" smtClean="0">
                          <a:solidFill>
                            <a:schemeClr val="lt1"/>
                          </a:solidFill>
                          <a:effectLst/>
                          <a:latin typeface="+mn-lt"/>
                          <a:ea typeface="+mn-ea"/>
                          <a:cs typeface="+mn-cs"/>
                        </a:rPr>
                        <a:t>kiểu</a:t>
                      </a:r>
                      <a:r>
                        <a:rPr lang="en-US" sz="1800" b="1" i="0" kern="1200" baseline="0" dirty="0" smtClean="0">
                          <a:solidFill>
                            <a:schemeClr val="lt1"/>
                          </a:solidFill>
                          <a:effectLst/>
                          <a:latin typeface="+mn-lt"/>
                          <a:ea typeface="+mn-ea"/>
                          <a:cs typeface="+mn-cs"/>
                        </a:rPr>
                        <a:t> </a:t>
                      </a:r>
                      <a:r>
                        <a:rPr lang="en-US" sz="1800" b="1" i="0" kern="1200" baseline="0" dirty="0" err="1" smtClean="0">
                          <a:solidFill>
                            <a:schemeClr val="lt1"/>
                          </a:solidFill>
                          <a:effectLst/>
                          <a:latin typeface="+mn-lt"/>
                          <a:ea typeface="+mn-ea"/>
                          <a:cs typeface="+mn-cs"/>
                        </a:rPr>
                        <a:t>dữ</a:t>
                      </a:r>
                      <a:r>
                        <a:rPr lang="en-US" sz="1800" b="1" i="0" kern="1200" baseline="0" dirty="0" smtClean="0">
                          <a:solidFill>
                            <a:schemeClr val="lt1"/>
                          </a:solidFill>
                          <a:effectLst/>
                          <a:latin typeface="+mn-lt"/>
                          <a:ea typeface="+mn-ea"/>
                          <a:cs typeface="+mn-cs"/>
                        </a:rPr>
                        <a:t> </a:t>
                      </a:r>
                      <a:r>
                        <a:rPr lang="en-US" sz="1800" b="1" i="0" kern="1200" baseline="0" dirty="0" err="1" smtClean="0">
                          <a:solidFill>
                            <a:schemeClr val="lt1"/>
                          </a:solidFill>
                          <a:effectLst/>
                          <a:latin typeface="+mn-lt"/>
                          <a:ea typeface="+mn-ea"/>
                          <a:cs typeface="+mn-cs"/>
                        </a:rPr>
                        <a:t>liệu</a:t>
                      </a:r>
                      <a:endParaRPr lang="en-US" dirty="0"/>
                    </a:p>
                  </a:txBody>
                  <a:tcPr/>
                </a:tc>
                <a:tc>
                  <a:txBody>
                    <a:bodyPr/>
                    <a:lstStyle/>
                    <a:p>
                      <a:r>
                        <a:rPr lang="en-US" sz="1800" b="1" i="0" kern="1200" dirty="0" smtClean="0">
                          <a:solidFill>
                            <a:schemeClr val="lt1"/>
                          </a:solidFill>
                          <a:effectLst/>
                          <a:latin typeface="+mn-lt"/>
                          <a:ea typeface="+mn-ea"/>
                          <a:cs typeface="+mn-cs"/>
                        </a:rPr>
                        <a:t>Data Type</a:t>
                      </a:r>
                      <a:endParaRPr lang="en-US" dirty="0"/>
                    </a:p>
                  </a:txBody>
                  <a:tcPr/>
                </a:tc>
                <a:extLst>
                  <a:ext uri="{0D108BD9-81ED-4DB2-BD59-A6C34878D82A}">
                    <a16:rowId xmlns:a16="http://schemas.microsoft.com/office/drawing/2014/main" xmlns="" val="168433935"/>
                  </a:ext>
                </a:extLst>
              </a:tr>
              <a:tr h="370840">
                <a:tc>
                  <a:txBody>
                    <a:bodyPr/>
                    <a:lstStyle/>
                    <a:p>
                      <a:r>
                        <a:rPr lang="en-US" sz="1800" b="0" i="0" kern="1200" dirty="0" smtClean="0">
                          <a:solidFill>
                            <a:schemeClr val="dk1"/>
                          </a:solidFill>
                          <a:effectLst/>
                          <a:latin typeface="+mn-lt"/>
                          <a:ea typeface="+mn-ea"/>
                          <a:cs typeface="+mn-cs"/>
                        </a:rPr>
                        <a:t>x = </a:t>
                      </a:r>
                      <a:r>
                        <a:rPr lang="en-US" sz="1800" b="0" i="0" kern="1200" dirty="0" err="1" smtClean="0">
                          <a:solidFill>
                            <a:schemeClr val="dk1"/>
                          </a:solidFill>
                          <a:effectLst/>
                          <a:latin typeface="+mn-lt"/>
                          <a:ea typeface="+mn-ea"/>
                          <a:cs typeface="+mn-cs"/>
                        </a:rPr>
                        <a:t>str</a:t>
                      </a:r>
                      <a:r>
                        <a:rPr lang="en-US" sz="1800" b="0" i="0" kern="1200" dirty="0" smtClean="0">
                          <a:solidFill>
                            <a:schemeClr val="dk1"/>
                          </a:solidFill>
                          <a:effectLst/>
                          <a:latin typeface="+mn-lt"/>
                          <a:ea typeface="+mn-ea"/>
                          <a:cs typeface="+mn-cs"/>
                        </a:rPr>
                        <a:t>("Hello World")</a:t>
                      </a:r>
                      <a:endParaRPr lang="en-US" dirty="0"/>
                    </a:p>
                  </a:txBody>
                  <a:tcPr/>
                </a:tc>
                <a:tc>
                  <a:txBody>
                    <a:bodyPr/>
                    <a:lstStyle/>
                    <a:p>
                      <a:r>
                        <a:rPr lang="en-US" sz="1800" b="0" i="0" kern="1200" dirty="0" err="1" smtClean="0">
                          <a:solidFill>
                            <a:schemeClr val="dk1"/>
                          </a:solidFill>
                          <a:effectLst/>
                          <a:latin typeface="+mn-lt"/>
                          <a:ea typeface="+mn-ea"/>
                          <a:cs typeface="+mn-cs"/>
                        </a:rPr>
                        <a:t>str</a:t>
                      </a:r>
                      <a:endParaRPr lang="en-US" dirty="0"/>
                    </a:p>
                  </a:txBody>
                  <a:tcPr/>
                </a:tc>
                <a:extLst>
                  <a:ext uri="{0D108BD9-81ED-4DB2-BD59-A6C34878D82A}">
                    <a16:rowId xmlns:a16="http://schemas.microsoft.com/office/drawing/2014/main" xmlns="" val="1233761583"/>
                  </a:ext>
                </a:extLst>
              </a:tr>
              <a:tr h="370840">
                <a:tc>
                  <a:txBody>
                    <a:bodyPr/>
                    <a:lstStyle/>
                    <a:p>
                      <a:r>
                        <a:rPr lang="en-US" sz="1800" b="0" i="0" kern="1200" dirty="0" smtClean="0">
                          <a:solidFill>
                            <a:schemeClr val="dk1"/>
                          </a:solidFill>
                          <a:effectLst/>
                          <a:latin typeface="+mn-lt"/>
                          <a:ea typeface="+mn-ea"/>
                          <a:cs typeface="+mn-cs"/>
                        </a:rPr>
                        <a:t>x = </a:t>
                      </a:r>
                      <a:r>
                        <a:rPr lang="en-US" sz="1800" b="0" i="0" kern="1200" dirty="0" err="1" smtClean="0">
                          <a:solidFill>
                            <a:schemeClr val="dk1"/>
                          </a:solidFill>
                          <a:effectLst/>
                          <a:latin typeface="+mn-lt"/>
                          <a:ea typeface="+mn-ea"/>
                          <a:cs typeface="+mn-cs"/>
                        </a:rPr>
                        <a:t>int</a:t>
                      </a:r>
                      <a:r>
                        <a:rPr lang="en-US" sz="1800" b="0" i="0" kern="1200" dirty="0" smtClean="0">
                          <a:solidFill>
                            <a:schemeClr val="dk1"/>
                          </a:solidFill>
                          <a:effectLst/>
                          <a:latin typeface="+mn-lt"/>
                          <a:ea typeface="+mn-ea"/>
                          <a:cs typeface="+mn-cs"/>
                        </a:rPr>
                        <a:t>(20)</a:t>
                      </a:r>
                      <a:endParaRPr lang="en-US" dirty="0"/>
                    </a:p>
                  </a:txBody>
                  <a:tcPr/>
                </a:tc>
                <a:tc>
                  <a:txBody>
                    <a:bodyPr/>
                    <a:lstStyle/>
                    <a:p>
                      <a:r>
                        <a:rPr lang="en-US" sz="1800" b="0" i="0" kern="1200" dirty="0" err="1" smtClean="0">
                          <a:solidFill>
                            <a:schemeClr val="dk1"/>
                          </a:solidFill>
                          <a:effectLst/>
                          <a:latin typeface="+mn-lt"/>
                          <a:ea typeface="+mn-ea"/>
                          <a:cs typeface="+mn-cs"/>
                        </a:rPr>
                        <a:t>int</a:t>
                      </a:r>
                      <a:endParaRPr lang="en-US" dirty="0"/>
                    </a:p>
                  </a:txBody>
                  <a:tcPr/>
                </a:tc>
                <a:extLst>
                  <a:ext uri="{0D108BD9-81ED-4DB2-BD59-A6C34878D82A}">
                    <a16:rowId xmlns:a16="http://schemas.microsoft.com/office/drawing/2014/main" xmlns="" val="2501194884"/>
                  </a:ext>
                </a:extLst>
              </a:tr>
              <a:tr h="370840">
                <a:tc>
                  <a:txBody>
                    <a:bodyPr/>
                    <a:lstStyle/>
                    <a:p>
                      <a:r>
                        <a:rPr lang="en-US" sz="1800" b="0" i="0" kern="1200" dirty="0" smtClean="0">
                          <a:solidFill>
                            <a:schemeClr val="dk1"/>
                          </a:solidFill>
                          <a:effectLst/>
                          <a:latin typeface="+mn-lt"/>
                          <a:ea typeface="+mn-ea"/>
                          <a:cs typeface="+mn-cs"/>
                        </a:rPr>
                        <a:t>x = float(20.5)</a:t>
                      </a:r>
                      <a:endParaRPr lang="en-US" dirty="0"/>
                    </a:p>
                  </a:txBody>
                  <a:tcPr/>
                </a:tc>
                <a:tc>
                  <a:txBody>
                    <a:bodyPr/>
                    <a:lstStyle/>
                    <a:p>
                      <a:r>
                        <a:rPr lang="en-US" sz="1800" b="0" i="0" kern="1200" dirty="0" smtClean="0">
                          <a:solidFill>
                            <a:schemeClr val="dk1"/>
                          </a:solidFill>
                          <a:effectLst/>
                          <a:latin typeface="+mn-lt"/>
                          <a:ea typeface="+mn-ea"/>
                          <a:cs typeface="+mn-cs"/>
                        </a:rPr>
                        <a:t>float</a:t>
                      </a:r>
                      <a:endParaRPr lang="en-US" dirty="0"/>
                    </a:p>
                  </a:txBody>
                  <a:tcPr/>
                </a:tc>
                <a:extLst>
                  <a:ext uri="{0D108BD9-81ED-4DB2-BD59-A6C34878D82A}">
                    <a16:rowId xmlns:a16="http://schemas.microsoft.com/office/drawing/2014/main" xmlns="" val="421867804"/>
                  </a:ext>
                </a:extLst>
              </a:tr>
              <a:tr h="370840">
                <a:tc>
                  <a:txBody>
                    <a:bodyPr/>
                    <a:lstStyle/>
                    <a:p>
                      <a:r>
                        <a:rPr lang="en-US" sz="1800" b="0" i="0" kern="1200" dirty="0" smtClean="0">
                          <a:solidFill>
                            <a:schemeClr val="dk1"/>
                          </a:solidFill>
                          <a:effectLst/>
                          <a:latin typeface="+mn-lt"/>
                          <a:ea typeface="+mn-ea"/>
                          <a:cs typeface="+mn-cs"/>
                        </a:rPr>
                        <a:t>x = complex(1j)</a:t>
                      </a:r>
                      <a:endParaRPr lang="en-US" dirty="0"/>
                    </a:p>
                  </a:txBody>
                  <a:tcPr/>
                </a:tc>
                <a:tc>
                  <a:txBody>
                    <a:bodyPr/>
                    <a:lstStyle/>
                    <a:p>
                      <a:r>
                        <a:rPr lang="en-US" sz="1800" b="0" i="0" kern="1200" dirty="0" smtClean="0">
                          <a:solidFill>
                            <a:schemeClr val="dk1"/>
                          </a:solidFill>
                          <a:effectLst/>
                          <a:latin typeface="+mn-lt"/>
                          <a:ea typeface="+mn-ea"/>
                          <a:cs typeface="+mn-cs"/>
                        </a:rPr>
                        <a:t>complex</a:t>
                      </a:r>
                      <a:endParaRPr lang="en-US" dirty="0"/>
                    </a:p>
                  </a:txBody>
                  <a:tcPr/>
                </a:tc>
                <a:extLst>
                  <a:ext uri="{0D108BD9-81ED-4DB2-BD59-A6C34878D82A}">
                    <a16:rowId xmlns:a16="http://schemas.microsoft.com/office/drawing/2014/main" xmlns="" val="3693021815"/>
                  </a:ext>
                </a:extLst>
              </a:tr>
              <a:tr h="370840">
                <a:tc>
                  <a:txBody>
                    <a:bodyPr/>
                    <a:lstStyle/>
                    <a:p>
                      <a:r>
                        <a:rPr lang="en-US" sz="1800" b="0" i="0" kern="1200" dirty="0" smtClean="0">
                          <a:solidFill>
                            <a:schemeClr val="dk1"/>
                          </a:solidFill>
                          <a:effectLst/>
                          <a:latin typeface="+mn-lt"/>
                          <a:ea typeface="+mn-ea"/>
                          <a:cs typeface="+mn-cs"/>
                        </a:rPr>
                        <a:t>x = list(("apple", "banana", "cherry"))</a:t>
                      </a:r>
                      <a:endParaRPr lang="en-US" dirty="0"/>
                    </a:p>
                  </a:txBody>
                  <a:tcPr/>
                </a:tc>
                <a:tc>
                  <a:txBody>
                    <a:bodyPr/>
                    <a:lstStyle/>
                    <a:p>
                      <a:r>
                        <a:rPr lang="en-US" sz="1800" b="0" i="0" kern="1200" dirty="0" smtClean="0">
                          <a:solidFill>
                            <a:schemeClr val="dk1"/>
                          </a:solidFill>
                          <a:effectLst/>
                          <a:latin typeface="+mn-lt"/>
                          <a:ea typeface="+mn-ea"/>
                          <a:cs typeface="+mn-cs"/>
                        </a:rPr>
                        <a:t>list</a:t>
                      </a:r>
                      <a:endParaRPr lang="en-US" dirty="0"/>
                    </a:p>
                  </a:txBody>
                  <a:tcPr/>
                </a:tc>
                <a:extLst>
                  <a:ext uri="{0D108BD9-81ED-4DB2-BD59-A6C34878D82A}">
                    <a16:rowId xmlns:a16="http://schemas.microsoft.com/office/drawing/2014/main" xmlns="" val="284616189"/>
                  </a:ext>
                </a:extLst>
              </a:tr>
              <a:tr h="370840">
                <a:tc>
                  <a:txBody>
                    <a:bodyPr/>
                    <a:lstStyle/>
                    <a:p>
                      <a:r>
                        <a:rPr lang="en-US" sz="1800" b="0" i="0" kern="1200" dirty="0" smtClean="0">
                          <a:solidFill>
                            <a:schemeClr val="dk1"/>
                          </a:solidFill>
                          <a:effectLst/>
                          <a:latin typeface="+mn-lt"/>
                          <a:ea typeface="+mn-ea"/>
                          <a:cs typeface="+mn-cs"/>
                        </a:rPr>
                        <a:t>x = tuple(("apple", "banana", "cherry"))</a:t>
                      </a:r>
                      <a:endParaRPr lang="en-US" dirty="0"/>
                    </a:p>
                  </a:txBody>
                  <a:tcPr/>
                </a:tc>
                <a:tc>
                  <a:txBody>
                    <a:bodyPr/>
                    <a:lstStyle/>
                    <a:p>
                      <a:r>
                        <a:rPr lang="en-US" sz="1800" b="0" i="0" kern="1200" dirty="0" smtClean="0">
                          <a:solidFill>
                            <a:schemeClr val="dk1"/>
                          </a:solidFill>
                          <a:effectLst/>
                          <a:latin typeface="+mn-lt"/>
                          <a:ea typeface="+mn-ea"/>
                          <a:cs typeface="+mn-cs"/>
                        </a:rPr>
                        <a:t>tuple</a:t>
                      </a:r>
                      <a:endParaRPr lang="en-US" dirty="0"/>
                    </a:p>
                  </a:txBody>
                  <a:tcPr/>
                </a:tc>
                <a:extLst>
                  <a:ext uri="{0D108BD9-81ED-4DB2-BD59-A6C34878D82A}">
                    <a16:rowId xmlns:a16="http://schemas.microsoft.com/office/drawing/2014/main" xmlns="" val="775566249"/>
                  </a:ext>
                </a:extLst>
              </a:tr>
              <a:tr h="370840">
                <a:tc>
                  <a:txBody>
                    <a:bodyPr/>
                    <a:lstStyle/>
                    <a:p>
                      <a:r>
                        <a:rPr lang="en-US" sz="1800" b="0" i="0" kern="1200" dirty="0" smtClean="0">
                          <a:solidFill>
                            <a:schemeClr val="dk1"/>
                          </a:solidFill>
                          <a:effectLst/>
                          <a:latin typeface="+mn-lt"/>
                          <a:ea typeface="+mn-ea"/>
                          <a:cs typeface="+mn-cs"/>
                        </a:rPr>
                        <a:t>x = range(6)</a:t>
                      </a:r>
                      <a:endParaRPr lang="en-US" dirty="0"/>
                    </a:p>
                  </a:txBody>
                  <a:tcPr/>
                </a:tc>
                <a:tc>
                  <a:txBody>
                    <a:bodyPr/>
                    <a:lstStyle/>
                    <a:p>
                      <a:r>
                        <a:rPr lang="en-US" sz="1800" b="0" i="0" kern="1200" dirty="0" smtClean="0">
                          <a:solidFill>
                            <a:schemeClr val="dk1"/>
                          </a:solidFill>
                          <a:effectLst/>
                          <a:latin typeface="+mn-lt"/>
                          <a:ea typeface="+mn-ea"/>
                          <a:cs typeface="+mn-cs"/>
                        </a:rPr>
                        <a:t>Range</a:t>
                      </a:r>
                      <a:endParaRPr lang="en-US" dirty="0"/>
                    </a:p>
                  </a:txBody>
                  <a:tcPr/>
                </a:tc>
                <a:extLst>
                  <a:ext uri="{0D108BD9-81ED-4DB2-BD59-A6C34878D82A}">
                    <a16:rowId xmlns:a16="http://schemas.microsoft.com/office/drawing/2014/main" xmlns="" val="196749783"/>
                  </a:ext>
                </a:extLst>
              </a:tr>
              <a:tr h="370840">
                <a:tc>
                  <a:txBody>
                    <a:bodyPr/>
                    <a:lstStyle/>
                    <a:p>
                      <a:r>
                        <a:rPr lang="en-US" sz="1800" b="0" i="0" kern="1200" dirty="0" smtClean="0">
                          <a:solidFill>
                            <a:schemeClr val="dk1"/>
                          </a:solidFill>
                          <a:effectLst/>
                          <a:latin typeface="+mn-lt"/>
                          <a:ea typeface="+mn-ea"/>
                          <a:cs typeface="+mn-cs"/>
                        </a:rPr>
                        <a:t>x = </a:t>
                      </a:r>
                      <a:r>
                        <a:rPr lang="en-US" sz="1800" b="0" i="0" kern="1200" dirty="0" err="1" smtClean="0">
                          <a:solidFill>
                            <a:schemeClr val="dk1"/>
                          </a:solidFill>
                          <a:effectLst/>
                          <a:latin typeface="+mn-lt"/>
                          <a:ea typeface="+mn-ea"/>
                          <a:cs typeface="+mn-cs"/>
                        </a:rPr>
                        <a:t>dict</a:t>
                      </a:r>
                      <a:r>
                        <a:rPr lang="en-US" sz="1800" b="0" i="0" kern="1200" dirty="0" smtClean="0">
                          <a:solidFill>
                            <a:schemeClr val="dk1"/>
                          </a:solidFill>
                          <a:effectLst/>
                          <a:latin typeface="+mn-lt"/>
                          <a:ea typeface="+mn-ea"/>
                          <a:cs typeface="+mn-cs"/>
                        </a:rPr>
                        <a:t>(name="John", age=36)</a:t>
                      </a:r>
                      <a:endParaRPr lang="en-US" dirty="0"/>
                    </a:p>
                  </a:txBody>
                  <a:tcPr/>
                </a:tc>
                <a:tc>
                  <a:txBody>
                    <a:bodyPr/>
                    <a:lstStyle/>
                    <a:p>
                      <a:r>
                        <a:rPr lang="en-US" sz="1800" b="0" i="0" kern="1200" dirty="0" err="1" smtClean="0">
                          <a:solidFill>
                            <a:schemeClr val="dk1"/>
                          </a:solidFill>
                          <a:effectLst/>
                          <a:latin typeface="+mn-lt"/>
                          <a:ea typeface="+mn-ea"/>
                          <a:cs typeface="+mn-cs"/>
                        </a:rPr>
                        <a:t>dict</a:t>
                      </a:r>
                      <a:endParaRPr lang="en-US" dirty="0"/>
                    </a:p>
                  </a:txBody>
                  <a:tcPr/>
                </a:tc>
                <a:extLst>
                  <a:ext uri="{0D108BD9-81ED-4DB2-BD59-A6C34878D82A}">
                    <a16:rowId xmlns:a16="http://schemas.microsoft.com/office/drawing/2014/main" xmlns="" val="3862280917"/>
                  </a:ext>
                </a:extLst>
              </a:tr>
              <a:tr h="370840">
                <a:tc>
                  <a:txBody>
                    <a:bodyPr/>
                    <a:lstStyle/>
                    <a:p>
                      <a:r>
                        <a:rPr lang="en-US" sz="1800" b="0" i="0" kern="1200" dirty="0" smtClean="0">
                          <a:solidFill>
                            <a:schemeClr val="dk1"/>
                          </a:solidFill>
                          <a:effectLst/>
                          <a:latin typeface="+mn-lt"/>
                          <a:ea typeface="+mn-ea"/>
                          <a:cs typeface="+mn-cs"/>
                        </a:rPr>
                        <a:t>x = set(("apple", "banana", "cherry"))</a:t>
                      </a:r>
                      <a:endParaRPr lang="en-US" dirty="0"/>
                    </a:p>
                  </a:txBody>
                  <a:tcPr/>
                </a:tc>
                <a:tc>
                  <a:txBody>
                    <a:bodyPr/>
                    <a:lstStyle/>
                    <a:p>
                      <a:r>
                        <a:rPr lang="en-US" sz="1800" b="0" i="0" kern="1200" dirty="0" smtClean="0">
                          <a:solidFill>
                            <a:schemeClr val="dk1"/>
                          </a:solidFill>
                          <a:effectLst/>
                          <a:latin typeface="+mn-lt"/>
                          <a:ea typeface="+mn-ea"/>
                          <a:cs typeface="+mn-cs"/>
                        </a:rPr>
                        <a:t>set</a:t>
                      </a:r>
                      <a:endParaRPr lang="en-US" dirty="0"/>
                    </a:p>
                  </a:txBody>
                  <a:tcPr/>
                </a:tc>
                <a:extLst>
                  <a:ext uri="{0D108BD9-81ED-4DB2-BD59-A6C34878D82A}">
                    <a16:rowId xmlns:a16="http://schemas.microsoft.com/office/drawing/2014/main" xmlns="" val="2432953681"/>
                  </a:ext>
                </a:extLst>
              </a:tr>
              <a:tr h="370840">
                <a:tc>
                  <a:txBody>
                    <a:bodyPr/>
                    <a:lstStyle/>
                    <a:p>
                      <a:r>
                        <a:rPr lang="en-US" sz="1800" b="0" i="0" kern="1200" dirty="0" smtClean="0">
                          <a:solidFill>
                            <a:schemeClr val="dk1"/>
                          </a:solidFill>
                          <a:effectLst/>
                          <a:latin typeface="+mn-lt"/>
                          <a:ea typeface="+mn-ea"/>
                          <a:cs typeface="+mn-cs"/>
                        </a:rPr>
                        <a:t>x = </a:t>
                      </a:r>
                      <a:r>
                        <a:rPr lang="en-US" sz="1800" b="0" i="0" kern="1200" dirty="0" err="1" smtClean="0">
                          <a:solidFill>
                            <a:schemeClr val="dk1"/>
                          </a:solidFill>
                          <a:effectLst/>
                          <a:latin typeface="+mn-lt"/>
                          <a:ea typeface="+mn-ea"/>
                          <a:cs typeface="+mn-cs"/>
                        </a:rPr>
                        <a:t>frozenset</a:t>
                      </a:r>
                      <a:r>
                        <a:rPr lang="en-US" sz="1800" b="0" i="0" kern="1200" dirty="0" smtClean="0">
                          <a:solidFill>
                            <a:schemeClr val="dk1"/>
                          </a:solidFill>
                          <a:effectLst/>
                          <a:latin typeface="+mn-lt"/>
                          <a:ea typeface="+mn-ea"/>
                          <a:cs typeface="+mn-cs"/>
                        </a:rPr>
                        <a:t>(("apple", "banana", "cherry"))</a:t>
                      </a:r>
                      <a:endParaRPr lang="en-US" dirty="0"/>
                    </a:p>
                  </a:txBody>
                  <a:tcPr/>
                </a:tc>
                <a:tc>
                  <a:txBody>
                    <a:bodyPr/>
                    <a:lstStyle/>
                    <a:p>
                      <a:r>
                        <a:rPr lang="en-US" sz="1800" b="0" i="0" kern="1200" dirty="0" err="1" smtClean="0">
                          <a:solidFill>
                            <a:schemeClr val="dk1"/>
                          </a:solidFill>
                          <a:effectLst/>
                          <a:latin typeface="+mn-lt"/>
                          <a:ea typeface="+mn-ea"/>
                          <a:cs typeface="+mn-cs"/>
                        </a:rPr>
                        <a:t>frozenset</a:t>
                      </a:r>
                      <a:endParaRPr lang="en-US" dirty="0"/>
                    </a:p>
                  </a:txBody>
                  <a:tcPr/>
                </a:tc>
                <a:extLst>
                  <a:ext uri="{0D108BD9-81ED-4DB2-BD59-A6C34878D82A}">
                    <a16:rowId xmlns:a16="http://schemas.microsoft.com/office/drawing/2014/main" xmlns="" val="1828059704"/>
                  </a:ext>
                </a:extLst>
              </a:tr>
              <a:tr h="370840">
                <a:tc>
                  <a:txBody>
                    <a:bodyPr/>
                    <a:lstStyle/>
                    <a:p>
                      <a:r>
                        <a:rPr lang="en-US" sz="1800" b="0" i="0" kern="1200" dirty="0" smtClean="0">
                          <a:solidFill>
                            <a:schemeClr val="dk1"/>
                          </a:solidFill>
                          <a:effectLst/>
                          <a:latin typeface="+mn-lt"/>
                          <a:ea typeface="+mn-ea"/>
                          <a:cs typeface="+mn-cs"/>
                        </a:rPr>
                        <a:t>x = bool(5)</a:t>
                      </a:r>
                      <a:endParaRPr lang="en-US" dirty="0"/>
                    </a:p>
                  </a:txBody>
                  <a:tcPr/>
                </a:tc>
                <a:tc>
                  <a:txBody>
                    <a:bodyPr/>
                    <a:lstStyle/>
                    <a:p>
                      <a:r>
                        <a:rPr lang="en-US" sz="1800" b="0" i="0" kern="1200" dirty="0" smtClean="0">
                          <a:solidFill>
                            <a:schemeClr val="dk1"/>
                          </a:solidFill>
                          <a:effectLst/>
                          <a:latin typeface="+mn-lt"/>
                          <a:ea typeface="+mn-ea"/>
                          <a:cs typeface="+mn-cs"/>
                        </a:rPr>
                        <a:t>bool</a:t>
                      </a:r>
                      <a:endParaRPr lang="en-US" dirty="0"/>
                    </a:p>
                  </a:txBody>
                  <a:tcPr/>
                </a:tc>
                <a:extLst>
                  <a:ext uri="{0D108BD9-81ED-4DB2-BD59-A6C34878D82A}">
                    <a16:rowId xmlns:a16="http://schemas.microsoft.com/office/drawing/2014/main" xmlns="" val="2453704909"/>
                  </a:ext>
                </a:extLst>
              </a:tr>
            </a:tbl>
          </a:graphicData>
        </a:graphic>
      </p:graphicFrame>
    </p:spTree>
    <p:extLst>
      <p:ext uri="{BB962C8B-B14F-4D97-AF65-F5344CB8AC3E}">
        <p14:creationId xmlns:p14="http://schemas.microsoft.com/office/powerpoint/2010/main" val="34932032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13</a:t>
            </a:fld>
            <a:endParaRPr lang="en-US"/>
          </a:p>
        </p:txBody>
      </p:sp>
      <p:sp>
        <p:nvSpPr>
          <p:cNvPr id="3" name="Text Placeholder 2"/>
          <p:cNvSpPr>
            <a:spLocks noGrp="1"/>
          </p:cNvSpPr>
          <p:nvPr>
            <p:ph type="body" sz="quarter" idx="13"/>
          </p:nvPr>
        </p:nvSpPr>
        <p:spPr/>
        <p:txBody>
          <a:bodyPr/>
          <a:lstStyle/>
          <a:p>
            <a:r>
              <a:rPr lang="en-US" dirty="0" smtClean="0"/>
              <a:t>2.5 </a:t>
            </a:r>
            <a:r>
              <a:rPr lang="en-US" dirty="0" err="1" smtClean="0"/>
              <a:t>Dữ</a:t>
            </a:r>
            <a:r>
              <a:rPr lang="en-US" dirty="0" smtClean="0"/>
              <a:t> </a:t>
            </a:r>
            <a:r>
              <a:rPr lang="en-US" dirty="0" err="1" smtClean="0"/>
              <a:t>liệu</a:t>
            </a:r>
            <a:r>
              <a:rPr lang="en-US" dirty="0" smtClean="0"/>
              <a:t> </a:t>
            </a:r>
            <a:r>
              <a:rPr lang="en-US" dirty="0" err="1" smtClean="0"/>
              <a:t>kiểu</a:t>
            </a:r>
            <a:r>
              <a:rPr lang="en-US" dirty="0" smtClean="0"/>
              <a:t> </a:t>
            </a:r>
            <a:r>
              <a:rPr lang="en-US" dirty="0" err="1" smtClean="0"/>
              <a:t>Số</a:t>
            </a:r>
            <a:r>
              <a:rPr lang="en-US" dirty="0" smtClean="0"/>
              <a:t> </a:t>
            </a:r>
            <a:r>
              <a:rPr lang="en-US" dirty="0" err="1" smtClean="0"/>
              <a:t>và</a:t>
            </a:r>
            <a:r>
              <a:rPr lang="en-US" dirty="0" smtClean="0"/>
              <a:t> </a:t>
            </a:r>
            <a:r>
              <a:rPr lang="en-US" dirty="0" err="1" smtClean="0"/>
              <a:t>toán</a:t>
            </a:r>
            <a:r>
              <a:rPr lang="en-US" dirty="0" smtClean="0"/>
              <a:t> </a:t>
            </a:r>
            <a:r>
              <a:rPr lang="en-US" dirty="0" err="1" smtClean="0"/>
              <a:t>tử</a:t>
            </a:r>
            <a:r>
              <a:rPr lang="en-US" dirty="0" smtClean="0"/>
              <a:t> </a:t>
            </a:r>
            <a:r>
              <a:rPr lang="en-US" dirty="0" err="1" smtClean="0"/>
              <a:t>số</a:t>
            </a:r>
            <a:r>
              <a:rPr lang="en-US" dirty="0" smtClean="0"/>
              <a:t> </a:t>
            </a:r>
            <a:r>
              <a:rPr lang="en-US" dirty="0" err="1" smtClean="0"/>
              <a:t>học</a:t>
            </a:r>
            <a:r>
              <a:rPr lang="en-US" dirty="0" smtClean="0"/>
              <a:t> </a:t>
            </a:r>
            <a:r>
              <a:rPr lang="en-US" dirty="0" err="1" smtClean="0"/>
              <a:t>trong</a:t>
            </a:r>
            <a:r>
              <a:rPr lang="en-US" dirty="0" smtClean="0"/>
              <a:t> Python</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656" y="1548772"/>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935668" y="1589346"/>
            <a:ext cx="6804834" cy="369332"/>
          </a:xfrm>
          <a:prstGeom prst="rect">
            <a:avLst/>
          </a:prstGeom>
          <a:noFill/>
        </p:spPr>
        <p:txBody>
          <a:bodyPr wrap="square" rtlCol="0">
            <a:spAutoFit/>
          </a:bodyPr>
          <a:lstStyle/>
          <a:p>
            <a:r>
              <a:rPr lang="en-US" b="1" dirty="0" smtClean="0"/>
              <a:t>2.5.1</a:t>
            </a:r>
            <a:r>
              <a:rPr lang="en-US" b="1" dirty="0"/>
              <a:t> </a:t>
            </a:r>
            <a:r>
              <a:rPr lang="en-US" b="1" dirty="0" err="1" smtClean="0"/>
              <a:t>Số</a:t>
            </a:r>
            <a:r>
              <a:rPr lang="en-US" b="1" dirty="0" smtClean="0"/>
              <a:t> </a:t>
            </a:r>
            <a:r>
              <a:rPr lang="en-US" b="1" dirty="0" err="1" smtClean="0"/>
              <a:t>trong</a:t>
            </a:r>
            <a:r>
              <a:rPr lang="en-US" b="1" dirty="0" smtClean="0"/>
              <a:t> Python  - Python </a:t>
            </a:r>
            <a:r>
              <a:rPr lang="en-US" b="1" dirty="0"/>
              <a:t>Numbers </a:t>
            </a:r>
            <a:endParaRPr lang="en-US" b="1" dirty="0">
              <a:solidFill>
                <a:srgbClr val="FF0000"/>
              </a:solidFill>
            </a:endParaRPr>
          </a:p>
        </p:txBody>
      </p:sp>
      <p:sp>
        <p:nvSpPr>
          <p:cNvPr id="6" name="TextBox 5"/>
          <p:cNvSpPr txBox="1"/>
          <p:nvPr/>
        </p:nvSpPr>
        <p:spPr>
          <a:xfrm>
            <a:off x="935668" y="2132869"/>
            <a:ext cx="5497030" cy="369332"/>
          </a:xfrm>
          <a:prstGeom prst="rect">
            <a:avLst/>
          </a:prstGeom>
          <a:noFill/>
        </p:spPr>
        <p:txBody>
          <a:bodyPr wrap="square" rtlCol="0">
            <a:spAutoFit/>
          </a:bodyPr>
          <a:lstStyle/>
          <a:p>
            <a:r>
              <a:rPr lang="en-US" dirty="0" err="1" smtClean="0"/>
              <a:t>Có</a:t>
            </a:r>
            <a:r>
              <a:rPr lang="en-US" dirty="0" smtClean="0"/>
              <a:t> 3 </a:t>
            </a:r>
            <a:r>
              <a:rPr lang="en-US" dirty="0" err="1" smtClean="0"/>
              <a:t>loại</a:t>
            </a:r>
            <a:r>
              <a:rPr lang="en-US" dirty="0" smtClean="0"/>
              <a:t> </a:t>
            </a:r>
            <a:r>
              <a:rPr lang="en-US" dirty="0" err="1" smtClean="0"/>
              <a:t>số</a:t>
            </a:r>
            <a:r>
              <a:rPr lang="en-US" dirty="0" smtClean="0"/>
              <a:t> </a:t>
            </a:r>
            <a:r>
              <a:rPr lang="en-US" dirty="0" err="1" smtClean="0"/>
              <a:t>trong</a:t>
            </a:r>
            <a:r>
              <a:rPr lang="en-US" dirty="0" smtClean="0"/>
              <a:t> Python: </a:t>
            </a:r>
            <a:r>
              <a:rPr lang="en-US" dirty="0" err="1" smtClean="0">
                <a:solidFill>
                  <a:srgbClr val="FF0000"/>
                </a:solidFill>
              </a:rPr>
              <a:t>int</a:t>
            </a:r>
            <a:r>
              <a:rPr lang="en-US" dirty="0" smtClean="0">
                <a:solidFill>
                  <a:srgbClr val="FF0000"/>
                </a:solidFill>
              </a:rPr>
              <a:t>, float, complex</a:t>
            </a:r>
            <a:endParaRPr lang="en-US" dirty="0">
              <a:solidFill>
                <a:srgbClr val="FF0000"/>
              </a:solidFill>
            </a:endParaRPr>
          </a:p>
        </p:txBody>
      </p:sp>
      <p:sp>
        <p:nvSpPr>
          <p:cNvPr id="8" name="Rectangle 7"/>
          <p:cNvSpPr/>
          <p:nvPr/>
        </p:nvSpPr>
        <p:spPr>
          <a:xfrm>
            <a:off x="1048712" y="2676392"/>
            <a:ext cx="3204311" cy="158852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1248897" y="2807526"/>
            <a:ext cx="2834005" cy="1338828"/>
          </a:xfrm>
          <a:prstGeom prst="rect">
            <a:avLst/>
          </a:prstGeom>
          <a:noFill/>
        </p:spPr>
        <p:txBody>
          <a:bodyPr wrap="square" rtlCol="0">
            <a:spAutoFit/>
          </a:bodyPr>
          <a:lstStyle/>
          <a:p>
            <a:pPr>
              <a:lnSpc>
                <a:spcPct val="150000"/>
              </a:lnSpc>
            </a:pPr>
            <a:r>
              <a:rPr lang="en-US" dirty="0">
                <a:solidFill>
                  <a:schemeClr val="bg1"/>
                </a:solidFill>
              </a:rPr>
              <a:t>x =</a:t>
            </a:r>
            <a:r>
              <a:rPr lang="en-US" dirty="0"/>
              <a:t> </a:t>
            </a:r>
            <a:r>
              <a:rPr lang="en-US" dirty="0">
                <a:solidFill>
                  <a:srgbClr val="64C0A7"/>
                </a:solidFill>
              </a:rPr>
              <a:t>1</a:t>
            </a:r>
            <a:r>
              <a:rPr lang="en-US" dirty="0"/>
              <a:t>   </a:t>
            </a:r>
            <a:r>
              <a:rPr lang="en-US" dirty="0">
                <a:solidFill>
                  <a:schemeClr val="accent6">
                    <a:lumMod val="75000"/>
                  </a:schemeClr>
                </a:solidFill>
              </a:rPr>
              <a:t> # </a:t>
            </a:r>
            <a:r>
              <a:rPr lang="en-US" dirty="0" err="1">
                <a:solidFill>
                  <a:schemeClr val="accent6">
                    <a:lumMod val="75000"/>
                  </a:schemeClr>
                </a:solidFill>
              </a:rPr>
              <a:t>int</a:t>
            </a:r>
            <a:r>
              <a:rPr lang="en-US" dirty="0">
                <a:solidFill>
                  <a:schemeClr val="accent6">
                    <a:lumMod val="75000"/>
                  </a:schemeClr>
                </a:solidFill>
              </a:rPr>
              <a:t/>
            </a:r>
            <a:br>
              <a:rPr lang="en-US" dirty="0">
                <a:solidFill>
                  <a:schemeClr val="accent6">
                    <a:lumMod val="75000"/>
                  </a:schemeClr>
                </a:solidFill>
              </a:rPr>
            </a:br>
            <a:r>
              <a:rPr lang="en-US" dirty="0">
                <a:solidFill>
                  <a:schemeClr val="bg1"/>
                </a:solidFill>
              </a:rPr>
              <a:t>y =</a:t>
            </a:r>
            <a:r>
              <a:rPr lang="en-US" dirty="0"/>
              <a:t> </a:t>
            </a:r>
            <a:r>
              <a:rPr lang="en-US" dirty="0">
                <a:solidFill>
                  <a:srgbClr val="64C0A7"/>
                </a:solidFill>
              </a:rPr>
              <a:t>2.8</a:t>
            </a:r>
            <a:r>
              <a:rPr lang="en-US" dirty="0"/>
              <a:t>  </a:t>
            </a:r>
            <a:r>
              <a:rPr lang="en-US" dirty="0">
                <a:solidFill>
                  <a:schemeClr val="accent6">
                    <a:lumMod val="75000"/>
                  </a:schemeClr>
                </a:solidFill>
              </a:rPr>
              <a:t># float</a:t>
            </a:r>
            <a:br>
              <a:rPr lang="en-US" dirty="0">
                <a:solidFill>
                  <a:schemeClr val="accent6">
                    <a:lumMod val="75000"/>
                  </a:schemeClr>
                </a:solidFill>
              </a:rPr>
            </a:br>
            <a:r>
              <a:rPr lang="en-US" dirty="0">
                <a:solidFill>
                  <a:schemeClr val="bg1"/>
                </a:solidFill>
              </a:rPr>
              <a:t>z = </a:t>
            </a:r>
            <a:r>
              <a:rPr lang="en-US" dirty="0">
                <a:solidFill>
                  <a:srgbClr val="64C0A7"/>
                </a:solidFill>
              </a:rPr>
              <a:t>1j</a:t>
            </a:r>
            <a:r>
              <a:rPr lang="en-US" dirty="0"/>
              <a:t>   </a:t>
            </a:r>
            <a:r>
              <a:rPr lang="en-US" dirty="0">
                <a:solidFill>
                  <a:schemeClr val="accent6">
                    <a:lumMod val="75000"/>
                  </a:schemeClr>
                </a:solidFill>
              </a:rPr>
              <a:t># complex</a:t>
            </a:r>
            <a:endParaRPr lang="en-US" dirty="0" smtClean="0">
              <a:solidFill>
                <a:schemeClr val="accent6">
                  <a:lumMod val="75000"/>
                </a:schemeClr>
              </a:solidFill>
            </a:endParaRPr>
          </a:p>
        </p:txBody>
      </p:sp>
      <p:sp>
        <p:nvSpPr>
          <p:cNvPr id="10" name="Rectangle 9"/>
          <p:cNvSpPr/>
          <p:nvPr/>
        </p:nvSpPr>
        <p:spPr>
          <a:xfrm>
            <a:off x="4642517" y="2676392"/>
            <a:ext cx="3491390" cy="81108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4842702" y="2807526"/>
            <a:ext cx="2834005" cy="507831"/>
          </a:xfrm>
          <a:prstGeom prst="rect">
            <a:avLst/>
          </a:prstGeom>
          <a:noFill/>
        </p:spPr>
        <p:txBody>
          <a:bodyPr wrap="square" rtlCol="0">
            <a:spAutoFit/>
          </a:bodyPr>
          <a:lstStyle/>
          <a:p>
            <a:pPr>
              <a:lnSpc>
                <a:spcPct val="150000"/>
              </a:lnSpc>
            </a:pPr>
            <a:r>
              <a:rPr lang="en-US" dirty="0">
                <a:solidFill>
                  <a:schemeClr val="bg1"/>
                </a:solidFill>
              </a:rPr>
              <a:t>print</a:t>
            </a:r>
            <a:r>
              <a:rPr lang="en-US" dirty="0">
                <a:solidFill>
                  <a:srgbClr val="FFC000"/>
                </a:solidFill>
              </a:rPr>
              <a:t>(</a:t>
            </a:r>
            <a:r>
              <a:rPr lang="en-US" dirty="0">
                <a:solidFill>
                  <a:schemeClr val="bg1"/>
                </a:solidFill>
              </a:rPr>
              <a:t>type</a:t>
            </a:r>
            <a:r>
              <a:rPr lang="en-US" dirty="0">
                <a:solidFill>
                  <a:srgbClr val="FF66CC"/>
                </a:solidFill>
              </a:rPr>
              <a:t>(</a:t>
            </a:r>
            <a:r>
              <a:rPr lang="en-US" dirty="0">
                <a:solidFill>
                  <a:schemeClr val="bg1"/>
                </a:solidFill>
              </a:rPr>
              <a:t>x</a:t>
            </a:r>
            <a:r>
              <a:rPr lang="en-US" dirty="0">
                <a:solidFill>
                  <a:srgbClr val="FF66CC"/>
                </a:solidFill>
              </a:rPr>
              <a:t>)</a:t>
            </a:r>
            <a:r>
              <a:rPr lang="en-US" dirty="0">
                <a:solidFill>
                  <a:srgbClr val="FFC000"/>
                </a:solidFill>
              </a:rPr>
              <a:t>)</a:t>
            </a:r>
            <a:endParaRPr lang="en-US" dirty="0" smtClean="0">
              <a:solidFill>
                <a:srgbClr val="FFC000"/>
              </a:solidFill>
            </a:endParaRPr>
          </a:p>
        </p:txBody>
      </p:sp>
      <p:sp>
        <p:nvSpPr>
          <p:cNvPr id="12" name="TextBox 11"/>
          <p:cNvSpPr txBox="1"/>
          <p:nvPr/>
        </p:nvSpPr>
        <p:spPr>
          <a:xfrm>
            <a:off x="4662378" y="3618613"/>
            <a:ext cx="3540639" cy="646331"/>
          </a:xfrm>
          <a:prstGeom prst="rect">
            <a:avLst/>
          </a:prstGeom>
          <a:noFill/>
        </p:spPr>
        <p:txBody>
          <a:bodyPr wrap="square" rtlCol="0">
            <a:spAutoFit/>
          </a:bodyPr>
          <a:lstStyle/>
          <a:p>
            <a:r>
              <a:rPr lang="en-US" dirty="0" err="1" smtClean="0"/>
              <a:t>Dùng</a:t>
            </a:r>
            <a:r>
              <a:rPr lang="en-US" dirty="0" smtClean="0"/>
              <a:t> </a:t>
            </a:r>
            <a:r>
              <a:rPr lang="en-US" dirty="0" err="1" smtClean="0"/>
              <a:t>hàm</a:t>
            </a:r>
            <a:r>
              <a:rPr lang="en-US" dirty="0" smtClean="0"/>
              <a:t> type() </a:t>
            </a:r>
            <a:r>
              <a:rPr lang="en-US" dirty="0" err="1" smtClean="0"/>
              <a:t>để</a:t>
            </a:r>
            <a:r>
              <a:rPr lang="en-US" dirty="0" smtClean="0"/>
              <a:t> </a:t>
            </a:r>
            <a:r>
              <a:rPr lang="en-US" dirty="0" err="1" smtClean="0"/>
              <a:t>kiểm</a:t>
            </a:r>
            <a:r>
              <a:rPr lang="en-US" dirty="0" smtClean="0"/>
              <a:t> </a:t>
            </a:r>
            <a:r>
              <a:rPr lang="en-US" dirty="0" err="1" smtClean="0"/>
              <a:t>tra</a:t>
            </a:r>
            <a:r>
              <a:rPr lang="en-US" dirty="0" smtClean="0"/>
              <a:t> </a:t>
            </a:r>
          </a:p>
          <a:p>
            <a:r>
              <a:rPr lang="en-US" dirty="0" err="1"/>
              <a:t>k</a:t>
            </a:r>
            <a:r>
              <a:rPr lang="en-US" dirty="0" err="1" smtClean="0"/>
              <a:t>iểu</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của</a:t>
            </a:r>
            <a:r>
              <a:rPr lang="en-US" dirty="0" smtClean="0"/>
              <a:t> </a:t>
            </a:r>
            <a:r>
              <a:rPr lang="en-US" dirty="0" err="1" smtClean="0"/>
              <a:t>biến</a:t>
            </a:r>
            <a:endParaRPr lang="en-US" dirty="0"/>
          </a:p>
        </p:txBody>
      </p:sp>
    </p:spTree>
    <p:extLst>
      <p:ext uri="{BB962C8B-B14F-4D97-AF65-F5344CB8AC3E}">
        <p14:creationId xmlns:p14="http://schemas.microsoft.com/office/powerpoint/2010/main" val="11287339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14</a:t>
            </a:fld>
            <a:endParaRPr lang="en-US"/>
          </a:p>
        </p:txBody>
      </p:sp>
      <p:sp>
        <p:nvSpPr>
          <p:cNvPr id="3" name="Text Placeholder 2"/>
          <p:cNvSpPr>
            <a:spLocks noGrp="1"/>
          </p:cNvSpPr>
          <p:nvPr>
            <p:ph type="body" sz="quarter" idx="13"/>
          </p:nvPr>
        </p:nvSpPr>
        <p:spPr/>
        <p:txBody>
          <a:bodyPr/>
          <a:lstStyle/>
          <a:p>
            <a:r>
              <a:rPr lang="en-US" dirty="0" smtClean="0"/>
              <a:t>2.5 </a:t>
            </a:r>
            <a:r>
              <a:rPr lang="en-US" dirty="0" err="1" smtClean="0"/>
              <a:t>Dữ</a:t>
            </a:r>
            <a:r>
              <a:rPr lang="en-US" dirty="0" smtClean="0"/>
              <a:t> </a:t>
            </a:r>
            <a:r>
              <a:rPr lang="en-US" dirty="0" err="1" smtClean="0"/>
              <a:t>liệu</a:t>
            </a:r>
            <a:r>
              <a:rPr lang="en-US" dirty="0" smtClean="0"/>
              <a:t> </a:t>
            </a:r>
            <a:r>
              <a:rPr lang="en-US" dirty="0" err="1" smtClean="0"/>
              <a:t>kiểu</a:t>
            </a:r>
            <a:r>
              <a:rPr lang="en-US" dirty="0" smtClean="0"/>
              <a:t> </a:t>
            </a:r>
            <a:r>
              <a:rPr lang="en-US" dirty="0" err="1" smtClean="0"/>
              <a:t>Số</a:t>
            </a:r>
            <a:r>
              <a:rPr lang="en-US" dirty="0" smtClean="0"/>
              <a:t> </a:t>
            </a:r>
            <a:r>
              <a:rPr lang="en-US" dirty="0" err="1" smtClean="0"/>
              <a:t>và</a:t>
            </a:r>
            <a:r>
              <a:rPr lang="en-US" dirty="0" smtClean="0"/>
              <a:t> </a:t>
            </a:r>
            <a:r>
              <a:rPr lang="en-US" dirty="0" err="1" smtClean="0"/>
              <a:t>toán</a:t>
            </a:r>
            <a:r>
              <a:rPr lang="en-US" dirty="0" smtClean="0"/>
              <a:t> </a:t>
            </a:r>
            <a:r>
              <a:rPr lang="en-US" dirty="0" err="1" smtClean="0"/>
              <a:t>tử</a:t>
            </a:r>
            <a:r>
              <a:rPr lang="en-US" dirty="0" smtClean="0"/>
              <a:t> </a:t>
            </a:r>
            <a:r>
              <a:rPr lang="en-US" dirty="0" err="1" smtClean="0"/>
              <a:t>số</a:t>
            </a:r>
            <a:r>
              <a:rPr lang="en-US" dirty="0" smtClean="0"/>
              <a:t> </a:t>
            </a:r>
            <a:r>
              <a:rPr lang="en-US" dirty="0" err="1" smtClean="0"/>
              <a:t>học</a:t>
            </a:r>
            <a:r>
              <a:rPr lang="en-US" dirty="0" smtClean="0"/>
              <a:t> </a:t>
            </a:r>
            <a:r>
              <a:rPr lang="en-US" dirty="0" err="1" smtClean="0"/>
              <a:t>trong</a:t>
            </a:r>
            <a:r>
              <a:rPr lang="en-US" dirty="0" smtClean="0"/>
              <a:t> Python</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656" y="1548772"/>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935668" y="1589346"/>
            <a:ext cx="6804834" cy="369332"/>
          </a:xfrm>
          <a:prstGeom prst="rect">
            <a:avLst/>
          </a:prstGeom>
          <a:noFill/>
        </p:spPr>
        <p:txBody>
          <a:bodyPr wrap="square" rtlCol="0">
            <a:spAutoFit/>
          </a:bodyPr>
          <a:lstStyle/>
          <a:p>
            <a:r>
              <a:rPr lang="en-US" b="1" dirty="0" smtClean="0"/>
              <a:t>2.5.1</a:t>
            </a:r>
            <a:r>
              <a:rPr lang="en-US" b="1" dirty="0"/>
              <a:t> </a:t>
            </a:r>
            <a:r>
              <a:rPr lang="en-US" b="1" dirty="0" err="1" smtClean="0"/>
              <a:t>Số</a:t>
            </a:r>
            <a:r>
              <a:rPr lang="en-US" b="1" dirty="0" smtClean="0"/>
              <a:t> </a:t>
            </a:r>
            <a:r>
              <a:rPr lang="en-US" b="1" dirty="0" err="1" smtClean="0"/>
              <a:t>trong</a:t>
            </a:r>
            <a:r>
              <a:rPr lang="en-US" b="1" dirty="0" smtClean="0"/>
              <a:t> Python  - Python </a:t>
            </a:r>
            <a:r>
              <a:rPr lang="en-US" b="1" dirty="0"/>
              <a:t>Numbers </a:t>
            </a:r>
            <a:endParaRPr lang="en-US" b="1" dirty="0">
              <a:solidFill>
                <a:srgbClr val="FF0000"/>
              </a:solidFill>
            </a:endParaRPr>
          </a:p>
        </p:txBody>
      </p:sp>
      <p:sp>
        <p:nvSpPr>
          <p:cNvPr id="6" name="TextBox 5"/>
          <p:cNvSpPr txBox="1"/>
          <p:nvPr/>
        </p:nvSpPr>
        <p:spPr>
          <a:xfrm>
            <a:off x="506453" y="2132869"/>
            <a:ext cx="1084517" cy="584775"/>
          </a:xfrm>
          <a:prstGeom prst="rect">
            <a:avLst/>
          </a:prstGeom>
          <a:noFill/>
        </p:spPr>
        <p:txBody>
          <a:bodyPr wrap="square" rtlCol="0">
            <a:spAutoFit/>
          </a:bodyPr>
          <a:lstStyle/>
          <a:p>
            <a:r>
              <a:rPr lang="en-US" sz="3200" b="1" dirty="0" err="1" smtClean="0">
                <a:solidFill>
                  <a:srgbClr val="FF0000"/>
                </a:solidFill>
              </a:rPr>
              <a:t>int</a:t>
            </a:r>
            <a:endParaRPr lang="en-US" sz="3200" b="1" dirty="0">
              <a:solidFill>
                <a:srgbClr val="FF0000"/>
              </a:solidFill>
            </a:endParaRPr>
          </a:p>
        </p:txBody>
      </p:sp>
      <p:sp>
        <p:nvSpPr>
          <p:cNvPr id="8" name="Rectangle 7"/>
          <p:cNvSpPr/>
          <p:nvPr/>
        </p:nvSpPr>
        <p:spPr>
          <a:xfrm>
            <a:off x="570248" y="4424201"/>
            <a:ext cx="3204311" cy="158852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70433" y="4555335"/>
            <a:ext cx="2834005" cy="1338828"/>
          </a:xfrm>
          <a:prstGeom prst="rect">
            <a:avLst/>
          </a:prstGeom>
          <a:noFill/>
        </p:spPr>
        <p:txBody>
          <a:bodyPr wrap="square" rtlCol="0">
            <a:spAutoFit/>
          </a:bodyPr>
          <a:lstStyle/>
          <a:p>
            <a:pPr>
              <a:lnSpc>
                <a:spcPct val="150000"/>
              </a:lnSpc>
            </a:pPr>
            <a:r>
              <a:rPr lang="en-US" dirty="0">
                <a:solidFill>
                  <a:schemeClr val="bg1"/>
                </a:solidFill>
              </a:rPr>
              <a:t>x =</a:t>
            </a:r>
            <a:r>
              <a:rPr lang="en-US" dirty="0"/>
              <a:t> </a:t>
            </a:r>
            <a:r>
              <a:rPr lang="en-US" dirty="0">
                <a:solidFill>
                  <a:srgbClr val="64C0A7"/>
                </a:solidFill>
              </a:rPr>
              <a:t>1</a:t>
            </a:r>
            <a:r>
              <a:rPr lang="en-US" dirty="0"/>
              <a:t>   </a:t>
            </a:r>
            <a:r>
              <a:rPr lang="en-US" dirty="0">
                <a:solidFill>
                  <a:schemeClr val="accent6">
                    <a:lumMod val="75000"/>
                  </a:schemeClr>
                </a:solidFill>
              </a:rPr>
              <a:t> </a:t>
            </a:r>
            <a:endParaRPr lang="en-US" dirty="0" smtClean="0">
              <a:solidFill>
                <a:schemeClr val="accent6">
                  <a:lumMod val="75000"/>
                </a:schemeClr>
              </a:solidFill>
            </a:endParaRPr>
          </a:p>
          <a:p>
            <a:pPr>
              <a:lnSpc>
                <a:spcPct val="150000"/>
              </a:lnSpc>
            </a:pPr>
            <a:r>
              <a:rPr lang="en-US" dirty="0" smtClean="0">
                <a:solidFill>
                  <a:schemeClr val="bg1"/>
                </a:solidFill>
              </a:rPr>
              <a:t>y </a:t>
            </a:r>
            <a:r>
              <a:rPr lang="en-US" dirty="0">
                <a:solidFill>
                  <a:schemeClr val="bg1"/>
                </a:solidFill>
              </a:rPr>
              <a:t>=</a:t>
            </a:r>
            <a:r>
              <a:rPr lang="en-US" dirty="0"/>
              <a:t> </a:t>
            </a:r>
            <a:r>
              <a:rPr lang="en-US" dirty="0" smtClean="0">
                <a:solidFill>
                  <a:srgbClr val="64C0A7"/>
                </a:solidFill>
              </a:rPr>
              <a:t>43545454656</a:t>
            </a:r>
            <a:r>
              <a:rPr lang="en-US" dirty="0"/>
              <a:t> </a:t>
            </a:r>
            <a:endParaRPr lang="en-US" dirty="0" smtClean="0"/>
          </a:p>
          <a:p>
            <a:pPr>
              <a:lnSpc>
                <a:spcPct val="150000"/>
              </a:lnSpc>
            </a:pPr>
            <a:r>
              <a:rPr lang="en-US" dirty="0" smtClean="0">
                <a:solidFill>
                  <a:schemeClr val="bg1"/>
                </a:solidFill>
              </a:rPr>
              <a:t>z </a:t>
            </a:r>
            <a:r>
              <a:rPr lang="en-US" dirty="0">
                <a:solidFill>
                  <a:schemeClr val="bg1"/>
                </a:solidFill>
              </a:rPr>
              <a:t>= </a:t>
            </a:r>
            <a:r>
              <a:rPr lang="en-US" dirty="0" smtClean="0">
                <a:solidFill>
                  <a:srgbClr val="64C0A7"/>
                </a:solidFill>
              </a:rPr>
              <a:t> -8547584</a:t>
            </a:r>
            <a:endParaRPr lang="en-US" dirty="0" smtClean="0">
              <a:solidFill>
                <a:schemeClr val="accent6">
                  <a:lumMod val="75000"/>
                </a:schemeClr>
              </a:solidFill>
            </a:endParaRPr>
          </a:p>
        </p:txBody>
      </p:sp>
      <p:sp>
        <p:nvSpPr>
          <p:cNvPr id="12" name="TextBox 11"/>
          <p:cNvSpPr txBox="1"/>
          <p:nvPr/>
        </p:nvSpPr>
        <p:spPr>
          <a:xfrm>
            <a:off x="506453" y="2815526"/>
            <a:ext cx="3268106" cy="1477328"/>
          </a:xfrm>
          <a:prstGeom prst="rect">
            <a:avLst/>
          </a:prstGeom>
          <a:noFill/>
        </p:spPr>
        <p:txBody>
          <a:bodyPr wrap="square" rtlCol="0">
            <a:spAutoFit/>
          </a:bodyPr>
          <a:lstStyle/>
          <a:p>
            <a:r>
              <a:rPr lang="en-US" dirty="0" smtClean="0"/>
              <a:t>Hay integer, </a:t>
            </a:r>
            <a:r>
              <a:rPr lang="en-US" dirty="0" err="1" smtClean="0"/>
              <a:t>bao</a:t>
            </a:r>
            <a:r>
              <a:rPr lang="en-US" dirty="0" smtClean="0"/>
              <a:t> </a:t>
            </a:r>
            <a:r>
              <a:rPr lang="en-US" dirty="0" err="1" smtClean="0"/>
              <a:t>gồm</a:t>
            </a:r>
            <a:r>
              <a:rPr lang="en-US" dirty="0" smtClean="0"/>
              <a:t> </a:t>
            </a:r>
            <a:r>
              <a:rPr lang="en-US" dirty="0" err="1" smtClean="0"/>
              <a:t>số</a:t>
            </a:r>
            <a:r>
              <a:rPr lang="en-US" dirty="0" smtClean="0"/>
              <a:t>, </a:t>
            </a:r>
            <a:r>
              <a:rPr lang="en-US" dirty="0" err="1" smtClean="0"/>
              <a:t>số</a:t>
            </a:r>
            <a:r>
              <a:rPr lang="en-US" dirty="0" smtClean="0"/>
              <a:t> </a:t>
            </a:r>
            <a:r>
              <a:rPr lang="en-US" dirty="0" err="1" smtClean="0"/>
              <a:t>nguyên</a:t>
            </a:r>
            <a:r>
              <a:rPr lang="en-US" dirty="0" smtClean="0"/>
              <a:t> </a:t>
            </a:r>
            <a:r>
              <a:rPr lang="en-US" dirty="0" err="1" smtClean="0"/>
              <a:t>âm</a:t>
            </a:r>
            <a:r>
              <a:rPr lang="en-US" dirty="0" smtClean="0"/>
              <a:t>, </a:t>
            </a:r>
            <a:r>
              <a:rPr lang="en-US" dirty="0" err="1" smtClean="0"/>
              <a:t>số</a:t>
            </a:r>
            <a:r>
              <a:rPr lang="en-US" dirty="0" smtClean="0"/>
              <a:t> </a:t>
            </a:r>
            <a:r>
              <a:rPr lang="en-US" dirty="0" err="1" smtClean="0"/>
              <a:t>nguyên</a:t>
            </a:r>
            <a:r>
              <a:rPr lang="en-US" dirty="0" smtClean="0"/>
              <a:t> </a:t>
            </a:r>
            <a:r>
              <a:rPr lang="en-US" dirty="0" err="1" smtClean="0"/>
              <a:t>dương</a:t>
            </a:r>
            <a:r>
              <a:rPr lang="en-US" dirty="0" smtClean="0"/>
              <a:t>, </a:t>
            </a:r>
            <a:r>
              <a:rPr lang="en-US" dirty="0" err="1" smtClean="0"/>
              <a:t>không</a:t>
            </a:r>
            <a:r>
              <a:rPr lang="en-US" dirty="0" smtClean="0"/>
              <a:t> </a:t>
            </a:r>
            <a:r>
              <a:rPr lang="en-US" dirty="0" err="1" smtClean="0"/>
              <a:t>bao</a:t>
            </a:r>
            <a:r>
              <a:rPr lang="en-US" dirty="0" smtClean="0"/>
              <a:t> </a:t>
            </a:r>
            <a:r>
              <a:rPr lang="en-US" dirty="0" err="1" smtClean="0"/>
              <a:t>gồm</a:t>
            </a:r>
            <a:r>
              <a:rPr lang="en-US" dirty="0" smtClean="0"/>
              <a:t> </a:t>
            </a:r>
            <a:r>
              <a:rPr lang="en-US" dirty="0" err="1" smtClean="0"/>
              <a:t>số</a:t>
            </a:r>
            <a:r>
              <a:rPr lang="en-US" dirty="0" smtClean="0"/>
              <a:t> </a:t>
            </a:r>
            <a:r>
              <a:rPr lang="en-US" dirty="0" err="1" smtClean="0"/>
              <a:t>thập</a:t>
            </a:r>
            <a:r>
              <a:rPr lang="en-US" dirty="0" smtClean="0"/>
              <a:t> </a:t>
            </a:r>
            <a:r>
              <a:rPr lang="en-US" dirty="0" err="1" smtClean="0"/>
              <a:t>phân</a:t>
            </a:r>
            <a:r>
              <a:rPr lang="en-US" dirty="0" smtClean="0"/>
              <a:t>, </a:t>
            </a:r>
            <a:r>
              <a:rPr lang="en-US" dirty="0" err="1" smtClean="0"/>
              <a:t>không</a:t>
            </a:r>
            <a:r>
              <a:rPr lang="en-US" dirty="0" smtClean="0"/>
              <a:t> </a:t>
            </a:r>
            <a:r>
              <a:rPr lang="en-US" dirty="0" err="1" smtClean="0"/>
              <a:t>giới</a:t>
            </a:r>
            <a:r>
              <a:rPr lang="en-US" dirty="0" smtClean="0"/>
              <a:t> </a:t>
            </a:r>
            <a:r>
              <a:rPr lang="en-US" dirty="0" err="1" smtClean="0"/>
              <a:t>hạn</a:t>
            </a:r>
            <a:r>
              <a:rPr lang="en-US" dirty="0" smtClean="0"/>
              <a:t> </a:t>
            </a:r>
            <a:r>
              <a:rPr lang="en-US" dirty="0" err="1" smtClean="0"/>
              <a:t>độ</a:t>
            </a:r>
            <a:r>
              <a:rPr lang="en-US" dirty="0" smtClean="0"/>
              <a:t> </a:t>
            </a:r>
            <a:r>
              <a:rPr lang="en-US" dirty="0" err="1" smtClean="0"/>
              <a:t>dài</a:t>
            </a:r>
            <a:endParaRPr lang="en-US" dirty="0"/>
          </a:p>
        </p:txBody>
      </p:sp>
      <p:sp>
        <p:nvSpPr>
          <p:cNvPr id="13" name="TextBox 12"/>
          <p:cNvSpPr txBox="1"/>
          <p:nvPr/>
        </p:nvSpPr>
        <p:spPr>
          <a:xfrm>
            <a:off x="4408602" y="2132869"/>
            <a:ext cx="1084517" cy="584775"/>
          </a:xfrm>
          <a:prstGeom prst="rect">
            <a:avLst/>
          </a:prstGeom>
          <a:noFill/>
        </p:spPr>
        <p:txBody>
          <a:bodyPr wrap="square" rtlCol="0">
            <a:spAutoFit/>
          </a:bodyPr>
          <a:lstStyle/>
          <a:p>
            <a:r>
              <a:rPr lang="en-US" sz="3200" b="1" dirty="0" smtClean="0">
                <a:solidFill>
                  <a:srgbClr val="FF0000"/>
                </a:solidFill>
              </a:rPr>
              <a:t>float</a:t>
            </a:r>
            <a:endParaRPr lang="en-US" sz="3200" b="1" dirty="0">
              <a:solidFill>
                <a:srgbClr val="FF0000"/>
              </a:solidFill>
            </a:endParaRPr>
          </a:p>
        </p:txBody>
      </p:sp>
      <p:sp>
        <p:nvSpPr>
          <p:cNvPr id="14" name="TextBox 13"/>
          <p:cNvSpPr txBox="1"/>
          <p:nvPr/>
        </p:nvSpPr>
        <p:spPr>
          <a:xfrm>
            <a:off x="4408602" y="2815526"/>
            <a:ext cx="3268106" cy="923330"/>
          </a:xfrm>
          <a:prstGeom prst="rect">
            <a:avLst/>
          </a:prstGeom>
          <a:noFill/>
        </p:spPr>
        <p:txBody>
          <a:bodyPr wrap="square" rtlCol="0">
            <a:spAutoFit/>
          </a:bodyPr>
          <a:lstStyle/>
          <a:p>
            <a:r>
              <a:rPr lang="vi-VN" dirty="0"/>
              <a:t>là một số, dương hoặc âm, chứa một hoặc nhiều số thập phân.</a:t>
            </a:r>
            <a:endParaRPr lang="en-US" dirty="0"/>
          </a:p>
        </p:txBody>
      </p:sp>
      <p:sp>
        <p:nvSpPr>
          <p:cNvPr id="15" name="Rectangle 14"/>
          <p:cNvSpPr/>
          <p:nvPr/>
        </p:nvSpPr>
        <p:spPr>
          <a:xfrm>
            <a:off x="4514927" y="4424201"/>
            <a:ext cx="3204311" cy="158852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4715112" y="4555335"/>
            <a:ext cx="2834005" cy="1338828"/>
          </a:xfrm>
          <a:prstGeom prst="rect">
            <a:avLst/>
          </a:prstGeom>
          <a:noFill/>
        </p:spPr>
        <p:txBody>
          <a:bodyPr wrap="square" rtlCol="0">
            <a:spAutoFit/>
          </a:bodyPr>
          <a:lstStyle/>
          <a:p>
            <a:pPr>
              <a:lnSpc>
                <a:spcPct val="150000"/>
              </a:lnSpc>
            </a:pPr>
            <a:r>
              <a:rPr lang="en-US" dirty="0">
                <a:solidFill>
                  <a:schemeClr val="bg1"/>
                </a:solidFill>
              </a:rPr>
              <a:t>x =</a:t>
            </a:r>
            <a:r>
              <a:rPr lang="en-US" dirty="0"/>
              <a:t> </a:t>
            </a:r>
            <a:r>
              <a:rPr lang="en-US" dirty="0" smtClean="0">
                <a:solidFill>
                  <a:srgbClr val="64C0A7"/>
                </a:solidFill>
              </a:rPr>
              <a:t>1.1</a:t>
            </a:r>
            <a:r>
              <a:rPr lang="en-US" dirty="0"/>
              <a:t>   </a:t>
            </a:r>
            <a:r>
              <a:rPr lang="en-US" dirty="0">
                <a:solidFill>
                  <a:schemeClr val="accent6">
                    <a:lumMod val="75000"/>
                  </a:schemeClr>
                </a:solidFill>
              </a:rPr>
              <a:t> </a:t>
            </a:r>
            <a:endParaRPr lang="en-US" dirty="0" smtClean="0">
              <a:solidFill>
                <a:schemeClr val="accent6">
                  <a:lumMod val="75000"/>
                </a:schemeClr>
              </a:solidFill>
            </a:endParaRPr>
          </a:p>
          <a:p>
            <a:pPr>
              <a:lnSpc>
                <a:spcPct val="150000"/>
              </a:lnSpc>
            </a:pPr>
            <a:r>
              <a:rPr lang="en-US" dirty="0" smtClean="0">
                <a:solidFill>
                  <a:schemeClr val="bg1"/>
                </a:solidFill>
              </a:rPr>
              <a:t>y </a:t>
            </a:r>
            <a:r>
              <a:rPr lang="en-US" dirty="0">
                <a:solidFill>
                  <a:schemeClr val="bg1"/>
                </a:solidFill>
              </a:rPr>
              <a:t>=</a:t>
            </a:r>
            <a:r>
              <a:rPr lang="en-US" dirty="0"/>
              <a:t> </a:t>
            </a:r>
            <a:r>
              <a:rPr lang="en-US" dirty="0" smtClean="0">
                <a:solidFill>
                  <a:srgbClr val="64C0A7"/>
                </a:solidFill>
              </a:rPr>
              <a:t>1.02</a:t>
            </a:r>
            <a:r>
              <a:rPr lang="en-US" dirty="0"/>
              <a:t> </a:t>
            </a:r>
            <a:endParaRPr lang="en-US" dirty="0" smtClean="0"/>
          </a:p>
          <a:p>
            <a:pPr>
              <a:lnSpc>
                <a:spcPct val="150000"/>
              </a:lnSpc>
            </a:pPr>
            <a:r>
              <a:rPr lang="en-US" dirty="0" smtClean="0">
                <a:solidFill>
                  <a:schemeClr val="bg1"/>
                </a:solidFill>
              </a:rPr>
              <a:t>z </a:t>
            </a:r>
            <a:r>
              <a:rPr lang="en-US" dirty="0">
                <a:solidFill>
                  <a:schemeClr val="bg1"/>
                </a:solidFill>
              </a:rPr>
              <a:t>= </a:t>
            </a:r>
            <a:r>
              <a:rPr lang="en-US" dirty="0" smtClean="0">
                <a:solidFill>
                  <a:srgbClr val="64C0A7"/>
                </a:solidFill>
              </a:rPr>
              <a:t> -8,78</a:t>
            </a:r>
            <a:endParaRPr lang="en-US" dirty="0" smtClean="0">
              <a:solidFill>
                <a:schemeClr val="accent6">
                  <a:lumMod val="75000"/>
                </a:schemeClr>
              </a:solidFill>
            </a:endParaRPr>
          </a:p>
        </p:txBody>
      </p:sp>
    </p:spTree>
    <p:extLst>
      <p:ext uri="{BB962C8B-B14F-4D97-AF65-F5344CB8AC3E}">
        <p14:creationId xmlns:p14="http://schemas.microsoft.com/office/powerpoint/2010/main" val="293015791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15</a:t>
            </a:fld>
            <a:endParaRPr lang="en-US"/>
          </a:p>
        </p:txBody>
      </p:sp>
      <p:sp>
        <p:nvSpPr>
          <p:cNvPr id="3" name="Text Placeholder 2"/>
          <p:cNvSpPr>
            <a:spLocks noGrp="1"/>
          </p:cNvSpPr>
          <p:nvPr>
            <p:ph type="body" sz="quarter" idx="13"/>
          </p:nvPr>
        </p:nvSpPr>
        <p:spPr/>
        <p:txBody>
          <a:bodyPr/>
          <a:lstStyle/>
          <a:p>
            <a:r>
              <a:rPr lang="en-US" dirty="0" smtClean="0"/>
              <a:t>2.5 </a:t>
            </a:r>
            <a:r>
              <a:rPr lang="en-US" dirty="0" err="1" smtClean="0"/>
              <a:t>Dữ</a:t>
            </a:r>
            <a:r>
              <a:rPr lang="en-US" dirty="0" smtClean="0"/>
              <a:t> </a:t>
            </a:r>
            <a:r>
              <a:rPr lang="en-US" dirty="0" err="1" smtClean="0"/>
              <a:t>liệu</a:t>
            </a:r>
            <a:r>
              <a:rPr lang="en-US" dirty="0" smtClean="0"/>
              <a:t> </a:t>
            </a:r>
            <a:r>
              <a:rPr lang="en-US" dirty="0" err="1" smtClean="0"/>
              <a:t>kiểu</a:t>
            </a:r>
            <a:r>
              <a:rPr lang="en-US" dirty="0" smtClean="0"/>
              <a:t> </a:t>
            </a:r>
            <a:r>
              <a:rPr lang="en-US" dirty="0" err="1" smtClean="0"/>
              <a:t>Số</a:t>
            </a:r>
            <a:r>
              <a:rPr lang="en-US" dirty="0" smtClean="0"/>
              <a:t> </a:t>
            </a:r>
            <a:r>
              <a:rPr lang="en-US" dirty="0" err="1" smtClean="0"/>
              <a:t>và</a:t>
            </a:r>
            <a:r>
              <a:rPr lang="en-US" dirty="0" smtClean="0"/>
              <a:t> </a:t>
            </a:r>
            <a:r>
              <a:rPr lang="en-US" dirty="0" err="1" smtClean="0"/>
              <a:t>toán</a:t>
            </a:r>
            <a:r>
              <a:rPr lang="en-US" dirty="0" smtClean="0"/>
              <a:t> </a:t>
            </a:r>
            <a:r>
              <a:rPr lang="en-US" dirty="0" err="1" smtClean="0"/>
              <a:t>tử</a:t>
            </a:r>
            <a:r>
              <a:rPr lang="en-US" dirty="0" smtClean="0"/>
              <a:t> </a:t>
            </a:r>
            <a:r>
              <a:rPr lang="en-US" dirty="0" err="1" smtClean="0"/>
              <a:t>số</a:t>
            </a:r>
            <a:r>
              <a:rPr lang="en-US" dirty="0" smtClean="0"/>
              <a:t> </a:t>
            </a:r>
            <a:r>
              <a:rPr lang="en-US" dirty="0" err="1" smtClean="0"/>
              <a:t>học</a:t>
            </a:r>
            <a:r>
              <a:rPr lang="en-US" dirty="0" smtClean="0"/>
              <a:t> </a:t>
            </a:r>
            <a:r>
              <a:rPr lang="en-US" dirty="0" err="1" smtClean="0"/>
              <a:t>trong</a:t>
            </a:r>
            <a:r>
              <a:rPr lang="en-US" dirty="0" smtClean="0"/>
              <a:t> Python</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656" y="1548772"/>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935668" y="1589346"/>
            <a:ext cx="6804834" cy="369332"/>
          </a:xfrm>
          <a:prstGeom prst="rect">
            <a:avLst/>
          </a:prstGeom>
          <a:noFill/>
        </p:spPr>
        <p:txBody>
          <a:bodyPr wrap="square" rtlCol="0">
            <a:spAutoFit/>
          </a:bodyPr>
          <a:lstStyle/>
          <a:p>
            <a:r>
              <a:rPr lang="en-US" b="1" dirty="0" smtClean="0"/>
              <a:t>2.5.2 </a:t>
            </a:r>
            <a:r>
              <a:rPr lang="en-US" b="1" dirty="0" err="1" smtClean="0"/>
              <a:t>Toán</a:t>
            </a:r>
            <a:r>
              <a:rPr lang="en-US" b="1" dirty="0" smtClean="0"/>
              <a:t> </a:t>
            </a:r>
            <a:r>
              <a:rPr lang="en-US" b="1" dirty="0" err="1" smtClean="0"/>
              <a:t>tử</a:t>
            </a:r>
            <a:r>
              <a:rPr lang="en-US" b="1" dirty="0" smtClean="0"/>
              <a:t> </a:t>
            </a:r>
            <a:r>
              <a:rPr lang="en-US" b="1" dirty="0" err="1" smtClean="0"/>
              <a:t>số</a:t>
            </a:r>
            <a:r>
              <a:rPr lang="en-US" b="1" dirty="0" smtClean="0"/>
              <a:t> </a:t>
            </a:r>
            <a:r>
              <a:rPr lang="en-US" b="1" dirty="0" err="1" smtClean="0"/>
              <a:t>học</a:t>
            </a:r>
            <a:r>
              <a:rPr lang="en-US" b="1" dirty="0" smtClean="0"/>
              <a:t> </a:t>
            </a:r>
            <a:r>
              <a:rPr lang="en-US" b="1" dirty="0" err="1" smtClean="0"/>
              <a:t>trong</a:t>
            </a:r>
            <a:r>
              <a:rPr lang="en-US" b="1" dirty="0" smtClean="0"/>
              <a:t> Python</a:t>
            </a:r>
            <a:endParaRPr lang="en-US" b="1" dirty="0">
              <a:solidFill>
                <a:srgbClr val="FF0000"/>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3104376124"/>
              </p:ext>
            </p:extLst>
          </p:nvPr>
        </p:nvGraphicFramePr>
        <p:xfrm>
          <a:off x="708775" y="2174354"/>
          <a:ext cx="7641264" cy="2966720"/>
        </p:xfrm>
        <a:graphic>
          <a:graphicData uri="http://schemas.openxmlformats.org/drawingml/2006/table">
            <a:tbl>
              <a:tblPr firstRow="1" bandRow="1">
                <a:tableStyleId>{5C22544A-7EE6-4342-B048-85BDC9FD1C3A}</a:tableStyleId>
              </a:tblPr>
              <a:tblGrid>
                <a:gridCol w="1368056">
                  <a:extLst>
                    <a:ext uri="{9D8B030D-6E8A-4147-A177-3AD203B41FA5}">
                      <a16:colId xmlns:a16="http://schemas.microsoft.com/office/drawing/2014/main" xmlns="" val="1090476864"/>
                    </a:ext>
                  </a:extLst>
                </a:gridCol>
                <a:gridCol w="3726120">
                  <a:extLst>
                    <a:ext uri="{9D8B030D-6E8A-4147-A177-3AD203B41FA5}">
                      <a16:colId xmlns:a16="http://schemas.microsoft.com/office/drawing/2014/main" xmlns="" val="1435072482"/>
                    </a:ext>
                  </a:extLst>
                </a:gridCol>
                <a:gridCol w="2547088">
                  <a:extLst>
                    <a:ext uri="{9D8B030D-6E8A-4147-A177-3AD203B41FA5}">
                      <a16:colId xmlns:a16="http://schemas.microsoft.com/office/drawing/2014/main" xmlns="" val="267573147"/>
                    </a:ext>
                  </a:extLst>
                </a:gridCol>
              </a:tblGrid>
              <a:tr h="370840">
                <a:tc>
                  <a:txBody>
                    <a:bodyPr/>
                    <a:lstStyle/>
                    <a:p>
                      <a:r>
                        <a:rPr lang="en-US" sz="1800" b="1" i="0" kern="1200" dirty="0" err="1" smtClean="0">
                          <a:solidFill>
                            <a:schemeClr val="lt1"/>
                          </a:solidFill>
                          <a:effectLst/>
                          <a:latin typeface="+mn-lt"/>
                          <a:ea typeface="+mn-ea"/>
                          <a:cs typeface="+mn-cs"/>
                        </a:rPr>
                        <a:t>Phép</a:t>
                      </a:r>
                      <a:r>
                        <a:rPr lang="en-US" sz="1800" b="1" i="0" kern="1200" baseline="0" dirty="0" smtClean="0">
                          <a:solidFill>
                            <a:schemeClr val="lt1"/>
                          </a:solidFill>
                          <a:effectLst/>
                          <a:latin typeface="+mn-lt"/>
                          <a:ea typeface="+mn-ea"/>
                          <a:cs typeface="+mn-cs"/>
                        </a:rPr>
                        <a:t> </a:t>
                      </a:r>
                      <a:r>
                        <a:rPr lang="en-US" sz="1800" b="1" i="0" kern="1200" baseline="0" dirty="0" err="1" smtClean="0">
                          <a:solidFill>
                            <a:schemeClr val="lt1"/>
                          </a:solidFill>
                          <a:effectLst/>
                          <a:latin typeface="+mn-lt"/>
                          <a:ea typeface="+mn-ea"/>
                          <a:cs typeface="+mn-cs"/>
                        </a:rPr>
                        <a:t>tính</a:t>
                      </a:r>
                      <a:endParaRPr lang="en-US" dirty="0"/>
                    </a:p>
                  </a:txBody>
                  <a:tcPr/>
                </a:tc>
                <a:tc>
                  <a:txBody>
                    <a:bodyPr/>
                    <a:lstStyle/>
                    <a:p>
                      <a:r>
                        <a:rPr lang="en-US" dirty="0" smtClean="0"/>
                        <a:t>Ý</a:t>
                      </a:r>
                      <a:r>
                        <a:rPr lang="en-US" baseline="0" dirty="0" smtClean="0"/>
                        <a:t> </a:t>
                      </a:r>
                      <a:r>
                        <a:rPr lang="en-US" baseline="0" dirty="0" err="1" smtClean="0"/>
                        <a:t>nghĩa</a:t>
                      </a:r>
                      <a:endParaRPr lang="en-US" dirty="0"/>
                    </a:p>
                  </a:txBody>
                  <a:tcPr/>
                </a:tc>
                <a:tc>
                  <a:txBody>
                    <a:bodyPr/>
                    <a:lstStyle/>
                    <a:p>
                      <a:r>
                        <a:rPr lang="en-US" dirty="0" err="1" smtClean="0"/>
                        <a:t>Ví</a:t>
                      </a:r>
                      <a:r>
                        <a:rPr lang="en-US" baseline="0" dirty="0" smtClean="0"/>
                        <a:t> </a:t>
                      </a:r>
                      <a:r>
                        <a:rPr lang="en-US" baseline="0" dirty="0" err="1" smtClean="0"/>
                        <a:t>dụ</a:t>
                      </a:r>
                      <a:endParaRPr lang="en-US" dirty="0"/>
                    </a:p>
                  </a:txBody>
                  <a:tcPr/>
                </a:tc>
                <a:extLst>
                  <a:ext uri="{0D108BD9-81ED-4DB2-BD59-A6C34878D82A}">
                    <a16:rowId xmlns:a16="http://schemas.microsoft.com/office/drawing/2014/main" xmlns="" val="52471451"/>
                  </a:ext>
                </a:extLst>
              </a:tr>
              <a:tr h="370840">
                <a:tc>
                  <a:txBody>
                    <a:bodyPr/>
                    <a:lstStyle/>
                    <a:p>
                      <a:pPr algn="ctr"/>
                      <a:r>
                        <a:rPr lang="en-US" sz="1800" b="0" i="0" kern="1200" dirty="0" smtClean="0">
                          <a:solidFill>
                            <a:schemeClr val="dk1"/>
                          </a:solidFill>
                          <a:effectLst/>
                          <a:latin typeface="+mn-lt"/>
                          <a:ea typeface="+mn-ea"/>
                          <a:cs typeface="+mn-cs"/>
                        </a:rPr>
                        <a:t>+</a:t>
                      </a:r>
                      <a:endParaRPr lang="en-US" dirty="0"/>
                    </a:p>
                  </a:txBody>
                  <a:tcPr/>
                </a:tc>
                <a:tc>
                  <a:txBody>
                    <a:bodyPr/>
                    <a:lstStyle/>
                    <a:p>
                      <a:r>
                        <a:rPr lang="en-US" dirty="0" err="1" smtClean="0"/>
                        <a:t>Cộng</a:t>
                      </a:r>
                      <a:endParaRPr lang="en-US" dirty="0"/>
                    </a:p>
                  </a:txBody>
                  <a:tcPr/>
                </a:tc>
                <a:tc>
                  <a:txBody>
                    <a:bodyPr/>
                    <a:lstStyle/>
                    <a:p>
                      <a:r>
                        <a:rPr lang="en-US" sz="1800" b="0" i="0" kern="1200" dirty="0" smtClean="0">
                          <a:solidFill>
                            <a:schemeClr val="dk1"/>
                          </a:solidFill>
                          <a:effectLst/>
                          <a:latin typeface="+mn-lt"/>
                          <a:ea typeface="+mn-ea"/>
                          <a:cs typeface="+mn-cs"/>
                        </a:rPr>
                        <a:t>x + y</a:t>
                      </a:r>
                      <a:endParaRPr lang="en-US" dirty="0"/>
                    </a:p>
                  </a:txBody>
                  <a:tcPr/>
                </a:tc>
                <a:extLst>
                  <a:ext uri="{0D108BD9-81ED-4DB2-BD59-A6C34878D82A}">
                    <a16:rowId xmlns:a16="http://schemas.microsoft.com/office/drawing/2014/main" xmlns="" val="1871639103"/>
                  </a:ext>
                </a:extLst>
              </a:tr>
              <a:tr h="370840">
                <a:tc>
                  <a:txBody>
                    <a:bodyPr/>
                    <a:lstStyle/>
                    <a:p>
                      <a:pPr algn="ctr"/>
                      <a:r>
                        <a:rPr lang="en-US" sz="1800" b="0" i="0" kern="1200" dirty="0" smtClean="0">
                          <a:solidFill>
                            <a:schemeClr val="dk1"/>
                          </a:solidFill>
                          <a:effectLst/>
                          <a:latin typeface="+mn-lt"/>
                          <a:ea typeface="+mn-ea"/>
                          <a:cs typeface="+mn-cs"/>
                        </a:rPr>
                        <a:t>-</a:t>
                      </a:r>
                      <a:endParaRPr lang="en-US" dirty="0"/>
                    </a:p>
                  </a:txBody>
                  <a:tcPr/>
                </a:tc>
                <a:tc>
                  <a:txBody>
                    <a:bodyPr/>
                    <a:lstStyle/>
                    <a:p>
                      <a:r>
                        <a:rPr lang="en-US" dirty="0" err="1" smtClean="0"/>
                        <a:t>Trừ</a:t>
                      </a:r>
                      <a:endParaRPr lang="en-US" dirty="0"/>
                    </a:p>
                  </a:txBody>
                  <a:tcPr/>
                </a:tc>
                <a:tc>
                  <a:txBody>
                    <a:bodyPr/>
                    <a:lstStyle/>
                    <a:p>
                      <a:r>
                        <a:rPr lang="en-US" sz="1800" b="0" i="0" kern="1200" dirty="0" smtClean="0">
                          <a:solidFill>
                            <a:schemeClr val="dk1"/>
                          </a:solidFill>
                          <a:effectLst/>
                          <a:latin typeface="+mn-lt"/>
                          <a:ea typeface="+mn-ea"/>
                          <a:cs typeface="+mn-cs"/>
                        </a:rPr>
                        <a:t>x - y</a:t>
                      </a:r>
                      <a:endParaRPr lang="en-US" dirty="0"/>
                    </a:p>
                  </a:txBody>
                  <a:tcPr/>
                </a:tc>
                <a:extLst>
                  <a:ext uri="{0D108BD9-81ED-4DB2-BD59-A6C34878D82A}">
                    <a16:rowId xmlns:a16="http://schemas.microsoft.com/office/drawing/2014/main" xmlns="" val="1902424070"/>
                  </a:ext>
                </a:extLst>
              </a:tr>
              <a:tr h="370840">
                <a:tc>
                  <a:txBody>
                    <a:bodyPr/>
                    <a:lstStyle/>
                    <a:p>
                      <a:pPr algn="ctr"/>
                      <a:r>
                        <a:rPr lang="en-US" sz="1800" b="0" i="0" kern="1200" dirty="0" smtClean="0">
                          <a:solidFill>
                            <a:schemeClr val="dk1"/>
                          </a:solidFill>
                          <a:effectLst/>
                          <a:latin typeface="+mn-lt"/>
                          <a:ea typeface="+mn-ea"/>
                          <a:cs typeface="+mn-cs"/>
                        </a:rPr>
                        <a:t>*</a:t>
                      </a:r>
                      <a:endParaRPr lang="en-US" dirty="0"/>
                    </a:p>
                  </a:txBody>
                  <a:tcPr/>
                </a:tc>
                <a:tc>
                  <a:txBody>
                    <a:bodyPr/>
                    <a:lstStyle/>
                    <a:p>
                      <a:r>
                        <a:rPr lang="en-US" dirty="0" err="1" smtClean="0"/>
                        <a:t>Nhân</a:t>
                      </a:r>
                      <a:endParaRPr lang="en-US" dirty="0"/>
                    </a:p>
                  </a:txBody>
                  <a:tcPr/>
                </a:tc>
                <a:tc>
                  <a:txBody>
                    <a:bodyPr/>
                    <a:lstStyle/>
                    <a:p>
                      <a:r>
                        <a:rPr lang="en-US" sz="1800" b="0" i="0" kern="1200" dirty="0" smtClean="0">
                          <a:solidFill>
                            <a:schemeClr val="dk1"/>
                          </a:solidFill>
                          <a:effectLst/>
                          <a:latin typeface="+mn-lt"/>
                          <a:ea typeface="+mn-ea"/>
                          <a:cs typeface="+mn-cs"/>
                        </a:rPr>
                        <a:t>x * y</a:t>
                      </a:r>
                      <a:endParaRPr lang="en-US" dirty="0"/>
                    </a:p>
                  </a:txBody>
                  <a:tcPr/>
                </a:tc>
                <a:extLst>
                  <a:ext uri="{0D108BD9-81ED-4DB2-BD59-A6C34878D82A}">
                    <a16:rowId xmlns:a16="http://schemas.microsoft.com/office/drawing/2014/main" xmlns="" val="320924619"/>
                  </a:ext>
                </a:extLst>
              </a:tr>
              <a:tr h="370840">
                <a:tc>
                  <a:txBody>
                    <a:bodyPr/>
                    <a:lstStyle/>
                    <a:p>
                      <a:pPr algn="ctr"/>
                      <a:r>
                        <a:rPr lang="en-US" dirty="0" smtClean="0"/>
                        <a:t>/</a:t>
                      </a:r>
                      <a:endParaRPr lang="en-US" dirty="0"/>
                    </a:p>
                  </a:txBody>
                  <a:tcPr/>
                </a:tc>
                <a:tc>
                  <a:txBody>
                    <a:bodyPr/>
                    <a:lstStyle/>
                    <a:p>
                      <a:r>
                        <a:rPr lang="en-US" dirty="0" smtClean="0"/>
                        <a:t>Chia</a:t>
                      </a:r>
                      <a:endParaRPr lang="en-US" dirty="0"/>
                    </a:p>
                  </a:txBody>
                  <a:tcPr/>
                </a:tc>
                <a:tc>
                  <a:txBody>
                    <a:bodyPr/>
                    <a:lstStyle/>
                    <a:p>
                      <a:r>
                        <a:rPr lang="en-US" sz="1800" b="0" i="0" kern="1200" dirty="0" smtClean="0">
                          <a:solidFill>
                            <a:schemeClr val="dk1"/>
                          </a:solidFill>
                          <a:effectLst/>
                          <a:latin typeface="+mn-lt"/>
                          <a:ea typeface="+mn-ea"/>
                          <a:cs typeface="+mn-cs"/>
                        </a:rPr>
                        <a:t>x / y</a:t>
                      </a:r>
                      <a:endParaRPr lang="en-US" dirty="0"/>
                    </a:p>
                  </a:txBody>
                  <a:tcPr/>
                </a:tc>
                <a:extLst>
                  <a:ext uri="{0D108BD9-81ED-4DB2-BD59-A6C34878D82A}">
                    <a16:rowId xmlns:a16="http://schemas.microsoft.com/office/drawing/2014/main" xmlns="" val="2565145191"/>
                  </a:ext>
                </a:extLst>
              </a:tr>
              <a:tr h="370840">
                <a:tc>
                  <a:txBody>
                    <a:bodyPr/>
                    <a:lstStyle/>
                    <a:p>
                      <a:pPr algn="ctr"/>
                      <a:r>
                        <a:rPr lang="en-US" dirty="0" smtClean="0"/>
                        <a:t>%</a:t>
                      </a:r>
                      <a:endParaRPr lang="en-US" dirty="0"/>
                    </a:p>
                  </a:txBody>
                  <a:tcPr/>
                </a:tc>
                <a:tc>
                  <a:txBody>
                    <a:bodyPr/>
                    <a:lstStyle/>
                    <a:p>
                      <a:r>
                        <a:rPr lang="en-US" dirty="0" smtClean="0"/>
                        <a:t>Chia </a:t>
                      </a:r>
                      <a:r>
                        <a:rPr lang="en-US" dirty="0" err="1" smtClean="0"/>
                        <a:t>lấy</a:t>
                      </a:r>
                      <a:r>
                        <a:rPr lang="en-US" baseline="0" dirty="0" smtClean="0"/>
                        <a:t> </a:t>
                      </a:r>
                      <a:r>
                        <a:rPr lang="en-US" baseline="0" dirty="0" err="1" smtClean="0"/>
                        <a:t>phần</a:t>
                      </a:r>
                      <a:r>
                        <a:rPr lang="en-US" baseline="0" dirty="0" smtClean="0"/>
                        <a:t> </a:t>
                      </a:r>
                      <a:r>
                        <a:rPr lang="en-US" baseline="0" dirty="0" err="1" smtClean="0"/>
                        <a:t>dư</a:t>
                      </a:r>
                      <a:endParaRPr lang="en-US" dirty="0"/>
                    </a:p>
                  </a:txBody>
                  <a:tcPr/>
                </a:tc>
                <a:tc>
                  <a:txBody>
                    <a:bodyPr/>
                    <a:lstStyle/>
                    <a:p>
                      <a:r>
                        <a:rPr lang="en-US" sz="1800" b="0" i="0" kern="1200" dirty="0" smtClean="0">
                          <a:solidFill>
                            <a:schemeClr val="dk1"/>
                          </a:solidFill>
                          <a:effectLst/>
                          <a:latin typeface="+mn-lt"/>
                          <a:ea typeface="+mn-ea"/>
                          <a:cs typeface="+mn-cs"/>
                        </a:rPr>
                        <a:t>x % y</a:t>
                      </a:r>
                      <a:endParaRPr lang="en-US" dirty="0"/>
                    </a:p>
                  </a:txBody>
                  <a:tcPr/>
                </a:tc>
                <a:extLst>
                  <a:ext uri="{0D108BD9-81ED-4DB2-BD59-A6C34878D82A}">
                    <a16:rowId xmlns:a16="http://schemas.microsoft.com/office/drawing/2014/main" xmlns="" val="539018087"/>
                  </a:ext>
                </a:extLst>
              </a:tr>
              <a:tr h="370840">
                <a:tc>
                  <a:txBody>
                    <a:bodyPr/>
                    <a:lstStyle/>
                    <a:p>
                      <a:pPr algn="ctr"/>
                      <a:r>
                        <a:rPr lang="en-US" dirty="0" smtClean="0"/>
                        <a:t>**</a:t>
                      </a:r>
                      <a:endParaRPr lang="en-US" dirty="0"/>
                    </a:p>
                  </a:txBody>
                  <a:tcPr/>
                </a:tc>
                <a:tc>
                  <a:txBody>
                    <a:bodyPr/>
                    <a:lstStyle/>
                    <a:p>
                      <a:r>
                        <a:rPr lang="en-US" dirty="0" err="1" smtClean="0"/>
                        <a:t>Lũy</a:t>
                      </a:r>
                      <a:r>
                        <a:rPr lang="en-US" baseline="0" dirty="0" smtClean="0"/>
                        <a:t> </a:t>
                      </a:r>
                      <a:r>
                        <a:rPr lang="en-US" baseline="0" dirty="0" err="1" smtClean="0"/>
                        <a:t>thừa</a:t>
                      </a:r>
                      <a:endParaRPr lang="en-US" dirty="0"/>
                    </a:p>
                  </a:txBody>
                  <a:tcPr/>
                </a:tc>
                <a:tc>
                  <a:txBody>
                    <a:bodyPr/>
                    <a:lstStyle/>
                    <a:p>
                      <a:r>
                        <a:rPr lang="en-US" sz="1800" b="0" i="0" kern="1200" dirty="0" smtClean="0">
                          <a:solidFill>
                            <a:schemeClr val="dk1"/>
                          </a:solidFill>
                          <a:effectLst/>
                          <a:latin typeface="+mn-lt"/>
                          <a:ea typeface="+mn-ea"/>
                          <a:cs typeface="+mn-cs"/>
                        </a:rPr>
                        <a:t>x ** y</a:t>
                      </a:r>
                      <a:endParaRPr lang="en-US" dirty="0"/>
                    </a:p>
                  </a:txBody>
                  <a:tcPr/>
                </a:tc>
                <a:extLst>
                  <a:ext uri="{0D108BD9-81ED-4DB2-BD59-A6C34878D82A}">
                    <a16:rowId xmlns:a16="http://schemas.microsoft.com/office/drawing/2014/main" xmlns="" val="1410941399"/>
                  </a:ext>
                </a:extLst>
              </a:tr>
              <a:tr h="370840">
                <a:tc>
                  <a:txBody>
                    <a:bodyPr/>
                    <a:lstStyle/>
                    <a:p>
                      <a:pPr algn="ctr"/>
                      <a:r>
                        <a:rPr lang="en-US" sz="1800" b="0" i="0" kern="1200" dirty="0" smtClean="0">
                          <a:solidFill>
                            <a:schemeClr val="dk1"/>
                          </a:solidFill>
                          <a:effectLst/>
                          <a:latin typeface="+mn-lt"/>
                          <a:ea typeface="+mn-ea"/>
                          <a:cs typeface="+mn-cs"/>
                        </a:rPr>
                        <a:t>//</a:t>
                      </a:r>
                      <a:endParaRPr lang="en-US" dirty="0"/>
                    </a:p>
                  </a:txBody>
                  <a:tcPr/>
                </a:tc>
                <a:tc>
                  <a:txBody>
                    <a:bodyPr/>
                    <a:lstStyle/>
                    <a:p>
                      <a:r>
                        <a:rPr lang="en-US" dirty="0" smtClean="0"/>
                        <a:t>Chia </a:t>
                      </a:r>
                      <a:r>
                        <a:rPr lang="en-US" dirty="0" err="1" smtClean="0"/>
                        <a:t>lấy</a:t>
                      </a:r>
                      <a:r>
                        <a:rPr lang="en-US" baseline="0" dirty="0" smtClean="0"/>
                        <a:t> </a:t>
                      </a:r>
                      <a:r>
                        <a:rPr lang="en-US" baseline="0" dirty="0" err="1" smtClean="0"/>
                        <a:t>phần</a:t>
                      </a:r>
                      <a:r>
                        <a:rPr lang="en-US" baseline="0" dirty="0" smtClean="0"/>
                        <a:t> </a:t>
                      </a:r>
                      <a:r>
                        <a:rPr lang="en-US" baseline="0" dirty="0" err="1" smtClean="0"/>
                        <a:t>nguyên</a:t>
                      </a:r>
                      <a:endParaRPr lang="en-US" dirty="0"/>
                    </a:p>
                  </a:txBody>
                  <a:tcPr/>
                </a:tc>
                <a:tc>
                  <a:txBody>
                    <a:bodyPr/>
                    <a:lstStyle/>
                    <a:p>
                      <a:r>
                        <a:rPr lang="en-US" sz="1800" b="0" i="0" kern="1200" dirty="0" smtClean="0">
                          <a:solidFill>
                            <a:schemeClr val="dk1"/>
                          </a:solidFill>
                          <a:effectLst/>
                          <a:latin typeface="+mn-lt"/>
                          <a:ea typeface="+mn-ea"/>
                          <a:cs typeface="+mn-cs"/>
                        </a:rPr>
                        <a:t>x // y</a:t>
                      </a:r>
                      <a:endParaRPr lang="en-US" dirty="0"/>
                    </a:p>
                  </a:txBody>
                  <a:tcPr/>
                </a:tc>
                <a:extLst>
                  <a:ext uri="{0D108BD9-81ED-4DB2-BD59-A6C34878D82A}">
                    <a16:rowId xmlns:a16="http://schemas.microsoft.com/office/drawing/2014/main" xmlns="" val="2597528514"/>
                  </a:ext>
                </a:extLst>
              </a:tr>
            </a:tbl>
          </a:graphicData>
        </a:graphic>
      </p:graphicFrame>
      <p:sp>
        <p:nvSpPr>
          <p:cNvPr id="10" name="Rectangle 9"/>
          <p:cNvSpPr/>
          <p:nvPr/>
        </p:nvSpPr>
        <p:spPr>
          <a:xfrm>
            <a:off x="4814859" y="1581630"/>
            <a:ext cx="2459135" cy="369332"/>
          </a:xfrm>
          <a:prstGeom prst="rect">
            <a:avLst/>
          </a:prstGeom>
        </p:spPr>
        <p:txBody>
          <a:bodyPr wrap="none">
            <a:spAutoFit/>
          </a:bodyPr>
          <a:lstStyle/>
          <a:p>
            <a:r>
              <a:rPr lang="en-US" dirty="0" smtClean="0">
                <a:solidFill>
                  <a:srgbClr val="000000"/>
                </a:solidFill>
                <a:latin typeface="+mj-lt"/>
              </a:rPr>
              <a:t>(Arithmetic Operators)</a:t>
            </a:r>
            <a:endParaRPr lang="en-US" b="0" i="0" dirty="0">
              <a:solidFill>
                <a:srgbClr val="000000"/>
              </a:solidFill>
              <a:effectLst/>
              <a:latin typeface="+mj-lt"/>
            </a:endParaRPr>
          </a:p>
        </p:txBody>
      </p:sp>
      <p:sp>
        <p:nvSpPr>
          <p:cNvPr id="9" name="TextBox 8"/>
          <p:cNvSpPr txBox="1"/>
          <p:nvPr/>
        </p:nvSpPr>
        <p:spPr>
          <a:xfrm>
            <a:off x="667895" y="5294598"/>
            <a:ext cx="7682143" cy="1077218"/>
          </a:xfrm>
          <a:prstGeom prst="rect">
            <a:avLst/>
          </a:prstGeom>
          <a:noFill/>
        </p:spPr>
        <p:txBody>
          <a:bodyPr wrap="square" rtlCol="0">
            <a:spAutoFit/>
          </a:bodyPr>
          <a:lstStyle/>
          <a:p>
            <a:r>
              <a:rPr lang="vi-VN" sz="1600" b="1" dirty="0">
                <a:solidFill>
                  <a:srgbClr val="FF0000"/>
                </a:solidFill>
              </a:rPr>
              <a:t>Trong Python, phép tính được thực hiện theo thứ tự ưu tiên sau đây:</a:t>
            </a:r>
          </a:p>
          <a:p>
            <a:r>
              <a:rPr lang="en-US" sz="1600" dirty="0" smtClean="0"/>
              <a:t>1. </a:t>
            </a:r>
            <a:r>
              <a:rPr lang="vi-VN" sz="1600" dirty="0" smtClean="0"/>
              <a:t>Các </a:t>
            </a:r>
            <a:r>
              <a:rPr lang="vi-VN" sz="1600" dirty="0"/>
              <a:t>phép tính trong dấu ngoặc đầu tiên được thực hiện trước.</a:t>
            </a:r>
          </a:p>
          <a:p>
            <a:r>
              <a:rPr lang="en-US" sz="1600" dirty="0" smtClean="0"/>
              <a:t>2. </a:t>
            </a:r>
            <a:r>
              <a:rPr lang="vi-VN" sz="1600" dirty="0" smtClean="0"/>
              <a:t>Các </a:t>
            </a:r>
            <a:r>
              <a:rPr lang="vi-VN" sz="1600" dirty="0"/>
              <a:t>phép nhân và chia được thực hiện trước các phép cộng và trừ.</a:t>
            </a:r>
          </a:p>
          <a:p>
            <a:r>
              <a:rPr lang="en-US" sz="1600" dirty="0" smtClean="0"/>
              <a:t>3. </a:t>
            </a:r>
            <a:r>
              <a:rPr lang="vi-VN" sz="1600" dirty="0" smtClean="0"/>
              <a:t>Các </a:t>
            </a:r>
            <a:r>
              <a:rPr lang="vi-VN" sz="1600" dirty="0"/>
              <a:t>phép cộng và trừ được thực hiện từ trái sang phải.</a:t>
            </a:r>
          </a:p>
        </p:txBody>
      </p:sp>
    </p:spTree>
    <p:extLst>
      <p:ext uri="{BB962C8B-B14F-4D97-AF65-F5344CB8AC3E}">
        <p14:creationId xmlns:p14="http://schemas.microsoft.com/office/powerpoint/2010/main" val="182302719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16</a:t>
            </a:fld>
            <a:endParaRPr lang="en-US"/>
          </a:p>
        </p:txBody>
      </p:sp>
      <p:sp>
        <p:nvSpPr>
          <p:cNvPr id="3" name="Text Placeholder 2"/>
          <p:cNvSpPr>
            <a:spLocks noGrp="1"/>
          </p:cNvSpPr>
          <p:nvPr>
            <p:ph type="body" sz="quarter" idx="13"/>
          </p:nvPr>
        </p:nvSpPr>
        <p:spPr/>
        <p:txBody>
          <a:bodyPr/>
          <a:lstStyle/>
          <a:p>
            <a:r>
              <a:rPr lang="en-US" dirty="0" smtClean="0"/>
              <a:t>2.5 </a:t>
            </a:r>
            <a:r>
              <a:rPr lang="en-US" dirty="0" err="1" smtClean="0"/>
              <a:t>Dữ</a:t>
            </a:r>
            <a:r>
              <a:rPr lang="en-US" dirty="0" smtClean="0"/>
              <a:t> </a:t>
            </a:r>
            <a:r>
              <a:rPr lang="en-US" dirty="0" err="1" smtClean="0"/>
              <a:t>liệu</a:t>
            </a:r>
            <a:r>
              <a:rPr lang="en-US" dirty="0" smtClean="0"/>
              <a:t> </a:t>
            </a:r>
            <a:r>
              <a:rPr lang="en-US" dirty="0" err="1" smtClean="0"/>
              <a:t>kiểu</a:t>
            </a:r>
            <a:r>
              <a:rPr lang="en-US" dirty="0" smtClean="0"/>
              <a:t> </a:t>
            </a:r>
            <a:r>
              <a:rPr lang="en-US" dirty="0" err="1" smtClean="0"/>
              <a:t>Số</a:t>
            </a:r>
            <a:r>
              <a:rPr lang="en-US" dirty="0" smtClean="0"/>
              <a:t> </a:t>
            </a:r>
            <a:r>
              <a:rPr lang="en-US" dirty="0" err="1" smtClean="0"/>
              <a:t>và</a:t>
            </a:r>
            <a:r>
              <a:rPr lang="en-US" dirty="0" smtClean="0"/>
              <a:t> </a:t>
            </a:r>
            <a:r>
              <a:rPr lang="en-US" dirty="0" err="1" smtClean="0"/>
              <a:t>toán</a:t>
            </a:r>
            <a:r>
              <a:rPr lang="en-US" dirty="0" smtClean="0"/>
              <a:t> </a:t>
            </a:r>
            <a:r>
              <a:rPr lang="en-US" dirty="0" err="1" smtClean="0"/>
              <a:t>tử</a:t>
            </a:r>
            <a:r>
              <a:rPr lang="en-US" dirty="0" smtClean="0"/>
              <a:t> </a:t>
            </a:r>
            <a:r>
              <a:rPr lang="en-US" dirty="0" err="1" smtClean="0"/>
              <a:t>số</a:t>
            </a:r>
            <a:r>
              <a:rPr lang="en-US" dirty="0" smtClean="0"/>
              <a:t> </a:t>
            </a:r>
            <a:r>
              <a:rPr lang="en-US" dirty="0" err="1" smtClean="0"/>
              <a:t>học</a:t>
            </a:r>
            <a:r>
              <a:rPr lang="en-US" dirty="0" smtClean="0"/>
              <a:t> </a:t>
            </a:r>
            <a:r>
              <a:rPr lang="en-US" dirty="0" err="1" smtClean="0"/>
              <a:t>trong</a:t>
            </a:r>
            <a:r>
              <a:rPr lang="en-US" dirty="0" smtClean="0"/>
              <a:t> Python</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656" y="1548772"/>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935668" y="1589346"/>
            <a:ext cx="6804834" cy="369332"/>
          </a:xfrm>
          <a:prstGeom prst="rect">
            <a:avLst/>
          </a:prstGeom>
          <a:noFill/>
        </p:spPr>
        <p:txBody>
          <a:bodyPr wrap="square" rtlCol="0">
            <a:spAutoFit/>
          </a:bodyPr>
          <a:lstStyle/>
          <a:p>
            <a:r>
              <a:rPr lang="en-US" b="1" dirty="0" smtClean="0"/>
              <a:t>2.5.2 </a:t>
            </a:r>
            <a:r>
              <a:rPr lang="en-US" b="1" dirty="0" err="1" smtClean="0"/>
              <a:t>Toán</a:t>
            </a:r>
            <a:r>
              <a:rPr lang="en-US" b="1" dirty="0" smtClean="0"/>
              <a:t> </a:t>
            </a:r>
            <a:r>
              <a:rPr lang="en-US" b="1" dirty="0" err="1" smtClean="0"/>
              <a:t>tử</a:t>
            </a:r>
            <a:r>
              <a:rPr lang="en-US" b="1" dirty="0" smtClean="0"/>
              <a:t> </a:t>
            </a:r>
            <a:r>
              <a:rPr lang="en-US" b="1" dirty="0" err="1" smtClean="0"/>
              <a:t>số</a:t>
            </a:r>
            <a:r>
              <a:rPr lang="en-US" b="1" dirty="0" smtClean="0"/>
              <a:t> </a:t>
            </a:r>
            <a:r>
              <a:rPr lang="en-US" b="1" dirty="0" err="1" smtClean="0"/>
              <a:t>học</a:t>
            </a:r>
            <a:r>
              <a:rPr lang="en-US" b="1" dirty="0" smtClean="0"/>
              <a:t> </a:t>
            </a:r>
            <a:r>
              <a:rPr lang="en-US" b="1" dirty="0" err="1" smtClean="0"/>
              <a:t>trong</a:t>
            </a:r>
            <a:r>
              <a:rPr lang="en-US" b="1" dirty="0" smtClean="0"/>
              <a:t> Python</a:t>
            </a:r>
            <a:endParaRPr lang="en-US" b="1" dirty="0">
              <a:solidFill>
                <a:srgbClr val="FF0000"/>
              </a:solidFill>
            </a:endParaRPr>
          </a:p>
        </p:txBody>
      </p:sp>
      <p:sp>
        <p:nvSpPr>
          <p:cNvPr id="10" name="Rectangle 9"/>
          <p:cNvSpPr/>
          <p:nvPr/>
        </p:nvSpPr>
        <p:spPr>
          <a:xfrm>
            <a:off x="4814859" y="1581630"/>
            <a:ext cx="2459135" cy="369332"/>
          </a:xfrm>
          <a:prstGeom prst="rect">
            <a:avLst/>
          </a:prstGeom>
        </p:spPr>
        <p:txBody>
          <a:bodyPr wrap="none">
            <a:spAutoFit/>
          </a:bodyPr>
          <a:lstStyle/>
          <a:p>
            <a:r>
              <a:rPr lang="en-US" dirty="0" smtClean="0">
                <a:solidFill>
                  <a:srgbClr val="000000"/>
                </a:solidFill>
                <a:latin typeface="+mj-lt"/>
              </a:rPr>
              <a:t>(Arithmetic Operators)</a:t>
            </a:r>
            <a:endParaRPr lang="en-US" b="0" i="0" dirty="0">
              <a:solidFill>
                <a:srgbClr val="000000"/>
              </a:solidFill>
              <a:effectLst/>
              <a:latin typeface="+mj-lt"/>
            </a:endParaRPr>
          </a:p>
        </p:txBody>
      </p:sp>
      <p:sp>
        <p:nvSpPr>
          <p:cNvPr id="9" name="TextBox 8"/>
          <p:cNvSpPr txBox="1"/>
          <p:nvPr/>
        </p:nvSpPr>
        <p:spPr>
          <a:xfrm>
            <a:off x="442656" y="2120196"/>
            <a:ext cx="7182578" cy="646331"/>
          </a:xfrm>
          <a:prstGeom prst="rect">
            <a:avLst/>
          </a:prstGeom>
          <a:noFill/>
        </p:spPr>
        <p:txBody>
          <a:bodyPr wrap="square" rtlCol="0">
            <a:spAutoFit/>
          </a:bodyPr>
          <a:lstStyle/>
          <a:p>
            <a:r>
              <a:rPr lang="vi-VN" b="1" dirty="0">
                <a:solidFill>
                  <a:srgbClr val="FF0000"/>
                </a:solidFill>
              </a:rPr>
              <a:t>Thứ tự ưu tiên </a:t>
            </a:r>
            <a:r>
              <a:rPr lang="vi-VN" dirty="0"/>
              <a:t>được mô tả trong bảng bên dưới, bắt đầu với ưu tiên cao nhất ở trên cùng:</a:t>
            </a:r>
            <a:endParaRPr lang="en-US" dirty="0"/>
          </a:p>
        </p:txBody>
      </p:sp>
      <p:graphicFrame>
        <p:nvGraphicFramePr>
          <p:cNvPr id="11" name="Table 10"/>
          <p:cNvGraphicFramePr>
            <a:graphicFrameLocks noGrp="1"/>
          </p:cNvGraphicFramePr>
          <p:nvPr>
            <p:extLst>
              <p:ext uri="{D42A27DB-BD31-4B8C-83A1-F6EECF244321}">
                <p14:modId xmlns:p14="http://schemas.microsoft.com/office/powerpoint/2010/main" val="2432586771"/>
              </p:ext>
            </p:extLst>
          </p:nvPr>
        </p:nvGraphicFramePr>
        <p:xfrm>
          <a:off x="588335" y="2795137"/>
          <a:ext cx="8168554" cy="2987040"/>
        </p:xfrm>
        <a:graphic>
          <a:graphicData uri="http://schemas.openxmlformats.org/drawingml/2006/table">
            <a:tbl>
              <a:tblPr firstRow="1" bandRow="1">
                <a:tableStyleId>{5C22544A-7EE6-4342-B048-85BDC9FD1C3A}</a:tableStyleId>
              </a:tblPr>
              <a:tblGrid>
                <a:gridCol w="1580707">
                  <a:extLst>
                    <a:ext uri="{9D8B030D-6E8A-4147-A177-3AD203B41FA5}">
                      <a16:colId xmlns:a16="http://schemas.microsoft.com/office/drawing/2014/main" xmlns="" val="2133384358"/>
                    </a:ext>
                  </a:extLst>
                </a:gridCol>
                <a:gridCol w="6587847">
                  <a:extLst>
                    <a:ext uri="{9D8B030D-6E8A-4147-A177-3AD203B41FA5}">
                      <a16:colId xmlns:a16="http://schemas.microsoft.com/office/drawing/2014/main" xmlns="" val="3989342489"/>
                    </a:ext>
                  </a:extLst>
                </a:gridCol>
              </a:tblGrid>
              <a:tr h="370840">
                <a:tc>
                  <a:txBody>
                    <a:bodyPr/>
                    <a:lstStyle/>
                    <a:p>
                      <a:pPr algn="l" fontAlgn="t"/>
                      <a:r>
                        <a:rPr lang="en-US" dirty="0">
                          <a:effectLst/>
                        </a:rPr>
                        <a:t>Operator</a:t>
                      </a:r>
                    </a:p>
                  </a:txBody>
                  <a:tcPr marL="152400" marR="76200" marT="76200" marB="76200"/>
                </a:tc>
                <a:tc>
                  <a:txBody>
                    <a:bodyPr/>
                    <a:lstStyle/>
                    <a:p>
                      <a:pPr algn="l" fontAlgn="t"/>
                      <a:r>
                        <a:rPr lang="en-US" dirty="0">
                          <a:effectLst/>
                        </a:rPr>
                        <a:t>Description</a:t>
                      </a:r>
                    </a:p>
                  </a:txBody>
                  <a:tcPr marL="76200" marR="76200" marT="76200" marB="76200"/>
                </a:tc>
                <a:extLst>
                  <a:ext uri="{0D108BD9-81ED-4DB2-BD59-A6C34878D82A}">
                    <a16:rowId xmlns:a16="http://schemas.microsoft.com/office/drawing/2014/main" xmlns="" val="308554960"/>
                  </a:ext>
                </a:extLst>
              </a:tr>
              <a:tr h="370840">
                <a:tc>
                  <a:txBody>
                    <a:bodyPr/>
                    <a:lstStyle/>
                    <a:p>
                      <a:pPr algn="l" fontAlgn="t"/>
                      <a:r>
                        <a:rPr lang="en-US">
                          <a:effectLst/>
                        </a:rPr>
                        <a:t>()</a:t>
                      </a:r>
                    </a:p>
                  </a:txBody>
                  <a:tcPr marL="152400" marR="76200" marT="76200" marB="76200"/>
                </a:tc>
                <a:tc>
                  <a:txBody>
                    <a:bodyPr/>
                    <a:lstStyle/>
                    <a:p>
                      <a:pPr algn="l" fontAlgn="t"/>
                      <a:r>
                        <a:rPr lang="en-US" dirty="0" err="1" smtClean="0">
                          <a:effectLst/>
                        </a:rPr>
                        <a:t>Trong</a:t>
                      </a:r>
                      <a:r>
                        <a:rPr lang="en-US" baseline="0" dirty="0" smtClean="0">
                          <a:effectLst/>
                        </a:rPr>
                        <a:t> </a:t>
                      </a:r>
                      <a:r>
                        <a:rPr lang="en-US" baseline="0" dirty="0" err="1" smtClean="0">
                          <a:effectLst/>
                        </a:rPr>
                        <a:t>ngoặc</a:t>
                      </a:r>
                      <a:endParaRPr lang="en-US" dirty="0">
                        <a:effectLst/>
                      </a:endParaRPr>
                    </a:p>
                  </a:txBody>
                  <a:tcPr marL="76200" marR="76200" marT="76200" marB="76200"/>
                </a:tc>
                <a:extLst>
                  <a:ext uri="{0D108BD9-81ED-4DB2-BD59-A6C34878D82A}">
                    <a16:rowId xmlns:a16="http://schemas.microsoft.com/office/drawing/2014/main" xmlns="" val="2874467326"/>
                  </a:ext>
                </a:extLst>
              </a:tr>
              <a:tr h="370840">
                <a:tc>
                  <a:txBody>
                    <a:bodyPr/>
                    <a:lstStyle/>
                    <a:p>
                      <a:pPr algn="l" fontAlgn="t"/>
                      <a:r>
                        <a:rPr lang="en-US">
                          <a:effectLst/>
                        </a:rPr>
                        <a:t>**</a:t>
                      </a:r>
                    </a:p>
                  </a:txBody>
                  <a:tcPr marL="152400" marR="76200" marT="76200" marB="76200"/>
                </a:tc>
                <a:tc>
                  <a:txBody>
                    <a:bodyPr/>
                    <a:lstStyle/>
                    <a:p>
                      <a:pPr algn="l" fontAlgn="t"/>
                      <a:r>
                        <a:rPr lang="en-US" dirty="0" err="1" smtClean="0">
                          <a:effectLst/>
                        </a:rPr>
                        <a:t>Lũy</a:t>
                      </a:r>
                      <a:r>
                        <a:rPr lang="en-US" baseline="0" dirty="0" smtClean="0">
                          <a:effectLst/>
                        </a:rPr>
                        <a:t> </a:t>
                      </a:r>
                      <a:r>
                        <a:rPr lang="en-US" baseline="0" dirty="0" err="1" smtClean="0">
                          <a:effectLst/>
                        </a:rPr>
                        <a:t>thừa</a:t>
                      </a:r>
                      <a:endParaRPr lang="en-US" dirty="0">
                        <a:effectLst/>
                      </a:endParaRPr>
                    </a:p>
                  </a:txBody>
                  <a:tcPr marL="76200" marR="76200" marT="76200" marB="76200"/>
                </a:tc>
                <a:extLst>
                  <a:ext uri="{0D108BD9-81ED-4DB2-BD59-A6C34878D82A}">
                    <a16:rowId xmlns:a16="http://schemas.microsoft.com/office/drawing/2014/main" xmlns="" val="2928657795"/>
                  </a:ext>
                </a:extLst>
              </a:tr>
              <a:tr h="370840">
                <a:tc>
                  <a:txBody>
                    <a:bodyPr/>
                    <a:lstStyle/>
                    <a:p>
                      <a:pPr algn="l" fontAlgn="t"/>
                      <a:r>
                        <a:rPr lang="en-US">
                          <a:effectLst/>
                        </a:rPr>
                        <a:t>+x  -x  ~x</a:t>
                      </a:r>
                    </a:p>
                  </a:txBody>
                  <a:tcPr marL="152400" marR="76200" marT="76200" marB="76200"/>
                </a:tc>
                <a:tc>
                  <a:txBody>
                    <a:bodyPr/>
                    <a:lstStyle/>
                    <a:p>
                      <a:pPr algn="l" fontAlgn="t"/>
                      <a:r>
                        <a:rPr lang="en-US" dirty="0" err="1" smtClean="0">
                          <a:effectLst/>
                        </a:rPr>
                        <a:t>Cộng</a:t>
                      </a:r>
                      <a:r>
                        <a:rPr lang="en-US" dirty="0" smtClean="0">
                          <a:effectLst/>
                        </a:rPr>
                        <a:t> </a:t>
                      </a:r>
                      <a:r>
                        <a:rPr lang="en-US" dirty="0" err="1" smtClean="0">
                          <a:effectLst/>
                        </a:rPr>
                        <a:t>một</a:t>
                      </a:r>
                      <a:r>
                        <a:rPr lang="en-US" dirty="0" smtClean="0">
                          <a:effectLst/>
                        </a:rPr>
                        <a:t> </a:t>
                      </a:r>
                      <a:r>
                        <a:rPr lang="en-US" dirty="0" err="1" smtClean="0">
                          <a:effectLst/>
                        </a:rPr>
                        <a:t>ngôi</a:t>
                      </a:r>
                      <a:r>
                        <a:rPr lang="en-US" dirty="0" smtClean="0">
                          <a:effectLst/>
                        </a:rPr>
                        <a:t>, </a:t>
                      </a:r>
                      <a:r>
                        <a:rPr lang="en-US" dirty="0" err="1" smtClean="0">
                          <a:effectLst/>
                        </a:rPr>
                        <a:t>trừ</a:t>
                      </a:r>
                      <a:r>
                        <a:rPr lang="en-US" dirty="0" smtClean="0">
                          <a:effectLst/>
                        </a:rPr>
                        <a:t> </a:t>
                      </a:r>
                      <a:r>
                        <a:rPr lang="en-US" dirty="0" err="1" smtClean="0">
                          <a:effectLst/>
                        </a:rPr>
                        <a:t>một</a:t>
                      </a:r>
                      <a:r>
                        <a:rPr lang="en-US" dirty="0" smtClean="0">
                          <a:effectLst/>
                        </a:rPr>
                        <a:t> </a:t>
                      </a:r>
                      <a:r>
                        <a:rPr lang="en-US" dirty="0" err="1" smtClean="0">
                          <a:effectLst/>
                        </a:rPr>
                        <a:t>ngôi</a:t>
                      </a:r>
                      <a:r>
                        <a:rPr lang="en-US" dirty="0" smtClean="0">
                          <a:effectLst/>
                        </a:rPr>
                        <a:t> </a:t>
                      </a:r>
                      <a:r>
                        <a:rPr lang="en-US" dirty="0" err="1" smtClean="0">
                          <a:effectLst/>
                        </a:rPr>
                        <a:t>và</a:t>
                      </a:r>
                      <a:r>
                        <a:rPr lang="en-US" dirty="0" smtClean="0">
                          <a:effectLst/>
                        </a:rPr>
                        <a:t> </a:t>
                      </a:r>
                      <a:r>
                        <a:rPr lang="en-US" dirty="0" err="1" smtClean="0">
                          <a:effectLst/>
                        </a:rPr>
                        <a:t>theo</a:t>
                      </a:r>
                      <a:r>
                        <a:rPr lang="en-US" dirty="0" smtClean="0">
                          <a:effectLst/>
                        </a:rPr>
                        <a:t> </a:t>
                      </a:r>
                      <a:r>
                        <a:rPr lang="en-US" dirty="0" err="1" smtClean="0">
                          <a:effectLst/>
                        </a:rPr>
                        <a:t>chiều</a:t>
                      </a:r>
                      <a:r>
                        <a:rPr lang="en-US" dirty="0" smtClean="0">
                          <a:effectLst/>
                        </a:rPr>
                        <a:t> bit KHÔNG</a:t>
                      </a:r>
                      <a:endParaRPr lang="en-US" dirty="0">
                        <a:effectLst/>
                      </a:endParaRPr>
                    </a:p>
                  </a:txBody>
                  <a:tcPr marL="76200" marR="76200" marT="76200" marB="76200"/>
                </a:tc>
                <a:extLst>
                  <a:ext uri="{0D108BD9-81ED-4DB2-BD59-A6C34878D82A}">
                    <a16:rowId xmlns:a16="http://schemas.microsoft.com/office/drawing/2014/main" xmlns="" val="2738135001"/>
                  </a:ext>
                </a:extLst>
              </a:tr>
              <a:tr h="370840">
                <a:tc>
                  <a:txBody>
                    <a:bodyPr/>
                    <a:lstStyle/>
                    <a:p>
                      <a:pPr algn="l" fontAlgn="t"/>
                      <a:r>
                        <a:rPr lang="en-US">
                          <a:effectLst/>
                        </a:rPr>
                        <a:t>*  /  //  %</a:t>
                      </a:r>
                    </a:p>
                  </a:txBody>
                  <a:tcPr marL="152400" marR="76200" marT="76200" marB="76200"/>
                </a:tc>
                <a:tc>
                  <a:txBody>
                    <a:bodyPr/>
                    <a:lstStyle/>
                    <a:p>
                      <a:pPr algn="l" fontAlgn="t"/>
                      <a:r>
                        <a:rPr lang="en-US" dirty="0" err="1" smtClean="0">
                          <a:effectLst/>
                        </a:rPr>
                        <a:t>Phép</a:t>
                      </a:r>
                      <a:r>
                        <a:rPr lang="en-US" dirty="0" smtClean="0">
                          <a:effectLst/>
                        </a:rPr>
                        <a:t> </a:t>
                      </a:r>
                      <a:r>
                        <a:rPr lang="en-US" dirty="0" err="1" smtClean="0">
                          <a:effectLst/>
                        </a:rPr>
                        <a:t>nhân</a:t>
                      </a:r>
                      <a:r>
                        <a:rPr lang="en-US" dirty="0" smtClean="0">
                          <a:effectLst/>
                        </a:rPr>
                        <a:t>, </a:t>
                      </a:r>
                      <a:r>
                        <a:rPr lang="en-US" dirty="0" err="1" smtClean="0">
                          <a:effectLst/>
                        </a:rPr>
                        <a:t>phép</a:t>
                      </a:r>
                      <a:r>
                        <a:rPr lang="en-US" dirty="0" smtClean="0">
                          <a:effectLst/>
                        </a:rPr>
                        <a:t> chia, </a:t>
                      </a:r>
                      <a:r>
                        <a:rPr lang="en-US" dirty="0" err="1" smtClean="0">
                          <a:effectLst/>
                        </a:rPr>
                        <a:t>phép</a:t>
                      </a:r>
                      <a:r>
                        <a:rPr lang="en-US" dirty="0" smtClean="0">
                          <a:effectLst/>
                        </a:rPr>
                        <a:t> chia </a:t>
                      </a:r>
                      <a:r>
                        <a:rPr lang="en-US" dirty="0" err="1" smtClean="0">
                          <a:effectLst/>
                        </a:rPr>
                        <a:t>sàn</a:t>
                      </a:r>
                      <a:r>
                        <a:rPr lang="en-US" baseline="0" dirty="0" smtClean="0">
                          <a:effectLst/>
                        </a:rPr>
                        <a:t> </a:t>
                      </a:r>
                      <a:r>
                        <a:rPr lang="en-US" dirty="0" err="1" smtClean="0">
                          <a:effectLst/>
                        </a:rPr>
                        <a:t>và</a:t>
                      </a:r>
                      <a:r>
                        <a:rPr lang="en-US" dirty="0" smtClean="0">
                          <a:effectLst/>
                        </a:rPr>
                        <a:t> </a:t>
                      </a:r>
                      <a:r>
                        <a:rPr lang="en-US" dirty="0" err="1" smtClean="0">
                          <a:effectLst/>
                        </a:rPr>
                        <a:t>lấy</a:t>
                      </a:r>
                      <a:r>
                        <a:rPr lang="en-US" baseline="0" dirty="0" smtClean="0">
                          <a:effectLst/>
                        </a:rPr>
                        <a:t> </a:t>
                      </a:r>
                      <a:r>
                        <a:rPr lang="en-US" baseline="0" dirty="0" err="1" smtClean="0">
                          <a:effectLst/>
                        </a:rPr>
                        <a:t>dư</a:t>
                      </a:r>
                      <a:r>
                        <a:rPr lang="en-US" baseline="0" dirty="0" smtClean="0">
                          <a:effectLst/>
                        </a:rPr>
                        <a:t> (mod)</a:t>
                      </a:r>
                      <a:endParaRPr lang="en-US" dirty="0">
                        <a:effectLst/>
                      </a:endParaRPr>
                    </a:p>
                  </a:txBody>
                  <a:tcPr marL="76200" marR="76200" marT="76200" marB="76200"/>
                </a:tc>
                <a:extLst>
                  <a:ext uri="{0D108BD9-81ED-4DB2-BD59-A6C34878D82A}">
                    <a16:rowId xmlns:a16="http://schemas.microsoft.com/office/drawing/2014/main" xmlns="" val="1791567110"/>
                  </a:ext>
                </a:extLst>
              </a:tr>
              <a:tr h="370840">
                <a:tc>
                  <a:txBody>
                    <a:bodyPr/>
                    <a:lstStyle/>
                    <a:p>
                      <a:pPr algn="l" fontAlgn="t"/>
                      <a:r>
                        <a:rPr lang="en-US">
                          <a:effectLst/>
                        </a:rPr>
                        <a:t>+  -</a:t>
                      </a:r>
                    </a:p>
                  </a:txBody>
                  <a:tcPr marL="152400" marR="76200" marT="76200" marB="76200"/>
                </a:tc>
                <a:tc>
                  <a:txBody>
                    <a:bodyPr/>
                    <a:lstStyle/>
                    <a:p>
                      <a:pPr algn="l" fontAlgn="t"/>
                      <a:r>
                        <a:rPr lang="en-US" dirty="0" err="1" smtClean="0">
                          <a:effectLst/>
                        </a:rPr>
                        <a:t>Phép</a:t>
                      </a:r>
                      <a:r>
                        <a:rPr lang="en-US" baseline="0" dirty="0" smtClean="0">
                          <a:effectLst/>
                        </a:rPr>
                        <a:t> </a:t>
                      </a:r>
                      <a:r>
                        <a:rPr lang="en-US" baseline="0" dirty="0" err="1" smtClean="0">
                          <a:effectLst/>
                        </a:rPr>
                        <a:t>cộng</a:t>
                      </a:r>
                      <a:r>
                        <a:rPr lang="en-US" baseline="0" dirty="0" smtClean="0">
                          <a:effectLst/>
                        </a:rPr>
                        <a:t>, </a:t>
                      </a:r>
                      <a:r>
                        <a:rPr lang="en-US" baseline="0" dirty="0" err="1" smtClean="0">
                          <a:effectLst/>
                        </a:rPr>
                        <a:t>trừ</a:t>
                      </a:r>
                      <a:endParaRPr lang="en-US" dirty="0">
                        <a:effectLst/>
                      </a:endParaRPr>
                    </a:p>
                  </a:txBody>
                  <a:tcPr marL="76200" marR="76200" marT="76200" marB="76200"/>
                </a:tc>
                <a:extLst>
                  <a:ext uri="{0D108BD9-81ED-4DB2-BD59-A6C34878D82A}">
                    <a16:rowId xmlns:a16="http://schemas.microsoft.com/office/drawing/2014/main" xmlns="" val="3483293906"/>
                  </a:ext>
                </a:extLst>
              </a:tr>
              <a:tr h="370840">
                <a:tc>
                  <a:txBody>
                    <a:bodyPr/>
                    <a:lstStyle/>
                    <a:p>
                      <a:pPr algn="l" fontAlgn="t"/>
                      <a:r>
                        <a:rPr lang="en-US">
                          <a:effectLst/>
                        </a:rPr>
                        <a:t>&lt;&lt;  &gt;&gt;</a:t>
                      </a:r>
                    </a:p>
                  </a:txBody>
                  <a:tcPr marL="152400" marR="76200" marT="76200" marB="76200"/>
                </a:tc>
                <a:tc>
                  <a:txBody>
                    <a:bodyPr/>
                    <a:lstStyle/>
                    <a:p>
                      <a:pPr algn="l" fontAlgn="t"/>
                      <a:r>
                        <a:rPr lang="en-US" dirty="0" err="1" smtClean="0">
                          <a:effectLst/>
                        </a:rPr>
                        <a:t>Dịch</a:t>
                      </a:r>
                      <a:r>
                        <a:rPr lang="en-US" dirty="0" smtClean="0">
                          <a:effectLst/>
                        </a:rPr>
                        <a:t> </a:t>
                      </a:r>
                      <a:r>
                        <a:rPr lang="en-US" dirty="0" err="1" smtClean="0">
                          <a:effectLst/>
                        </a:rPr>
                        <a:t>chuyển</a:t>
                      </a:r>
                      <a:r>
                        <a:rPr lang="en-US" dirty="0" smtClean="0">
                          <a:effectLst/>
                        </a:rPr>
                        <a:t> </a:t>
                      </a:r>
                      <a:r>
                        <a:rPr lang="en-US" dirty="0" err="1" smtClean="0">
                          <a:effectLst/>
                        </a:rPr>
                        <a:t>trái</a:t>
                      </a:r>
                      <a:r>
                        <a:rPr lang="en-US" dirty="0" smtClean="0">
                          <a:effectLst/>
                        </a:rPr>
                        <a:t> </a:t>
                      </a:r>
                      <a:r>
                        <a:rPr lang="en-US" dirty="0" err="1" smtClean="0">
                          <a:effectLst/>
                        </a:rPr>
                        <a:t>và</a:t>
                      </a:r>
                      <a:r>
                        <a:rPr lang="en-US" dirty="0" smtClean="0">
                          <a:effectLst/>
                        </a:rPr>
                        <a:t> </a:t>
                      </a:r>
                      <a:r>
                        <a:rPr lang="en-US" dirty="0" err="1" smtClean="0">
                          <a:effectLst/>
                        </a:rPr>
                        <a:t>phải</a:t>
                      </a:r>
                      <a:r>
                        <a:rPr lang="en-US" dirty="0" smtClean="0">
                          <a:effectLst/>
                        </a:rPr>
                        <a:t> </a:t>
                      </a:r>
                      <a:r>
                        <a:rPr lang="en-US" dirty="0" err="1" smtClean="0">
                          <a:effectLst/>
                        </a:rPr>
                        <a:t>theo</a:t>
                      </a:r>
                      <a:r>
                        <a:rPr lang="en-US" dirty="0" smtClean="0">
                          <a:effectLst/>
                        </a:rPr>
                        <a:t> </a:t>
                      </a:r>
                      <a:r>
                        <a:rPr lang="en-US" dirty="0" err="1" smtClean="0">
                          <a:effectLst/>
                        </a:rPr>
                        <a:t>từng</a:t>
                      </a:r>
                      <a:r>
                        <a:rPr lang="en-US" dirty="0" smtClean="0">
                          <a:effectLst/>
                        </a:rPr>
                        <a:t> bit</a:t>
                      </a:r>
                      <a:endParaRPr lang="en-US" dirty="0">
                        <a:effectLst/>
                      </a:endParaRPr>
                    </a:p>
                  </a:txBody>
                  <a:tcPr marL="76200" marR="76200" marT="76200" marB="76200"/>
                </a:tc>
                <a:extLst>
                  <a:ext uri="{0D108BD9-81ED-4DB2-BD59-A6C34878D82A}">
                    <a16:rowId xmlns:a16="http://schemas.microsoft.com/office/drawing/2014/main" xmlns="" val="761877146"/>
                  </a:ext>
                </a:extLst>
              </a:tr>
            </a:tbl>
          </a:graphicData>
        </a:graphic>
      </p:graphicFrame>
      <p:sp>
        <p:nvSpPr>
          <p:cNvPr id="12" name="TextBox 11"/>
          <p:cNvSpPr txBox="1"/>
          <p:nvPr/>
        </p:nvSpPr>
        <p:spPr>
          <a:xfrm>
            <a:off x="588335" y="5903120"/>
            <a:ext cx="2438767" cy="369332"/>
          </a:xfrm>
          <a:prstGeom prst="rect">
            <a:avLst/>
          </a:prstGeom>
          <a:noFill/>
        </p:spPr>
        <p:txBody>
          <a:bodyPr wrap="square" rtlCol="0">
            <a:spAutoFit/>
          </a:bodyPr>
          <a:lstStyle/>
          <a:p>
            <a:r>
              <a:rPr lang="en-US" dirty="0" err="1" smtClean="0">
                <a:solidFill>
                  <a:schemeClr val="tx1">
                    <a:lumMod val="85000"/>
                    <a:lumOff val="15000"/>
                  </a:schemeClr>
                </a:solidFill>
              </a:rPr>
              <a:t>Xem</a:t>
            </a:r>
            <a:r>
              <a:rPr lang="en-US" dirty="0" smtClean="0">
                <a:solidFill>
                  <a:schemeClr val="tx1">
                    <a:lumMod val="85000"/>
                    <a:lumOff val="15000"/>
                  </a:schemeClr>
                </a:solidFill>
              </a:rPr>
              <a:t> </a:t>
            </a:r>
            <a:r>
              <a:rPr lang="en-US" dirty="0" err="1" smtClean="0">
                <a:solidFill>
                  <a:schemeClr val="tx1">
                    <a:lumMod val="85000"/>
                    <a:lumOff val="15000"/>
                  </a:schemeClr>
                </a:solidFill>
              </a:rPr>
              <a:t>tiếp</a:t>
            </a:r>
            <a:r>
              <a:rPr lang="en-US" dirty="0" smtClean="0">
                <a:solidFill>
                  <a:schemeClr val="tx1">
                    <a:lumMod val="85000"/>
                    <a:lumOff val="15000"/>
                  </a:schemeClr>
                </a:solidFill>
              </a:rPr>
              <a:t> </a:t>
            </a:r>
            <a:r>
              <a:rPr lang="en-US" dirty="0" err="1" smtClean="0">
                <a:solidFill>
                  <a:schemeClr val="tx1">
                    <a:lumMod val="85000"/>
                    <a:lumOff val="15000"/>
                  </a:schemeClr>
                </a:solidFill>
              </a:rPr>
              <a:t>trang</a:t>
            </a:r>
            <a:r>
              <a:rPr lang="en-US" dirty="0" smtClean="0">
                <a:solidFill>
                  <a:schemeClr val="tx1">
                    <a:lumMod val="85000"/>
                    <a:lumOff val="15000"/>
                  </a:schemeClr>
                </a:solidFill>
              </a:rPr>
              <a:t> </a:t>
            </a:r>
            <a:r>
              <a:rPr lang="en-US" dirty="0" err="1" smtClean="0">
                <a:solidFill>
                  <a:schemeClr val="tx1">
                    <a:lumMod val="85000"/>
                    <a:lumOff val="15000"/>
                  </a:schemeClr>
                </a:solidFill>
              </a:rPr>
              <a:t>sau</a:t>
            </a:r>
            <a:endParaRPr lang="en-US" dirty="0">
              <a:solidFill>
                <a:schemeClr val="tx1">
                  <a:lumMod val="85000"/>
                  <a:lumOff val="15000"/>
                </a:schemeClr>
              </a:solidFill>
            </a:endParaRPr>
          </a:p>
        </p:txBody>
      </p:sp>
    </p:spTree>
    <p:extLst>
      <p:ext uri="{BB962C8B-B14F-4D97-AF65-F5344CB8AC3E}">
        <p14:creationId xmlns:p14="http://schemas.microsoft.com/office/powerpoint/2010/main" val="97448198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17</a:t>
            </a:fld>
            <a:endParaRPr lang="en-US"/>
          </a:p>
        </p:txBody>
      </p:sp>
      <p:sp>
        <p:nvSpPr>
          <p:cNvPr id="3" name="Text Placeholder 2"/>
          <p:cNvSpPr>
            <a:spLocks noGrp="1"/>
          </p:cNvSpPr>
          <p:nvPr>
            <p:ph type="body" sz="quarter" idx="13"/>
          </p:nvPr>
        </p:nvSpPr>
        <p:spPr/>
        <p:txBody>
          <a:bodyPr/>
          <a:lstStyle/>
          <a:p>
            <a:r>
              <a:rPr lang="en-US" dirty="0" smtClean="0"/>
              <a:t>2.5 </a:t>
            </a:r>
            <a:r>
              <a:rPr lang="en-US" dirty="0" err="1" smtClean="0"/>
              <a:t>Dữ</a:t>
            </a:r>
            <a:r>
              <a:rPr lang="en-US" dirty="0" smtClean="0"/>
              <a:t> </a:t>
            </a:r>
            <a:r>
              <a:rPr lang="en-US" dirty="0" err="1" smtClean="0"/>
              <a:t>liệu</a:t>
            </a:r>
            <a:r>
              <a:rPr lang="en-US" dirty="0" smtClean="0"/>
              <a:t> </a:t>
            </a:r>
            <a:r>
              <a:rPr lang="en-US" dirty="0" err="1" smtClean="0"/>
              <a:t>kiểu</a:t>
            </a:r>
            <a:r>
              <a:rPr lang="en-US" dirty="0" smtClean="0"/>
              <a:t> </a:t>
            </a:r>
            <a:r>
              <a:rPr lang="en-US" dirty="0" err="1" smtClean="0"/>
              <a:t>Số</a:t>
            </a:r>
            <a:r>
              <a:rPr lang="en-US" dirty="0" smtClean="0"/>
              <a:t> </a:t>
            </a:r>
            <a:r>
              <a:rPr lang="en-US" dirty="0" err="1" smtClean="0"/>
              <a:t>và</a:t>
            </a:r>
            <a:r>
              <a:rPr lang="en-US" dirty="0" smtClean="0"/>
              <a:t> </a:t>
            </a:r>
            <a:r>
              <a:rPr lang="en-US" dirty="0" err="1" smtClean="0"/>
              <a:t>toán</a:t>
            </a:r>
            <a:r>
              <a:rPr lang="en-US" dirty="0" smtClean="0"/>
              <a:t> </a:t>
            </a:r>
            <a:r>
              <a:rPr lang="en-US" dirty="0" err="1" smtClean="0"/>
              <a:t>tử</a:t>
            </a:r>
            <a:r>
              <a:rPr lang="en-US" dirty="0" smtClean="0"/>
              <a:t> </a:t>
            </a:r>
            <a:r>
              <a:rPr lang="en-US" dirty="0" err="1" smtClean="0"/>
              <a:t>số</a:t>
            </a:r>
            <a:r>
              <a:rPr lang="en-US" dirty="0" smtClean="0"/>
              <a:t> </a:t>
            </a:r>
            <a:r>
              <a:rPr lang="en-US" dirty="0" err="1" smtClean="0"/>
              <a:t>học</a:t>
            </a:r>
            <a:r>
              <a:rPr lang="en-US" dirty="0" smtClean="0"/>
              <a:t> </a:t>
            </a:r>
            <a:r>
              <a:rPr lang="en-US" dirty="0" err="1" smtClean="0"/>
              <a:t>trong</a:t>
            </a:r>
            <a:r>
              <a:rPr lang="en-US" dirty="0" smtClean="0"/>
              <a:t> Python</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656" y="1548772"/>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935668" y="1589346"/>
            <a:ext cx="6804834" cy="369332"/>
          </a:xfrm>
          <a:prstGeom prst="rect">
            <a:avLst/>
          </a:prstGeom>
          <a:noFill/>
        </p:spPr>
        <p:txBody>
          <a:bodyPr wrap="square" rtlCol="0">
            <a:spAutoFit/>
          </a:bodyPr>
          <a:lstStyle/>
          <a:p>
            <a:r>
              <a:rPr lang="en-US" b="1" dirty="0" smtClean="0"/>
              <a:t>2.5.2 </a:t>
            </a:r>
            <a:r>
              <a:rPr lang="en-US" b="1" dirty="0" err="1" smtClean="0"/>
              <a:t>Toán</a:t>
            </a:r>
            <a:r>
              <a:rPr lang="en-US" b="1" dirty="0" smtClean="0"/>
              <a:t> </a:t>
            </a:r>
            <a:r>
              <a:rPr lang="en-US" b="1" dirty="0" err="1" smtClean="0"/>
              <a:t>tử</a:t>
            </a:r>
            <a:r>
              <a:rPr lang="en-US" b="1" dirty="0" smtClean="0"/>
              <a:t> </a:t>
            </a:r>
            <a:r>
              <a:rPr lang="en-US" b="1" dirty="0" err="1" smtClean="0"/>
              <a:t>số</a:t>
            </a:r>
            <a:r>
              <a:rPr lang="en-US" b="1" dirty="0" smtClean="0"/>
              <a:t> </a:t>
            </a:r>
            <a:r>
              <a:rPr lang="en-US" b="1" dirty="0" err="1" smtClean="0"/>
              <a:t>học</a:t>
            </a:r>
            <a:r>
              <a:rPr lang="en-US" b="1" dirty="0" smtClean="0"/>
              <a:t> </a:t>
            </a:r>
            <a:r>
              <a:rPr lang="en-US" b="1" dirty="0" err="1" smtClean="0"/>
              <a:t>trong</a:t>
            </a:r>
            <a:r>
              <a:rPr lang="en-US" b="1" dirty="0" smtClean="0"/>
              <a:t> Python</a:t>
            </a:r>
            <a:endParaRPr lang="en-US" b="1" dirty="0">
              <a:solidFill>
                <a:srgbClr val="FF0000"/>
              </a:solidFill>
            </a:endParaRPr>
          </a:p>
        </p:txBody>
      </p:sp>
      <p:sp>
        <p:nvSpPr>
          <p:cNvPr id="10" name="Rectangle 9"/>
          <p:cNvSpPr/>
          <p:nvPr/>
        </p:nvSpPr>
        <p:spPr>
          <a:xfrm>
            <a:off x="4814859" y="1581630"/>
            <a:ext cx="2459135" cy="369332"/>
          </a:xfrm>
          <a:prstGeom prst="rect">
            <a:avLst/>
          </a:prstGeom>
        </p:spPr>
        <p:txBody>
          <a:bodyPr wrap="none">
            <a:spAutoFit/>
          </a:bodyPr>
          <a:lstStyle/>
          <a:p>
            <a:r>
              <a:rPr lang="en-US" dirty="0" smtClean="0">
                <a:solidFill>
                  <a:srgbClr val="000000"/>
                </a:solidFill>
                <a:latin typeface="+mj-lt"/>
              </a:rPr>
              <a:t>(Arithmetic Operators)</a:t>
            </a:r>
            <a:endParaRPr lang="en-US" b="0" i="0" dirty="0">
              <a:solidFill>
                <a:srgbClr val="000000"/>
              </a:solidFill>
              <a:effectLst/>
              <a:latin typeface="+mj-lt"/>
            </a:endParaRPr>
          </a:p>
        </p:txBody>
      </p:sp>
      <p:sp>
        <p:nvSpPr>
          <p:cNvPr id="9" name="TextBox 8"/>
          <p:cNvSpPr txBox="1"/>
          <p:nvPr/>
        </p:nvSpPr>
        <p:spPr>
          <a:xfrm>
            <a:off x="442656" y="2120196"/>
            <a:ext cx="7182578" cy="369332"/>
          </a:xfrm>
          <a:prstGeom prst="rect">
            <a:avLst/>
          </a:prstGeom>
          <a:noFill/>
        </p:spPr>
        <p:txBody>
          <a:bodyPr wrap="square" rtlCol="0">
            <a:spAutoFit/>
          </a:bodyPr>
          <a:lstStyle/>
          <a:p>
            <a:r>
              <a:rPr lang="en-US" b="1" dirty="0" err="1" smtClean="0">
                <a:solidFill>
                  <a:srgbClr val="FF0000"/>
                </a:solidFill>
              </a:rPr>
              <a:t>Thứ</a:t>
            </a:r>
            <a:r>
              <a:rPr lang="en-US" b="1" dirty="0" smtClean="0">
                <a:solidFill>
                  <a:srgbClr val="FF0000"/>
                </a:solidFill>
              </a:rPr>
              <a:t> </a:t>
            </a:r>
            <a:r>
              <a:rPr lang="en-US" b="1" dirty="0" err="1" smtClean="0">
                <a:solidFill>
                  <a:srgbClr val="FF0000"/>
                </a:solidFill>
              </a:rPr>
              <a:t>tự</a:t>
            </a:r>
            <a:r>
              <a:rPr lang="en-US" b="1" dirty="0" smtClean="0">
                <a:solidFill>
                  <a:srgbClr val="FF0000"/>
                </a:solidFill>
              </a:rPr>
              <a:t> </a:t>
            </a:r>
            <a:r>
              <a:rPr lang="en-US" b="1" dirty="0" err="1" smtClean="0">
                <a:solidFill>
                  <a:srgbClr val="FF0000"/>
                </a:solidFill>
              </a:rPr>
              <a:t>ưu</a:t>
            </a:r>
            <a:r>
              <a:rPr lang="en-US" b="1" dirty="0" smtClean="0">
                <a:solidFill>
                  <a:srgbClr val="FF0000"/>
                </a:solidFill>
              </a:rPr>
              <a:t> </a:t>
            </a:r>
            <a:r>
              <a:rPr lang="en-US" b="1" dirty="0" err="1" smtClean="0">
                <a:solidFill>
                  <a:srgbClr val="FF0000"/>
                </a:solidFill>
              </a:rPr>
              <a:t>tiên</a:t>
            </a:r>
            <a:r>
              <a:rPr lang="en-US" b="1" dirty="0" smtClean="0">
                <a:solidFill>
                  <a:srgbClr val="FF0000"/>
                </a:solidFill>
              </a:rPr>
              <a:t> </a:t>
            </a:r>
            <a:r>
              <a:rPr lang="en-US" dirty="0" err="1" smtClean="0"/>
              <a:t>các</a:t>
            </a:r>
            <a:r>
              <a:rPr lang="en-US" dirty="0" smtClean="0"/>
              <a:t> </a:t>
            </a:r>
            <a:r>
              <a:rPr lang="en-US" dirty="0" err="1" smtClean="0"/>
              <a:t>phép</a:t>
            </a:r>
            <a:r>
              <a:rPr lang="en-US" dirty="0" smtClean="0"/>
              <a:t> </a:t>
            </a:r>
            <a:r>
              <a:rPr lang="en-US" dirty="0" err="1" smtClean="0"/>
              <a:t>tính</a:t>
            </a:r>
            <a:r>
              <a:rPr lang="en-US" dirty="0" smtClean="0"/>
              <a:t> </a:t>
            </a:r>
            <a:r>
              <a:rPr lang="en-US" dirty="0" err="1" smtClean="0"/>
              <a:t>trong</a:t>
            </a:r>
            <a:r>
              <a:rPr lang="en-US" dirty="0" smtClean="0"/>
              <a:t> Python</a:t>
            </a:r>
            <a:endParaRPr lang="en-US" dirty="0"/>
          </a:p>
        </p:txBody>
      </p:sp>
      <p:graphicFrame>
        <p:nvGraphicFramePr>
          <p:cNvPr id="11" name="Table 10"/>
          <p:cNvGraphicFramePr>
            <a:graphicFrameLocks noGrp="1"/>
          </p:cNvGraphicFramePr>
          <p:nvPr>
            <p:extLst>
              <p:ext uri="{D42A27DB-BD31-4B8C-83A1-F6EECF244321}">
                <p14:modId xmlns:p14="http://schemas.microsoft.com/office/powerpoint/2010/main" val="2915652403"/>
              </p:ext>
            </p:extLst>
          </p:nvPr>
        </p:nvGraphicFramePr>
        <p:xfrm>
          <a:off x="588335" y="2651046"/>
          <a:ext cx="7917712" cy="3535680"/>
        </p:xfrm>
        <a:graphic>
          <a:graphicData uri="http://schemas.openxmlformats.org/drawingml/2006/table">
            <a:tbl>
              <a:tblPr firstRow="1" bandRow="1">
                <a:tableStyleId>{5C22544A-7EE6-4342-B048-85BDC9FD1C3A}</a:tableStyleId>
              </a:tblPr>
              <a:tblGrid>
                <a:gridCol w="2191754">
                  <a:extLst>
                    <a:ext uri="{9D8B030D-6E8A-4147-A177-3AD203B41FA5}">
                      <a16:colId xmlns:a16="http://schemas.microsoft.com/office/drawing/2014/main" xmlns="" val="2133384358"/>
                    </a:ext>
                  </a:extLst>
                </a:gridCol>
                <a:gridCol w="5725958">
                  <a:extLst>
                    <a:ext uri="{9D8B030D-6E8A-4147-A177-3AD203B41FA5}">
                      <a16:colId xmlns:a16="http://schemas.microsoft.com/office/drawing/2014/main" xmlns="" val="3989342489"/>
                    </a:ext>
                  </a:extLst>
                </a:gridCol>
              </a:tblGrid>
              <a:tr h="370840">
                <a:tc>
                  <a:txBody>
                    <a:bodyPr/>
                    <a:lstStyle/>
                    <a:p>
                      <a:pPr algn="l" fontAlgn="t"/>
                      <a:r>
                        <a:rPr lang="en-US" dirty="0">
                          <a:effectLst/>
                        </a:rPr>
                        <a:t>Operator</a:t>
                      </a:r>
                    </a:p>
                  </a:txBody>
                  <a:tcPr marL="152400" marR="76200" marT="76200" marB="76200"/>
                </a:tc>
                <a:tc>
                  <a:txBody>
                    <a:bodyPr/>
                    <a:lstStyle/>
                    <a:p>
                      <a:pPr algn="l" fontAlgn="t"/>
                      <a:r>
                        <a:rPr lang="en-US">
                          <a:effectLst/>
                        </a:rPr>
                        <a:t>Description</a:t>
                      </a:r>
                    </a:p>
                  </a:txBody>
                  <a:tcPr marL="76200" marR="76200" marT="76200" marB="76200"/>
                </a:tc>
                <a:extLst>
                  <a:ext uri="{0D108BD9-81ED-4DB2-BD59-A6C34878D82A}">
                    <a16:rowId xmlns:a16="http://schemas.microsoft.com/office/drawing/2014/main" xmlns="" val="308554960"/>
                  </a:ext>
                </a:extLst>
              </a:tr>
              <a:tr h="370840">
                <a:tc>
                  <a:txBody>
                    <a:bodyPr/>
                    <a:lstStyle/>
                    <a:p>
                      <a:pPr algn="l" fontAlgn="t"/>
                      <a:r>
                        <a:rPr lang="en-US" dirty="0">
                          <a:effectLst/>
                        </a:rPr>
                        <a:t>^</a:t>
                      </a:r>
                    </a:p>
                  </a:txBody>
                  <a:tcPr marL="152400" marR="76200" marT="76200" marB="76200"/>
                </a:tc>
                <a:tc>
                  <a:txBody>
                    <a:bodyPr/>
                    <a:lstStyle/>
                    <a:p>
                      <a:pPr algn="l" fontAlgn="t"/>
                      <a:r>
                        <a:rPr lang="en-US" dirty="0">
                          <a:effectLst/>
                        </a:rPr>
                        <a:t>Bitwise XOR</a:t>
                      </a:r>
                    </a:p>
                  </a:txBody>
                  <a:tcPr marL="76200" marR="76200" marT="76200" marB="76200"/>
                </a:tc>
                <a:extLst>
                  <a:ext uri="{0D108BD9-81ED-4DB2-BD59-A6C34878D82A}">
                    <a16:rowId xmlns:a16="http://schemas.microsoft.com/office/drawing/2014/main" xmlns="" val="1618854550"/>
                  </a:ext>
                </a:extLst>
              </a:tr>
              <a:tr h="370840">
                <a:tc>
                  <a:txBody>
                    <a:bodyPr/>
                    <a:lstStyle/>
                    <a:p>
                      <a:pPr algn="l" fontAlgn="t"/>
                      <a:r>
                        <a:rPr lang="en-US">
                          <a:effectLst/>
                        </a:rPr>
                        <a:t>|</a:t>
                      </a:r>
                    </a:p>
                  </a:txBody>
                  <a:tcPr marL="152400" marR="76200" marT="76200" marB="76200"/>
                </a:tc>
                <a:tc>
                  <a:txBody>
                    <a:bodyPr/>
                    <a:lstStyle/>
                    <a:p>
                      <a:pPr algn="l" fontAlgn="t"/>
                      <a:r>
                        <a:rPr lang="en-US">
                          <a:effectLst/>
                        </a:rPr>
                        <a:t>Bitwise OR</a:t>
                      </a:r>
                    </a:p>
                  </a:txBody>
                  <a:tcPr marL="76200" marR="76200" marT="76200" marB="76200"/>
                </a:tc>
                <a:extLst>
                  <a:ext uri="{0D108BD9-81ED-4DB2-BD59-A6C34878D82A}">
                    <a16:rowId xmlns:a16="http://schemas.microsoft.com/office/drawing/2014/main" xmlns="" val="207228000"/>
                  </a:ext>
                </a:extLst>
              </a:tr>
              <a:tr h="370840">
                <a:tc>
                  <a:txBody>
                    <a:bodyPr/>
                    <a:lstStyle/>
                    <a:p>
                      <a:pPr algn="l" fontAlgn="t"/>
                      <a:r>
                        <a:rPr lang="en-US">
                          <a:effectLst/>
                        </a:rPr>
                        <a:t>==  !=  &gt;  &gt;=  &lt;  &lt;=  is  is not  in  not in </a:t>
                      </a:r>
                    </a:p>
                  </a:txBody>
                  <a:tcPr marL="152400" marR="76200" marT="76200" marB="76200"/>
                </a:tc>
                <a:tc>
                  <a:txBody>
                    <a:bodyPr/>
                    <a:lstStyle/>
                    <a:p>
                      <a:pPr algn="l" fontAlgn="t"/>
                      <a:r>
                        <a:rPr lang="en-US" dirty="0" err="1" smtClean="0">
                          <a:effectLst/>
                        </a:rPr>
                        <a:t>Toán</a:t>
                      </a:r>
                      <a:r>
                        <a:rPr lang="en-US" baseline="0" dirty="0" smtClean="0">
                          <a:effectLst/>
                        </a:rPr>
                        <a:t> </a:t>
                      </a:r>
                      <a:r>
                        <a:rPr lang="en-US" baseline="0" dirty="0" err="1" smtClean="0">
                          <a:effectLst/>
                        </a:rPr>
                        <a:t>tử</a:t>
                      </a:r>
                      <a:r>
                        <a:rPr lang="en-US" baseline="0" dirty="0" smtClean="0">
                          <a:effectLst/>
                        </a:rPr>
                        <a:t> so </a:t>
                      </a:r>
                      <a:r>
                        <a:rPr lang="en-US" baseline="0" dirty="0" err="1" smtClean="0">
                          <a:effectLst/>
                        </a:rPr>
                        <a:t>sánh</a:t>
                      </a:r>
                      <a:r>
                        <a:rPr lang="en-US" baseline="0" dirty="0" smtClean="0">
                          <a:effectLst/>
                        </a:rPr>
                        <a:t>: </a:t>
                      </a:r>
                      <a:r>
                        <a:rPr lang="en-US" baseline="0" dirty="0" err="1" smtClean="0">
                          <a:effectLst/>
                        </a:rPr>
                        <a:t>bằng</a:t>
                      </a:r>
                      <a:r>
                        <a:rPr lang="en-US" baseline="0" dirty="0" smtClean="0">
                          <a:effectLst/>
                        </a:rPr>
                        <a:t>, </a:t>
                      </a:r>
                      <a:r>
                        <a:rPr lang="en-US" baseline="0" dirty="0" err="1" smtClean="0">
                          <a:effectLst/>
                        </a:rPr>
                        <a:t>không</a:t>
                      </a:r>
                      <a:r>
                        <a:rPr lang="en-US" baseline="0" dirty="0" smtClean="0">
                          <a:effectLst/>
                        </a:rPr>
                        <a:t> </a:t>
                      </a:r>
                      <a:r>
                        <a:rPr lang="en-US" baseline="0" dirty="0" err="1" smtClean="0">
                          <a:effectLst/>
                        </a:rPr>
                        <a:t>bằng</a:t>
                      </a:r>
                      <a:r>
                        <a:rPr lang="en-US" baseline="0" dirty="0" smtClean="0">
                          <a:effectLst/>
                        </a:rPr>
                        <a:t>, </a:t>
                      </a:r>
                      <a:r>
                        <a:rPr lang="en-US" baseline="0" dirty="0" err="1" smtClean="0">
                          <a:effectLst/>
                        </a:rPr>
                        <a:t>lớn</a:t>
                      </a:r>
                      <a:r>
                        <a:rPr lang="en-US" baseline="0" dirty="0" smtClean="0">
                          <a:effectLst/>
                        </a:rPr>
                        <a:t> </a:t>
                      </a:r>
                      <a:r>
                        <a:rPr lang="en-US" baseline="0" dirty="0" err="1" smtClean="0">
                          <a:effectLst/>
                        </a:rPr>
                        <a:t>hơn</a:t>
                      </a:r>
                      <a:r>
                        <a:rPr lang="en-US" baseline="0" dirty="0" smtClean="0">
                          <a:effectLst/>
                        </a:rPr>
                        <a:t>, </a:t>
                      </a:r>
                      <a:r>
                        <a:rPr lang="en-US" baseline="0" dirty="0" err="1" smtClean="0">
                          <a:effectLst/>
                        </a:rPr>
                        <a:t>lớn</a:t>
                      </a:r>
                      <a:r>
                        <a:rPr lang="en-US" baseline="0" dirty="0" smtClean="0">
                          <a:effectLst/>
                        </a:rPr>
                        <a:t> </a:t>
                      </a:r>
                      <a:r>
                        <a:rPr lang="en-US" baseline="0" dirty="0" err="1" smtClean="0">
                          <a:effectLst/>
                        </a:rPr>
                        <a:t>hơn</a:t>
                      </a:r>
                      <a:r>
                        <a:rPr lang="en-US" baseline="0" dirty="0" smtClean="0">
                          <a:effectLst/>
                        </a:rPr>
                        <a:t> </a:t>
                      </a:r>
                      <a:r>
                        <a:rPr lang="en-US" baseline="0" dirty="0" err="1" smtClean="0">
                          <a:effectLst/>
                        </a:rPr>
                        <a:t>hoặc</a:t>
                      </a:r>
                      <a:r>
                        <a:rPr lang="en-US" baseline="0" dirty="0" smtClean="0">
                          <a:effectLst/>
                        </a:rPr>
                        <a:t> </a:t>
                      </a:r>
                      <a:r>
                        <a:rPr lang="en-US" baseline="0" dirty="0" err="1" smtClean="0">
                          <a:effectLst/>
                        </a:rPr>
                        <a:t>bằng</a:t>
                      </a:r>
                      <a:r>
                        <a:rPr lang="en-US" baseline="0" dirty="0" smtClean="0">
                          <a:effectLst/>
                        </a:rPr>
                        <a:t>, </a:t>
                      </a:r>
                      <a:r>
                        <a:rPr lang="en-US" baseline="0" dirty="0" err="1" smtClean="0">
                          <a:effectLst/>
                        </a:rPr>
                        <a:t>nhỏ</a:t>
                      </a:r>
                      <a:r>
                        <a:rPr lang="en-US" baseline="0" dirty="0" smtClean="0">
                          <a:effectLst/>
                        </a:rPr>
                        <a:t> </a:t>
                      </a:r>
                      <a:r>
                        <a:rPr lang="en-US" baseline="0" dirty="0" err="1" smtClean="0">
                          <a:effectLst/>
                        </a:rPr>
                        <a:t>hơn</a:t>
                      </a:r>
                      <a:r>
                        <a:rPr lang="en-US" baseline="0" dirty="0" smtClean="0">
                          <a:effectLst/>
                        </a:rPr>
                        <a:t>, </a:t>
                      </a:r>
                      <a:r>
                        <a:rPr lang="en-US" baseline="0" dirty="0" err="1" smtClean="0">
                          <a:effectLst/>
                        </a:rPr>
                        <a:t>nhỏ</a:t>
                      </a:r>
                      <a:r>
                        <a:rPr lang="en-US" baseline="0" dirty="0" smtClean="0">
                          <a:effectLst/>
                        </a:rPr>
                        <a:t> </a:t>
                      </a:r>
                      <a:r>
                        <a:rPr lang="en-US" baseline="0" dirty="0" err="1" smtClean="0">
                          <a:effectLst/>
                        </a:rPr>
                        <a:t>hơn</a:t>
                      </a:r>
                      <a:r>
                        <a:rPr lang="en-US" baseline="0" dirty="0" smtClean="0">
                          <a:effectLst/>
                        </a:rPr>
                        <a:t> </a:t>
                      </a:r>
                      <a:r>
                        <a:rPr lang="en-US" baseline="0" dirty="0" err="1" smtClean="0">
                          <a:effectLst/>
                        </a:rPr>
                        <a:t>hoặc</a:t>
                      </a:r>
                      <a:r>
                        <a:rPr lang="en-US" baseline="0" dirty="0" smtClean="0">
                          <a:effectLst/>
                        </a:rPr>
                        <a:t> </a:t>
                      </a:r>
                      <a:r>
                        <a:rPr lang="en-US" baseline="0" dirty="0" err="1" smtClean="0">
                          <a:effectLst/>
                        </a:rPr>
                        <a:t>bằng</a:t>
                      </a:r>
                      <a:endParaRPr lang="en-US" dirty="0">
                        <a:effectLst/>
                      </a:endParaRPr>
                    </a:p>
                  </a:txBody>
                  <a:tcPr marL="76200" marR="76200" marT="76200" marB="76200"/>
                </a:tc>
                <a:extLst>
                  <a:ext uri="{0D108BD9-81ED-4DB2-BD59-A6C34878D82A}">
                    <a16:rowId xmlns:a16="http://schemas.microsoft.com/office/drawing/2014/main" xmlns="" val="1552920004"/>
                  </a:ext>
                </a:extLst>
              </a:tr>
              <a:tr h="370840">
                <a:tc>
                  <a:txBody>
                    <a:bodyPr/>
                    <a:lstStyle/>
                    <a:p>
                      <a:pPr algn="l" fontAlgn="t"/>
                      <a:r>
                        <a:rPr lang="en-US">
                          <a:effectLst/>
                        </a:rPr>
                        <a:t>not</a:t>
                      </a:r>
                    </a:p>
                  </a:txBody>
                  <a:tcPr marL="152400" marR="76200" marT="76200" marB="76200"/>
                </a:tc>
                <a:tc>
                  <a:txBody>
                    <a:bodyPr/>
                    <a:lstStyle/>
                    <a:p>
                      <a:pPr algn="l" fontAlgn="t"/>
                      <a:r>
                        <a:rPr lang="en-US">
                          <a:effectLst/>
                        </a:rPr>
                        <a:t>Logical NOT</a:t>
                      </a:r>
                    </a:p>
                  </a:txBody>
                  <a:tcPr marL="76200" marR="76200" marT="76200" marB="76200"/>
                </a:tc>
                <a:extLst>
                  <a:ext uri="{0D108BD9-81ED-4DB2-BD59-A6C34878D82A}">
                    <a16:rowId xmlns:a16="http://schemas.microsoft.com/office/drawing/2014/main" xmlns="" val="3225126542"/>
                  </a:ext>
                </a:extLst>
              </a:tr>
              <a:tr h="370840">
                <a:tc>
                  <a:txBody>
                    <a:bodyPr/>
                    <a:lstStyle/>
                    <a:p>
                      <a:pPr algn="l" fontAlgn="t"/>
                      <a:r>
                        <a:rPr lang="en-US">
                          <a:effectLst/>
                        </a:rPr>
                        <a:t>and</a:t>
                      </a:r>
                    </a:p>
                  </a:txBody>
                  <a:tcPr marL="152400" marR="76200" marT="76200" marB="76200"/>
                </a:tc>
                <a:tc>
                  <a:txBody>
                    <a:bodyPr/>
                    <a:lstStyle/>
                    <a:p>
                      <a:pPr algn="l" fontAlgn="t"/>
                      <a:r>
                        <a:rPr lang="en-US">
                          <a:effectLst/>
                        </a:rPr>
                        <a:t>AND</a:t>
                      </a:r>
                    </a:p>
                  </a:txBody>
                  <a:tcPr marL="76200" marR="76200" marT="76200" marB="76200"/>
                </a:tc>
                <a:extLst>
                  <a:ext uri="{0D108BD9-81ED-4DB2-BD59-A6C34878D82A}">
                    <a16:rowId xmlns:a16="http://schemas.microsoft.com/office/drawing/2014/main" xmlns="" val="3616309307"/>
                  </a:ext>
                </a:extLst>
              </a:tr>
              <a:tr h="370840">
                <a:tc>
                  <a:txBody>
                    <a:bodyPr/>
                    <a:lstStyle/>
                    <a:p>
                      <a:pPr algn="l" fontAlgn="t"/>
                      <a:r>
                        <a:rPr lang="en-US">
                          <a:effectLst/>
                        </a:rPr>
                        <a:t>or</a:t>
                      </a:r>
                    </a:p>
                  </a:txBody>
                  <a:tcPr marL="152400" marR="76200" marT="76200" marB="76200"/>
                </a:tc>
                <a:tc>
                  <a:txBody>
                    <a:bodyPr/>
                    <a:lstStyle/>
                    <a:p>
                      <a:pPr algn="l" fontAlgn="t"/>
                      <a:r>
                        <a:rPr lang="en-US" dirty="0">
                          <a:effectLst/>
                        </a:rPr>
                        <a:t>OR</a:t>
                      </a:r>
                    </a:p>
                  </a:txBody>
                  <a:tcPr marL="76200" marR="76200" marT="76200" marB="76200"/>
                </a:tc>
                <a:extLst>
                  <a:ext uri="{0D108BD9-81ED-4DB2-BD59-A6C34878D82A}">
                    <a16:rowId xmlns:a16="http://schemas.microsoft.com/office/drawing/2014/main" xmlns="" val="1100356481"/>
                  </a:ext>
                </a:extLst>
              </a:tr>
            </a:tbl>
          </a:graphicData>
        </a:graphic>
      </p:graphicFrame>
    </p:spTree>
    <p:extLst>
      <p:ext uri="{BB962C8B-B14F-4D97-AF65-F5344CB8AC3E}">
        <p14:creationId xmlns:p14="http://schemas.microsoft.com/office/powerpoint/2010/main" val="29516898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18</a:t>
            </a:fld>
            <a:endParaRPr lang="en-US"/>
          </a:p>
        </p:txBody>
      </p:sp>
      <p:sp>
        <p:nvSpPr>
          <p:cNvPr id="3" name="Text Placeholder 2"/>
          <p:cNvSpPr>
            <a:spLocks noGrp="1"/>
          </p:cNvSpPr>
          <p:nvPr>
            <p:ph type="body" sz="quarter" idx="13"/>
          </p:nvPr>
        </p:nvSpPr>
        <p:spPr/>
        <p:txBody>
          <a:bodyPr/>
          <a:lstStyle/>
          <a:p>
            <a:r>
              <a:rPr lang="en-US" dirty="0" smtClean="0"/>
              <a:t>2.5 </a:t>
            </a:r>
            <a:r>
              <a:rPr lang="en-US" dirty="0" err="1" smtClean="0"/>
              <a:t>Dữ</a:t>
            </a:r>
            <a:r>
              <a:rPr lang="en-US" dirty="0" smtClean="0"/>
              <a:t> </a:t>
            </a:r>
            <a:r>
              <a:rPr lang="en-US" dirty="0" err="1" smtClean="0"/>
              <a:t>liệu</a:t>
            </a:r>
            <a:r>
              <a:rPr lang="en-US" dirty="0" smtClean="0"/>
              <a:t> </a:t>
            </a:r>
            <a:r>
              <a:rPr lang="en-US" dirty="0" err="1" smtClean="0"/>
              <a:t>kiểu</a:t>
            </a:r>
            <a:r>
              <a:rPr lang="en-US" dirty="0" smtClean="0"/>
              <a:t> </a:t>
            </a:r>
            <a:r>
              <a:rPr lang="en-US" dirty="0" err="1" smtClean="0"/>
              <a:t>Số</a:t>
            </a:r>
            <a:r>
              <a:rPr lang="en-US" dirty="0" smtClean="0"/>
              <a:t> </a:t>
            </a:r>
            <a:r>
              <a:rPr lang="en-US" dirty="0" err="1" smtClean="0"/>
              <a:t>và</a:t>
            </a:r>
            <a:r>
              <a:rPr lang="en-US" dirty="0" smtClean="0"/>
              <a:t> </a:t>
            </a:r>
            <a:r>
              <a:rPr lang="en-US" dirty="0" err="1" smtClean="0"/>
              <a:t>toán</a:t>
            </a:r>
            <a:r>
              <a:rPr lang="en-US" dirty="0" smtClean="0"/>
              <a:t> </a:t>
            </a:r>
            <a:r>
              <a:rPr lang="en-US" dirty="0" err="1" smtClean="0"/>
              <a:t>tử</a:t>
            </a:r>
            <a:r>
              <a:rPr lang="en-US" dirty="0" smtClean="0"/>
              <a:t> </a:t>
            </a:r>
            <a:r>
              <a:rPr lang="en-US" dirty="0" err="1" smtClean="0"/>
              <a:t>số</a:t>
            </a:r>
            <a:r>
              <a:rPr lang="en-US" dirty="0" smtClean="0"/>
              <a:t> </a:t>
            </a:r>
            <a:r>
              <a:rPr lang="en-US" dirty="0" err="1" smtClean="0"/>
              <a:t>học</a:t>
            </a:r>
            <a:r>
              <a:rPr lang="en-US" dirty="0" smtClean="0"/>
              <a:t> </a:t>
            </a:r>
            <a:r>
              <a:rPr lang="en-US" dirty="0" err="1" smtClean="0"/>
              <a:t>trong</a:t>
            </a:r>
            <a:r>
              <a:rPr lang="en-US" dirty="0" smtClean="0"/>
              <a:t> Python</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656" y="1548772"/>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935668" y="1589346"/>
            <a:ext cx="6804834" cy="369332"/>
          </a:xfrm>
          <a:prstGeom prst="rect">
            <a:avLst/>
          </a:prstGeom>
          <a:noFill/>
        </p:spPr>
        <p:txBody>
          <a:bodyPr wrap="square" rtlCol="0">
            <a:spAutoFit/>
          </a:bodyPr>
          <a:lstStyle/>
          <a:p>
            <a:r>
              <a:rPr lang="en-US" b="1" dirty="0" smtClean="0"/>
              <a:t>2.5.2 </a:t>
            </a:r>
            <a:r>
              <a:rPr lang="en-US" b="1" dirty="0" err="1" smtClean="0"/>
              <a:t>Toán</a:t>
            </a:r>
            <a:r>
              <a:rPr lang="en-US" b="1" dirty="0" smtClean="0"/>
              <a:t> </a:t>
            </a:r>
            <a:r>
              <a:rPr lang="en-US" b="1" dirty="0" err="1" smtClean="0"/>
              <a:t>tử</a:t>
            </a:r>
            <a:r>
              <a:rPr lang="en-US" b="1" dirty="0" smtClean="0"/>
              <a:t> </a:t>
            </a:r>
            <a:r>
              <a:rPr lang="en-US" b="1" dirty="0" err="1" smtClean="0"/>
              <a:t>số</a:t>
            </a:r>
            <a:r>
              <a:rPr lang="en-US" b="1" dirty="0" smtClean="0"/>
              <a:t> </a:t>
            </a:r>
            <a:r>
              <a:rPr lang="en-US" b="1" dirty="0" err="1" smtClean="0"/>
              <a:t>học</a:t>
            </a:r>
            <a:r>
              <a:rPr lang="en-US" b="1" dirty="0" smtClean="0"/>
              <a:t> </a:t>
            </a:r>
            <a:r>
              <a:rPr lang="en-US" b="1" dirty="0" err="1" smtClean="0"/>
              <a:t>trong</a:t>
            </a:r>
            <a:r>
              <a:rPr lang="en-US" b="1" dirty="0" smtClean="0"/>
              <a:t> Python</a:t>
            </a:r>
            <a:endParaRPr lang="en-US" b="1" dirty="0">
              <a:solidFill>
                <a:srgbClr val="FF0000"/>
              </a:solidFill>
            </a:endParaRPr>
          </a:p>
        </p:txBody>
      </p:sp>
      <p:sp>
        <p:nvSpPr>
          <p:cNvPr id="10" name="Rectangle 9"/>
          <p:cNvSpPr/>
          <p:nvPr/>
        </p:nvSpPr>
        <p:spPr>
          <a:xfrm>
            <a:off x="4814859" y="1581630"/>
            <a:ext cx="2459135" cy="369332"/>
          </a:xfrm>
          <a:prstGeom prst="rect">
            <a:avLst/>
          </a:prstGeom>
        </p:spPr>
        <p:txBody>
          <a:bodyPr wrap="none">
            <a:spAutoFit/>
          </a:bodyPr>
          <a:lstStyle/>
          <a:p>
            <a:r>
              <a:rPr lang="en-US" dirty="0" smtClean="0">
                <a:solidFill>
                  <a:srgbClr val="000000"/>
                </a:solidFill>
                <a:latin typeface="+mj-lt"/>
              </a:rPr>
              <a:t>(Arithmetic Operators)</a:t>
            </a:r>
            <a:endParaRPr lang="en-US" b="0" i="0" dirty="0">
              <a:solidFill>
                <a:srgbClr val="000000"/>
              </a:solidFill>
              <a:effectLst/>
              <a:latin typeface="+mj-lt"/>
            </a:endParaRPr>
          </a:p>
        </p:txBody>
      </p:sp>
      <p:sp>
        <p:nvSpPr>
          <p:cNvPr id="9" name="TextBox 8"/>
          <p:cNvSpPr txBox="1"/>
          <p:nvPr/>
        </p:nvSpPr>
        <p:spPr>
          <a:xfrm>
            <a:off x="442656" y="2120196"/>
            <a:ext cx="7182578" cy="369332"/>
          </a:xfrm>
          <a:prstGeom prst="rect">
            <a:avLst/>
          </a:prstGeom>
          <a:noFill/>
        </p:spPr>
        <p:txBody>
          <a:bodyPr wrap="square" rtlCol="0">
            <a:spAutoFit/>
          </a:bodyPr>
          <a:lstStyle/>
          <a:p>
            <a:r>
              <a:rPr lang="en-US" b="1" dirty="0" err="1" smtClean="0">
                <a:solidFill>
                  <a:srgbClr val="FF0000"/>
                </a:solidFill>
              </a:rPr>
              <a:t>Một</a:t>
            </a:r>
            <a:r>
              <a:rPr lang="en-US" b="1" dirty="0" smtClean="0">
                <a:solidFill>
                  <a:srgbClr val="FF0000"/>
                </a:solidFill>
              </a:rPr>
              <a:t> </a:t>
            </a:r>
            <a:r>
              <a:rPr lang="en-US" b="1" dirty="0" err="1" smtClean="0">
                <a:solidFill>
                  <a:srgbClr val="FF0000"/>
                </a:solidFill>
              </a:rPr>
              <a:t>số</a:t>
            </a:r>
            <a:r>
              <a:rPr lang="en-US" b="1" dirty="0" smtClean="0">
                <a:solidFill>
                  <a:srgbClr val="FF0000"/>
                </a:solidFill>
              </a:rPr>
              <a:t> </a:t>
            </a:r>
            <a:r>
              <a:rPr lang="en-US" b="1" dirty="0" err="1" smtClean="0">
                <a:solidFill>
                  <a:srgbClr val="FF0000"/>
                </a:solidFill>
              </a:rPr>
              <a:t>ví</a:t>
            </a:r>
            <a:r>
              <a:rPr lang="en-US" b="1" dirty="0" smtClean="0">
                <a:solidFill>
                  <a:srgbClr val="FF0000"/>
                </a:solidFill>
              </a:rPr>
              <a:t> </a:t>
            </a:r>
            <a:r>
              <a:rPr lang="en-US" b="1" dirty="0" err="1" smtClean="0">
                <a:solidFill>
                  <a:srgbClr val="FF0000"/>
                </a:solidFill>
              </a:rPr>
              <a:t>dụ</a:t>
            </a:r>
            <a:r>
              <a:rPr lang="en-US" b="1" dirty="0" smtClean="0">
                <a:solidFill>
                  <a:srgbClr val="FF0000"/>
                </a:solidFill>
              </a:rPr>
              <a:t> </a:t>
            </a:r>
            <a:r>
              <a:rPr lang="en-US" b="1" dirty="0" err="1" smtClean="0">
                <a:solidFill>
                  <a:srgbClr val="FF0000"/>
                </a:solidFill>
              </a:rPr>
              <a:t>về</a:t>
            </a:r>
            <a:r>
              <a:rPr lang="en-US" b="1" dirty="0" smtClean="0">
                <a:solidFill>
                  <a:srgbClr val="FF0000"/>
                </a:solidFill>
              </a:rPr>
              <a:t> </a:t>
            </a:r>
            <a:r>
              <a:rPr lang="en-US" b="1" dirty="0" err="1" smtClean="0">
                <a:solidFill>
                  <a:srgbClr val="FF0000"/>
                </a:solidFill>
              </a:rPr>
              <a:t>toán</a:t>
            </a:r>
            <a:r>
              <a:rPr lang="en-US" b="1" dirty="0" smtClean="0">
                <a:solidFill>
                  <a:srgbClr val="FF0000"/>
                </a:solidFill>
              </a:rPr>
              <a:t> </a:t>
            </a:r>
            <a:r>
              <a:rPr lang="en-US" b="1" dirty="0" err="1" smtClean="0">
                <a:solidFill>
                  <a:srgbClr val="FF0000"/>
                </a:solidFill>
              </a:rPr>
              <a:t>tử</a:t>
            </a:r>
            <a:r>
              <a:rPr lang="en-US" b="1" dirty="0" smtClean="0">
                <a:solidFill>
                  <a:srgbClr val="FF0000"/>
                </a:solidFill>
              </a:rPr>
              <a:t> </a:t>
            </a:r>
            <a:r>
              <a:rPr lang="en-US" b="1" dirty="0" err="1" smtClean="0">
                <a:solidFill>
                  <a:srgbClr val="FF0000"/>
                </a:solidFill>
              </a:rPr>
              <a:t>số</a:t>
            </a:r>
            <a:r>
              <a:rPr lang="en-US" b="1" dirty="0" smtClean="0">
                <a:solidFill>
                  <a:srgbClr val="FF0000"/>
                </a:solidFill>
              </a:rPr>
              <a:t> </a:t>
            </a:r>
            <a:r>
              <a:rPr lang="en-US" b="1" dirty="0" err="1" smtClean="0">
                <a:solidFill>
                  <a:srgbClr val="FF0000"/>
                </a:solidFill>
              </a:rPr>
              <a:t>học</a:t>
            </a:r>
            <a:endParaRPr lang="en-US" dirty="0"/>
          </a:p>
        </p:txBody>
      </p:sp>
      <p:sp>
        <p:nvSpPr>
          <p:cNvPr id="8" name="Rectangle 7"/>
          <p:cNvSpPr/>
          <p:nvPr/>
        </p:nvSpPr>
        <p:spPr>
          <a:xfrm>
            <a:off x="580880" y="2712293"/>
            <a:ext cx="3204311" cy="37523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81065" y="2843428"/>
            <a:ext cx="2834005" cy="5078313"/>
          </a:xfrm>
          <a:prstGeom prst="rect">
            <a:avLst/>
          </a:prstGeom>
          <a:noFill/>
        </p:spPr>
        <p:txBody>
          <a:bodyPr wrap="square" rtlCol="0">
            <a:spAutoFit/>
          </a:bodyPr>
          <a:lstStyle/>
          <a:p>
            <a:pPr>
              <a:lnSpc>
                <a:spcPct val="150000"/>
              </a:lnSpc>
            </a:pPr>
            <a:r>
              <a:rPr lang="en-US" dirty="0">
                <a:solidFill>
                  <a:schemeClr val="bg1"/>
                </a:solidFill>
              </a:rPr>
              <a:t>x =</a:t>
            </a:r>
            <a:r>
              <a:rPr lang="en-US" dirty="0"/>
              <a:t> </a:t>
            </a:r>
            <a:r>
              <a:rPr lang="en-US" dirty="0" smtClean="0">
                <a:solidFill>
                  <a:schemeClr val="accent6">
                    <a:lumMod val="60000"/>
                    <a:lumOff val="40000"/>
                  </a:schemeClr>
                </a:solidFill>
              </a:rPr>
              <a:t>5</a:t>
            </a:r>
            <a:r>
              <a:rPr lang="en-US" dirty="0"/>
              <a:t>   </a:t>
            </a:r>
            <a:r>
              <a:rPr lang="en-US" dirty="0">
                <a:solidFill>
                  <a:schemeClr val="accent6">
                    <a:lumMod val="75000"/>
                  </a:schemeClr>
                </a:solidFill>
              </a:rPr>
              <a:t> </a:t>
            </a:r>
            <a:endParaRPr lang="en-US" dirty="0" smtClean="0">
              <a:solidFill>
                <a:schemeClr val="accent6">
                  <a:lumMod val="75000"/>
                </a:schemeClr>
              </a:solidFill>
            </a:endParaRPr>
          </a:p>
          <a:p>
            <a:pPr>
              <a:lnSpc>
                <a:spcPct val="150000"/>
              </a:lnSpc>
            </a:pPr>
            <a:r>
              <a:rPr lang="en-US" dirty="0" smtClean="0">
                <a:solidFill>
                  <a:schemeClr val="bg1"/>
                </a:solidFill>
              </a:rPr>
              <a:t>y </a:t>
            </a:r>
            <a:r>
              <a:rPr lang="en-US" dirty="0">
                <a:solidFill>
                  <a:schemeClr val="bg1"/>
                </a:solidFill>
              </a:rPr>
              <a:t>=</a:t>
            </a:r>
            <a:r>
              <a:rPr lang="en-US" dirty="0"/>
              <a:t> </a:t>
            </a:r>
            <a:r>
              <a:rPr lang="en-US" dirty="0" smtClean="0">
                <a:solidFill>
                  <a:schemeClr val="accent6">
                    <a:lumMod val="60000"/>
                    <a:lumOff val="40000"/>
                  </a:schemeClr>
                </a:solidFill>
              </a:rPr>
              <a:t>3</a:t>
            </a:r>
          </a:p>
          <a:p>
            <a:pPr>
              <a:lnSpc>
                <a:spcPct val="150000"/>
              </a:lnSpc>
            </a:pPr>
            <a:r>
              <a:rPr lang="en-US" dirty="0" smtClean="0">
                <a:solidFill>
                  <a:schemeClr val="bg1"/>
                </a:solidFill>
              </a:rPr>
              <a:t>print</a:t>
            </a:r>
            <a:r>
              <a:rPr lang="en-US" dirty="0" smtClean="0">
                <a:solidFill>
                  <a:srgbClr val="FFC000"/>
                </a:solidFill>
              </a:rPr>
              <a:t>(</a:t>
            </a:r>
            <a:r>
              <a:rPr lang="en-US" dirty="0" smtClean="0">
                <a:solidFill>
                  <a:schemeClr val="bg1"/>
                </a:solidFill>
              </a:rPr>
              <a:t>x + y</a:t>
            </a:r>
            <a:r>
              <a:rPr lang="en-US" dirty="0" smtClean="0">
                <a:solidFill>
                  <a:srgbClr val="FFC000"/>
                </a:solidFill>
              </a:rPr>
              <a:t>) </a:t>
            </a:r>
            <a:r>
              <a:rPr lang="en-US" dirty="0" smtClean="0">
                <a:solidFill>
                  <a:schemeClr val="accent6">
                    <a:lumMod val="75000"/>
                  </a:schemeClr>
                </a:solidFill>
              </a:rPr>
              <a:t># </a:t>
            </a:r>
            <a:r>
              <a:rPr lang="en-US" dirty="0" err="1" smtClean="0">
                <a:solidFill>
                  <a:schemeClr val="accent6">
                    <a:lumMod val="75000"/>
                  </a:schemeClr>
                </a:solidFill>
              </a:rPr>
              <a:t>Phép</a:t>
            </a:r>
            <a:r>
              <a:rPr lang="en-US" dirty="0" smtClean="0">
                <a:solidFill>
                  <a:schemeClr val="accent6">
                    <a:lumMod val="75000"/>
                  </a:schemeClr>
                </a:solidFill>
              </a:rPr>
              <a:t> </a:t>
            </a:r>
            <a:r>
              <a:rPr lang="en-US" dirty="0" err="1" smtClean="0">
                <a:solidFill>
                  <a:schemeClr val="accent6">
                    <a:lumMod val="75000"/>
                  </a:schemeClr>
                </a:solidFill>
              </a:rPr>
              <a:t>cộng</a:t>
            </a:r>
            <a:endParaRPr lang="en-US" dirty="0" smtClean="0">
              <a:solidFill>
                <a:schemeClr val="accent6">
                  <a:lumMod val="75000"/>
                </a:schemeClr>
              </a:solidFill>
            </a:endParaRPr>
          </a:p>
          <a:p>
            <a:pPr>
              <a:lnSpc>
                <a:spcPct val="150000"/>
              </a:lnSpc>
            </a:pPr>
            <a:r>
              <a:rPr lang="en-US" dirty="0">
                <a:solidFill>
                  <a:schemeClr val="bg1"/>
                </a:solidFill>
              </a:rPr>
              <a:t>print</a:t>
            </a:r>
            <a:r>
              <a:rPr lang="en-US" dirty="0">
                <a:solidFill>
                  <a:srgbClr val="FFC000"/>
                </a:solidFill>
              </a:rPr>
              <a:t>(</a:t>
            </a:r>
            <a:r>
              <a:rPr lang="en-US" dirty="0">
                <a:solidFill>
                  <a:schemeClr val="bg1"/>
                </a:solidFill>
              </a:rPr>
              <a:t>x </a:t>
            </a:r>
            <a:r>
              <a:rPr lang="en-US" dirty="0" smtClean="0">
                <a:solidFill>
                  <a:schemeClr val="bg1"/>
                </a:solidFill>
              </a:rPr>
              <a:t>- </a:t>
            </a:r>
            <a:r>
              <a:rPr lang="en-US" dirty="0">
                <a:solidFill>
                  <a:schemeClr val="bg1"/>
                </a:solidFill>
              </a:rPr>
              <a:t>y</a:t>
            </a:r>
            <a:r>
              <a:rPr lang="en-US" dirty="0">
                <a:solidFill>
                  <a:srgbClr val="FFC000"/>
                </a:solidFill>
              </a:rPr>
              <a:t>) </a:t>
            </a:r>
            <a:r>
              <a:rPr lang="en-US" dirty="0">
                <a:solidFill>
                  <a:schemeClr val="accent6">
                    <a:lumMod val="75000"/>
                  </a:schemeClr>
                </a:solidFill>
              </a:rPr>
              <a:t># </a:t>
            </a:r>
            <a:r>
              <a:rPr lang="en-US" dirty="0" err="1">
                <a:solidFill>
                  <a:schemeClr val="accent6">
                    <a:lumMod val="75000"/>
                  </a:schemeClr>
                </a:solidFill>
              </a:rPr>
              <a:t>Phép</a:t>
            </a:r>
            <a:r>
              <a:rPr lang="en-US" dirty="0">
                <a:solidFill>
                  <a:schemeClr val="accent6">
                    <a:lumMod val="75000"/>
                  </a:schemeClr>
                </a:solidFill>
              </a:rPr>
              <a:t> </a:t>
            </a:r>
            <a:r>
              <a:rPr lang="en-US" dirty="0" err="1" smtClean="0">
                <a:solidFill>
                  <a:schemeClr val="accent6">
                    <a:lumMod val="75000"/>
                  </a:schemeClr>
                </a:solidFill>
              </a:rPr>
              <a:t>trừ</a:t>
            </a:r>
            <a:endParaRPr lang="en-US" dirty="0">
              <a:solidFill>
                <a:schemeClr val="accent6">
                  <a:lumMod val="75000"/>
                </a:schemeClr>
              </a:solidFill>
            </a:endParaRPr>
          </a:p>
          <a:p>
            <a:pPr>
              <a:lnSpc>
                <a:spcPct val="150000"/>
              </a:lnSpc>
            </a:pPr>
            <a:r>
              <a:rPr lang="en-US" dirty="0" smtClean="0">
                <a:solidFill>
                  <a:schemeClr val="bg1"/>
                </a:solidFill>
              </a:rPr>
              <a:t>print</a:t>
            </a:r>
            <a:r>
              <a:rPr lang="en-US" dirty="0" smtClean="0">
                <a:solidFill>
                  <a:srgbClr val="FFC000"/>
                </a:solidFill>
              </a:rPr>
              <a:t>(</a:t>
            </a:r>
            <a:r>
              <a:rPr lang="en-US" dirty="0" smtClean="0">
                <a:solidFill>
                  <a:schemeClr val="bg1"/>
                </a:solidFill>
              </a:rPr>
              <a:t>x * </a:t>
            </a:r>
            <a:r>
              <a:rPr lang="en-US" dirty="0">
                <a:solidFill>
                  <a:schemeClr val="bg1"/>
                </a:solidFill>
              </a:rPr>
              <a:t>y</a:t>
            </a:r>
            <a:r>
              <a:rPr lang="en-US" dirty="0">
                <a:solidFill>
                  <a:srgbClr val="FFC000"/>
                </a:solidFill>
              </a:rPr>
              <a:t>) </a:t>
            </a:r>
            <a:r>
              <a:rPr lang="en-US" dirty="0">
                <a:solidFill>
                  <a:schemeClr val="accent6">
                    <a:lumMod val="75000"/>
                  </a:schemeClr>
                </a:solidFill>
              </a:rPr>
              <a:t># </a:t>
            </a:r>
            <a:r>
              <a:rPr lang="en-US" dirty="0" err="1">
                <a:solidFill>
                  <a:schemeClr val="accent6">
                    <a:lumMod val="75000"/>
                  </a:schemeClr>
                </a:solidFill>
              </a:rPr>
              <a:t>Phép</a:t>
            </a:r>
            <a:r>
              <a:rPr lang="en-US" dirty="0">
                <a:solidFill>
                  <a:schemeClr val="accent6">
                    <a:lumMod val="75000"/>
                  </a:schemeClr>
                </a:solidFill>
              </a:rPr>
              <a:t> </a:t>
            </a:r>
            <a:r>
              <a:rPr lang="en-US" dirty="0" err="1" smtClean="0">
                <a:solidFill>
                  <a:schemeClr val="accent6">
                    <a:lumMod val="75000"/>
                  </a:schemeClr>
                </a:solidFill>
              </a:rPr>
              <a:t>nhân</a:t>
            </a:r>
            <a:endParaRPr lang="en-US" dirty="0" smtClean="0">
              <a:solidFill>
                <a:schemeClr val="accent6">
                  <a:lumMod val="75000"/>
                </a:schemeClr>
              </a:solidFill>
            </a:endParaRPr>
          </a:p>
          <a:p>
            <a:pPr>
              <a:lnSpc>
                <a:spcPct val="150000"/>
              </a:lnSpc>
            </a:pPr>
            <a:r>
              <a:rPr lang="en-US" dirty="0">
                <a:solidFill>
                  <a:schemeClr val="bg1"/>
                </a:solidFill>
              </a:rPr>
              <a:t>print</a:t>
            </a:r>
            <a:r>
              <a:rPr lang="en-US" dirty="0">
                <a:solidFill>
                  <a:srgbClr val="FFC000"/>
                </a:solidFill>
              </a:rPr>
              <a:t>(</a:t>
            </a:r>
            <a:r>
              <a:rPr lang="en-US" dirty="0">
                <a:solidFill>
                  <a:schemeClr val="bg1"/>
                </a:solidFill>
              </a:rPr>
              <a:t>x </a:t>
            </a:r>
            <a:r>
              <a:rPr lang="en-US" dirty="0" smtClean="0">
                <a:solidFill>
                  <a:schemeClr val="bg1"/>
                </a:solidFill>
              </a:rPr>
              <a:t>/ </a:t>
            </a:r>
            <a:r>
              <a:rPr lang="en-US" dirty="0">
                <a:solidFill>
                  <a:schemeClr val="bg1"/>
                </a:solidFill>
              </a:rPr>
              <a:t>y</a:t>
            </a:r>
            <a:r>
              <a:rPr lang="en-US" dirty="0">
                <a:solidFill>
                  <a:srgbClr val="FFC000"/>
                </a:solidFill>
              </a:rPr>
              <a:t>) </a:t>
            </a:r>
            <a:r>
              <a:rPr lang="en-US" dirty="0">
                <a:solidFill>
                  <a:schemeClr val="accent6">
                    <a:lumMod val="75000"/>
                  </a:schemeClr>
                </a:solidFill>
              </a:rPr>
              <a:t># </a:t>
            </a:r>
            <a:r>
              <a:rPr lang="en-US" dirty="0" err="1">
                <a:solidFill>
                  <a:schemeClr val="accent6">
                    <a:lumMod val="75000"/>
                  </a:schemeClr>
                </a:solidFill>
              </a:rPr>
              <a:t>Phép</a:t>
            </a:r>
            <a:r>
              <a:rPr lang="en-US" dirty="0">
                <a:solidFill>
                  <a:schemeClr val="accent6">
                    <a:lumMod val="75000"/>
                  </a:schemeClr>
                </a:solidFill>
              </a:rPr>
              <a:t> </a:t>
            </a:r>
            <a:r>
              <a:rPr lang="en-US" dirty="0" smtClean="0">
                <a:solidFill>
                  <a:schemeClr val="accent6">
                    <a:lumMod val="75000"/>
                  </a:schemeClr>
                </a:solidFill>
              </a:rPr>
              <a:t>chia</a:t>
            </a:r>
            <a:endParaRPr lang="en-US" dirty="0">
              <a:solidFill>
                <a:schemeClr val="accent6">
                  <a:lumMod val="75000"/>
                </a:schemeClr>
              </a:solidFill>
            </a:endParaRPr>
          </a:p>
          <a:p>
            <a:pPr>
              <a:lnSpc>
                <a:spcPct val="150000"/>
              </a:lnSpc>
            </a:pPr>
            <a:r>
              <a:rPr lang="en-US" dirty="0">
                <a:solidFill>
                  <a:schemeClr val="bg1"/>
                </a:solidFill>
              </a:rPr>
              <a:t>print</a:t>
            </a:r>
            <a:r>
              <a:rPr lang="en-US" dirty="0">
                <a:solidFill>
                  <a:srgbClr val="FFC000"/>
                </a:solidFill>
              </a:rPr>
              <a:t>(</a:t>
            </a:r>
            <a:r>
              <a:rPr lang="en-US" dirty="0">
                <a:solidFill>
                  <a:schemeClr val="bg1"/>
                </a:solidFill>
              </a:rPr>
              <a:t>x </a:t>
            </a:r>
            <a:r>
              <a:rPr lang="en-US" dirty="0" smtClean="0">
                <a:solidFill>
                  <a:schemeClr val="bg1"/>
                </a:solidFill>
              </a:rPr>
              <a:t>% </a:t>
            </a:r>
            <a:r>
              <a:rPr lang="en-US" dirty="0">
                <a:solidFill>
                  <a:schemeClr val="bg1"/>
                </a:solidFill>
              </a:rPr>
              <a:t>y</a:t>
            </a:r>
            <a:r>
              <a:rPr lang="en-US" dirty="0">
                <a:solidFill>
                  <a:srgbClr val="FFC000"/>
                </a:solidFill>
              </a:rPr>
              <a:t>) </a:t>
            </a:r>
            <a:r>
              <a:rPr lang="en-US" dirty="0">
                <a:solidFill>
                  <a:schemeClr val="accent6">
                    <a:lumMod val="75000"/>
                  </a:schemeClr>
                </a:solidFill>
              </a:rPr>
              <a:t># </a:t>
            </a:r>
            <a:r>
              <a:rPr lang="en-US" dirty="0" smtClean="0">
                <a:solidFill>
                  <a:schemeClr val="accent6">
                    <a:lumMod val="75000"/>
                  </a:schemeClr>
                </a:solidFill>
              </a:rPr>
              <a:t>Chia Mod</a:t>
            </a:r>
            <a:endParaRPr lang="en-US" dirty="0">
              <a:solidFill>
                <a:schemeClr val="accent6">
                  <a:lumMod val="75000"/>
                </a:schemeClr>
              </a:solidFill>
            </a:endParaRPr>
          </a:p>
          <a:p>
            <a:pPr>
              <a:lnSpc>
                <a:spcPct val="150000"/>
              </a:lnSpc>
            </a:pPr>
            <a:r>
              <a:rPr lang="en-US" dirty="0">
                <a:solidFill>
                  <a:schemeClr val="bg1"/>
                </a:solidFill>
              </a:rPr>
              <a:t>print</a:t>
            </a:r>
            <a:r>
              <a:rPr lang="en-US" dirty="0">
                <a:solidFill>
                  <a:srgbClr val="FFC000"/>
                </a:solidFill>
              </a:rPr>
              <a:t>(</a:t>
            </a:r>
            <a:r>
              <a:rPr lang="en-US" dirty="0">
                <a:solidFill>
                  <a:schemeClr val="bg1"/>
                </a:solidFill>
              </a:rPr>
              <a:t>x </a:t>
            </a:r>
            <a:r>
              <a:rPr lang="en-US" dirty="0" smtClean="0">
                <a:solidFill>
                  <a:schemeClr val="bg1"/>
                </a:solidFill>
              </a:rPr>
              <a:t>// </a:t>
            </a:r>
            <a:r>
              <a:rPr lang="en-US" dirty="0">
                <a:solidFill>
                  <a:schemeClr val="bg1"/>
                </a:solidFill>
              </a:rPr>
              <a:t>y</a:t>
            </a:r>
            <a:r>
              <a:rPr lang="en-US" dirty="0">
                <a:solidFill>
                  <a:srgbClr val="FFC000"/>
                </a:solidFill>
              </a:rPr>
              <a:t>) </a:t>
            </a:r>
            <a:r>
              <a:rPr lang="en-US" dirty="0">
                <a:solidFill>
                  <a:schemeClr val="accent6">
                    <a:lumMod val="75000"/>
                  </a:schemeClr>
                </a:solidFill>
              </a:rPr>
              <a:t># </a:t>
            </a:r>
            <a:r>
              <a:rPr lang="en-US" dirty="0" smtClean="0">
                <a:solidFill>
                  <a:schemeClr val="accent6">
                    <a:lumMod val="75000"/>
                  </a:schemeClr>
                </a:solidFill>
              </a:rPr>
              <a:t>Chia </a:t>
            </a:r>
            <a:r>
              <a:rPr lang="en-US" dirty="0" err="1" smtClean="0">
                <a:solidFill>
                  <a:schemeClr val="accent6">
                    <a:lumMod val="75000"/>
                  </a:schemeClr>
                </a:solidFill>
              </a:rPr>
              <a:t>sàn</a:t>
            </a:r>
            <a:endParaRPr lang="en-US" dirty="0">
              <a:solidFill>
                <a:schemeClr val="accent6">
                  <a:lumMod val="75000"/>
                </a:schemeClr>
              </a:solidFill>
            </a:endParaRPr>
          </a:p>
          <a:p>
            <a:pPr>
              <a:lnSpc>
                <a:spcPct val="150000"/>
              </a:lnSpc>
            </a:pPr>
            <a:endParaRPr lang="en-US" dirty="0" smtClean="0">
              <a:solidFill>
                <a:schemeClr val="accent6">
                  <a:lumMod val="75000"/>
                </a:schemeClr>
              </a:solidFill>
            </a:endParaRPr>
          </a:p>
          <a:p>
            <a:pPr>
              <a:lnSpc>
                <a:spcPct val="150000"/>
              </a:lnSpc>
            </a:pPr>
            <a:endParaRPr lang="en-US" dirty="0">
              <a:solidFill>
                <a:schemeClr val="accent6">
                  <a:lumMod val="75000"/>
                </a:schemeClr>
              </a:solidFill>
            </a:endParaRPr>
          </a:p>
          <a:p>
            <a:pPr>
              <a:lnSpc>
                <a:spcPct val="150000"/>
              </a:lnSpc>
            </a:pPr>
            <a:endParaRPr lang="en-US" dirty="0" smtClean="0">
              <a:solidFill>
                <a:schemeClr val="accent6">
                  <a:lumMod val="75000"/>
                </a:schemeClr>
              </a:solidFill>
            </a:endParaRPr>
          </a:p>
          <a:p>
            <a:pPr>
              <a:lnSpc>
                <a:spcPct val="150000"/>
              </a:lnSpc>
            </a:pPr>
            <a:endParaRPr lang="en-US" dirty="0">
              <a:solidFill>
                <a:schemeClr val="accent6">
                  <a:lumMod val="75000"/>
                </a:schemeClr>
              </a:solidFill>
            </a:endParaRPr>
          </a:p>
        </p:txBody>
      </p:sp>
      <p:sp>
        <p:nvSpPr>
          <p:cNvPr id="12" name="Rectangle 11"/>
          <p:cNvSpPr/>
          <p:nvPr/>
        </p:nvSpPr>
        <p:spPr>
          <a:xfrm>
            <a:off x="4642517" y="3083172"/>
            <a:ext cx="3491390" cy="81108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4842702" y="3214306"/>
            <a:ext cx="2834005" cy="461921"/>
          </a:xfrm>
          <a:prstGeom prst="rect">
            <a:avLst/>
          </a:prstGeom>
          <a:noFill/>
        </p:spPr>
        <p:txBody>
          <a:bodyPr wrap="square" rtlCol="0">
            <a:spAutoFit/>
          </a:bodyPr>
          <a:lstStyle/>
          <a:p>
            <a:pPr>
              <a:lnSpc>
                <a:spcPct val="150000"/>
              </a:lnSpc>
            </a:pPr>
            <a:r>
              <a:rPr lang="en-US" dirty="0">
                <a:solidFill>
                  <a:schemeClr val="bg1"/>
                </a:solidFill>
              </a:rPr>
              <a:t>print</a:t>
            </a:r>
            <a:r>
              <a:rPr lang="en-US" dirty="0">
                <a:solidFill>
                  <a:schemeClr val="accent4">
                    <a:lumMod val="60000"/>
                    <a:lumOff val="40000"/>
                  </a:schemeClr>
                </a:solidFill>
              </a:rPr>
              <a:t>(</a:t>
            </a:r>
            <a:r>
              <a:rPr lang="en-US" dirty="0">
                <a:solidFill>
                  <a:schemeClr val="accent6">
                    <a:lumMod val="60000"/>
                    <a:lumOff val="40000"/>
                  </a:schemeClr>
                </a:solidFill>
              </a:rPr>
              <a:t>5</a:t>
            </a:r>
            <a:r>
              <a:rPr lang="en-US" dirty="0">
                <a:solidFill>
                  <a:schemeClr val="bg1"/>
                </a:solidFill>
              </a:rPr>
              <a:t> + </a:t>
            </a:r>
            <a:r>
              <a:rPr lang="en-US" dirty="0">
                <a:solidFill>
                  <a:schemeClr val="accent6">
                    <a:lumMod val="60000"/>
                    <a:lumOff val="40000"/>
                  </a:schemeClr>
                </a:solidFill>
              </a:rPr>
              <a:t>4</a:t>
            </a:r>
            <a:r>
              <a:rPr lang="en-US" dirty="0">
                <a:solidFill>
                  <a:schemeClr val="bg1"/>
                </a:solidFill>
              </a:rPr>
              <a:t> - </a:t>
            </a:r>
            <a:r>
              <a:rPr lang="en-US" dirty="0">
                <a:solidFill>
                  <a:schemeClr val="accent6">
                    <a:lumMod val="60000"/>
                    <a:lumOff val="40000"/>
                  </a:schemeClr>
                </a:solidFill>
              </a:rPr>
              <a:t>7</a:t>
            </a:r>
            <a:r>
              <a:rPr lang="en-US" dirty="0">
                <a:solidFill>
                  <a:schemeClr val="bg1"/>
                </a:solidFill>
              </a:rPr>
              <a:t> + </a:t>
            </a:r>
            <a:r>
              <a:rPr lang="en-US" dirty="0">
                <a:solidFill>
                  <a:schemeClr val="accent6">
                    <a:lumMod val="60000"/>
                    <a:lumOff val="40000"/>
                  </a:schemeClr>
                </a:solidFill>
              </a:rPr>
              <a:t>3</a:t>
            </a:r>
            <a:r>
              <a:rPr lang="en-US" dirty="0">
                <a:solidFill>
                  <a:schemeClr val="accent4">
                    <a:lumMod val="60000"/>
                    <a:lumOff val="40000"/>
                  </a:schemeClr>
                </a:solidFill>
              </a:rPr>
              <a:t>)</a:t>
            </a:r>
            <a:endParaRPr lang="en-US" dirty="0" smtClean="0">
              <a:solidFill>
                <a:schemeClr val="accent4">
                  <a:lumMod val="60000"/>
                  <a:lumOff val="40000"/>
                </a:schemeClr>
              </a:solidFill>
            </a:endParaRPr>
          </a:p>
        </p:txBody>
      </p:sp>
      <p:sp>
        <p:nvSpPr>
          <p:cNvPr id="14" name="TextBox 13"/>
          <p:cNvSpPr txBox="1"/>
          <p:nvPr/>
        </p:nvSpPr>
        <p:spPr>
          <a:xfrm>
            <a:off x="4529407" y="2610471"/>
            <a:ext cx="3268106" cy="369332"/>
          </a:xfrm>
          <a:prstGeom prst="rect">
            <a:avLst/>
          </a:prstGeom>
          <a:noFill/>
        </p:spPr>
        <p:txBody>
          <a:bodyPr wrap="square" rtlCol="0">
            <a:spAutoFit/>
          </a:bodyPr>
          <a:lstStyle/>
          <a:p>
            <a:r>
              <a:rPr lang="en-US" dirty="0" err="1" smtClean="0"/>
              <a:t>Biểu</a:t>
            </a:r>
            <a:r>
              <a:rPr lang="en-US" dirty="0" smtClean="0"/>
              <a:t> </a:t>
            </a:r>
            <a:r>
              <a:rPr lang="en-US" dirty="0" err="1" smtClean="0"/>
              <a:t>thức</a:t>
            </a:r>
            <a:r>
              <a:rPr lang="en-US" dirty="0" smtClean="0"/>
              <a:t> </a:t>
            </a:r>
            <a:r>
              <a:rPr lang="en-US" dirty="0" err="1" smtClean="0"/>
              <a:t>nhiều</a:t>
            </a:r>
            <a:r>
              <a:rPr lang="en-US" dirty="0" smtClean="0"/>
              <a:t> </a:t>
            </a:r>
            <a:r>
              <a:rPr lang="en-US" dirty="0" err="1" smtClean="0"/>
              <a:t>phép</a:t>
            </a:r>
            <a:r>
              <a:rPr lang="en-US" dirty="0" smtClean="0"/>
              <a:t> </a:t>
            </a:r>
            <a:r>
              <a:rPr lang="en-US" dirty="0" err="1" smtClean="0"/>
              <a:t>tính</a:t>
            </a:r>
            <a:endParaRPr lang="en-US" dirty="0"/>
          </a:p>
        </p:txBody>
      </p:sp>
      <p:sp>
        <p:nvSpPr>
          <p:cNvPr id="17" name="TextBox 16"/>
          <p:cNvSpPr txBox="1"/>
          <p:nvPr/>
        </p:nvSpPr>
        <p:spPr>
          <a:xfrm>
            <a:off x="4529407" y="4162824"/>
            <a:ext cx="3268106" cy="1200329"/>
          </a:xfrm>
          <a:prstGeom prst="rect">
            <a:avLst/>
          </a:prstGeom>
          <a:noFill/>
        </p:spPr>
        <p:txBody>
          <a:bodyPr wrap="square" rtlCol="0">
            <a:spAutoFit/>
          </a:bodyPr>
          <a:lstStyle/>
          <a:p>
            <a:r>
              <a:rPr lang="en-US" dirty="0" err="1" smtClean="0"/>
              <a:t>Tình</a:t>
            </a:r>
            <a:r>
              <a:rPr lang="en-US" dirty="0" smtClean="0"/>
              <a:t> </a:t>
            </a:r>
            <a:r>
              <a:rPr lang="en-US" dirty="0" err="1" smtClean="0"/>
              <a:t>từ</a:t>
            </a:r>
            <a:r>
              <a:rPr lang="en-US" dirty="0" smtClean="0"/>
              <a:t> </a:t>
            </a:r>
            <a:r>
              <a:rPr lang="en-US" dirty="0" err="1" smtClean="0"/>
              <a:t>trái</a:t>
            </a:r>
            <a:r>
              <a:rPr lang="en-US" dirty="0" smtClean="0"/>
              <a:t> qua </a:t>
            </a:r>
            <a:r>
              <a:rPr lang="en-US" dirty="0" err="1" smtClean="0"/>
              <a:t>phải</a:t>
            </a:r>
            <a:endParaRPr lang="en-US" dirty="0" smtClean="0"/>
          </a:p>
          <a:p>
            <a:r>
              <a:rPr lang="en-US" dirty="0" smtClean="0"/>
              <a:t>5 </a:t>
            </a:r>
            <a:r>
              <a:rPr lang="en-US" dirty="0"/>
              <a:t>+ 4 = </a:t>
            </a:r>
            <a:r>
              <a:rPr lang="en-US" dirty="0" smtClean="0"/>
              <a:t>9</a:t>
            </a:r>
          </a:p>
          <a:p>
            <a:r>
              <a:rPr lang="en-US" dirty="0"/>
              <a:t>9 - 7 = 2</a:t>
            </a:r>
          </a:p>
          <a:p>
            <a:r>
              <a:rPr lang="en-US" dirty="0"/>
              <a:t>2 + 3 = </a:t>
            </a:r>
            <a:r>
              <a:rPr lang="en-US" dirty="0" smtClean="0"/>
              <a:t>5 </a:t>
            </a:r>
            <a:r>
              <a:rPr lang="en-US" dirty="0" err="1" smtClean="0"/>
              <a:t>là</a:t>
            </a:r>
            <a:r>
              <a:rPr lang="en-US" dirty="0" smtClean="0"/>
              <a:t> </a:t>
            </a:r>
            <a:r>
              <a:rPr lang="en-US" dirty="0" err="1" smtClean="0"/>
              <a:t>kết</a:t>
            </a:r>
            <a:r>
              <a:rPr lang="en-US" dirty="0" smtClean="0"/>
              <a:t> </a:t>
            </a:r>
            <a:r>
              <a:rPr lang="en-US" dirty="0" err="1" smtClean="0"/>
              <a:t>quả</a:t>
            </a:r>
            <a:endParaRPr lang="en-US" dirty="0"/>
          </a:p>
        </p:txBody>
      </p:sp>
    </p:spTree>
    <p:extLst>
      <p:ext uri="{BB962C8B-B14F-4D97-AF65-F5344CB8AC3E}">
        <p14:creationId xmlns:p14="http://schemas.microsoft.com/office/powerpoint/2010/main" val="22403517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19</a:t>
            </a:fld>
            <a:endParaRPr lang="en-US"/>
          </a:p>
        </p:txBody>
      </p:sp>
      <p:sp>
        <p:nvSpPr>
          <p:cNvPr id="3" name="Text Placeholder 2"/>
          <p:cNvSpPr>
            <a:spLocks noGrp="1"/>
          </p:cNvSpPr>
          <p:nvPr>
            <p:ph type="body" sz="quarter" idx="13"/>
          </p:nvPr>
        </p:nvSpPr>
        <p:spPr/>
        <p:txBody>
          <a:bodyPr/>
          <a:lstStyle/>
          <a:p>
            <a:r>
              <a:rPr lang="en-US" dirty="0" smtClean="0"/>
              <a:t>2.5 </a:t>
            </a:r>
            <a:r>
              <a:rPr lang="en-US" dirty="0" err="1" smtClean="0"/>
              <a:t>Dữ</a:t>
            </a:r>
            <a:r>
              <a:rPr lang="en-US" dirty="0" smtClean="0"/>
              <a:t> </a:t>
            </a:r>
            <a:r>
              <a:rPr lang="en-US" dirty="0" err="1" smtClean="0"/>
              <a:t>liệu</a:t>
            </a:r>
            <a:r>
              <a:rPr lang="en-US" dirty="0" smtClean="0"/>
              <a:t> </a:t>
            </a:r>
            <a:r>
              <a:rPr lang="en-US" dirty="0" err="1" smtClean="0"/>
              <a:t>kiểu</a:t>
            </a:r>
            <a:r>
              <a:rPr lang="en-US" dirty="0" smtClean="0"/>
              <a:t> </a:t>
            </a:r>
            <a:r>
              <a:rPr lang="en-US" dirty="0" err="1" smtClean="0"/>
              <a:t>Số</a:t>
            </a:r>
            <a:r>
              <a:rPr lang="en-US" dirty="0" smtClean="0"/>
              <a:t> </a:t>
            </a:r>
            <a:r>
              <a:rPr lang="en-US" dirty="0" err="1" smtClean="0"/>
              <a:t>và</a:t>
            </a:r>
            <a:r>
              <a:rPr lang="en-US" dirty="0" smtClean="0"/>
              <a:t> </a:t>
            </a:r>
            <a:r>
              <a:rPr lang="en-US" dirty="0" err="1" smtClean="0"/>
              <a:t>toán</a:t>
            </a:r>
            <a:r>
              <a:rPr lang="en-US" dirty="0" smtClean="0"/>
              <a:t> </a:t>
            </a:r>
            <a:r>
              <a:rPr lang="en-US" dirty="0" err="1" smtClean="0"/>
              <a:t>tử</a:t>
            </a:r>
            <a:r>
              <a:rPr lang="en-US" dirty="0" smtClean="0"/>
              <a:t> </a:t>
            </a:r>
            <a:r>
              <a:rPr lang="en-US" dirty="0" err="1" smtClean="0"/>
              <a:t>số</a:t>
            </a:r>
            <a:r>
              <a:rPr lang="en-US" dirty="0" smtClean="0"/>
              <a:t> </a:t>
            </a:r>
            <a:r>
              <a:rPr lang="en-US" dirty="0" err="1" smtClean="0"/>
              <a:t>học</a:t>
            </a:r>
            <a:r>
              <a:rPr lang="en-US" dirty="0" smtClean="0"/>
              <a:t> </a:t>
            </a:r>
            <a:r>
              <a:rPr lang="en-US" dirty="0" err="1" smtClean="0"/>
              <a:t>trong</a:t>
            </a:r>
            <a:r>
              <a:rPr lang="en-US" dirty="0" smtClean="0"/>
              <a:t> Python</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656" y="1548772"/>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935668" y="1589346"/>
            <a:ext cx="6804834" cy="369332"/>
          </a:xfrm>
          <a:prstGeom prst="rect">
            <a:avLst/>
          </a:prstGeom>
          <a:noFill/>
        </p:spPr>
        <p:txBody>
          <a:bodyPr wrap="square" rtlCol="0">
            <a:spAutoFit/>
          </a:bodyPr>
          <a:lstStyle/>
          <a:p>
            <a:r>
              <a:rPr lang="en-US" b="1" dirty="0" smtClean="0"/>
              <a:t>2.5.2 </a:t>
            </a:r>
            <a:r>
              <a:rPr lang="en-US" b="1" dirty="0" err="1" smtClean="0"/>
              <a:t>Toán</a:t>
            </a:r>
            <a:r>
              <a:rPr lang="en-US" b="1" dirty="0" smtClean="0"/>
              <a:t> </a:t>
            </a:r>
            <a:r>
              <a:rPr lang="en-US" b="1" dirty="0" err="1" smtClean="0"/>
              <a:t>tử</a:t>
            </a:r>
            <a:r>
              <a:rPr lang="en-US" b="1" dirty="0" smtClean="0"/>
              <a:t> </a:t>
            </a:r>
            <a:r>
              <a:rPr lang="en-US" b="1" dirty="0" err="1" smtClean="0"/>
              <a:t>số</a:t>
            </a:r>
            <a:r>
              <a:rPr lang="en-US" b="1" dirty="0" smtClean="0"/>
              <a:t> </a:t>
            </a:r>
            <a:r>
              <a:rPr lang="en-US" b="1" dirty="0" err="1" smtClean="0"/>
              <a:t>học</a:t>
            </a:r>
            <a:r>
              <a:rPr lang="en-US" b="1" dirty="0" smtClean="0"/>
              <a:t> </a:t>
            </a:r>
            <a:r>
              <a:rPr lang="en-US" b="1" dirty="0" err="1" smtClean="0"/>
              <a:t>trong</a:t>
            </a:r>
            <a:r>
              <a:rPr lang="en-US" b="1" dirty="0" smtClean="0"/>
              <a:t> Python</a:t>
            </a:r>
            <a:endParaRPr lang="en-US" b="1" dirty="0">
              <a:solidFill>
                <a:srgbClr val="FF0000"/>
              </a:solidFill>
            </a:endParaRPr>
          </a:p>
        </p:txBody>
      </p:sp>
      <p:sp>
        <p:nvSpPr>
          <p:cNvPr id="10" name="Rectangle 9"/>
          <p:cNvSpPr/>
          <p:nvPr/>
        </p:nvSpPr>
        <p:spPr>
          <a:xfrm>
            <a:off x="4814859" y="1581630"/>
            <a:ext cx="2459135" cy="369332"/>
          </a:xfrm>
          <a:prstGeom prst="rect">
            <a:avLst/>
          </a:prstGeom>
        </p:spPr>
        <p:txBody>
          <a:bodyPr wrap="none">
            <a:spAutoFit/>
          </a:bodyPr>
          <a:lstStyle/>
          <a:p>
            <a:r>
              <a:rPr lang="en-US" dirty="0" smtClean="0">
                <a:solidFill>
                  <a:srgbClr val="000000"/>
                </a:solidFill>
                <a:latin typeface="+mj-lt"/>
              </a:rPr>
              <a:t>(Arithmetic Operators)</a:t>
            </a:r>
            <a:endParaRPr lang="en-US" b="0" i="0" dirty="0">
              <a:solidFill>
                <a:srgbClr val="000000"/>
              </a:solidFill>
              <a:effectLst/>
              <a:latin typeface="+mj-lt"/>
            </a:endParaRPr>
          </a:p>
        </p:txBody>
      </p:sp>
      <p:sp>
        <p:nvSpPr>
          <p:cNvPr id="12" name="Rectangle 11"/>
          <p:cNvSpPr/>
          <p:nvPr/>
        </p:nvSpPr>
        <p:spPr>
          <a:xfrm>
            <a:off x="765544" y="2256571"/>
            <a:ext cx="7368363" cy="68060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935668" y="2332818"/>
            <a:ext cx="6741039" cy="456535"/>
          </a:xfrm>
          <a:prstGeom prst="rect">
            <a:avLst/>
          </a:prstGeom>
          <a:noFill/>
        </p:spPr>
        <p:txBody>
          <a:bodyPr wrap="square" rtlCol="0">
            <a:spAutoFit/>
          </a:bodyPr>
          <a:lstStyle/>
          <a:p>
            <a:pPr>
              <a:lnSpc>
                <a:spcPct val="150000"/>
              </a:lnSpc>
            </a:pPr>
            <a:r>
              <a:rPr lang="en-US" dirty="0">
                <a:solidFill>
                  <a:schemeClr val="bg1"/>
                </a:solidFill>
              </a:rPr>
              <a:t>result = </a:t>
            </a:r>
            <a:r>
              <a:rPr lang="en-US" dirty="0">
                <a:solidFill>
                  <a:schemeClr val="accent6">
                    <a:lumMod val="60000"/>
                    <a:lumOff val="40000"/>
                  </a:schemeClr>
                </a:solidFill>
              </a:rPr>
              <a:t>2</a:t>
            </a:r>
            <a:r>
              <a:rPr lang="en-US" dirty="0">
                <a:solidFill>
                  <a:schemeClr val="bg1"/>
                </a:solidFill>
              </a:rPr>
              <a:t> + </a:t>
            </a:r>
            <a:r>
              <a:rPr lang="en-US" dirty="0">
                <a:solidFill>
                  <a:schemeClr val="accent6">
                    <a:lumMod val="60000"/>
                    <a:lumOff val="40000"/>
                  </a:schemeClr>
                </a:solidFill>
              </a:rPr>
              <a:t>3</a:t>
            </a:r>
            <a:r>
              <a:rPr lang="en-US" dirty="0">
                <a:solidFill>
                  <a:schemeClr val="bg1"/>
                </a:solidFill>
              </a:rPr>
              <a:t> * </a:t>
            </a:r>
            <a:r>
              <a:rPr lang="en-US" dirty="0">
                <a:solidFill>
                  <a:schemeClr val="accent6">
                    <a:lumMod val="60000"/>
                    <a:lumOff val="40000"/>
                  </a:schemeClr>
                </a:solidFill>
              </a:rPr>
              <a:t>4</a:t>
            </a:r>
            <a:r>
              <a:rPr lang="en-US" dirty="0">
                <a:solidFill>
                  <a:schemeClr val="bg1"/>
                </a:solidFill>
              </a:rPr>
              <a:t> - </a:t>
            </a:r>
            <a:r>
              <a:rPr lang="en-US" dirty="0">
                <a:solidFill>
                  <a:schemeClr val="accent6">
                    <a:lumMod val="60000"/>
                    <a:lumOff val="40000"/>
                  </a:schemeClr>
                </a:solidFill>
              </a:rPr>
              <a:t>6</a:t>
            </a:r>
            <a:r>
              <a:rPr lang="en-US" dirty="0">
                <a:solidFill>
                  <a:schemeClr val="bg1"/>
                </a:solidFill>
              </a:rPr>
              <a:t> / </a:t>
            </a:r>
            <a:r>
              <a:rPr lang="en-US" dirty="0">
                <a:solidFill>
                  <a:schemeClr val="accent6">
                    <a:lumMod val="60000"/>
                    <a:lumOff val="40000"/>
                  </a:schemeClr>
                </a:solidFill>
              </a:rPr>
              <a:t>2</a:t>
            </a:r>
            <a:r>
              <a:rPr lang="en-US" dirty="0">
                <a:solidFill>
                  <a:schemeClr val="bg1"/>
                </a:solidFill>
              </a:rPr>
              <a:t> ** </a:t>
            </a:r>
            <a:r>
              <a:rPr lang="en-US" dirty="0">
                <a:solidFill>
                  <a:schemeClr val="accent6">
                    <a:lumMod val="60000"/>
                    <a:lumOff val="40000"/>
                  </a:schemeClr>
                </a:solidFill>
              </a:rPr>
              <a:t>2</a:t>
            </a:r>
            <a:endParaRPr lang="en-US" dirty="0" smtClean="0">
              <a:solidFill>
                <a:schemeClr val="accent6">
                  <a:lumMod val="60000"/>
                  <a:lumOff val="40000"/>
                </a:schemeClr>
              </a:solidFill>
            </a:endParaRPr>
          </a:p>
        </p:txBody>
      </p:sp>
      <p:sp>
        <p:nvSpPr>
          <p:cNvPr id="17" name="TextBox 16"/>
          <p:cNvSpPr txBox="1"/>
          <p:nvPr/>
        </p:nvSpPr>
        <p:spPr>
          <a:xfrm>
            <a:off x="700841" y="3051632"/>
            <a:ext cx="7657131" cy="923330"/>
          </a:xfrm>
          <a:prstGeom prst="rect">
            <a:avLst/>
          </a:prstGeom>
          <a:noFill/>
        </p:spPr>
        <p:txBody>
          <a:bodyPr wrap="square" rtlCol="0">
            <a:spAutoFit/>
          </a:bodyPr>
          <a:lstStyle/>
          <a:p>
            <a:r>
              <a:rPr lang="vi-VN" dirty="0"/>
              <a:t>Trong ví dụ này, chúng ta có một biểu thức gồm các toán tử số học: cộng (+), nhân (*), chia (/), và lũy thừa (**). Ta sẽ giải thích từng bước của phép tính theo thứ tự ưu tiên</a:t>
            </a:r>
            <a:endParaRPr lang="en-US" dirty="0"/>
          </a:p>
        </p:txBody>
      </p:sp>
      <p:sp>
        <p:nvSpPr>
          <p:cNvPr id="15" name="TextBox 14"/>
          <p:cNvSpPr txBox="1"/>
          <p:nvPr/>
        </p:nvSpPr>
        <p:spPr>
          <a:xfrm>
            <a:off x="935668" y="4150178"/>
            <a:ext cx="7657131" cy="1754326"/>
          </a:xfrm>
          <a:prstGeom prst="rect">
            <a:avLst/>
          </a:prstGeom>
          <a:noFill/>
        </p:spPr>
        <p:txBody>
          <a:bodyPr wrap="square" rtlCol="0">
            <a:spAutoFit/>
          </a:bodyPr>
          <a:lstStyle/>
          <a:p>
            <a:r>
              <a:rPr lang="vi-VN" dirty="0" smtClean="0"/>
              <a:t>2 </a:t>
            </a:r>
            <a:r>
              <a:rPr lang="vi-VN" dirty="0"/>
              <a:t>** 2: Thực hiện phép lũy thừa. 2 ** 2 tương đương với 2^2 = </a:t>
            </a:r>
            <a:r>
              <a:rPr lang="vi-VN" dirty="0" smtClean="0"/>
              <a:t>4</a:t>
            </a:r>
            <a:endParaRPr lang="vi-VN" dirty="0"/>
          </a:p>
          <a:p>
            <a:r>
              <a:rPr lang="vi-VN" dirty="0" smtClean="0"/>
              <a:t>3 </a:t>
            </a:r>
            <a:r>
              <a:rPr lang="vi-VN" dirty="0"/>
              <a:t>* 4: Thực hiện phép nhân. Kết quả của phép nhân là </a:t>
            </a:r>
            <a:r>
              <a:rPr lang="vi-VN" dirty="0" smtClean="0"/>
              <a:t>12</a:t>
            </a:r>
            <a:endParaRPr lang="vi-VN" dirty="0"/>
          </a:p>
          <a:p>
            <a:r>
              <a:rPr lang="vi-VN" dirty="0" smtClean="0"/>
              <a:t>6 </a:t>
            </a:r>
            <a:r>
              <a:rPr lang="vi-VN" dirty="0"/>
              <a:t>/ 4: Thực hiện phép chia. Kết quả của phép chia là </a:t>
            </a:r>
            <a:r>
              <a:rPr lang="vi-VN" dirty="0" smtClean="0"/>
              <a:t>1.5</a:t>
            </a:r>
            <a:endParaRPr lang="vi-VN" dirty="0"/>
          </a:p>
          <a:p>
            <a:r>
              <a:rPr lang="vi-VN" dirty="0" smtClean="0"/>
              <a:t>2 </a:t>
            </a:r>
            <a:r>
              <a:rPr lang="vi-VN" dirty="0"/>
              <a:t>+ 12: Thực hiện phép cộng. Kết quả của phép cộng là </a:t>
            </a:r>
            <a:r>
              <a:rPr lang="vi-VN" dirty="0" smtClean="0"/>
              <a:t>14</a:t>
            </a:r>
            <a:endParaRPr lang="en-US" dirty="0" smtClean="0"/>
          </a:p>
          <a:p>
            <a:r>
              <a:rPr lang="vi-VN" dirty="0" smtClean="0"/>
              <a:t>14 </a:t>
            </a:r>
            <a:r>
              <a:rPr lang="vi-VN" dirty="0"/>
              <a:t>- 1.5: Thực hiện phép trừ. </a:t>
            </a:r>
            <a:endParaRPr lang="en-US" dirty="0" smtClean="0"/>
          </a:p>
          <a:p>
            <a:r>
              <a:rPr lang="vi-VN" dirty="0" smtClean="0"/>
              <a:t>Kết </a:t>
            </a:r>
            <a:r>
              <a:rPr lang="vi-VN" dirty="0"/>
              <a:t>quả của phép trừ là </a:t>
            </a:r>
            <a:r>
              <a:rPr lang="vi-VN" dirty="0" smtClean="0"/>
              <a:t>12.5</a:t>
            </a:r>
            <a:endParaRPr lang="en-US" dirty="0"/>
          </a:p>
        </p:txBody>
      </p:sp>
      <p:sp>
        <p:nvSpPr>
          <p:cNvPr id="18" name="Diamond 17"/>
          <p:cNvSpPr/>
          <p:nvPr/>
        </p:nvSpPr>
        <p:spPr>
          <a:xfrm>
            <a:off x="765544" y="4241792"/>
            <a:ext cx="151862" cy="151862"/>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iamond 18"/>
          <p:cNvSpPr/>
          <p:nvPr/>
        </p:nvSpPr>
        <p:spPr>
          <a:xfrm>
            <a:off x="765544" y="4550136"/>
            <a:ext cx="151862" cy="151862"/>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iamond 19"/>
          <p:cNvSpPr/>
          <p:nvPr/>
        </p:nvSpPr>
        <p:spPr>
          <a:xfrm>
            <a:off x="765544" y="4815950"/>
            <a:ext cx="151862" cy="151862"/>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iamond 20"/>
          <p:cNvSpPr/>
          <p:nvPr/>
        </p:nvSpPr>
        <p:spPr>
          <a:xfrm>
            <a:off x="765544" y="5081764"/>
            <a:ext cx="151862" cy="151862"/>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iamond 21"/>
          <p:cNvSpPr/>
          <p:nvPr/>
        </p:nvSpPr>
        <p:spPr>
          <a:xfrm>
            <a:off x="765544" y="5368843"/>
            <a:ext cx="151862" cy="151862"/>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iamond 22"/>
          <p:cNvSpPr/>
          <p:nvPr/>
        </p:nvSpPr>
        <p:spPr>
          <a:xfrm>
            <a:off x="765544" y="5613392"/>
            <a:ext cx="151862" cy="151862"/>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357681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20</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2.7 </a:t>
            </a:r>
            <a:r>
              <a:rPr lang="en-US" dirty="0" err="1" smtClean="0"/>
              <a:t>Tìm</a:t>
            </a:r>
            <a:r>
              <a:rPr lang="en-US" dirty="0" smtClean="0"/>
              <a:t> </a:t>
            </a:r>
            <a:r>
              <a:rPr lang="en-US" dirty="0" err="1"/>
              <a:t>hiểu</a:t>
            </a:r>
            <a:r>
              <a:rPr lang="en-US" dirty="0"/>
              <a:t> </a:t>
            </a:r>
            <a:r>
              <a:rPr lang="en-US" dirty="0" err="1"/>
              <a:t>về</a:t>
            </a:r>
            <a:r>
              <a:rPr lang="en-US" dirty="0"/>
              <a:t> </a:t>
            </a:r>
            <a:r>
              <a:rPr lang="en-US" dirty="0" err="1" smtClean="0"/>
              <a:t>lệnh</a:t>
            </a:r>
            <a:r>
              <a:rPr lang="en-US" dirty="0" smtClean="0"/>
              <a:t> </a:t>
            </a:r>
            <a:r>
              <a:rPr lang="en-US" dirty="0"/>
              <a:t>input</a:t>
            </a:r>
            <a:r>
              <a:rPr lang="en-US" dirty="0" smtClean="0"/>
              <a:t>()</a:t>
            </a:r>
            <a:endParaRPr lang="en-US" dirty="0"/>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80670"/>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621244"/>
            <a:ext cx="2955849" cy="369332"/>
          </a:xfrm>
          <a:prstGeom prst="rect">
            <a:avLst/>
          </a:prstGeom>
          <a:noFill/>
        </p:spPr>
        <p:txBody>
          <a:bodyPr wrap="square" rtlCol="0">
            <a:spAutoFit/>
          </a:bodyPr>
          <a:lstStyle/>
          <a:p>
            <a:r>
              <a:rPr lang="en-US" b="1" dirty="0" err="1" smtClean="0"/>
              <a:t>Định</a:t>
            </a:r>
            <a:r>
              <a:rPr lang="en-US" b="1" dirty="0" smtClean="0"/>
              <a:t> </a:t>
            </a:r>
            <a:r>
              <a:rPr lang="en-US" b="1" dirty="0" err="1"/>
              <a:t>n</a:t>
            </a:r>
            <a:r>
              <a:rPr lang="en-US" b="1" dirty="0" err="1" smtClean="0"/>
              <a:t>ghĩa</a:t>
            </a:r>
            <a:r>
              <a:rPr lang="en-US" b="1" dirty="0" smtClean="0"/>
              <a:t>: </a:t>
            </a:r>
            <a:r>
              <a:rPr lang="en-US" b="1" dirty="0" smtClean="0">
                <a:solidFill>
                  <a:srgbClr val="FF0000"/>
                </a:solidFill>
              </a:rPr>
              <a:t>Input </a:t>
            </a:r>
            <a:r>
              <a:rPr lang="en-US" b="1" dirty="0" err="1" smtClean="0">
                <a:solidFill>
                  <a:srgbClr val="FF0000"/>
                </a:solidFill>
              </a:rPr>
              <a:t>là</a:t>
            </a:r>
            <a:r>
              <a:rPr lang="en-US" b="1" dirty="0" smtClean="0">
                <a:solidFill>
                  <a:srgbClr val="FF0000"/>
                </a:solidFill>
              </a:rPr>
              <a:t> </a:t>
            </a:r>
            <a:r>
              <a:rPr lang="en-US" b="1" dirty="0" err="1" smtClean="0">
                <a:solidFill>
                  <a:srgbClr val="FF0000"/>
                </a:solidFill>
              </a:rPr>
              <a:t>gì</a:t>
            </a:r>
            <a:r>
              <a:rPr lang="en-US" b="1" dirty="0" smtClean="0">
                <a:solidFill>
                  <a:srgbClr val="FF0000"/>
                </a:solidFill>
              </a:rPr>
              <a:t> ?</a:t>
            </a:r>
            <a:endParaRPr lang="en-US" b="1" dirty="0">
              <a:solidFill>
                <a:srgbClr val="FF0000"/>
              </a:solidFill>
            </a:endParaRPr>
          </a:p>
        </p:txBody>
      </p:sp>
      <p:sp>
        <p:nvSpPr>
          <p:cNvPr id="12" name="Rounded Rectangle 11"/>
          <p:cNvSpPr/>
          <p:nvPr/>
        </p:nvSpPr>
        <p:spPr>
          <a:xfrm>
            <a:off x="669850" y="2163660"/>
            <a:ext cx="7740503" cy="3937410"/>
          </a:xfrm>
          <a:prstGeom prst="roundRect">
            <a:avLst>
              <a:gd name="adj" fmla="val 2567"/>
            </a:avLst>
          </a:prstGeom>
          <a:solidFill>
            <a:schemeClr val="bg1"/>
          </a:solidFill>
          <a:ln w="19050">
            <a:solidFill>
              <a:srgbClr val="67C7D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925033" y="2299882"/>
            <a:ext cx="7230139" cy="646331"/>
          </a:xfrm>
          <a:prstGeom prst="rect">
            <a:avLst/>
          </a:prstGeom>
          <a:noFill/>
        </p:spPr>
        <p:txBody>
          <a:bodyPr wrap="square" rtlCol="0">
            <a:spAutoFit/>
          </a:bodyPr>
          <a:lstStyle/>
          <a:p>
            <a:r>
              <a:rPr lang="en-US" dirty="0" err="1" smtClean="0"/>
              <a:t>Trong</a:t>
            </a:r>
            <a:r>
              <a:rPr lang="en-US" dirty="0" smtClean="0"/>
              <a:t> </a:t>
            </a:r>
            <a:r>
              <a:rPr lang="en-US" dirty="0" err="1" smtClean="0"/>
              <a:t>mọi</a:t>
            </a:r>
            <a:r>
              <a:rPr lang="en-US" dirty="0" smtClean="0"/>
              <a:t> </a:t>
            </a:r>
            <a:r>
              <a:rPr lang="en-US" dirty="0" err="1" smtClean="0"/>
              <a:t>chương</a:t>
            </a:r>
            <a:r>
              <a:rPr lang="en-US" dirty="0" smtClean="0"/>
              <a:t> </a:t>
            </a:r>
            <a:r>
              <a:rPr lang="en-US" dirty="0" err="1" smtClean="0"/>
              <a:t>trình</a:t>
            </a:r>
            <a:r>
              <a:rPr lang="en-US" dirty="0" smtClean="0"/>
              <a:t> </a:t>
            </a:r>
            <a:r>
              <a:rPr lang="en-US" dirty="0" err="1" smtClean="0"/>
              <a:t>hệ</a:t>
            </a:r>
            <a:r>
              <a:rPr lang="en-US" dirty="0" smtClean="0"/>
              <a:t> </a:t>
            </a:r>
            <a:r>
              <a:rPr lang="en-US" dirty="0" err="1" smtClean="0"/>
              <a:t>thống</a:t>
            </a:r>
            <a:r>
              <a:rPr lang="en-US" dirty="0" smtClean="0"/>
              <a:t> </a:t>
            </a:r>
            <a:r>
              <a:rPr lang="en-US" dirty="0" err="1" smtClean="0"/>
              <a:t>đều</a:t>
            </a:r>
            <a:r>
              <a:rPr lang="en-US" dirty="0" smtClean="0"/>
              <a:t> </a:t>
            </a:r>
            <a:r>
              <a:rPr lang="en-US" dirty="0" err="1" smtClean="0"/>
              <a:t>có</a:t>
            </a:r>
            <a:r>
              <a:rPr lang="en-US" dirty="0" smtClean="0"/>
              <a:t> </a:t>
            </a:r>
            <a:r>
              <a:rPr lang="en-US" dirty="0" err="1" smtClean="0"/>
              <a:t>sự</a:t>
            </a:r>
            <a:r>
              <a:rPr lang="en-US" dirty="0" smtClean="0"/>
              <a:t> </a:t>
            </a:r>
            <a:r>
              <a:rPr lang="en-US" dirty="0" err="1" smtClean="0"/>
              <a:t>tương</a:t>
            </a:r>
            <a:r>
              <a:rPr lang="en-US" dirty="0" smtClean="0"/>
              <a:t> </a:t>
            </a:r>
            <a:r>
              <a:rPr lang="en-US" dirty="0" err="1" smtClean="0"/>
              <a:t>tác</a:t>
            </a:r>
            <a:r>
              <a:rPr lang="en-US" dirty="0" smtClean="0"/>
              <a:t> </a:t>
            </a:r>
            <a:r>
              <a:rPr lang="en-US" dirty="0" err="1" smtClean="0"/>
              <a:t>dữ</a:t>
            </a:r>
            <a:r>
              <a:rPr lang="en-US" dirty="0" smtClean="0"/>
              <a:t> </a:t>
            </a:r>
            <a:r>
              <a:rPr lang="en-US" dirty="0" err="1" smtClean="0"/>
              <a:t>liệu</a:t>
            </a:r>
            <a:r>
              <a:rPr lang="en-US" dirty="0"/>
              <a:t> </a:t>
            </a:r>
            <a:r>
              <a:rPr lang="en-US" dirty="0" smtClean="0"/>
              <a:t>2 </a:t>
            </a:r>
            <a:r>
              <a:rPr lang="en-US" dirty="0" err="1" smtClean="0"/>
              <a:t>chiều</a:t>
            </a:r>
            <a:r>
              <a:rPr lang="en-US" dirty="0" smtClean="0"/>
              <a:t>:  </a:t>
            </a:r>
            <a:r>
              <a:rPr lang="en-US" dirty="0" err="1"/>
              <a:t>đ</a:t>
            </a:r>
            <a:r>
              <a:rPr lang="en-US" dirty="0" err="1" smtClean="0"/>
              <a:t>ầu</a:t>
            </a:r>
            <a:r>
              <a:rPr lang="en-US" dirty="0" smtClean="0"/>
              <a:t> </a:t>
            </a:r>
            <a:r>
              <a:rPr lang="en-US" dirty="0" err="1" smtClean="0"/>
              <a:t>vào</a:t>
            </a:r>
            <a:r>
              <a:rPr lang="en-US" dirty="0" smtClean="0"/>
              <a:t> (input) </a:t>
            </a:r>
            <a:r>
              <a:rPr lang="en-US" dirty="0" err="1" smtClean="0"/>
              <a:t>và</a:t>
            </a:r>
            <a:r>
              <a:rPr lang="en-US" dirty="0" smtClean="0"/>
              <a:t> </a:t>
            </a:r>
            <a:r>
              <a:rPr lang="en-US" dirty="0" err="1" smtClean="0"/>
              <a:t>đầu</a:t>
            </a:r>
            <a:r>
              <a:rPr lang="en-US" dirty="0" smtClean="0"/>
              <a:t> </a:t>
            </a:r>
            <a:r>
              <a:rPr lang="en-US" dirty="0" err="1" smtClean="0"/>
              <a:t>ra</a:t>
            </a:r>
            <a:r>
              <a:rPr lang="en-US" dirty="0" smtClean="0"/>
              <a:t> (output)</a:t>
            </a:r>
            <a:endParaRPr lang="en-US" dirty="0"/>
          </a:p>
        </p:txBody>
      </p:sp>
      <p:sp>
        <p:nvSpPr>
          <p:cNvPr id="14" name="TextBox 13"/>
          <p:cNvSpPr txBox="1"/>
          <p:nvPr/>
        </p:nvSpPr>
        <p:spPr>
          <a:xfrm>
            <a:off x="925033" y="3076233"/>
            <a:ext cx="7230139" cy="923330"/>
          </a:xfrm>
          <a:prstGeom prst="rect">
            <a:avLst/>
          </a:prstGeom>
          <a:noFill/>
        </p:spPr>
        <p:txBody>
          <a:bodyPr wrap="square" rtlCol="0">
            <a:spAutoFit/>
          </a:bodyPr>
          <a:lstStyle/>
          <a:p>
            <a:r>
              <a:rPr lang="en-US" dirty="0" err="1" smtClean="0"/>
              <a:t>Trong</a:t>
            </a:r>
            <a:r>
              <a:rPr lang="en-US" dirty="0" smtClean="0"/>
              <a:t> </a:t>
            </a:r>
            <a:r>
              <a:rPr lang="en-US" dirty="0" err="1" smtClean="0"/>
              <a:t>các</a:t>
            </a:r>
            <a:r>
              <a:rPr lang="en-US" dirty="0" smtClean="0"/>
              <a:t> </a:t>
            </a:r>
            <a:r>
              <a:rPr lang="en-US" dirty="0" err="1" smtClean="0"/>
              <a:t>bài</a:t>
            </a:r>
            <a:r>
              <a:rPr lang="en-US" dirty="0" smtClean="0"/>
              <a:t> </a:t>
            </a:r>
            <a:r>
              <a:rPr lang="en-US" dirty="0" err="1" smtClean="0"/>
              <a:t>học</a:t>
            </a:r>
            <a:r>
              <a:rPr lang="en-US" dirty="0" smtClean="0"/>
              <a:t> </a:t>
            </a:r>
            <a:r>
              <a:rPr lang="en-US" dirty="0" err="1" smtClean="0"/>
              <a:t>trước</a:t>
            </a:r>
            <a:r>
              <a:rPr lang="en-US" dirty="0" smtClean="0"/>
              <a:t> </a:t>
            </a:r>
            <a:r>
              <a:rPr lang="en-US" dirty="0" err="1" smtClean="0"/>
              <a:t>thì</a:t>
            </a:r>
            <a:r>
              <a:rPr lang="en-US" dirty="0" smtClean="0"/>
              <a:t> </a:t>
            </a:r>
            <a:r>
              <a:rPr lang="en-US" dirty="0" err="1" smtClean="0"/>
              <a:t>chúng</a:t>
            </a:r>
            <a:r>
              <a:rPr lang="en-US" dirty="0" smtClean="0"/>
              <a:t> ta </a:t>
            </a:r>
            <a:r>
              <a:rPr lang="en-US" dirty="0" err="1" smtClean="0"/>
              <a:t>đã</a:t>
            </a:r>
            <a:r>
              <a:rPr lang="en-US" dirty="0" smtClean="0"/>
              <a:t> </a:t>
            </a:r>
            <a:r>
              <a:rPr lang="en-US" dirty="0" err="1" smtClean="0"/>
              <a:t>làm</a:t>
            </a:r>
            <a:r>
              <a:rPr lang="en-US" dirty="0" smtClean="0"/>
              <a:t> </a:t>
            </a:r>
            <a:r>
              <a:rPr lang="en-US" dirty="0" err="1" smtClean="0"/>
              <a:t>quen</a:t>
            </a:r>
            <a:r>
              <a:rPr lang="en-US" dirty="0" smtClean="0"/>
              <a:t> </a:t>
            </a:r>
            <a:r>
              <a:rPr lang="en-US" dirty="0" err="1" smtClean="0"/>
              <a:t>với</a:t>
            </a:r>
            <a:r>
              <a:rPr lang="en-US" dirty="0" smtClean="0"/>
              <a:t> </a:t>
            </a:r>
            <a:r>
              <a:rPr lang="en-US" dirty="0" err="1" smtClean="0"/>
              <a:t>lệnh</a:t>
            </a:r>
            <a:r>
              <a:rPr lang="en-US" dirty="0" smtClean="0"/>
              <a:t> </a:t>
            </a:r>
            <a:r>
              <a:rPr lang="en-US" b="1" dirty="0" smtClean="0"/>
              <a:t>print</a:t>
            </a:r>
            <a:r>
              <a:rPr lang="en-US" dirty="0" smtClean="0"/>
              <a:t> </a:t>
            </a:r>
            <a:r>
              <a:rPr lang="en-US" dirty="0" err="1" smtClean="0"/>
              <a:t>đóng</a:t>
            </a:r>
            <a:r>
              <a:rPr lang="en-US" dirty="0" smtClean="0"/>
              <a:t> </a:t>
            </a:r>
            <a:r>
              <a:rPr lang="en-US" dirty="0" err="1" smtClean="0"/>
              <a:t>vai</a:t>
            </a:r>
            <a:r>
              <a:rPr lang="en-US" dirty="0" smtClean="0"/>
              <a:t> </a:t>
            </a:r>
            <a:r>
              <a:rPr lang="en-US" dirty="0" err="1" smtClean="0"/>
              <a:t>trò</a:t>
            </a:r>
            <a:r>
              <a:rPr lang="en-US" dirty="0" smtClean="0"/>
              <a:t> </a:t>
            </a:r>
            <a:r>
              <a:rPr lang="en-US" dirty="0" err="1" smtClean="0"/>
              <a:t>là</a:t>
            </a:r>
            <a:r>
              <a:rPr lang="en-US" dirty="0" smtClean="0"/>
              <a:t> </a:t>
            </a:r>
            <a:r>
              <a:rPr lang="en-US" dirty="0" err="1" smtClean="0"/>
              <a:t>đâu</a:t>
            </a:r>
            <a:r>
              <a:rPr lang="en-US" dirty="0" smtClean="0"/>
              <a:t> </a:t>
            </a:r>
            <a:r>
              <a:rPr lang="en-US" dirty="0" err="1" smtClean="0"/>
              <a:t>ra</a:t>
            </a:r>
            <a:r>
              <a:rPr lang="en-US" dirty="0" smtClean="0"/>
              <a:t> </a:t>
            </a:r>
            <a:r>
              <a:rPr lang="en-US" dirty="0" err="1" smtClean="0"/>
              <a:t>của</a:t>
            </a:r>
            <a:r>
              <a:rPr lang="en-US" dirty="0" smtClean="0"/>
              <a:t> </a:t>
            </a:r>
            <a:r>
              <a:rPr lang="en-US" dirty="0" err="1" smtClean="0"/>
              <a:t>chương</a:t>
            </a:r>
            <a:r>
              <a:rPr lang="en-US" dirty="0" smtClean="0"/>
              <a:t> </a:t>
            </a:r>
            <a:r>
              <a:rPr lang="en-US" dirty="0" err="1" smtClean="0"/>
              <a:t>trình</a:t>
            </a:r>
            <a:r>
              <a:rPr lang="en-US" dirty="0" smtClean="0"/>
              <a:t>. </a:t>
            </a:r>
            <a:r>
              <a:rPr lang="en-US" dirty="0" err="1" smtClean="0"/>
              <a:t>Bài</a:t>
            </a:r>
            <a:r>
              <a:rPr lang="en-US" dirty="0" smtClean="0"/>
              <a:t> </a:t>
            </a:r>
            <a:r>
              <a:rPr lang="en-US" dirty="0" err="1" smtClean="0"/>
              <a:t>này</a:t>
            </a:r>
            <a:r>
              <a:rPr lang="en-US" dirty="0" smtClean="0"/>
              <a:t> </a:t>
            </a:r>
            <a:r>
              <a:rPr lang="en-US" dirty="0" err="1" smtClean="0"/>
              <a:t>chúng</a:t>
            </a:r>
            <a:r>
              <a:rPr lang="en-US" dirty="0" smtClean="0"/>
              <a:t> ta </a:t>
            </a:r>
            <a:r>
              <a:rPr lang="en-US" dirty="0" err="1" smtClean="0"/>
              <a:t>sẽ</a:t>
            </a:r>
            <a:r>
              <a:rPr lang="en-US" dirty="0" smtClean="0"/>
              <a:t> </a:t>
            </a:r>
            <a:r>
              <a:rPr lang="en-US" dirty="0" err="1" smtClean="0"/>
              <a:t>làm</a:t>
            </a:r>
            <a:r>
              <a:rPr lang="en-US" dirty="0" smtClean="0"/>
              <a:t> </a:t>
            </a:r>
            <a:r>
              <a:rPr lang="en-US" dirty="0" err="1" smtClean="0"/>
              <a:t>quen</a:t>
            </a:r>
            <a:r>
              <a:rPr lang="en-US" dirty="0" smtClean="0"/>
              <a:t> </a:t>
            </a:r>
            <a:r>
              <a:rPr lang="en-US" dirty="0" err="1" smtClean="0"/>
              <a:t>với</a:t>
            </a:r>
            <a:r>
              <a:rPr lang="en-US" dirty="0" smtClean="0"/>
              <a:t> input </a:t>
            </a:r>
            <a:r>
              <a:rPr lang="en-US" dirty="0" err="1" smtClean="0"/>
              <a:t>là</a:t>
            </a:r>
            <a:r>
              <a:rPr lang="en-US" dirty="0" smtClean="0"/>
              <a:t> </a:t>
            </a:r>
            <a:r>
              <a:rPr lang="en-US" dirty="0" err="1" smtClean="0"/>
              <a:t>đầu</a:t>
            </a:r>
            <a:r>
              <a:rPr lang="en-US" dirty="0" smtClean="0"/>
              <a:t> </a:t>
            </a:r>
            <a:r>
              <a:rPr lang="en-US" dirty="0" err="1" smtClean="0"/>
              <a:t>vào</a:t>
            </a:r>
            <a:endParaRPr lang="en-US" dirty="0"/>
          </a:p>
        </p:txBody>
      </p:sp>
      <p:sp>
        <p:nvSpPr>
          <p:cNvPr id="16" name="TextBox 15"/>
          <p:cNvSpPr txBox="1"/>
          <p:nvPr/>
        </p:nvSpPr>
        <p:spPr>
          <a:xfrm>
            <a:off x="925033" y="5196584"/>
            <a:ext cx="7230139" cy="646331"/>
          </a:xfrm>
          <a:prstGeom prst="rect">
            <a:avLst/>
          </a:prstGeom>
          <a:noFill/>
        </p:spPr>
        <p:txBody>
          <a:bodyPr wrap="square" rtlCol="0">
            <a:spAutoFit/>
          </a:bodyPr>
          <a:lstStyle/>
          <a:p>
            <a:r>
              <a:rPr lang="en-US" dirty="0" err="1" smtClean="0"/>
              <a:t>Hàm</a:t>
            </a:r>
            <a:r>
              <a:rPr lang="en-US" dirty="0" smtClean="0"/>
              <a:t> </a:t>
            </a:r>
            <a:r>
              <a:rPr lang="en-US" b="1" dirty="0" smtClean="0"/>
              <a:t>input() </a:t>
            </a:r>
            <a:r>
              <a:rPr lang="en-US" dirty="0" err="1" smtClean="0"/>
              <a:t>dùng</a:t>
            </a:r>
            <a:r>
              <a:rPr lang="en-US" dirty="0" smtClean="0"/>
              <a:t> </a:t>
            </a:r>
            <a:r>
              <a:rPr lang="en-US" dirty="0" err="1" smtClean="0"/>
              <a:t>thực</a:t>
            </a:r>
            <a:r>
              <a:rPr lang="en-US" dirty="0" smtClean="0"/>
              <a:t> </a:t>
            </a:r>
            <a:r>
              <a:rPr lang="en-US" dirty="0" err="1" smtClean="0"/>
              <a:t>hiện</a:t>
            </a:r>
            <a:r>
              <a:rPr lang="en-US" dirty="0" smtClean="0"/>
              <a:t> </a:t>
            </a:r>
            <a:r>
              <a:rPr lang="en-US" dirty="0" err="1" smtClean="0"/>
              <a:t>việc</a:t>
            </a:r>
            <a:r>
              <a:rPr lang="en-US" dirty="0" smtClean="0"/>
              <a:t> </a:t>
            </a:r>
            <a:r>
              <a:rPr lang="en-US" b="1" dirty="0" err="1" smtClean="0"/>
              <a:t>lấy</a:t>
            </a:r>
            <a:r>
              <a:rPr lang="en-US" b="1" dirty="0" smtClean="0"/>
              <a:t> </a:t>
            </a:r>
            <a:r>
              <a:rPr lang="en-US" b="1" dirty="0" err="1" smtClean="0"/>
              <a:t>dữ</a:t>
            </a:r>
            <a:r>
              <a:rPr lang="en-US" b="1" dirty="0" smtClean="0"/>
              <a:t> </a:t>
            </a:r>
            <a:r>
              <a:rPr lang="en-US" b="1" dirty="0" err="1" smtClean="0"/>
              <a:t>liệu</a:t>
            </a:r>
            <a:r>
              <a:rPr lang="en-US" b="1" dirty="0" smtClean="0"/>
              <a:t> </a:t>
            </a:r>
            <a:r>
              <a:rPr lang="en-US" b="1" dirty="0" err="1" smtClean="0"/>
              <a:t>nhập</a:t>
            </a:r>
            <a:r>
              <a:rPr lang="en-US" b="1" dirty="0" smtClean="0"/>
              <a:t> </a:t>
            </a:r>
            <a:r>
              <a:rPr lang="en-US" b="1" dirty="0" err="1" smtClean="0"/>
              <a:t>từ</a:t>
            </a:r>
            <a:r>
              <a:rPr lang="en-US" b="1" dirty="0" smtClean="0"/>
              <a:t> </a:t>
            </a:r>
            <a:r>
              <a:rPr lang="en-US" b="1" dirty="0" err="1" smtClean="0"/>
              <a:t>bàn</a:t>
            </a:r>
            <a:r>
              <a:rPr lang="en-US" b="1" dirty="0" smtClean="0"/>
              <a:t> </a:t>
            </a:r>
            <a:r>
              <a:rPr lang="en-US" b="1" dirty="0" err="1" smtClean="0"/>
              <a:t>phím</a:t>
            </a:r>
            <a:r>
              <a:rPr lang="en-US" b="1" dirty="0" smtClean="0"/>
              <a:t> </a:t>
            </a:r>
            <a:r>
              <a:rPr lang="en-US" dirty="0" err="1" smtClean="0"/>
              <a:t>làm</a:t>
            </a:r>
            <a:r>
              <a:rPr lang="en-US" dirty="0" smtClean="0"/>
              <a:t> </a:t>
            </a:r>
            <a:r>
              <a:rPr lang="en-US" dirty="0" err="1" smtClean="0"/>
              <a:t>giá</a:t>
            </a:r>
            <a:r>
              <a:rPr lang="en-US" dirty="0" smtClean="0"/>
              <a:t> </a:t>
            </a:r>
            <a:r>
              <a:rPr lang="en-US" dirty="0" err="1" smtClean="0"/>
              <a:t>trị</a:t>
            </a:r>
            <a:r>
              <a:rPr lang="en-US" dirty="0" smtClean="0"/>
              <a:t> </a:t>
            </a:r>
            <a:r>
              <a:rPr lang="en-US" dirty="0" err="1" smtClean="0"/>
              <a:t>đầu</a:t>
            </a:r>
            <a:r>
              <a:rPr lang="en-US" dirty="0" smtClean="0"/>
              <a:t> </a:t>
            </a:r>
            <a:r>
              <a:rPr lang="en-US" dirty="0" err="1" smtClean="0"/>
              <a:t>vào</a:t>
            </a:r>
            <a:r>
              <a:rPr lang="en-US" dirty="0" smtClean="0"/>
              <a:t> </a:t>
            </a:r>
            <a:r>
              <a:rPr lang="en-US" dirty="0" err="1" smtClean="0"/>
              <a:t>cho</a:t>
            </a:r>
            <a:r>
              <a:rPr lang="en-US" dirty="0" smtClean="0"/>
              <a:t> </a:t>
            </a:r>
            <a:r>
              <a:rPr lang="en-US" dirty="0" err="1" smtClean="0"/>
              <a:t>chương</a:t>
            </a:r>
            <a:r>
              <a:rPr lang="en-US" dirty="0" smtClean="0"/>
              <a:t> </a:t>
            </a:r>
            <a:r>
              <a:rPr lang="en-US" dirty="0" err="1" smtClean="0"/>
              <a:t>trình</a:t>
            </a:r>
            <a:endParaRPr lang="en-US" dirty="0"/>
          </a:p>
        </p:txBody>
      </p:sp>
      <p:sp>
        <p:nvSpPr>
          <p:cNvPr id="4" name="Rectangle 3"/>
          <p:cNvSpPr/>
          <p:nvPr/>
        </p:nvSpPr>
        <p:spPr>
          <a:xfrm>
            <a:off x="3296093" y="4084953"/>
            <a:ext cx="2158409" cy="604005"/>
          </a:xfrm>
          <a:prstGeom prst="rect">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smtClean="0"/>
              <a:t>Chương</a:t>
            </a:r>
            <a:r>
              <a:rPr lang="en-US" b="1" dirty="0" smtClean="0"/>
              <a:t> </a:t>
            </a:r>
            <a:r>
              <a:rPr lang="en-US" b="1" dirty="0" err="1" smtClean="0"/>
              <a:t>trình</a:t>
            </a:r>
            <a:endParaRPr lang="en-US" b="1" dirty="0"/>
          </a:p>
        </p:txBody>
      </p:sp>
      <p:sp>
        <p:nvSpPr>
          <p:cNvPr id="17" name="TextBox 16"/>
          <p:cNvSpPr txBox="1"/>
          <p:nvPr/>
        </p:nvSpPr>
        <p:spPr>
          <a:xfrm>
            <a:off x="999461" y="4270614"/>
            <a:ext cx="1137683" cy="369332"/>
          </a:xfrm>
          <a:prstGeom prst="rect">
            <a:avLst/>
          </a:prstGeom>
          <a:noFill/>
        </p:spPr>
        <p:txBody>
          <a:bodyPr wrap="square" rtlCol="0">
            <a:spAutoFit/>
          </a:bodyPr>
          <a:lstStyle/>
          <a:p>
            <a:r>
              <a:rPr lang="en-US" b="1" dirty="0" smtClean="0"/>
              <a:t>Input</a:t>
            </a:r>
            <a:endParaRPr lang="en-US" dirty="0"/>
          </a:p>
        </p:txBody>
      </p:sp>
      <p:sp>
        <p:nvSpPr>
          <p:cNvPr id="18" name="TextBox 17"/>
          <p:cNvSpPr txBox="1"/>
          <p:nvPr/>
        </p:nvSpPr>
        <p:spPr>
          <a:xfrm>
            <a:off x="6943062" y="4270614"/>
            <a:ext cx="1137683" cy="369332"/>
          </a:xfrm>
          <a:prstGeom prst="rect">
            <a:avLst/>
          </a:prstGeom>
          <a:noFill/>
        </p:spPr>
        <p:txBody>
          <a:bodyPr wrap="square" rtlCol="0">
            <a:spAutoFit/>
          </a:bodyPr>
          <a:lstStyle/>
          <a:p>
            <a:r>
              <a:rPr lang="en-US" b="1" dirty="0" smtClean="0"/>
              <a:t>Output</a:t>
            </a:r>
            <a:endParaRPr lang="en-US" dirty="0"/>
          </a:p>
        </p:txBody>
      </p:sp>
      <p:cxnSp>
        <p:nvCxnSpPr>
          <p:cNvPr id="6" name="Straight Arrow Connector 5"/>
          <p:cNvCxnSpPr/>
          <p:nvPr/>
        </p:nvCxnSpPr>
        <p:spPr>
          <a:xfrm>
            <a:off x="1733107" y="4455280"/>
            <a:ext cx="14514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5497033" y="4455280"/>
            <a:ext cx="14514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041452" y="4085948"/>
            <a:ext cx="956930" cy="369332"/>
          </a:xfrm>
          <a:prstGeom prst="rect">
            <a:avLst/>
          </a:prstGeom>
          <a:noFill/>
        </p:spPr>
        <p:txBody>
          <a:bodyPr wrap="square" rtlCol="0">
            <a:spAutoFit/>
          </a:bodyPr>
          <a:lstStyle/>
          <a:p>
            <a:r>
              <a:rPr lang="en-US" dirty="0" smtClean="0"/>
              <a:t>Input()</a:t>
            </a:r>
            <a:endParaRPr lang="en-US" dirty="0"/>
          </a:p>
        </p:txBody>
      </p:sp>
      <p:sp>
        <p:nvSpPr>
          <p:cNvPr id="21" name="TextBox 20"/>
          <p:cNvSpPr txBox="1"/>
          <p:nvPr/>
        </p:nvSpPr>
        <p:spPr>
          <a:xfrm>
            <a:off x="5810788" y="4085948"/>
            <a:ext cx="956930" cy="369332"/>
          </a:xfrm>
          <a:prstGeom prst="rect">
            <a:avLst/>
          </a:prstGeom>
          <a:noFill/>
        </p:spPr>
        <p:txBody>
          <a:bodyPr wrap="square" rtlCol="0">
            <a:spAutoFit/>
          </a:bodyPr>
          <a:lstStyle/>
          <a:p>
            <a:r>
              <a:rPr lang="en-US" dirty="0" smtClean="0"/>
              <a:t>print()</a:t>
            </a:r>
            <a:endParaRPr lang="en-US" dirty="0"/>
          </a:p>
        </p:txBody>
      </p:sp>
    </p:spTree>
    <p:extLst>
      <p:ext uri="{BB962C8B-B14F-4D97-AF65-F5344CB8AC3E}">
        <p14:creationId xmlns:p14="http://schemas.microsoft.com/office/powerpoint/2010/main" val="19865289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21</a:t>
            </a:fld>
            <a:endParaRPr lang="en-US"/>
          </a:p>
        </p:txBody>
      </p:sp>
      <p:sp>
        <p:nvSpPr>
          <p:cNvPr id="11" name="Text Placeholder 2"/>
          <p:cNvSpPr txBox="1">
            <a:spLocks/>
          </p:cNvSpPr>
          <p:nvPr/>
        </p:nvSpPr>
        <p:spPr>
          <a:xfrm>
            <a:off x="227558" y="828573"/>
            <a:ext cx="8454964" cy="424732"/>
          </a:xfrm>
          <a:prstGeom prst="rect">
            <a:avLst/>
          </a:prstGeom>
          <a:noFill/>
        </p:spPr>
        <p:txBody>
          <a:bodyPr vert="horz" wrap="square" lIns="91440" tIns="45720" rIns="91440" bIns="45720" rtlCol="0">
            <a:spAutoFit/>
          </a:bodyPr>
          <a:lstStyle>
            <a:lvl1pPr marL="0" indent="0" algn="l" defTabSz="914400" rtl="0" eaLnBrk="1" latinLnBrk="0" hangingPunct="1">
              <a:lnSpc>
                <a:spcPct val="90000"/>
              </a:lnSpc>
              <a:spcBef>
                <a:spcPts val="1000"/>
              </a:spcBef>
              <a:buFont typeface="Arial" panose="020B0604020202020204" pitchFamily="34" charset="0"/>
              <a:buNone/>
              <a:defRPr lang="en-US" sz="2400" b="1" kern="1200" dirty="0" smtClean="0">
                <a:solidFill>
                  <a:srgbClr val="64C7E9"/>
                </a:solidFill>
                <a:latin typeface="+mn-lt"/>
                <a:ea typeface="Roboto"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mtClean="0"/>
              <a:t>2.7 </a:t>
            </a:r>
            <a:r>
              <a:rPr lang="en-US" dirty="0" err="1"/>
              <a:t>Tìm</a:t>
            </a:r>
            <a:r>
              <a:rPr lang="en-US" dirty="0"/>
              <a:t> </a:t>
            </a:r>
            <a:r>
              <a:rPr lang="en-US" dirty="0" err="1"/>
              <a:t>hiểu</a:t>
            </a:r>
            <a:r>
              <a:rPr lang="en-US" dirty="0"/>
              <a:t> </a:t>
            </a:r>
            <a:r>
              <a:rPr lang="en-US" dirty="0" err="1"/>
              <a:t>về</a:t>
            </a:r>
            <a:r>
              <a:rPr lang="en-US" dirty="0"/>
              <a:t> </a:t>
            </a:r>
            <a:r>
              <a:rPr lang="en-US" dirty="0" err="1" smtClean="0"/>
              <a:t>lệnh</a:t>
            </a:r>
            <a:r>
              <a:rPr lang="en-US" dirty="0" smtClean="0"/>
              <a:t> </a:t>
            </a:r>
            <a:r>
              <a:rPr lang="en-US" dirty="0"/>
              <a:t>input()</a:t>
            </a:r>
          </a:p>
        </p:txBody>
      </p:sp>
      <p:pic>
        <p:nvPicPr>
          <p:cNvPr id="12"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80670"/>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1041993" y="1621244"/>
            <a:ext cx="2955849" cy="369332"/>
          </a:xfrm>
          <a:prstGeom prst="rect">
            <a:avLst/>
          </a:prstGeom>
          <a:noFill/>
        </p:spPr>
        <p:txBody>
          <a:bodyPr wrap="square" rtlCol="0">
            <a:spAutoFit/>
          </a:bodyPr>
          <a:lstStyle/>
          <a:p>
            <a:r>
              <a:rPr lang="en-US" b="1" dirty="0" err="1" smtClean="0"/>
              <a:t>Cú</a:t>
            </a:r>
            <a:r>
              <a:rPr lang="en-US" b="1" dirty="0" smtClean="0"/>
              <a:t> </a:t>
            </a:r>
            <a:r>
              <a:rPr lang="en-US" b="1" dirty="0" err="1" smtClean="0"/>
              <a:t>pháp</a:t>
            </a:r>
            <a:r>
              <a:rPr lang="en-US" b="1" dirty="0" smtClean="0"/>
              <a:t> </a:t>
            </a:r>
            <a:r>
              <a:rPr lang="en-US" b="1" dirty="0" err="1" smtClean="0"/>
              <a:t>lệnh</a:t>
            </a:r>
            <a:r>
              <a:rPr lang="en-US" b="1" dirty="0" smtClean="0"/>
              <a:t> input()</a:t>
            </a:r>
            <a:endParaRPr lang="en-US" b="1" dirty="0">
              <a:solidFill>
                <a:srgbClr val="FF0000"/>
              </a:solidFill>
            </a:endParaRPr>
          </a:p>
        </p:txBody>
      </p:sp>
      <p:sp>
        <p:nvSpPr>
          <p:cNvPr id="14" name="TextBox 13"/>
          <p:cNvSpPr txBox="1"/>
          <p:nvPr/>
        </p:nvSpPr>
        <p:spPr>
          <a:xfrm>
            <a:off x="1127051" y="2206035"/>
            <a:ext cx="7555471" cy="584775"/>
          </a:xfrm>
          <a:prstGeom prst="rect">
            <a:avLst/>
          </a:prstGeom>
          <a:noFill/>
        </p:spPr>
        <p:txBody>
          <a:bodyPr wrap="square" rtlCol="0">
            <a:spAutoFit/>
          </a:bodyPr>
          <a:lstStyle/>
          <a:p>
            <a:r>
              <a:rPr lang="en-US" sz="3200" b="1" dirty="0" err="1">
                <a:solidFill>
                  <a:srgbClr val="FF0000"/>
                </a:solidFill>
              </a:rPr>
              <a:t>tên_biến</a:t>
            </a:r>
            <a:r>
              <a:rPr lang="en-US" sz="3200" b="1" dirty="0">
                <a:solidFill>
                  <a:srgbClr val="FF0000"/>
                </a:solidFill>
              </a:rPr>
              <a:t> = </a:t>
            </a:r>
            <a:r>
              <a:rPr lang="en-US" sz="3200" b="1" dirty="0" smtClean="0"/>
              <a:t>input(</a:t>
            </a:r>
            <a:r>
              <a:rPr lang="en-US" sz="3200" b="1" dirty="0" smtClean="0">
                <a:solidFill>
                  <a:srgbClr val="FF0000"/>
                </a:solidFill>
              </a:rPr>
              <a:t>‘</a:t>
            </a:r>
            <a:r>
              <a:rPr lang="en-US" sz="3200" b="1" dirty="0" err="1" smtClean="0">
                <a:solidFill>
                  <a:srgbClr val="FF0000"/>
                </a:solidFill>
              </a:rPr>
              <a:t>Nội</a:t>
            </a:r>
            <a:r>
              <a:rPr lang="en-US" sz="3200" b="1" dirty="0" smtClean="0">
                <a:solidFill>
                  <a:srgbClr val="FF0000"/>
                </a:solidFill>
              </a:rPr>
              <a:t> dung </a:t>
            </a:r>
            <a:r>
              <a:rPr lang="en-US" sz="3200" b="1" dirty="0" err="1" smtClean="0">
                <a:solidFill>
                  <a:srgbClr val="FF0000"/>
                </a:solidFill>
              </a:rPr>
              <a:t>gợi</a:t>
            </a:r>
            <a:r>
              <a:rPr lang="en-US" sz="3200" b="1" dirty="0" smtClean="0">
                <a:solidFill>
                  <a:srgbClr val="FF0000"/>
                </a:solidFill>
              </a:rPr>
              <a:t> ý’</a:t>
            </a:r>
            <a:r>
              <a:rPr lang="en-US" sz="3200" b="1" dirty="0" smtClean="0"/>
              <a:t>)</a:t>
            </a:r>
          </a:p>
        </p:txBody>
      </p:sp>
      <p:sp>
        <p:nvSpPr>
          <p:cNvPr id="15" name="TextBox 14"/>
          <p:cNvSpPr txBox="1"/>
          <p:nvPr/>
        </p:nvSpPr>
        <p:spPr>
          <a:xfrm>
            <a:off x="1041993" y="3088537"/>
            <a:ext cx="5603356" cy="369332"/>
          </a:xfrm>
          <a:prstGeom prst="rect">
            <a:avLst/>
          </a:prstGeom>
          <a:noFill/>
        </p:spPr>
        <p:txBody>
          <a:bodyPr wrap="square" rtlCol="0">
            <a:spAutoFit/>
          </a:bodyPr>
          <a:lstStyle/>
          <a:p>
            <a:r>
              <a:rPr lang="en-US" b="1" dirty="0" err="1"/>
              <a:t>tên_biến</a:t>
            </a:r>
            <a:r>
              <a:rPr lang="en-US" dirty="0"/>
              <a:t> </a:t>
            </a:r>
            <a:r>
              <a:rPr lang="en-US" dirty="0" err="1"/>
              <a:t>là</a:t>
            </a:r>
            <a:r>
              <a:rPr lang="en-US" dirty="0"/>
              <a:t> </a:t>
            </a:r>
            <a:r>
              <a:rPr lang="en-US" dirty="0" err="1"/>
              <a:t>tên</a:t>
            </a:r>
            <a:r>
              <a:rPr lang="en-US" dirty="0"/>
              <a:t> </a:t>
            </a:r>
            <a:r>
              <a:rPr lang="en-US" dirty="0" err="1"/>
              <a:t>mà</a:t>
            </a:r>
            <a:r>
              <a:rPr lang="en-US" dirty="0"/>
              <a:t> ta </a:t>
            </a:r>
            <a:r>
              <a:rPr lang="en-US" dirty="0" err="1"/>
              <a:t>muốn</a:t>
            </a:r>
            <a:r>
              <a:rPr lang="en-US" dirty="0"/>
              <a:t> </a:t>
            </a:r>
            <a:r>
              <a:rPr lang="en-US" dirty="0" err="1"/>
              <a:t>đặt</a:t>
            </a:r>
            <a:r>
              <a:rPr lang="en-US" dirty="0"/>
              <a:t> </a:t>
            </a:r>
            <a:r>
              <a:rPr lang="en-US" dirty="0" err="1"/>
              <a:t>cho</a:t>
            </a:r>
            <a:r>
              <a:rPr lang="en-US" dirty="0"/>
              <a:t> </a:t>
            </a:r>
            <a:r>
              <a:rPr lang="en-US" dirty="0" err="1"/>
              <a:t>biến</a:t>
            </a:r>
            <a:endParaRPr lang="en-US" dirty="0"/>
          </a:p>
        </p:txBody>
      </p:sp>
      <p:sp>
        <p:nvSpPr>
          <p:cNvPr id="17" name="TextBox 16"/>
          <p:cNvSpPr txBox="1"/>
          <p:nvPr/>
        </p:nvSpPr>
        <p:spPr>
          <a:xfrm>
            <a:off x="1041993" y="3620165"/>
            <a:ext cx="7208872" cy="646331"/>
          </a:xfrm>
          <a:prstGeom prst="rect">
            <a:avLst/>
          </a:prstGeom>
          <a:noFill/>
        </p:spPr>
        <p:txBody>
          <a:bodyPr wrap="square" rtlCol="0">
            <a:spAutoFit/>
          </a:bodyPr>
          <a:lstStyle/>
          <a:p>
            <a:r>
              <a:rPr lang="en-US" b="1" dirty="0" err="1" smtClean="0"/>
              <a:t>Nội</a:t>
            </a:r>
            <a:r>
              <a:rPr lang="en-US" b="1" dirty="0" smtClean="0"/>
              <a:t> dung </a:t>
            </a:r>
            <a:r>
              <a:rPr lang="en-US" b="1" dirty="0" err="1" smtClean="0"/>
              <a:t>gợi</a:t>
            </a:r>
            <a:r>
              <a:rPr lang="en-US" b="1" dirty="0" smtClean="0"/>
              <a:t> ý</a:t>
            </a:r>
            <a:r>
              <a:rPr lang="en-US" dirty="0" smtClean="0"/>
              <a:t> </a:t>
            </a:r>
            <a:r>
              <a:rPr lang="en-US" dirty="0" err="1"/>
              <a:t>là</a:t>
            </a:r>
            <a:r>
              <a:rPr lang="en-US" dirty="0"/>
              <a:t> </a:t>
            </a:r>
            <a:r>
              <a:rPr lang="en-US" dirty="0" err="1" smtClean="0"/>
              <a:t>là</a:t>
            </a:r>
            <a:r>
              <a:rPr lang="en-US" dirty="0" smtClean="0"/>
              <a:t> </a:t>
            </a:r>
            <a:r>
              <a:rPr lang="en-US" dirty="0" err="1" smtClean="0"/>
              <a:t>câu</a:t>
            </a:r>
            <a:r>
              <a:rPr lang="en-US" dirty="0" smtClean="0"/>
              <a:t> </a:t>
            </a:r>
            <a:r>
              <a:rPr lang="en-US" dirty="0" err="1" smtClean="0"/>
              <a:t>từ</a:t>
            </a:r>
            <a:r>
              <a:rPr lang="en-US" dirty="0" smtClean="0"/>
              <a:t> </a:t>
            </a:r>
            <a:r>
              <a:rPr lang="en-US" dirty="0" err="1" smtClean="0"/>
              <a:t>mà</a:t>
            </a:r>
            <a:r>
              <a:rPr lang="en-US" dirty="0" smtClean="0"/>
              <a:t> </a:t>
            </a:r>
            <a:r>
              <a:rPr lang="en-US" dirty="0" err="1" smtClean="0"/>
              <a:t>mình</a:t>
            </a:r>
            <a:r>
              <a:rPr lang="en-US" dirty="0" smtClean="0"/>
              <a:t> </a:t>
            </a:r>
            <a:r>
              <a:rPr lang="en-US" dirty="0" err="1" smtClean="0"/>
              <a:t>hiển</a:t>
            </a:r>
            <a:r>
              <a:rPr lang="en-US" dirty="0" smtClean="0"/>
              <a:t> </a:t>
            </a:r>
            <a:r>
              <a:rPr lang="en-US" dirty="0" err="1" smtClean="0"/>
              <a:t>thị</a:t>
            </a:r>
            <a:r>
              <a:rPr lang="en-US" dirty="0" smtClean="0"/>
              <a:t> </a:t>
            </a:r>
            <a:r>
              <a:rPr lang="en-US" dirty="0" err="1" smtClean="0"/>
              <a:t>ra</a:t>
            </a:r>
            <a:r>
              <a:rPr lang="en-US" dirty="0" smtClean="0"/>
              <a:t> </a:t>
            </a:r>
            <a:r>
              <a:rPr lang="en-US" dirty="0" err="1" smtClean="0"/>
              <a:t>để</a:t>
            </a:r>
            <a:r>
              <a:rPr lang="en-US" dirty="0" smtClean="0"/>
              <a:t> </a:t>
            </a:r>
            <a:r>
              <a:rPr lang="en-US" dirty="0" err="1" smtClean="0"/>
              <a:t>người</a:t>
            </a:r>
            <a:r>
              <a:rPr lang="en-US" dirty="0" smtClean="0"/>
              <a:t> </a:t>
            </a:r>
            <a:r>
              <a:rPr lang="en-US" dirty="0" err="1" smtClean="0"/>
              <a:t>dùng</a:t>
            </a:r>
            <a:r>
              <a:rPr lang="en-US" dirty="0" smtClean="0"/>
              <a:t> </a:t>
            </a:r>
            <a:r>
              <a:rPr lang="en-US" dirty="0" err="1" smtClean="0"/>
              <a:t>biết</a:t>
            </a:r>
            <a:r>
              <a:rPr lang="en-US" dirty="0" smtClean="0"/>
              <a:t> </a:t>
            </a:r>
            <a:r>
              <a:rPr lang="en-US" dirty="0" err="1" smtClean="0"/>
              <a:t>nên</a:t>
            </a:r>
            <a:r>
              <a:rPr lang="en-US" dirty="0" smtClean="0"/>
              <a:t> </a:t>
            </a:r>
            <a:r>
              <a:rPr lang="en-US" dirty="0" err="1" smtClean="0"/>
              <a:t>nhập</a:t>
            </a:r>
            <a:r>
              <a:rPr lang="en-US" dirty="0" smtClean="0"/>
              <a:t> </a:t>
            </a:r>
            <a:r>
              <a:rPr lang="en-US" dirty="0" err="1" smtClean="0"/>
              <a:t>cái</a:t>
            </a:r>
            <a:r>
              <a:rPr lang="en-US" dirty="0" smtClean="0"/>
              <a:t> </a:t>
            </a:r>
            <a:r>
              <a:rPr lang="en-US" dirty="0" err="1" smtClean="0"/>
              <a:t>gì</a:t>
            </a:r>
            <a:r>
              <a:rPr lang="en-US" dirty="0" smtClean="0"/>
              <a:t> </a:t>
            </a:r>
            <a:r>
              <a:rPr lang="en-US" dirty="0" err="1" smtClean="0"/>
              <a:t>vào</a:t>
            </a:r>
            <a:r>
              <a:rPr lang="en-US" dirty="0" smtClean="0"/>
              <a:t> </a:t>
            </a:r>
            <a:r>
              <a:rPr lang="en-US" dirty="0" err="1" smtClean="0"/>
              <a:t>từ</a:t>
            </a:r>
            <a:r>
              <a:rPr lang="en-US" dirty="0" smtClean="0"/>
              <a:t> </a:t>
            </a:r>
            <a:r>
              <a:rPr lang="en-US" dirty="0" err="1" smtClean="0"/>
              <a:t>bàn</a:t>
            </a:r>
            <a:r>
              <a:rPr lang="en-US" dirty="0" smtClean="0"/>
              <a:t> </a:t>
            </a:r>
            <a:r>
              <a:rPr lang="en-US" dirty="0" err="1" smtClean="0"/>
              <a:t>phím</a:t>
            </a:r>
            <a:endParaRPr lang="en-US" dirty="0"/>
          </a:p>
        </p:txBody>
      </p:sp>
      <p:sp>
        <p:nvSpPr>
          <p:cNvPr id="18" name="Diamond 17"/>
          <p:cNvSpPr/>
          <p:nvPr/>
        </p:nvSpPr>
        <p:spPr>
          <a:xfrm>
            <a:off x="774221" y="3180870"/>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iamond 18"/>
          <p:cNvSpPr/>
          <p:nvPr/>
        </p:nvSpPr>
        <p:spPr>
          <a:xfrm>
            <a:off x="774221" y="3723131"/>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910062" y="4937804"/>
            <a:ext cx="7846828" cy="121228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p:cNvSpPr txBox="1"/>
          <p:nvPr/>
        </p:nvSpPr>
        <p:spPr>
          <a:xfrm>
            <a:off x="1090816" y="5126681"/>
            <a:ext cx="7110974" cy="369332"/>
          </a:xfrm>
          <a:prstGeom prst="rect">
            <a:avLst/>
          </a:prstGeom>
          <a:noFill/>
        </p:spPr>
        <p:txBody>
          <a:bodyPr wrap="square" rtlCol="0">
            <a:spAutoFit/>
          </a:bodyPr>
          <a:lstStyle/>
          <a:p>
            <a:r>
              <a:rPr lang="en-US" dirty="0">
                <a:solidFill>
                  <a:schemeClr val="bg1"/>
                </a:solidFill>
              </a:rPr>
              <a:t>n</a:t>
            </a:r>
            <a:r>
              <a:rPr lang="en-US" dirty="0" smtClean="0">
                <a:solidFill>
                  <a:schemeClr val="bg1"/>
                </a:solidFill>
              </a:rPr>
              <a:t>ame  = input</a:t>
            </a:r>
            <a:r>
              <a:rPr lang="en-US" dirty="0" smtClean="0">
                <a:solidFill>
                  <a:schemeClr val="accent4">
                    <a:lumMod val="60000"/>
                    <a:lumOff val="40000"/>
                  </a:schemeClr>
                </a:solidFill>
              </a:rPr>
              <a:t>(</a:t>
            </a:r>
            <a:r>
              <a:rPr lang="en-US" dirty="0" smtClean="0">
                <a:solidFill>
                  <a:schemeClr val="bg1"/>
                </a:solidFill>
              </a:rPr>
              <a:t>‘</a:t>
            </a:r>
            <a:r>
              <a:rPr lang="en-US" dirty="0" err="1" smtClean="0">
                <a:solidFill>
                  <a:schemeClr val="bg1"/>
                </a:solidFill>
              </a:rPr>
              <a:t>Vui</a:t>
            </a:r>
            <a:r>
              <a:rPr lang="en-US" dirty="0" smtClean="0">
                <a:solidFill>
                  <a:schemeClr val="bg1"/>
                </a:solidFill>
              </a:rPr>
              <a:t> </a:t>
            </a:r>
            <a:r>
              <a:rPr lang="en-US" dirty="0" err="1" smtClean="0">
                <a:solidFill>
                  <a:schemeClr val="bg1"/>
                </a:solidFill>
              </a:rPr>
              <a:t>lòng</a:t>
            </a:r>
            <a:r>
              <a:rPr lang="en-US" dirty="0" smtClean="0">
                <a:solidFill>
                  <a:schemeClr val="bg1"/>
                </a:solidFill>
              </a:rPr>
              <a:t> </a:t>
            </a:r>
            <a:r>
              <a:rPr lang="en-US" dirty="0" err="1" smtClean="0">
                <a:solidFill>
                  <a:schemeClr val="bg1"/>
                </a:solidFill>
              </a:rPr>
              <a:t>nhập</a:t>
            </a:r>
            <a:r>
              <a:rPr lang="en-US" dirty="0" smtClean="0">
                <a:solidFill>
                  <a:schemeClr val="bg1"/>
                </a:solidFill>
              </a:rPr>
              <a:t> </a:t>
            </a:r>
            <a:r>
              <a:rPr lang="en-US" dirty="0" err="1" smtClean="0">
                <a:solidFill>
                  <a:schemeClr val="bg1"/>
                </a:solidFill>
              </a:rPr>
              <a:t>vào</a:t>
            </a:r>
            <a:r>
              <a:rPr lang="en-US" dirty="0" smtClean="0">
                <a:solidFill>
                  <a:schemeClr val="bg1"/>
                </a:solidFill>
              </a:rPr>
              <a:t> </a:t>
            </a:r>
            <a:r>
              <a:rPr lang="en-US" dirty="0" err="1" smtClean="0">
                <a:solidFill>
                  <a:schemeClr val="bg1"/>
                </a:solidFill>
              </a:rPr>
              <a:t>tên</a:t>
            </a:r>
            <a:r>
              <a:rPr lang="en-US" dirty="0" smtClean="0">
                <a:solidFill>
                  <a:schemeClr val="bg1"/>
                </a:solidFill>
              </a:rPr>
              <a:t> </a:t>
            </a:r>
            <a:r>
              <a:rPr lang="en-US" dirty="0" err="1" smtClean="0">
                <a:solidFill>
                  <a:schemeClr val="bg1"/>
                </a:solidFill>
              </a:rPr>
              <a:t>của</a:t>
            </a:r>
            <a:r>
              <a:rPr lang="en-US" dirty="0" smtClean="0">
                <a:solidFill>
                  <a:schemeClr val="bg1"/>
                </a:solidFill>
              </a:rPr>
              <a:t> </a:t>
            </a:r>
            <a:r>
              <a:rPr lang="en-US" dirty="0" err="1" smtClean="0">
                <a:solidFill>
                  <a:schemeClr val="bg1"/>
                </a:solidFill>
              </a:rPr>
              <a:t>bạn</a:t>
            </a:r>
            <a:r>
              <a:rPr lang="en-US" dirty="0" smtClean="0">
                <a:solidFill>
                  <a:schemeClr val="bg1"/>
                </a:solidFill>
              </a:rPr>
              <a:t>: ’</a:t>
            </a:r>
            <a:r>
              <a:rPr lang="en-US" dirty="0" smtClean="0">
                <a:solidFill>
                  <a:schemeClr val="accent4">
                    <a:lumMod val="60000"/>
                    <a:lumOff val="40000"/>
                  </a:schemeClr>
                </a:solidFill>
              </a:rPr>
              <a:t>)</a:t>
            </a:r>
            <a:endParaRPr lang="en-US" dirty="0">
              <a:solidFill>
                <a:schemeClr val="accent4">
                  <a:lumMod val="60000"/>
                  <a:lumOff val="40000"/>
                </a:schemeClr>
              </a:solidFill>
            </a:endParaRPr>
          </a:p>
        </p:txBody>
      </p:sp>
      <p:sp>
        <p:nvSpPr>
          <p:cNvPr id="23" name="TextBox 22"/>
          <p:cNvSpPr txBox="1"/>
          <p:nvPr/>
        </p:nvSpPr>
        <p:spPr>
          <a:xfrm>
            <a:off x="1127051" y="5561765"/>
            <a:ext cx="7687339" cy="369332"/>
          </a:xfrm>
          <a:prstGeom prst="rect">
            <a:avLst/>
          </a:prstGeom>
          <a:noFill/>
        </p:spPr>
        <p:txBody>
          <a:bodyPr wrap="square" rtlCol="0">
            <a:spAutoFit/>
          </a:bodyPr>
          <a:lstStyle/>
          <a:p>
            <a:r>
              <a:rPr lang="en-US" dirty="0" smtClean="0">
                <a:solidFill>
                  <a:schemeClr val="bg1"/>
                </a:solidFill>
              </a:rPr>
              <a:t>print</a:t>
            </a:r>
            <a:r>
              <a:rPr lang="en-US" dirty="0" smtClean="0">
                <a:solidFill>
                  <a:srgbClr val="FECC36"/>
                </a:solidFill>
              </a:rPr>
              <a:t>(‘Xin </a:t>
            </a:r>
            <a:r>
              <a:rPr lang="en-US" dirty="0" err="1" smtClean="0">
                <a:solidFill>
                  <a:srgbClr val="FECC36"/>
                </a:solidFill>
              </a:rPr>
              <a:t>chào</a:t>
            </a:r>
            <a:r>
              <a:rPr lang="en-US" dirty="0" smtClean="0">
                <a:solidFill>
                  <a:srgbClr val="FECC36"/>
                </a:solidFill>
              </a:rPr>
              <a:t>’ + </a:t>
            </a:r>
            <a:r>
              <a:rPr lang="en-US" dirty="0" smtClean="0">
                <a:solidFill>
                  <a:schemeClr val="bg1"/>
                </a:solidFill>
              </a:rPr>
              <a:t>name</a:t>
            </a:r>
            <a:r>
              <a:rPr lang="en-US" dirty="0" smtClean="0">
                <a:solidFill>
                  <a:srgbClr val="FECC36"/>
                </a:solidFill>
              </a:rPr>
              <a:t>)</a:t>
            </a:r>
            <a:endParaRPr lang="en-US" dirty="0">
              <a:solidFill>
                <a:srgbClr val="60B659"/>
              </a:solidFill>
            </a:endParaRPr>
          </a:p>
        </p:txBody>
      </p:sp>
      <p:sp>
        <p:nvSpPr>
          <p:cNvPr id="25" name="TextBox 24"/>
          <p:cNvSpPr txBox="1"/>
          <p:nvPr/>
        </p:nvSpPr>
        <p:spPr>
          <a:xfrm>
            <a:off x="866554" y="4428792"/>
            <a:ext cx="5603356" cy="369332"/>
          </a:xfrm>
          <a:prstGeom prst="rect">
            <a:avLst/>
          </a:prstGeom>
          <a:noFill/>
        </p:spPr>
        <p:txBody>
          <a:bodyPr wrap="square" rtlCol="0">
            <a:spAutoFit/>
          </a:bodyPr>
          <a:lstStyle/>
          <a:p>
            <a:r>
              <a:rPr lang="en-US" b="1" dirty="0" err="1" smtClean="0"/>
              <a:t>Ví</a:t>
            </a:r>
            <a:r>
              <a:rPr lang="en-US" b="1" dirty="0" smtClean="0"/>
              <a:t> </a:t>
            </a:r>
            <a:r>
              <a:rPr lang="en-US" b="1" dirty="0" err="1" smtClean="0"/>
              <a:t>dụ</a:t>
            </a:r>
            <a:r>
              <a:rPr lang="en-US" b="1" dirty="0" smtClean="0"/>
              <a:t>:</a:t>
            </a:r>
            <a:endParaRPr lang="en-US" dirty="0"/>
          </a:p>
        </p:txBody>
      </p:sp>
    </p:spTree>
    <p:extLst>
      <p:ext uri="{BB962C8B-B14F-4D97-AF65-F5344CB8AC3E}">
        <p14:creationId xmlns:p14="http://schemas.microsoft.com/office/powerpoint/2010/main" val="80350253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22</a:t>
            </a:fld>
            <a:endParaRPr lang="en-US"/>
          </a:p>
        </p:txBody>
      </p:sp>
      <p:sp>
        <p:nvSpPr>
          <p:cNvPr id="11" name="Text Placeholder 2"/>
          <p:cNvSpPr txBox="1">
            <a:spLocks/>
          </p:cNvSpPr>
          <p:nvPr/>
        </p:nvSpPr>
        <p:spPr>
          <a:xfrm>
            <a:off x="227558" y="828573"/>
            <a:ext cx="8454964" cy="424732"/>
          </a:xfrm>
          <a:prstGeom prst="rect">
            <a:avLst/>
          </a:prstGeom>
          <a:noFill/>
        </p:spPr>
        <p:txBody>
          <a:bodyPr vert="horz" wrap="square" lIns="91440" tIns="45720" rIns="91440" bIns="45720" rtlCol="0">
            <a:spAutoFit/>
          </a:bodyPr>
          <a:lstStyle>
            <a:lvl1pPr marL="0" indent="0" algn="l" defTabSz="914400" rtl="0" eaLnBrk="1" latinLnBrk="0" hangingPunct="1">
              <a:lnSpc>
                <a:spcPct val="90000"/>
              </a:lnSpc>
              <a:spcBef>
                <a:spcPts val="1000"/>
              </a:spcBef>
              <a:buFont typeface="Arial" panose="020B0604020202020204" pitchFamily="34" charset="0"/>
              <a:buNone/>
              <a:defRPr lang="en-US" sz="2400" b="1" kern="1200" dirty="0" smtClean="0">
                <a:solidFill>
                  <a:srgbClr val="64C7E9"/>
                </a:solidFill>
                <a:latin typeface="+mn-lt"/>
                <a:ea typeface="Roboto"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mtClean="0"/>
              <a:t>2.7 </a:t>
            </a:r>
            <a:r>
              <a:rPr lang="en-US" dirty="0" err="1"/>
              <a:t>Tìm</a:t>
            </a:r>
            <a:r>
              <a:rPr lang="en-US" dirty="0"/>
              <a:t> </a:t>
            </a:r>
            <a:r>
              <a:rPr lang="en-US" dirty="0" err="1"/>
              <a:t>hiểu</a:t>
            </a:r>
            <a:r>
              <a:rPr lang="en-US" dirty="0"/>
              <a:t> </a:t>
            </a:r>
            <a:r>
              <a:rPr lang="en-US" dirty="0" err="1"/>
              <a:t>về</a:t>
            </a:r>
            <a:r>
              <a:rPr lang="en-US" dirty="0"/>
              <a:t> </a:t>
            </a:r>
            <a:r>
              <a:rPr lang="en-US" dirty="0" err="1" smtClean="0"/>
              <a:t>lệnh</a:t>
            </a:r>
            <a:r>
              <a:rPr lang="en-US" dirty="0" smtClean="0"/>
              <a:t> </a:t>
            </a:r>
            <a:r>
              <a:rPr lang="en-US" dirty="0"/>
              <a:t>input()</a:t>
            </a:r>
          </a:p>
        </p:txBody>
      </p:sp>
      <p:pic>
        <p:nvPicPr>
          <p:cNvPr id="12"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80670"/>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1041993" y="1621244"/>
            <a:ext cx="3923412" cy="369332"/>
          </a:xfrm>
          <a:prstGeom prst="rect">
            <a:avLst/>
          </a:prstGeom>
          <a:noFill/>
        </p:spPr>
        <p:txBody>
          <a:bodyPr wrap="square" rtlCol="0">
            <a:spAutoFit/>
          </a:bodyPr>
          <a:lstStyle/>
          <a:p>
            <a:r>
              <a:rPr lang="en-US" b="1" dirty="0" err="1" smtClean="0"/>
              <a:t>Ví</a:t>
            </a:r>
            <a:r>
              <a:rPr lang="en-US" b="1" dirty="0" smtClean="0"/>
              <a:t> </a:t>
            </a:r>
            <a:r>
              <a:rPr lang="en-US" b="1" dirty="0" err="1" smtClean="0"/>
              <a:t>dụ</a:t>
            </a:r>
            <a:r>
              <a:rPr lang="en-US" b="1" dirty="0" smtClean="0"/>
              <a:t> </a:t>
            </a:r>
            <a:r>
              <a:rPr lang="en-US" b="1" dirty="0" err="1" smtClean="0"/>
              <a:t>về</a:t>
            </a:r>
            <a:r>
              <a:rPr lang="en-US" b="1" dirty="0" smtClean="0"/>
              <a:t> </a:t>
            </a:r>
            <a:r>
              <a:rPr lang="en-US" b="1" dirty="0" err="1" smtClean="0"/>
              <a:t>toán</a:t>
            </a:r>
            <a:r>
              <a:rPr lang="en-US" b="1" dirty="0" smtClean="0"/>
              <a:t> </a:t>
            </a:r>
            <a:r>
              <a:rPr lang="en-US" b="1" dirty="0" err="1" smtClean="0"/>
              <a:t>tử</a:t>
            </a:r>
            <a:r>
              <a:rPr lang="en-US" b="1" dirty="0" smtClean="0"/>
              <a:t> </a:t>
            </a:r>
            <a:r>
              <a:rPr lang="en-US" b="1" dirty="0" err="1" smtClean="0"/>
              <a:t>với</a:t>
            </a:r>
            <a:r>
              <a:rPr lang="en-US" b="1" dirty="0" smtClean="0"/>
              <a:t> input()</a:t>
            </a:r>
            <a:endParaRPr lang="en-US" b="1" dirty="0">
              <a:solidFill>
                <a:srgbClr val="FF0000"/>
              </a:solidFill>
            </a:endParaRPr>
          </a:p>
        </p:txBody>
      </p:sp>
      <p:sp>
        <p:nvSpPr>
          <p:cNvPr id="16" name="Rectangle 15"/>
          <p:cNvSpPr/>
          <p:nvPr/>
        </p:nvSpPr>
        <p:spPr>
          <a:xfrm>
            <a:off x="548981" y="3014174"/>
            <a:ext cx="7846828" cy="159727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435934" y="2186024"/>
            <a:ext cx="7687339" cy="646331"/>
          </a:xfrm>
          <a:prstGeom prst="rect">
            <a:avLst/>
          </a:prstGeom>
          <a:noFill/>
        </p:spPr>
        <p:txBody>
          <a:bodyPr wrap="square" rtlCol="0">
            <a:spAutoFit/>
          </a:bodyPr>
          <a:lstStyle/>
          <a:p>
            <a:r>
              <a:rPr lang="en-US" dirty="0" err="1" smtClean="0"/>
              <a:t>Lấy</a:t>
            </a:r>
            <a:r>
              <a:rPr lang="en-US" dirty="0" smtClean="0"/>
              <a:t> </a:t>
            </a:r>
            <a:r>
              <a:rPr lang="en-US" dirty="0" err="1" smtClean="0"/>
              <a:t>giá</a:t>
            </a:r>
            <a:r>
              <a:rPr lang="en-US" dirty="0" smtClean="0"/>
              <a:t> </a:t>
            </a:r>
            <a:r>
              <a:rPr lang="en-US" dirty="0" err="1" smtClean="0"/>
              <a:t>trị</a:t>
            </a:r>
            <a:r>
              <a:rPr lang="en-US" dirty="0" smtClean="0"/>
              <a:t> 2 </a:t>
            </a:r>
            <a:r>
              <a:rPr lang="en-US" dirty="0" err="1" smtClean="0"/>
              <a:t>biến</a:t>
            </a:r>
            <a:r>
              <a:rPr lang="en-US" dirty="0" smtClean="0"/>
              <a:t> x </a:t>
            </a:r>
            <a:r>
              <a:rPr lang="en-US" dirty="0" err="1" smtClean="0"/>
              <a:t>và</a:t>
            </a:r>
            <a:r>
              <a:rPr lang="en-US" dirty="0" smtClean="0"/>
              <a:t> y </a:t>
            </a:r>
            <a:r>
              <a:rPr lang="en-US" dirty="0" err="1" smtClean="0"/>
              <a:t>nhập</a:t>
            </a:r>
            <a:r>
              <a:rPr lang="en-US" dirty="0" smtClean="0"/>
              <a:t> </a:t>
            </a:r>
            <a:r>
              <a:rPr lang="en-US" dirty="0" err="1" smtClean="0"/>
              <a:t>lên</a:t>
            </a:r>
            <a:r>
              <a:rPr lang="en-US" dirty="0" smtClean="0"/>
              <a:t> </a:t>
            </a:r>
            <a:r>
              <a:rPr lang="en-US" dirty="0" err="1" smtClean="0"/>
              <a:t>từ</a:t>
            </a:r>
            <a:r>
              <a:rPr lang="en-US" dirty="0" smtClean="0"/>
              <a:t> </a:t>
            </a:r>
            <a:r>
              <a:rPr lang="en-US" dirty="0" err="1" smtClean="0"/>
              <a:t>bàn</a:t>
            </a:r>
            <a:r>
              <a:rPr lang="en-US" dirty="0" smtClean="0"/>
              <a:t> </a:t>
            </a:r>
            <a:r>
              <a:rPr lang="en-US" dirty="0" err="1" smtClean="0"/>
              <a:t>phím</a:t>
            </a:r>
            <a:r>
              <a:rPr lang="en-US" dirty="0" smtClean="0"/>
              <a:t> </a:t>
            </a:r>
            <a:r>
              <a:rPr lang="en-US" dirty="0" err="1" smtClean="0"/>
              <a:t>là</a:t>
            </a:r>
            <a:r>
              <a:rPr lang="en-US" dirty="0" smtClean="0"/>
              <a:t> </a:t>
            </a:r>
            <a:r>
              <a:rPr lang="en-US" dirty="0" err="1" smtClean="0"/>
              <a:t>thực</a:t>
            </a:r>
            <a:r>
              <a:rPr lang="en-US" dirty="0" smtClean="0"/>
              <a:t> </a:t>
            </a:r>
            <a:r>
              <a:rPr lang="en-US" dirty="0" err="1" smtClean="0"/>
              <a:t>hiện</a:t>
            </a:r>
            <a:r>
              <a:rPr lang="en-US" dirty="0" smtClean="0"/>
              <a:t> </a:t>
            </a:r>
            <a:r>
              <a:rPr lang="en-US" dirty="0" err="1" smtClean="0"/>
              <a:t>các</a:t>
            </a:r>
            <a:r>
              <a:rPr lang="en-US" dirty="0" smtClean="0"/>
              <a:t> </a:t>
            </a:r>
            <a:r>
              <a:rPr lang="en-US" dirty="0" err="1" smtClean="0"/>
              <a:t>phép</a:t>
            </a:r>
            <a:r>
              <a:rPr lang="en-US" dirty="0" smtClean="0"/>
              <a:t> </a:t>
            </a:r>
            <a:r>
              <a:rPr lang="en-US" dirty="0" err="1" smtClean="0"/>
              <a:t>tính</a:t>
            </a:r>
            <a:r>
              <a:rPr lang="en-US" dirty="0" smtClean="0"/>
              <a:t> </a:t>
            </a:r>
            <a:r>
              <a:rPr lang="en-US" dirty="0" err="1" smtClean="0"/>
              <a:t>với</a:t>
            </a:r>
            <a:r>
              <a:rPr lang="en-US" dirty="0" smtClean="0"/>
              <a:t> </a:t>
            </a:r>
            <a:r>
              <a:rPr lang="en-US" dirty="0" err="1" smtClean="0"/>
              <a:t>chúng</a:t>
            </a:r>
            <a:r>
              <a:rPr lang="en-US" dirty="0" smtClean="0"/>
              <a:t>”</a:t>
            </a:r>
            <a:endParaRPr lang="en-US" b="1" dirty="0"/>
          </a:p>
        </p:txBody>
      </p:sp>
      <p:sp>
        <p:nvSpPr>
          <p:cNvPr id="31" name="TextBox 30"/>
          <p:cNvSpPr txBox="1"/>
          <p:nvPr/>
        </p:nvSpPr>
        <p:spPr>
          <a:xfrm>
            <a:off x="622003" y="3904076"/>
            <a:ext cx="7666074" cy="369332"/>
          </a:xfrm>
          <a:prstGeom prst="rect">
            <a:avLst/>
          </a:prstGeom>
          <a:noFill/>
        </p:spPr>
        <p:txBody>
          <a:bodyPr wrap="square" rtlCol="0">
            <a:spAutoFit/>
          </a:bodyPr>
          <a:lstStyle/>
          <a:p>
            <a:r>
              <a:rPr lang="en-US" dirty="0" smtClean="0">
                <a:solidFill>
                  <a:schemeClr val="bg1"/>
                </a:solidFill>
              </a:rPr>
              <a:t>print</a:t>
            </a:r>
            <a:r>
              <a:rPr lang="en-US" dirty="0" smtClean="0">
                <a:solidFill>
                  <a:srgbClr val="FECC36"/>
                </a:solidFill>
              </a:rPr>
              <a:t>(</a:t>
            </a:r>
            <a:r>
              <a:rPr lang="en-US" dirty="0" smtClean="0">
                <a:solidFill>
                  <a:schemeClr val="bg1"/>
                </a:solidFill>
              </a:rPr>
              <a:t>x + y</a:t>
            </a:r>
            <a:r>
              <a:rPr lang="en-US" dirty="0" smtClean="0">
                <a:solidFill>
                  <a:srgbClr val="FECC36"/>
                </a:solidFill>
              </a:rPr>
              <a:t>) </a:t>
            </a:r>
            <a:r>
              <a:rPr lang="en-US" dirty="0" smtClean="0">
                <a:solidFill>
                  <a:schemeClr val="accent6">
                    <a:lumMod val="75000"/>
                  </a:schemeClr>
                </a:solidFill>
              </a:rPr>
              <a:t># </a:t>
            </a:r>
            <a:r>
              <a:rPr lang="en-US" dirty="0" err="1" smtClean="0">
                <a:solidFill>
                  <a:schemeClr val="accent6">
                    <a:lumMod val="75000"/>
                  </a:schemeClr>
                </a:solidFill>
              </a:rPr>
              <a:t>Kết</a:t>
            </a:r>
            <a:r>
              <a:rPr lang="en-US" dirty="0" smtClean="0">
                <a:solidFill>
                  <a:schemeClr val="accent6">
                    <a:lumMod val="75000"/>
                  </a:schemeClr>
                </a:solidFill>
              </a:rPr>
              <a:t> </a:t>
            </a:r>
            <a:r>
              <a:rPr lang="en-US" dirty="0" err="1" smtClean="0">
                <a:solidFill>
                  <a:schemeClr val="accent6">
                    <a:lumMod val="75000"/>
                  </a:schemeClr>
                </a:solidFill>
              </a:rPr>
              <a:t>quả</a:t>
            </a:r>
            <a:r>
              <a:rPr lang="en-US" dirty="0" smtClean="0">
                <a:solidFill>
                  <a:schemeClr val="accent6">
                    <a:lumMod val="75000"/>
                  </a:schemeClr>
                </a:solidFill>
              </a:rPr>
              <a:t> in </a:t>
            </a:r>
            <a:r>
              <a:rPr lang="en-US" dirty="0" err="1" smtClean="0">
                <a:solidFill>
                  <a:schemeClr val="accent6">
                    <a:lumMod val="75000"/>
                  </a:schemeClr>
                </a:solidFill>
              </a:rPr>
              <a:t>ra</a:t>
            </a:r>
            <a:r>
              <a:rPr lang="en-US" dirty="0">
                <a:solidFill>
                  <a:schemeClr val="accent6">
                    <a:lumMod val="75000"/>
                  </a:schemeClr>
                </a:solidFill>
              </a:rPr>
              <a:t> Terminal: </a:t>
            </a:r>
            <a:r>
              <a:rPr lang="en-US" dirty="0" smtClean="0">
                <a:solidFill>
                  <a:schemeClr val="accent6">
                    <a:lumMod val="75000"/>
                  </a:schemeClr>
                </a:solidFill>
              </a:rPr>
              <a:t>53</a:t>
            </a:r>
            <a:endParaRPr lang="en-US" dirty="0">
              <a:solidFill>
                <a:schemeClr val="accent6">
                  <a:lumMod val="75000"/>
                </a:schemeClr>
              </a:solidFill>
            </a:endParaRPr>
          </a:p>
        </p:txBody>
      </p:sp>
      <p:sp>
        <p:nvSpPr>
          <p:cNvPr id="15" name="TextBox 14"/>
          <p:cNvSpPr txBox="1"/>
          <p:nvPr/>
        </p:nvSpPr>
        <p:spPr>
          <a:xfrm>
            <a:off x="627321" y="3088288"/>
            <a:ext cx="7110974" cy="369332"/>
          </a:xfrm>
          <a:prstGeom prst="rect">
            <a:avLst/>
          </a:prstGeom>
          <a:noFill/>
        </p:spPr>
        <p:txBody>
          <a:bodyPr wrap="square" rtlCol="0">
            <a:spAutoFit/>
          </a:bodyPr>
          <a:lstStyle/>
          <a:p>
            <a:r>
              <a:rPr lang="en-US" dirty="0" smtClean="0">
                <a:solidFill>
                  <a:schemeClr val="bg1"/>
                </a:solidFill>
              </a:rPr>
              <a:t>x  = input</a:t>
            </a:r>
            <a:r>
              <a:rPr lang="en-US" dirty="0" smtClean="0">
                <a:solidFill>
                  <a:schemeClr val="accent4">
                    <a:lumMod val="60000"/>
                    <a:lumOff val="40000"/>
                  </a:schemeClr>
                </a:solidFill>
              </a:rPr>
              <a:t>(</a:t>
            </a:r>
            <a:r>
              <a:rPr lang="en-US" dirty="0" smtClean="0">
                <a:solidFill>
                  <a:schemeClr val="bg1"/>
                </a:solidFill>
              </a:rPr>
              <a:t>‘</a:t>
            </a:r>
            <a:r>
              <a:rPr lang="en-US" dirty="0" err="1" smtClean="0">
                <a:solidFill>
                  <a:schemeClr val="bg1"/>
                </a:solidFill>
              </a:rPr>
              <a:t>Vui</a:t>
            </a:r>
            <a:r>
              <a:rPr lang="en-US" dirty="0" smtClean="0">
                <a:solidFill>
                  <a:schemeClr val="bg1"/>
                </a:solidFill>
              </a:rPr>
              <a:t> </a:t>
            </a:r>
            <a:r>
              <a:rPr lang="en-US" dirty="0" err="1" smtClean="0">
                <a:solidFill>
                  <a:schemeClr val="bg1"/>
                </a:solidFill>
              </a:rPr>
              <a:t>lòng</a:t>
            </a:r>
            <a:r>
              <a:rPr lang="en-US" dirty="0" smtClean="0">
                <a:solidFill>
                  <a:schemeClr val="bg1"/>
                </a:solidFill>
              </a:rPr>
              <a:t> </a:t>
            </a:r>
            <a:r>
              <a:rPr lang="en-US" dirty="0" err="1" smtClean="0">
                <a:solidFill>
                  <a:schemeClr val="bg1"/>
                </a:solidFill>
              </a:rPr>
              <a:t>nhập</a:t>
            </a:r>
            <a:r>
              <a:rPr lang="en-US" dirty="0" smtClean="0">
                <a:solidFill>
                  <a:schemeClr val="bg1"/>
                </a:solidFill>
              </a:rPr>
              <a:t> </a:t>
            </a:r>
            <a:r>
              <a:rPr lang="en-US" dirty="0" err="1" smtClean="0">
                <a:solidFill>
                  <a:schemeClr val="bg1"/>
                </a:solidFill>
              </a:rPr>
              <a:t>giá</a:t>
            </a:r>
            <a:r>
              <a:rPr lang="en-US" dirty="0" smtClean="0">
                <a:solidFill>
                  <a:schemeClr val="bg1"/>
                </a:solidFill>
              </a:rPr>
              <a:t> </a:t>
            </a:r>
            <a:r>
              <a:rPr lang="en-US" dirty="0" err="1" smtClean="0">
                <a:solidFill>
                  <a:schemeClr val="bg1"/>
                </a:solidFill>
              </a:rPr>
              <a:t>trị</a:t>
            </a:r>
            <a:r>
              <a:rPr lang="en-US" dirty="0" smtClean="0">
                <a:solidFill>
                  <a:schemeClr val="bg1"/>
                </a:solidFill>
              </a:rPr>
              <a:t> </a:t>
            </a:r>
            <a:r>
              <a:rPr lang="en-US" dirty="0" err="1" smtClean="0">
                <a:solidFill>
                  <a:schemeClr val="bg1"/>
                </a:solidFill>
              </a:rPr>
              <a:t>của</a:t>
            </a:r>
            <a:r>
              <a:rPr lang="en-US" dirty="0" smtClean="0">
                <a:solidFill>
                  <a:schemeClr val="bg1"/>
                </a:solidFill>
              </a:rPr>
              <a:t> </a:t>
            </a:r>
            <a:r>
              <a:rPr lang="en-US" dirty="0" err="1" smtClean="0">
                <a:solidFill>
                  <a:schemeClr val="bg1"/>
                </a:solidFill>
              </a:rPr>
              <a:t>biến</a:t>
            </a:r>
            <a:r>
              <a:rPr lang="en-US" dirty="0" smtClean="0">
                <a:solidFill>
                  <a:schemeClr val="bg1"/>
                </a:solidFill>
              </a:rPr>
              <a:t> x: ’</a:t>
            </a:r>
            <a:r>
              <a:rPr lang="en-US" dirty="0" smtClean="0">
                <a:solidFill>
                  <a:schemeClr val="accent4">
                    <a:lumMod val="60000"/>
                    <a:lumOff val="40000"/>
                  </a:schemeClr>
                </a:solidFill>
              </a:rPr>
              <a:t>) </a:t>
            </a:r>
            <a:r>
              <a:rPr lang="en-US" dirty="0" smtClean="0">
                <a:solidFill>
                  <a:schemeClr val="accent6">
                    <a:lumMod val="75000"/>
                  </a:schemeClr>
                </a:solidFill>
              </a:rPr>
              <a:t>#</a:t>
            </a:r>
            <a:r>
              <a:rPr lang="en-US" dirty="0" err="1" smtClean="0">
                <a:solidFill>
                  <a:schemeClr val="accent6">
                    <a:lumMod val="75000"/>
                  </a:schemeClr>
                </a:solidFill>
              </a:rPr>
              <a:t>Ví</a:t>
            </a:r>
            <a:r>
              <a:rPr lang="en-US" dirty="0" smtClean="0">
                <a:solidFill>
                  <a:schemeClr val="accent6">
                    <a:lumMod val="75000"/>
                  </a:schemeClr>
                </a:solidFill>
              </a:rPr>
              <a:t> </a:t>
            </a:r>
            <a:r>
              <a:rPr lang="en-US" dirty="0" err="1" smtClean="0">
                <a:solidFill>
                  <a:schemeClr val="accent6">
                    <a:lumMod val="75000"/>
                  </a:schemeClr>
                </a:solidFill>
              </a:rPr>
              <a:t>dụ</a:t>
            </a:r>
            <a:r>
              <a:rPr lang="en-US" dirty="0" smtClean="0">
                <a:solidFill>
                  <a:schemeClr val="accent6">
                    <a:lumMod val="75000"/>
                  </a:schemeClr>
                </a:solidFill>
              </a:rPr>
              <a:t> </a:t>
            </a:r>
            <a:r>
              <a:rPr lang="en-US" dirty="0" err="1" smtClean="0">
                <a:solidFill>
                  <a:schemeClr val="accent6">
                    <a:lumMod val="75000"/>
                  </a:schemeClr>
                </a:solidFill>
              </a:rPr>
              <a:t>nhập</a:t>
            </a:r>
            <a:r>
              <a:rPr lang="en-US" dirty="0" smtClean="0">
                <a:solidFill>
                  <a:schemeClr val="accent6">
                    <a:lumMod val="75000"/>
                  </a:schemeClr>
                </a:solidFill>
              </a:rPr>
              <a:t> </a:t>
            </a:r>
            <a:r>
              <a:rPr lang="en-US" dirty="0" err="1" smtClean="0">
                <a:solidFill>
                  <a:schemeClr val="accent6">
                    <a:lumMod val="75000"/>
                  </a:schemeClr>
                </a:solidFill>
              </a:rPr>
              <a:t>vào</a:t>
            </a:r>
            <a:r>
              <a:rPr lang="en-US" dirty="0" smtClean="0">
                <a:solidFill>
                  <a:schemeClr val="accent6">
                    <a:lumMod val="75000"/>
                  </a:schemeClr>
                </a:solidFill>
              </a:rPr>
              <a:t>: 5</a:t>
            </a:r>
            <a:endParaRPr lang="en-US" dirty="0">
              <a:solidFill>
                <a:schemeClr val="accent6">
                  <a:lumMod val="75000"/>
                </a:schemeClr>
              </a:solidFill>
            </a:endParaRPr>
          </a:p>
        </p:txBody>
      </p:sp>
      <p:sp>
        <p:nvSpPr>
          <p:cNvPr id="17" name="TextBox 16"/>
          <p:cNvSpPr txBox="1"/>
          <p:nvPr/>
        </p:nvSpPr>
        <p:spPr>
          <a:xfrm>
            <a:off x="627321" y="3439163"/>
            <a:ext cx="7110974" cy="369332"/>
          </a:xfrm>
          <a:prstGeom prst="rect">
            <a:avLst/>
          </a:prstGeom>
          <a:noFill/>
        </p:spPr>
        <p:txBody>
          <a:bodyPr wrap="square" rtlCol="0">
            <a:spAutoFit/>
          </a:bodyPr>
          <a:lstStyle/>
          <a:p>
            <a:r>
              <a:rPr lang="en-US" dirty="0">
                <a:solidFill>
                  <a:schemeClr val="bg1"/>
                </a:solidFill>
              </a:rPr>
              <a:t>y</a:t>
            </a:r>
            <a:r>
              <a:rPr lang="en-US" dirty="0" smtClean="0">
                <a:solidFill>
                  <a:schemeClr val="bg1"/>
                </a:solidFill>
              </a:rPr>
              <a:t>  = input</a:t>
            </a:r>
            <a:r>
              <a:rPr lang="en-US" dirty="0" smtClean="0">
                <a:solidFill>
                  <a:schemeClr val="accent4">
                    <a:lumMod val="60000"/>
                    <a:lumOff val="40000"/>
                  </a:schemeClr>
                </a:solidFill>
              </a:rPr>
              <a:t>(</a:t>
            </a:r>
            <a:r>
              <a:rPr lang="en-US" dirty="0" smtClean="0">
                <a:solidFill>
                  <a:schemeClr val="bg1"/>
                </a:solidFill>
              </a:rPr>
              <a:t>‘</a:t>
            </a:r>
            <a:r>
              <a:rPr lang="en-US" dirty="0" err="1" smtClean="0">
                <a:solidFill>
                  <a:schemeClr val="bg1"/>
                </a:solidFill>
              </a:rPr>
              <a:t>Vui</a:t>
            </a:r>
            <a:r>
              <a:rPr lang="en-US" dirty="0" smtClean="0">
                <a:solidFill>
                  <a:schemeClr val="bg1"/>
                </a:solidFill>
              </a:rPr>
              <a:t> </a:t>
            </a:r>
            <a:r>
              <a:rPr lang="en-US" dirty="0" err="1" smtClean="0">
                <a:solidFill>
                  <a:schemeClr val="bg1"/>
                </a:solidFill>
              </a:rPr>
              <a:t>lòng</a:t>
            </a:r>
            <a:r>
              <a:rPr lang="en-US" dirty="0" smtClean="0">
                <a:solidFill>
                  <a:schemeClr val="bg1"/>
                </a:solidFill>
              </a:rPr>
              <a:t> </a:t>
            </a:r>
            <a:r>
              <a:rPr lang="en-US" dirty="0" err="1" smtClean="0">
                <a:solidFill>
                  <a:schemeClr val="bg1"/>
                </a:solidFill>
              </a:rPr>
              <a:t>nhập</a:t>
            </a:r>
            <a:r>
              <a:rPr lang="en-US" dirty="0" smtClean="0">
                <a:solidFill>
                  <a:schemeClr val="bg1"/>
                </a:solidFill>
              </a:rPr>
              <a:t> </a:t>
            </a:r>
            <a:r>
              <a:rPr lang="en-US" dirty="0" err="1" smtClean="0">
                <a:solidFill>
                  <a:schemeClr val="bg1"/>
                </a:solidFill>
              </a:rPr>
              <a:t>giá</a:t>
            </a:r>
            <a:r>
              <a:rPr lang="en-US" dirty="0" smtClean="0">
                <a:solidFill>
                  <a:schemeClr val="bg1"/>
                </a:solidFill>
              </a:rPr>
              <a:t> </a:t>
            </a:r>
            <a:r>
              <a:rPr lang="en-US" dirty="0" err="1" smtClean="0">
                <a:solidFill>
                  <a:schemeClr val="bg1"/>
                </a:solidFill>
              </a:rPr>
              <a:t>trị</a:t>
            </a:r>
            <a:r>
              <a:rPr lang="en-US" dirty="0" smtClean="0">
                <a:solidFill>
                  <a:schemeClr val="bg1"/>
                </a:solidFill>
              </a:rPr>
              <a:t> </a:t>
            </a:r>
            <a:r>
              <a:rPr lang="en-US" dirty="0" err="1" smtClean="0">
                <a:solidFill>
                  <a:schemeClr val="bg1"/>
                </a:solidFill>
              </a:rPr>
              <a:t>của</a:t>
            </a:r>
            <a:r>
              <a:rPr lang="en-US" dirty="0" smtClean="0">
                <a:solidFill>
                  <a:schemeClr val="bg1"/>
                </a:solidFill>
              </a:rPr>
              <a:t> </a:t>
            </a:r>
            <a:r>
              <a:rPr lang="en-US" dirty="0" err="1" smtClean="0">
                <a:solidFill>
                  <a:schemeClr val="bg1"/>
                </a:solidFill>
              </a:rPr>
              <a:t>biến</a:t>
            </a:r>
            <a:r>
              <a:rPr lang="en-US" dirty="0" smtClean="0">
                <a:solidFill>
                  <a:schemeClr val="bg1"/>
                </a:solidFill>
              </a:rPr>
              <a:t> y: ’</a:t>
            </a:r>
            <a:r>
              <a:rPr lang="en-US" dirty="0">
                <a:solidFill>
                  <a:schemeClr val="accent4">
                    <a:lumMod val="60000"/>
                    <a:lumOff val="40000"/>
                  </a:schemeClr>
                </a:solidFill>
              </a:rPr>
              <a:t>) </a:t>
            </a:r>
            <a:r>
              <a:rPr lang="en-US" dirty="0">
                <a:solidFill>
                  <a:schemeClr val="accent6">
                    <a:lumMod val="75000"/>
                  </a:schemeClr>
                </a:solidFill>
              </a:rPr>
              <a:t>#</a:t>
            </a:r>
            <a:r>
              <a:rPr lang="en-US" dirty="0" err="1">
                <a:solidFill>
                  <a:schemeClr val="accent6">
                    <a:lumMod val="75000"/>
                  </a:schemeClr>
                </a:solidFill>
              </a:rPr>
              <a:t>Ví</a:t>
            </a:r>
            <a:r>
              <a:rPr lang="en-US" dirty="0">
                <a:solidFill>
                  <a:schemeClr val="accent6">
                    <a:lumMod val="75000"/>
                  </a:schemeClr>
                </a:solidFill>
              </a:rPr>
              <a:t> </a:t>
            </a:r>
            <a:r>
              <a:rPr lang="en-US" dirty="0" err="1">
                <a:solidFill>
                  <a:schemeClr val="accent6">
                    <a:lumMod val="75000"/>
                  </a:schemeClr>
                </a:solidFill>
              </a:rPr>
              <a:t>dụ</a:t>
            </a:r>
            <a:r>
              <a:rPr lang="en-US" dirty="0">
                <a:solidFill>
                  <a:schemeClr val="accent6">
                    <a:lumMod val="75000"/>
                  </a:schemeClr>
                </a:solidFill>
              </a:rPr>
              <a:t> </a:t>
            </a:r>
            <a:r>
              <a:rPr lang="en-US" dirty="0" err="1">
                <a:solidFill>
                  <a:schemeClr val="accent6">
                    <a:lumMod val="75000"/>
                  </a:schemeClr>
                </a:solidFill>
              </a:rPr>
              <a:t>nhập</a:t>
            </a:r>
            <a:r>
              <a:rPr lang="en-US" dirty="0">
                <a:solidFill>
                  <a:schemeClr val="accent6">
                    <a:lumMod val="75000"/>
                  </a:schemeClr>
                </a:solidFill>
              </a:rPr>
              <a:t> </a:t>
            </a:r>
            <a:r>
              <a:rPr lang="en-US" dirty="0" err="1">
                <a:solidFill>
                  <a:schemeClr val="accent6">
                    <a:lumMod val="75000"/>
                  </a:schemeClr>
                </a:solidFill>
              </a:rPr>
              <a:t>vào</a:t>
            </a:r>
            <a:r>
              <a:rPr lang="en-US" dirty="0">
                <a:solidFill>
                  <a:schemeClr val="accent6">
                    <a:lumMod val="75000"/>
                  </a:schemeClr>
                </a:solidFill>
              </a:rPr>
              <a:t>: </a:t>
            </a:r>
            <a:r>
              <a:rPr lang="en-US" dirty="0" smtClean="0">
                <a:solidFill>
                  <a:schemeClr val="accent6">
                    <a:lumMod val="75000"/>
                  </a:schemeClr>
                </a:solidFill>
              </a:rPr>
              <a:t>3</a:t>
            </a:r>
            <a:endParaRPr lang="en-US" dirty="0">
              <a:solidFill>
                <a:schemeClr val="accent6">
                  <a:lumMod val="75000"/>
                </a:schemeClr>
              </a:solidFill>
            </a:endParaRPr>
          </a:p>
        </p:txBody>
      </p:sp>
      <p:sp>
        <p:nvSpPr>
          <p:cNvPr id="18" name="TextBox 17"/>
          <p:cNvSpPr txBox="1"/>
          <p:nvPr/>
        </p:nvSpPr>
        <p:spPr>
          <a:xfrm>
            <a:off x="435934" y="4684687"/>
            <a:ext cx="7687339" cy="369332"/>
          </a:xfrm>
          <a:prstGeom prst="rect">
            <a:avLst/>
          </a:prstGeom>
          <a:noFill/>
        </p:spPr>
        <p:txBody>
          <a:bodyPr wrap="square" rtlCol="0">
            <a:spAutoFit/>
          </a:bodyPr>
          <a:lstStyle/>
          <a:p>
            <a:r>
              <a:rPr lang="en-US" b="1" dirty="0" err="1" smtClean="0">
                <a:solidFill>
                  <a:srgbClr val="FF0000"/>
                </a:solidFill>
              </a:rPr>
              <a:t>Tại</a:t>
            </a:r>
            <a:r>
              <a:rPr lang="en-US" b="1" dirty="0" smtClean="0">
                <a:solidFill>
                  <a:srgbClr val="FF0000"/>
                </a:solidFill>
              </a:rPr>
              <a:t> </a:t>
            </a:r>
            <a:r>
              <a:rPr lang="en-US" b="1" dirty="0" err="1" smtClean="0">
                <a:solidFill>
                  <a:srgbClr val="FF0000"/>
                </a:solidFill>
              </a:rPr>
              <a:t>sao</a:t>
            </a:r>
            <a:r>
              <a:rPr lang="en-US" b="1" dirty="0" smtClean="0">
                <a:solidFill>
                  <a:srgbClr val="FF0000"/>
                </a:solidFill>
              </a:rPr>
              <a:t> </a:t>
            </a:r>
            <a:r>
              <a:rPr lang="en-US" b="1" dirty="0" err="1" smtClean="0"/>
              <a:t>kết</a:t>
            </a:r>
            <a:r>
              <a:rPr lang="en-US" b="1" dirty="0" smtClean="0"/>
              <a:t> </a:t>
            </a:r>
            <a:r>
              <a:rPr lang="en-US" b="1" dirty="0" err="1" smtClean="0"/>
              <a:t>quả</a:t>
            </a:r>
            <a:r>
              <a:rPr lang="en-US" b="1" dirty="0" smtClean="0"/>
              <a:t> </a:t>
            </a:r>
            <a:r>
              <a:rPr lang="en-US" b="1" dirty="0" err="1" smtClean="0"/>
              <a:t>không</a:t>
            </a:r>
            <a:r>
              <a:rPr lang="en-US" b="1" dirty="0" smtClean="0"/>
              <a:t> </a:t>
            </a:r>
            <a:r>
              <a:rPr lang="en-US" b="1" dirty="0" err="1" smtClean="0"/>
              <a:t>phải</a:t>
            </a:r>
            <a:r>
              <a:rPr lang="en-US" b="1" dirty="0" smtClean="0"/>
              <a:t> </a:t>
            </a:r>
            <a:r>
              <a:rPr lang="en-US" b="1" dirty="0" err="1" smtClean="0"/>
              <a:t>là</a:t>
            </a:r>
            <a:r>
              <a:rPr lang="en-US" b="1" dirty="0" smtClean="0"/>
              <a:t> 8 </a:t>
            </a:r>
            <a:r>
              <a:rPr lang="en-US" b="1" dirty="0" err="1" smtClean="0"/>
              <a:t>mà</a:t>
            </a:r>
            <a:r>
              <a:rPr lang="en-US" b="1" dirty="0" smtClean="0"/>
              <a:t> </a:t>
            </a:r>
            <a:r>
              <a:rPr lang="en-US" b="1" dirty="0" err="1" smtClean="0"/>
              <a:t>là</a:t>
            </a:r>
            <a:r>
              <a:rPr lang="en-US" b="1" dirty="0" smtClean="0"/>
              <a:t> 53 ?</a:t>
            </a:r>
            <a:endParaRPr lang="en-US" b="1" dirty="0"/>
          </a:p>
        </p:txBody>
      </p:sp>
      <p:sp>
        <p:nvSpPr>
          <p:cNvPr id="19" name="Rectangle 18"/>
          <p:cNvSpPr/>
          <p:nvPr/>
        </p:nvSpPr>
        <p:spPr>
          <a:xfrm>
            <a:off x="548981" y="5199352"/>
            <a:ext cx="7846828" cy="604005"/>
          </a:xfrm>
          <a:prstGeom prst="rect">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smtClean="0"/>
              <a:t>Giá</a:t>
            </a:r>
            <a:r>
              <a:rPr lang="en-US" b="1" dirty="0" smtClean="0"/>
              <a:t> </a:t>
            </a:r>
            <a:r>
              <a:rPr lang="en-US" b="1" dirty="0" err="1" smtClean="0"/>
              <a:t>trị</a:t>
            </a:r>
            <a:r>
              <a:rPr lang="en-US" b="1" dirty="0" smtClean="0"/>
              <a:t> </a:t>
            </a:r>
            <a:r>
              <a:rPr lang="en-US" b="1" dirty="0" err="1" smtClean="0"/>
              <a:t>nhận</a:t>
            </a:r>
            <a:r>
              <a:rPr lang="en-US" b="1" dirty="0" smtClean="0"/>
              <a:t> </a:t>
            </a:r>
            <a:r>
              <a:rPr lang="en-US" b="1" dirty="0" err="1" smtClean="0"/>
              <a:t>được</a:t>
            </a:r>
            <a:r>
              <a:rPr lang="en-US" b="1" dirty="0" smtClean="0"/>
              <a:t> </a:t>
            </a:r>
            <a:r>
              <a:rPr lang="en-US" b="1" dirty="0" err="1" smtClean="0"/>
              <a:t>từ</a:t>
            </a:r>
            <a:r>
              <a:rPr lang="en-US" b="1" dirty="0" smtClean="0"/>
              <a:t> input() </a:t>
            </a:r>
            <a:r>
              <a:rPr lang="en-US" b="1" dirty="0" err="1" smtClean="0"/>
              <a:t>luôn</a:t>
            </a:r>
            <a:r>
              <a:rPr lang="en-US" b="1" dirty="0" smtClean="0"/>
              <a:t> </a:t>
            </a:r>
            <a:r>
              <a:rPr lang="en-US" b="1" dirty="0" err="1" smtClean="0"/>
              <a:t>là</a:t>
            </a:r>
            <a:r>
              <a:rPr lang="en-US" b="1" dirty="0" smtClean="0"/>
              <a:t> </a:t>
            </a:r>
            <a:r>
              <a:rPr lang="en-US" b="1" dirty="0" err="1" smtClean="0"/>
              <a:t>một</a:t>
            </a:r>
            <a:r>
              <a:rPr lang="en-US" b="1" dirty="0" smtClean="0"/>
              <a:t> </a:t>
            </a:r>
            <a:r>
              <a:rPr lang="en-US" b="1" dirty="0" err="1" smtClean="0"/>
              <a:t>chuỗi</a:t>
            </a:r>
            <a:endParaRPr lang="en-US" b="1" dirty="0"/>
          </a:p>
        </p:txBody>
      </p:sp>
      <p:sp>
        <p:nvSpPr>
          <p:cNvPr id="20" name="TextBox 19"/>
          <p:cNvSpPr txBox="1"/>
          <p:nvPr/>
        </p:nvSpPr>
        <p:spPr>
          <a:xfrm>
            <a:off x="435934" y="5939711"/>
            <a:ext cx="7687339" cy="646331"/>
          </a:xfrm>
          <a:prstGeom prst="rect">
            <a:avLst/>
          </a:prstGeom>
          <a:noFill/>
        </p:spPr>
        <p:txBody>
          <a:bodyPr wrap="square" rtlCol="0">
            <a:spAutoFit/>
          </a:bodyPr>
          <a:lstStyle/>
          <a:p>
            <a:r>
              <a:rPr lang="en-US" dirty="0" smtClean="0"/>
              <a:t>Do </a:t>
            </a:r>
            <a:r>
              <a:rPr lang="en-US" dirty="0" err="1" smtClean="0"/>
              <a:t>vậy</a:t>
            </a:r>
            <a:r>
              <a:rPr lang="en-US" dirty="0" smtClean="0"/>
              <a:t> </a:t>
            </a:r>
            <a:r>
              <a:rPr lang="en-US" dirty="0" err="1" smtClean="0"/>
              <a:t>với</a:t>
            </a:r>
            <a:r>
              <a:rPr lang="en-US" dirty="0" smtClean="0"/>
              <a:t> </a:t>
            </a:r>
            <a:r>
              <a:rPr lang="en-US" dirty="0" err="1" smtClean="0"/>
              <a:t>toán</a:t>
            </a:r>
            <a:r>
              <a:rPr lang="en-US" dirty="0" smtClean="0"/>
              <a:t> </a:t>
            </a:r>
            <a:r>
              <a:rPr lang="en-US" dirty="0" err="1" smtClean="0"/>
              <a:t>tử</a:t>
            </a:r>
            <a:r>
              <a:rPr lang="en-US" dirty="0" smtClean="0"/>
              <a:t> + </a:t>
            </a:r>
            <a:r>
              <a:rPr lang="en-US" dirty="0" err="1" smtClean="0"/>
              <a:t>trên</a:t>
            </a:r>
            <a:r>
              <a:rPr lang="en-US" dirty="0" smtClean="0"/>
              <a:t> </a:t>
            </a:r>
            <a:r>
              <a:rPr lang="en-US" dirty="0" err="1" smtClean="0"/>
              <a:t>nó</a:t>
            </a:r>
            <a:r>
              <a:rPr lang="en-US" dirty="0" smtClean="0"/>
              <a:t> </a:t>
            </a:r>
            <a:r>
              <a:rPr lang="en-US" dirty="0" err="1" smtClean="0"/>
              <a:t>trở</a:t>
            </a:r>
            <a:r>
              <a:rPr lang="en-US" dirty="0" smtClean="0"/>
              <a:t> </a:t>
            </a:r>
            <a:r>
              <a:rPr lang="en-US" dirty="0" err="1" smtClean="0"/>
              <a:t>thành</a:t>
            </a:r>
            <a:r>
              <a:rPr lang="en-US" dirty="0" smtClean="0"/>
              <a:t> </a:t>
            </a:r>
            <a:r>
              <a:rPr lang="en-US" dirty="0" err="1" smtClean="0"/>
              <a:t>lệnh</a:t>
            </a:r>
            <a:r>
              <a:rPr lang="en-US" dirty="0" smtClean="0"/>
              <a:t> </a:t>
            </a:r>
            <a:r>
              <a:rPr lang="en-US" dirty="0" err="1" smtClean="0"/>
              <a:t>nối</a:t>
            </a:r>
            <a:r>
              <a:rPr lang="en-US" dirty="0" smtClean="0"/>
              <a:t> </a:t>
            </a:r>
            <a:r>
              <a:rPr lang="en-US" dirty="0" err="1" smtClean="0"/>
              <a:t>chuỗi</a:t>
            </a:r>
            <a:r>
              <a:rPr lang="en-US" dirty="0" smtClean="0"/>
              <a:t> </a:t>
            </a:r>
            <a:r>
              <a:rPr lang="en-US" dirty="0" err="1" smtClean="0"/>
              <a:t>chứ</a:t>
            </a:r>
            <a:r>
              <a:rPr lang="en-US" dirty="0" smtClean="0"/>
              <a:t> </a:t>
            </a:r>
            <a:r>
              <a:rPr lang="en-US" dirty="0" err="1" smtClean="0"/>
              <a:t>không</a:t>
            </a:r>
            <a:r>
              <a:rPr lang="en-US" dirty="0" smtClean="0"/>
              <a:t> </a:t>
            </a:r>
            <a:r>
              <a:rPr lang="en-US" dirty="0" err="1" smtClean="0"/>
              <a:t>thực</a:t>
            </a:r>
            <a:r>
              <a:rPr lang="en-US" dirty="0" smtClean="0"/>
              <a:t> </a:t>
            </a:r>
            <a:r>
              <a:rPr lang="en-US" dirty="0" err="1" smtClean="0"/>
              <a:t>hiện</a:t>
            </a:r>
            <a:r>
              <a:rPr lang="en-US" dirty="0" smtClean="0"/>
              <a:t> </a:t>
            </a:r>
            <a:r>
              <a:rPr lang="en-US" dirty="0" err="1" smtClean="0"/>
              <a:t>một</a:t>
            </a:r>
            <a:r>
              <a:rPr lang="en-US" dirty="0" smtClean="0"/>
              <a:t> </a:t>
            </a:r>
            <a:r>
              <a:rPr lang="en-US" dirty="0" err="1" smtClean="0"/>
              <a:t>phép</a:t>
            </a:r>
            <a:r>
              <a:rPr lang="en-US" dirty="0" smtClean="0"/>
              <a:t> </a:t>
            </a:r>
            <a:r>
              <a:rPr lang="en-US" dirty="0" err="1" smtClean="0"/>
              <a:t>tính</a:t>
            </a:r>
            <a:endParaRPr lang="en-US" b="1" dirty="0"/>
          </a:p>
        </p:txBody>
      </p:sp>
    </p:spTree>
    <p:extLst>
      <p:ext uri="{BB962C8B-B14F-4D97-AF65-F5344CB8AC3E}">
        <p14:creationId xmlns:p14="http://schemas.microsoft.com/office/powerpoint/2010/main" val="4530081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23</a:t>
            </a:fld>
            <a:endParaRPr lang="en-US"/>
          </a:p>
        </p:txBody>
      </p:sp>
      <p:sp>
        <p:nvSpPr>
          <p:cNvPr id="4" name="Text Placeholder 2"/>
          <p:cNvSpPr txBox="1">
            <a:spLocks/>
          </p:cNvSpPr>
          <p:nvPr/>
        </p:nvSpPr>
        <p:spPr>
          <a:xfrm>
            <a:off x="209777" y="854833"/>
            <a:ext cx="8454964" cy="424732"/>
          </a:xfrm>
          <a:prstGeom prst="rect">
            <a:avLst/>
          </a:prstGeom>
          <a:noFill/>
        </p:spPr>
        <p:txBody>
          <a:bodyPr vert="horz" wrap="square" lIns="91440" tIns="45720" rIns="91440" bIns="45720" rtlCol="0">
            <a:spAutoFit/>
          </a:bodyPr>
          <a:lstStyle>
            <a:lvl1pPr marL="0" indent="0" algn="l" defTabSz="914400" rtl="0" eaLnBrk="1" latinLnBrk="0" hangingPunct="1">
              <a:lnSpc>
                <a:spcPct val="90000"/>
              </a:lnSpc>
              <a:spcBef>
                <a:spcPts val="1000"/>
              </a:spcBef>
              <a:buFont typeface="Arial" panose="020B0604020202020204" pitchFamily="34" charset="0"/>
              <a:buNone/>
              <a:defRPr lang="en-US" sz="2400" b="1" kern="1200" dirty="0" smtClean="0">
                <a:solidFill>
                  <a:srgbClr val="64C7E9"/>
                </a:solidFill>
                <a:latin typeface="+mn-lt"/>
                <a:ea typeface="Roboto"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mtClean="0"/>
              <a:t>2.7 </a:t>
            </a:r>
            <a:r>
              <a:rPr lang="en-US" dirty="0" err="1"/>
              <a:t>Tìm</a:t>
            </a:r>
            <a:r>
              <a:rPr lang="en-US" dirty="0"/>
              <a:t> </a:t>
            </a:r>
            <a:r>
              <a:rPr lang="en-US" dirty="0" err="1"/>
              <a:t>hiểu</a:t>
            </a:r>
            <a:r>
              <a:rPr lang="en-US" dirty="0"/>
              <a:t> </a:t>
            </a:r>
            <a:r>
              <a:rPr lang="en-US" dirty="0" err="1"/>
              <a:t>về</a:t>
            </a:r>
            <a:r>
              <a:rPr lang="en-US" dirty="0"/>
              <a:t> </a:t>
            </a:r>
            <a:r>
              <a:rPr lang="en-US" dirty="0" err="1" smtClean="0"/>
              <a:t>lệnh</a:t>
            </a:r>
            <a:r>
              <a:rPr lang="en-US" dirty="0" smtClean="0"/>
              <a:t> </a:t>
            </a:r>
            <a:r>
              <a:rPr lang="en-US" dirty="0"/>
              <a:t>input()</a:t>
            </a:r>
          </a:p>
        </p:txBody>
      </p:sp>
      <p:sp>
        <p:nvSpPr>
          <p:cNvPr id="5" name="Rectangle 4"/>
          <p:cNvSpPr/>
          <p:nvPr/>
        </p:nvSpPr>
        <p:spPr>
          <a:xfrm>
            <a:off x="563525" y="3344402"/>
            <a:ext cx="7899991" cy="97644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63710" y="3495823"/>
            <a:ext cx="7347097" cy="646331"/>
          </a:xfrm>
          <a:prstGeom prst="rect">
            <a:avLst/>
          </a:prstGeom>
          <a:noFill/>
        </p:spPr>
        <p:txBody>
          <a:bodyPr wrap="square" rtlCol="0">
            <a:spAutoFit/>
          </a:bodyPr>
          <a:lstStyle/>
          <a:p>
            <a:r>
              <a:rPr lang="en-US" dirty="0" smtClean="0">
                <a:solidFill>
                  <a:schemeClr val="bg1"/>
                </a:solidFill>
              </a:rPr>
              <a:t>x  =  </a:t>
            </a:r>
            <a:r>
              <a:rPr lang="en-US" dirty="0" smtClean="0">
                <a:solidFill>
                  <a:schemeClr val="accent2">
                    <a:lumMod val="75000"/>
                  </a:schemeClr>
                </a:solidFill>
              </a:rPr>
              <a:t>'2‘ </a:t>
            </a:r>
            <a:r>
              <a:rPr lang="en-US" dirty="0" smtClean="0">
                <a:solidFill>
                  <a:schemeClr val="accent6">
                    <a:lumMod val="75000"/>
                  </a:schemeClr>
                </a:solidFill>
              </a:rPr>
              <a:t># </a:t>
            </a:r>
            <a:r>
              <a:rPr lang="en-US" dirty="0">
                <a:solidFill>
                  <a:schemeClr val="accent6">
                    <a:lumMod val="75000"/>
                  </a:schemeClr>
                </a:solidFill>
              </a:rPr>
              <a:t>x </a:t>
            </a:r>
            <a:r>
              <a:rPr lang="en-US" dirty="0" err="1" smtClean="0">
                <a:solidFill>
                  <a:schemeClr val="accent6">
                    <a:lumMod val="75000"/>
                  </a:schemeClr>
                </a:solidFill>
              </a:rPr>
              <a:t>đang</a:t>
            </a:r>
            <a:r>
              <a:rPr lang="en-US" dirty="0" smtClean="0">
                <a:solidFill>
                  <a:schemeClr val="accent6">
                    <a:lumMod val="75000"/>
                  </a:schemeClr>
                </a:solidFill>
              </a:rPr>
              <a:t> </a:t>
            </a:r>
            <a:r>
              <a:rPr lang="en-US" dirty="0" err="1" smtClean="0">
                <a:solidFill>
                  <a:schemeClr val="accent6">
                    <a:lumMod val="75000"/>
                  </a:schemeClr>
                </a:solidFill>
              </a:rPr>
              <a:t>là</a:t>
            </a:r>
            <a:r>
              <a:rPr lang="en-US" dirty="0" smtClean="0">
                <a:solidFill>
                  <a:schemeClr val="accent6">
                    <a:lumMod val="75000"/>
                  </a:schemeClr>
                </a:solidFill>
              </a:rPr>
              <a:t> </a:t>
            </a:r>
            <a:r>
              <a:rPr lang="en-US" dirty="0" err="1" smtClean="0">
                <a:solidFill>
                  <a:schemeClr val="accent6">
                    <a:lumMod val="75000"/>
                  </a:schemeClr>
                </a:solidFill>
              </a:rPr>
              <a:t>str</a:t>
            </a:r>
            <a:r>
              <a:rPr lang="en-US" dirty="0" smtClean="0">
                <a:solidFill>
                  <a:schemeClr val="accent6">
                    <a:lumMod val="75000"/>
                  </a:schemeClr>
                </a:solidFill>
              </a:rPr>
              <a:t> </a:t>
            </a:r>
            <a:r>
              <a:rPr lang="en-US" dirty="0" err="1" smtClean="0">
                <a:solidFill>
                  <a:schemeClr val="accent6">
                    <a:lumMod val="75000"/>
                  </a:schemeClr>
                </a:solidFill>
              </a:rPr>
              <a:t>có</a:t>
            </a:r>
            <a:r>
              <a:rPr lang="en-US" dirty="0" smtClean="0">
                <a:solidFill>
                  <a:schemeClr val="accent6">
                    <a:lumMod val="75000"/>
                  </a:schemeClr>
                </a:solidFill>
              </a:rPr>
              <a:t> </a:t>
            </a:r>
            <a:r>
              <a:rPr lang="en-US" dirty="0" err="1" smtClean="0">
                <a:solidFill>
                  <a:schemeClr val="accent6">
                    <a:lumMod val="75000"/>
                  </a:schemeClr>
                </a:solidFill>
              </a:rPr>
              <a:t>giá</a:t>
            </a:r>
            <a:r>
              <a:rPr lang="en-US" dirty="0" smtClean="0">
                <a:solidFill>
                  <a:schemeClr val="accent6">
                    <a:lumMod val="75000"/>
                  </a:schemeClr>
                </a:solidFill>
              </a:rPr>
              <a:t> </a:t>
            </a:r>
            <a:r>
              <a:rPr lang="en-US" dirty="0" err="1" smtClean="0">
                <a:solidFill>
                  <a:schemeClr val="accent6">
                    <a:lumMod val="75000"/>
                  </a:schemeClr>
                </a:solidFill>
              </a:rPr>
              <a:t>trị</a:t>
            </a:r>
            <a:r>
              <a:rPr lang="en-US" dirty="0" smtClean="0">
                <a:solidFill>
                  <a:schemeClr val="accent6">
                    <a:lumMod val="75000"/>
                  </a:schemeClr>
                </a:solidFill>
              </a:rPr>
              <a:t> = 2</a:t>
            </a:r>
            <a:r>
              <a:rPr lang="en-US" dirty="0">
                <a:solidFill>
                  <a:schemeClr val="bg1"/>
                </a:solidFill>
              </a:rPr>
              <a:t/>
            </a:r>
            <a:br>
              <a:rPr lang="en-US" dirty="0">
                <a:solidFill>
                  <a:schemeClr val="bg1"/>
                </a:solidFill>
              </a:rPr>
            </a:br>
            <a:r>
              <a:rPr lang="en-US" dirty="0" smtClean="0">
                <a:solidFill>
                  <a:schemeClr val="bg1"/>
                </a:solidFill>
              </a:rPr>
              <a:t>print</a:t>
            </a:r>
            <a:r>
              <a:rPr lang="en-US" dirty="0" smtClean="0">
                <a:solidFill>
                  <a:srgbClr val="FFC500"/>
                </a:solidFill>
              </a:rPr>
              <a:t>(</a:t>
            </a:r>
            <a:r>
              <a:rPr lang="en-US" dirty="0" err="1" smtClean="0">
                <a:solidFill>
                  <a:schemeClr val="bg1"/>
                </a:solidFill>
              </a:rPr>
              <a:t>int</a:t>
            </a:r>
            <a:r>
              <a:rPr lang="en-US" dirty="0" smtClean="0">
                <a:solidFill>
                  <a:srgbClr val="FF66CC"/>
                </a:solidFill>
              </a:rPr>
              <a:t>(</a:t>
            </a:r>
            <a:r>
              <a:rPr lang="en-US" dirty="0" smtClean="0">
                <a:solidFill>
                  <a:schemeClr val="bg1"/>
                </a:solidFill>
              </a:rPr>
              <a:t>x</a:t>
            </a:r>
            <a:r>
              <a:rPr lang="en-US" dirty="0" smtClean="0">
                <a:solidFill>
                  <a:srgbClr val="FF66CC"/>
                </a:solidFill>
              </a:rPr>
              <a:t>)</a:t>
            </a:r>
            <a:r>
              <a:rPr lang="en-US" dirty="0" smtClean="0">
                <a:solidFill>
                  <a:srgbClr val="FFC500"/>
                </a:solidFill>
              </a:rPr>
              <a:t>) </a:t>
            </a:r>
            <a:r>
              <a:rPr lang="en-US" dirty="0" smtClean="0">
                <a:solidFill>
                  <a:schemeClr val="accent6">
                    <a:lumMod val="75000"/>
                  </a:schemeClr>
                </a:solidFill>
              </a:rPr>
              <a:t># x </a:t>
            </a:r>
            <a:r>
              <a:rPr lang="en-US" dirty="0" err="1" smtClean="0">
                <a:solidFill>
                  <a:schemeClr val="accent6">
                    <a:lumMod val="75000"/>
                  </a:schemeClr>
                </a:solidFill>
              </a:rPr>
              <a:t>giờ</a:t>
            </a:r>
            <a:r>
              <a:rPr lang="en-US" dirty="0" smtClean="0">
                <a:solidFill>
                  <a:schemeClr val="accent6">
                    <a:lumMod val="75000"/>
                  </a:schemeClr>
                </a:solidFill>
              </a:rPr>
              <a:t> </a:t>
            </a:r>
            <a:r>
              <a:rPr lang="en-US" dirty="0" err="1" smtClean="0">
                <a:solidFill>
                  <a:schemeClr val="accent6">
                    <a:lumMod val="75000"/>
                  </a:schemeClr>
                </a:solidFill>
              </a:rPr>
              <a:t>là</a:t>
            </a:r>
            <a:r>
              <a:rPr lang="en-US" dirty="0" smtClean="0">
                <a:solidFill>
                  <a:schemeClr val="accent6">
                    <a:lumMod val="75000"/>
                  </a:schemeClr>
                </a:solidFill>
              </a:rPr>
              <a:t> </a:t>
            </a:r>
            <a:r>
              <a:rPr lang="en-US" dirty="0" err="1" smtClean="0">
                <a:solidFill>
                  <a:schemeClr val="accent6">
                    <a:lumMod val="75000"/>
                  </a:schemeClr>
                </a:solidFill>
              </a:rPr>
              <a:t>int</a:t>
            </a:r>
            <a:r>
              <a:rPr lang="en-US" dirty="0" smtClean="0">
                <a:solidFill>
                  <a:schemeClr val="accent6">
                    <a:lumMod val="75000"/>
                  </a:schemeClr>
                </a:solidFill>
              </a:rPr>
              <a:t> = 2</a:t>
            </a:r>
            <a:endParaRPr lang="en-US" dirty="0">
              <a:solidFill>
                <a:schemeClr val="accent6">
                  <a:lumMod val="75000"/>
                </a:schemeClr>
              </a:solidFill>
            </a:endParaRPr>
          </a:p>
        </p:txBody>
      </p:sp>
      <p:pic>
        <p:nvPicPr>
          <p:cNvPr id="20"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80670"/>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p:cNvSpPr txBox="1"/>
          <p:nvPr/>
        </p:nvSpPr>
        <p:spPr>
          <a:xfrm>
            <a:off x="1041993" y="1621244"/>
            <a:ext cx="4125430" cy="369332"/>
          </a:xfrm>
          <a:prstGeom prst="rect">
            <a:avLst/>
          </a:prstGeom>
          <a:noFill/>
        </p:spPr>
        <p:txBody>
          <a:bodyPr wrap="square" rtlCol="0">
            <a:spAutoFit/>
          </a:bodyPr>
          <a:lstStyle/>
          <a:p>
            <a:r>
              <a:rPr lang="en-US" b="1" dirty="0" err="1" smtClean="0"/>
              <a:t>Chuyển</a:t>
            </a:r>
            <a:r>
              <a:rPr lang="en-US" b="1" dirty="0" smtClean="0"/>
              <a:t> </a:t>
            </a:r>
            <a:r>
              <a:rPr lang="en-US" b="1" dirty="0" err="1" smtClean="0"/>
              <a:t>đổi</a:t>
            </a:r>
            <a:r>
              <a:rPr lang="en-US" b="1" dirty="0" smtClean="0"/>
              <a:t> </a:t>
            </a:r>
            <a:r>
              <a:rPr lang="en-US" b="1" dirty="0" err="1" smtClean="0"/>
              <a:t>dữ</a:t>
            </a:r>
            <a:r>
              <a:rPr lang="en-US" b="1" dirty="0" smtClean="0"/>
              <a:t> </a:t>
            </a:r>
            <a:r>
              <a:rPr lang="en-US" b="1" dirty="0" err="1" smtClean="0"/>
              <a:t>liệu</a:t>
            </a:r>
            <a:endParaRPr lang="en-US" b="1" dirty="0">
              <a:solidFill>
                <a:srgbClr val="FF0000"/>
              </a:solidFill>
            </a:endParaRPr>
          </a:p>
        </p:txBody>
      </p:sp>
      <p:sp>
        <p:nvSpPr>
          <p:cNvPr id="12" name="TextBox 11"/>
          <p:cNvSpPr txBox="1"/>
          <p:nvPr/>
        </p:nvSpPr>
        <p:spPr>
          <a:xfrm>
            <a:off x="1297171" y="6164461"/>
            <a:ext cx="7687339" cy="369332"/>
          </a:xfrm>
          <a:prstGeom prst="rect">
            <a:avLst/>
          </a:prstGeom>
          <a:noFill/>
        </p:spPr>
        <p:txBody>
          <a:bodyPr wrap="square" rtlCol="0">
            <a:spAutoFit/>
          </a:bodyPr>
          <a:lstStyle/>
          <a:p>
            <a:r>
              <a:rPr lang="en-US" dirty="0" err="1" smtClean="0"/>
              <a:t>Thì</a:t>
            </a:r>
            <a:r>
              <a:rPr lang="en-US" dirty="0" smtClean="0"/>
              <a:t> </a:t>
            </a:r>
            <a:r>
              <a:rPr lang="en-US" dirty="0" err="1" smtClean="0"/>
              <a:t>ngược</a:t>
            </a:r>
            <a:r>
              <a:rPr lang="en-US" dirty="0" smtClean="0"/>
              <a:t> </a:t>
            </a:r>
            <a:r>
              <a:rPr lang="en-US" dirty="0" err="1" smtClean="0"/>
              <a:t>lại</a:t>
            </a:r>
            <a:r>
              <a:rPr lang="en-US" dirty="0" smtClean="0"/>
              <a:t>, </a:t>
            </a:r>
            <a:r>
              <a:rPr lang="en-US" dirty="0" err="1" smtClean="0"/>
              <a:t>chuyển</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từ</a:t>
            </a:r>
            <a:r>
              <a:rPr lang="en-US" dirty="0" smtClean="0"/>
              <a:t> </a:t>
            </a:r>
            <a:r>
              <a:rPr lang="en-US" dirty="0" err="1" smtClean="0"/>
              <a:t>kiểu</a:t>
            </a:r>
            <a:r>
              <a:rPr lang="en-US" dirty="0" smtClean="0"/>
              <a:t> </a:t>
            </a:r>
            <a:r>
              <a:rPr lang="en-US" dirty="0" err="1" smtClean="0"/>
              <a:t>số</a:t>
            </a:r>
            <a:r>
              <a:rPr lang="en-US" dirty="0" smtClean="0"/>
              <a:t> sang </a:t>
            </a:r>
            <a:r>
              <a:rPr lang="en-US" dirty="0" err="1" smtClean="0"/>
              <a:t>kiểu</a:t>
            </a:r>
            <a:r>
              <a:rPr lang="en-US" dirty="0" smtClean="0"/>
              <a:t> </a:t>
            </a:r>
            <a:r>
              <a:rPr lang="en-US" dirty="0" err="1" smtClean="0"/>
              <a:t>chuỗi</a:t>
            </a:r>
            <a:endParaRPr lang="en-US" b="1" dirty="0"/>
          </a:p>
        </p:txBody>
      </p:sp>
      <p:sp>
        <p:nvSpPr>
          <p:cNvPr id="13" name="TextBox 12"/>
          <p:cNvSpPr txBox="1"/>
          <p:nvPr/>
        </p:nvSpPr>
        <p:spPr>
          <a:xfrm>
            <a:off x="520998" y="2837388"/>
            <a:ext cx="893132" cy="369332"/>
          </a:xfrm>
          <a:prstGeom prst="rect">
            <a:avLst/>
          </a:prstGeom>
          <a:noFill/>
        </p:spPr>
        <p:txBody>
          <a:bodyPr wrap="square" rtlCol="0">
            <a:spAutoFit/>
          </a:bodyPr>
          <a:lstStyle/>
          <a:p>
            <a:r>
              <a:rPr lang="en-US" b="1" dirty="0" err="1" smtClean="0"/>
              <a:t>Int</a:t>
            </a:r>
            <a:r>
              <a:rPr lang="en-US" b="1" dirty="0" smtClean="0"/>
              <a:t>()</a:t>
            </a:r>
            <a:endParaRPr lang="en-US" b="1" dirty="0">
              <a:solidFill>
                <a:srgbClr val="FF0000"/>
              </a:solidFill>
            </a:endParaRPr>
          </a:p>
        </p:txBody>
      </p:sp>
      <p:sp>
        <p:nvSpPr>
          <p:cNvPr id="14" name="TextBox 13"/>
          <p:cNvSpPr txBox="1"/>
          <p:nvPr/>
        </p:nvSpPr>
        <p:spPr>
          <a:xfrm>
            <a:off x="2658142" y="2837388"/>
            <a:ext cx="3700128" cy="369332"/>
          </a:xfrm>
          <a:prstGeom prst="rect">
            <a:avLst/>
          </a:prstGeom>
          <a:noFill/>
        </p:spPr>
        <p:txBody>
          <a:bodyPr wrap="square" rtlCol="0">
            <a:spAutoFit/>
          </a:bodyPr>
          <a:lstStyle/>
          <a:p>
            <a:r>
              <a:rPr lang="en-US" b="1" dirty="0" err="1" smtClean="0">
                <a:solidFill>
                  <a:srgbClr val="FF0000"/>
                </a:solidFill>
              </a:rPr>
              <a:t>Giá</a:t>
            </a:r>
            <a:r>
              <a:rPr lang="en-US" b="1" dirty="0" smtClean="0">
                <a:solidFill>
                  <a:srgbClr val="FF0000"/>
                </a:solidFill>
              </a:rPr>
              <a:t> </a:t>
            </a:r>
            <a:r>
              <a:rPr lang="en-US" b="1" dirty="0" err="1" smtClean="0">
                <a:solidFill>
                  <a:srgbClr val="FF0000"/>
                </a:solidFill>
              </a:rPr>
              <a:t>trị</a:t>
            </a:r>
            <a:r>
              <a:rPr lang="en-US" b="1" dirty="0" smtClean="0">
                <a:solidFill>
                  <a:srgbClr val="FF0000"/>
                </a:solidFill>
              </a:rPr>
              <a:t> </a:t>
            </a:r>
            <a:r>
              <a:rPr lang="en-US" b="1" dirty="0" err="1" smtClean="0">
                <a:solidFill>
                  <a:srgbClr val="FF0000"/>
                </a:solidFill>
              </a:rPr>
              <a:t>trả</a:t>
            </a:r>
            <a:r>
              <a:rPr lang="en-US" b="1" dirty="0" smtClean="0">
                <a:solidFill>
                  <a:srgbClr val="FF0000"/>
                </a:solidFill>
              </a:rPr>
              <a:t> </a:t>
            </a:r>
            <a:r>
              <a:rPr lang="en-US" b="1" dirty="0" err="1" smtClean="0">
                <a:solidFill>
                  <a:srgbClr val="FF0000"/>
                </a:solidFill>
              </a:rPr>
              <a:t>về</a:t>
            </a:r>
            <a:r>
              <a:rPr lang="en-US" b="1" dirty="0" smtClean="0">
                <a:solidFill>
                  <a:srgbClr val="FF0000"/>
                </a:solidFill>
              </a:rPr>
              <a:t> = </a:t>
            </a:r>
            <a:r>
              <a:rPr lang="en-US" b="1" dirty="0" err="1" smtClean="0">
                <a:solidFill>
                  <a:srgbClr val="FF0000"/>
                </a:solidFill>
              </a:rPr>
              <a:t>int</a:t>
            </a:r>
            <a:r>
              <a:rPr lang="en-US" b="1" dirty="0" smtClean="0">
                <a:solidFill>
                  <a:srgbClr val="FF0000"/>
                </a:solidFill>
              </a:rPr>
              <a:t>(&lt;</a:t>
            </a:r>
            <a:r>
              <a:rPr lang="en-US" b="1" dirty="0" err="1" smtClean="0">
                <a:solidFill>
                  <a:srgbClr val="FF0000"/>
                </a:solidFill>
              </a:rPr>
              <a:t>giá</a:t>
            </a:r>
            <a:r>
              <a:rPr lang="en-US" b="1" dirty="0" smtClean="0">
                <a:solidFill>
                  <a:srgbClr val="FF0000"/>
                </a:solidFill>
              </a:rPr>
              <a:t> </a:t>
            </a:r>
            <a:r>
              <a:rPr lang="en-US" b="1" dirty="0" err="1" smtClean="0">
                <a:solidFill>
                  <a:srgbClr val="FF0000"/>
                </a:solidFill>
              </a:rPr>
              <a:t>trị</a:t>
            </a:r>
            <a:r>
              <a:rPr lang="en-US" b="1" dirty="0" smtClean="0">
                <a:solidFill>
                  <a:srgbClr val="FF0000"/>
                </a:solidFill>
              </a:rPr>
              <a:t>&gt;)</a:t>
            </a:r>
            <a:endParaRPr lang="en-US" b="1" dirty="0">
              <a:solidFill>
                <a:srgbClr val="FF0000"/>
              </a:solidFill>
            </a:endParaRPr>
          </a:p>
        </p:txBody>
      </p:sp>
      <p:sp>
        <p:nvSpPr>
          <p:cNvPr id="15" name="TextBox 14"/>
          <p:cNvSpPr txBox="1"/>
          <p:nvPr/>
        </p:nvSpPr>
        <p:spPr>
          <a:xfrm>
            <a:off x="520998" y="4538598"/>
            <a:ext cx="893132" cy="369332"/>
          </a:xfrm>
          <a:prstGeom prst="rect">
            <a:avLst/>
          </a:prstGeom>
          <a:noFill/>
        </p:spPr>
        <p:txBody>
          <a:bodyPr wrap="square" rtlCol="0">
            <a:spAutoFit/>
          </a:bodyPr>
          <a:lstStyle/>
          <a:p>
            <a:r>
              <a:rPr lang="en-US" b="1" dirty="0" smtClean="0"/>
              <a:t>float()</a:t>
            </a:r>
            <a:endParaRPr lang="en-US" b="1" dirty="0">
              <a:solidFill>
                <a:srgbClr val="FF0000"/>
              </a:solidFill>
            </a:endParaRPr>
          </a:p>
        </p:txBody>
      </p:sp>
      <p:sp>
        <p:nvSpPr>
          <p:cNvPr id="16" name="TextBox 15"/>
          <p:cNvSpPr txBox="1"/>
          <p:nvPr/>
        </p:nvSpPr>
        <p:spPr>
          <a:xfrm>
            <a:off x="2658142" y="4538598"/>
            <a:ext cx="3700128" cy="369332"/>
          </a:xfrm>
          <a:prstGeom prst="rect">
            <a:avLst/>
          </a:prstGeom>
          <a:noFill/>
        </p:spPr>
        <p:txBody>
          <a:bodyPr wrap="square" rtlCol="0">
            <a:spAutoFit/>
          </a:bodyPr>
          <a:lstStyle/>
          <a:p>
            <a:r>
              <a:rPr lang="en-US" b="1" dirty="0" err="1" smtClean="0">
                <a:solidFill>
                  <a:srgbClr val="FF0000"/>
                </a:solidFill>
              </a:rPr>
              <a:t>Giá</a:t>
            </a:r>
            <a:r>
              <a:rPr lang="en-US" b="1" dirty="0" smtClean="0">
                <a:solidFill>
                  <a:srgbClr val="FF0000"/>
                </a:solidFill>
              </a:rPr>
              <a:t> </a:t>
            </a:r>
            <a:r>
              <a:rPr lang="en-US" b="1" dirty="0" err="1" smtClean="0">
                <a:solidFill>
                  <a:srgbClr val="FF0000"/>
                </a:solidFill>
              </a:rPr>
              <a:t>trị</a:t>
            </a:r>
            <a:r>
              <a:rPr lang="en-US" b="1" dirty="0" smtClean="0">
                <a:solidFill>
                  <a:srgbClr val="FF0000"/>
                </a:solidFill>
              </a:rPr>
              <a:t> </a:t>
            </a:r>
            <a:r>
              <a:rPr lang="en-US" b="1" dirty="0" err="1" smtClean="0">
                <a:solidFill>
                  <a:srgbClr val="FF0000"/>
                </a:solidFill>
              </a:rPr>
              <a:t>trả</a:t>
            </a:r>
            <a:r>
              <a:rPr lang="en-US" b="1" dirty="0" smtClean="0">
                <a:solidFill>
                  <a:srgbClr val="FF0000"/>
                </a:solidFill>
              </a:rPr>
              <a:t> </a:t>
            </a:r>
            <a:r>
              <a:rPr lang="en-US" b="1" dirty="0" err="1" smtClean="0">
                <a:solidFill>
                  <a:srgbClr val="FF0000"/>
                </a:solidFill>
              </a:rPr>
              <a:t>về</a:t>
            </a:r>
            <a:r>
              <a:rPr lang="en-US" b="1" dirty="0" smtClean="0">
                <a:solidFill>
                  <a:srgbClr val="FF0000"/>
                </a:solidFill>
              </a:rPr>
              <a:t> = </a:t>
            </a:r>
            <a:r>
              <a:rPr lang="en-US" b="1" dirty="0" err="1" smtClean="0">
                <a:solidFill>
                  <a:srgbClr val="FF0000"/>
                </a:solidFill>
              </a:rPr>
              <a:t>int</a:t>
            </a:r>
            <a:r>
              <a:rPr lang="en-US" b="1" dirty="0" smtClean="0">
                <a:solidFill>
                  <a:srgbClr val="FF0000"/>
                </a:solidFill>
              </a:rPr>
              <a:t>(&lt;</a:t>
            </a:r>
            <a:r>
              <a:rPr lang="en-US" b="1" dirty="0" err="1" smtClean="0">
                <a:solidFill>
                  <a:srgbClr val="FF0000"/>
                </a:solidFill>
              </a:rPr>
              <a:t>giá</a:t>
            </a:r>
            <a:r>
              <a:rPr lang="en-US" b="1" dirty="0" smtClean="0">
                <a:solidFill>
                  <a:srgbClr val="FF0000"/>
                </a:solidFill>
              </a:rPr>
              <a:t> </a:t>
            </a:r>
            <a:r>
              <a:rPr lang="en-US" b="1" dirty="0" err="1" smtClean="0">
                <a:solidFill>
                  <a:srgbClr val="FF0000"/>
                </a:solidFill>
              </a:rPr>
              <a:t>trị</a:t>
            </a:r>
            <a:r>
              <a:rPr lang="en-US" b="1" dirty="0" smtClean="0">
                <a:solidFill>
                  <a:srgbClr val="FF0000"/>
                </a:solidFill>
              </a:rPr>
              <a:t>&gt;)</a:t>
            </a:r>
            <a:endParaRPr lang="en-US" b="1" dirty="0">
              <a:solidFill>
                <a:srgbClr val="FF0000"/>
              </a:solidFill>
            </a:endParaRPr>
          </a:p>
        </p:txBody>
      </p:sp>
      <p:sp>
        <p:nvSpPr>
          <p:cNvPr id="17" name="Rectangle 16"/>
          <p:cNvSpPr/>
          <p:nvPr/>
        </p:nvSpPr>
        <p:spPr>
          <a:xfrm>
            <a:off x="563525" y="5003081"/>
            <a:ext cx="7899991" cy="97644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763710" y="5154502"/>
            <a:ext cx="7347097" cy="646331"/>
          </a:xfrm>
          <a:prstGeom prst="rect">
            <a:avLst/>
          </a:prstGeom>
          <a:noFill/>
        </p:spPr>
        <p:txBody>
          <a:bodyPr wrap="square" rtlCol="0">
            <a:spAutoFit/>
          </a:bodyPr>
          <a:lstStyle/>
          <a:p>
            <a:r>
              <a:rPr lang="en-US" dirty="0" smtClean="0">
                <a:solidFill>
                  <a:schemeClr val="bg1"/>
                </a:solidFill>
              </a:rPr>
              <a:t>x  = </a:t>
            </a:r>
            <a:r>
              <a:rPr lang="en-US" smtClean="0">
                <a:solidFill>
                  <a:schemeClr val="bg1"/>
                </a:solidFill>
              </a:rPr>
              <a:t> </a:t>
            </a:r>
            <a:r>
              <a:rPr lang="en-US" smtClean="0">
                <a:solidFill>
                  <a:schemeClr val="accent2">
                    <a:lumMod val="75000"/>
                  </a:schemeClr>
                </a:solidFill>
              </a:rPr>
              <a:t>‘2.74156</a:t>
            </a:r>
            <a:r>
              <a:rPr lang="en-US" dirty="0" smtClean="0">
                <a:solidFill>
                  <a:schemeClr val="accent2">
                    <a:lumMod val="75000"/>
                  </a:schemeClr>
                </a:solidFill>
              </a:rPr>
              <a:t>‘ </a:t>
            </a:r>
            <a:r>
              <a:rPr lang="en-US" dirty="0" smtClean="0">
                <a:solidFill>
                  <a:schemeClr val="accent6">
                    <a:lumMod val="75000"/>
                  </a:schemeClr>
                </a:solidFill>
              </a:rPr>
              <a:t># </a:t>
            </a:r>
            <a:r>
              <a:rPr lang="en-US" dirty="0">
                <a:solidFill>
                  <a:schemeClr val="accent6">
                    <a:lumMod val="75000"/>
                  </a:schemeClr>
                </a:solidFill>
              </a:rPr>
              <a:t>x </a:t>
            </a:r>
            <a:r>
              <a:rPr lang="en-US" dirty="0" err="1" smtClean="0">
                <a:solidFill>
                  <a:schemeClr val="accent6">
                    <a:lumMod val="75000"/>
                  </a:schemeClr>
                </a:solidFill>
              </a:rPr>
              <a:t>đang</a:t>
            </a:r>
            <a:r>
              <a:rPr lang="en-US" dirty="0" smtClean="0">
                <a:solidFill>
                  <a:schemeClr val="accent6">
                    <a:lumMod val="75000"/>
                  </a:schemeClr>
                </a:solidFill>
              </a:rPr>
              <a:t> </a:t>
            </a:r>
            <a:r>
              <a:rPr lang="en-US" dirty="0" err="1" smtClean="0">
                <a:solidFill>
                  <a:schemeClr val="accent6">
                    <a:lumMod val="75000"/>
                  </a:schemeClr>
                </a:solidFill>
              </a:rPr>
              <a:t>là</a:t>
            </a:r>
            <a:r>
              <a:rPr lang="en-US" dirty="0" smtClean="0">
                <a:solidFill>
                  <a:schemeClr val="accent6">
                    <a:lumMod val="75000"/>
                  </a:schemeClr>
                </a:solidFill>
              </a:rPr>
              <a:t> </a:t>
            </a:r>
            <a:r>
              <a:rPr lang="en-US" dirty="0" err="1" smtClean="0">
                <a:solidFill>
                  <a:schemeClr val="accent6">
                    <a:lumMod val="75000"/>
                  </a:schemeClr>
                </a:solidFill>
              </a:rPr>
              <a:t>str</a:t>
            </a:r>
            <a:r>
              <a:rPr lang="en-US" dirty="0" smtClean="0">
                <a:solidFill>
                  <a:schemeClr val="accent6">
                    <a:lumMod val="75000"/>
                  </a:schemeClr>
                </a:solidFill>
              </a:rPr>
              <a:t> </a:t>
            </a:r>
            <a:r>
              <a:rPr lang="en-US" dirty="0" err="1" smtClean="0">
                <a:solidFill>
                  <a:schemeClr val="accent6">
                    <a:lumMod val="75000"/>
                  </a:schemeClr>
                </a:solidFill>
              </a:rPr>
              <a:t>có</a:t>
            </a:r>
            <a:r>
              <a:rPr lang="en-US" dirty="0" smtClean="0">
                <a:solidFill>
                  <a:schemeClr val="accent6">
                    <a:lumMod val="75000"/>
                  </a:schemeClr>
                </a:solidFill>
              </a:rPr>
              <a:t> </a:t>
            </a:r>
            <a:r>
              <a:rPr lang="en-US" dirty="0" err="1" smtClean="0">
                <a:solidFill>
                  <a:schemeClr val="accent6">
                    <a:lumMod val="75000"/>
                  </a:schemeClr>
                </a:solidFill>
              </a:rPr>
              <a:t>giá</a:t>
            </a:r>
            <a:r>
              <a:rPr lang="en-US" dirty="0" smtClean="0">
                <a:solidFill>
                  <a:schemeClr val="accent6">
                    <a:lumMod val="75000"/>
                  </a:schemeClr>
                </a:solidFill>
              </a:rPr>
              <a:t> </a:t>
            </a:r>
            <a:r>
              <a:rPr lang="en-US" dirty="0" err="1" smtClean="0">
                <a:solidFill>
                  <a:schemeClr val="accent6">
                    <a:lumMod val="75000"/>
                  </a:schemeClr>
                </a:solidFill>
              </a:rPr>
              <a:t>trị</a:t>
            </a:r>
            <a:r>
              <a:rPr lang="en-US" dirty="0" smtClean="0">
                <a:solidFill>
                  <a:schemeClr val="accent6">
                    <a:lumMod val="75000"/>
                  </a:schemeClr>
                </a:solidFill>
              </a:rPr>
              <a:t> </a:t>
            </a:r>
            <a:r>
              <a:rPr lang="en-US" smtClean="0">
                <a:solidFill>
                  <a:schemeClr val="accent6">
                    <a:lumMod val="75000"/>
                  </a:schemeClr>
                </a:solidFill>
              </a:rPr>
              <a:t>= </a:t>
            </a:r>
            <a:r>
              <a:rPr lang="en-US" smtClean="0">
                <a:solidFill>
                  <a:schemeClr val="accent6">
                    <a:lumMod val="75000"/>
                  </a:schemeClr>
                </a:solidFill>
              </a:rPr>
              <a:t>‘2.74156</a:t>
            </a:r>
            <a:r>
              <a:rPr lang="en-US" dirty="0" smtClean="0">
                <a:solidFill>
                  <a:schemeClr val="accent6">
                    <a:lumMod val="75000"/>
                  </a:schemeClr>
                </a:solidFill>
              </a:rPr>
              <a:t>’</a:t>
            </a:r>
            <a:r>
              <a:rPr lang="en-US" dirty="0">
                <a:solidFill>
                  <a:schemeClr val="bg1"/>
                </a:solidFill>
              </a:rPr>
              <a:t/>
            </a:r>
            <a:br>
              <a:rPr lang="en-US" dirty="0">
                <a:solidFill>
                  <a:schemeClr val="bg1"/>
                </a:solidFill>
              </a:rPr>
            </a:br>
            <a:r>
              <a:rPr lang="en-US" dirty="0" smtClean="0">
                <a:solidFill>
                  <a:schemeClr val="bg1"/>
                </a:solidFill>
              </a:rPr>
              <a:t>print</a:t>
            </a:r>
            <a:r>
              <a:rPr lang="en-US" dirty="0" smtClean="0">
                <a:solidFill>
                  <a:srgbClr val="FFC500"/>
                </a:solidFill>
              </a:rPr>
              <a:t>(</a:t>
            </a:r>
            <a:r>
              <a:rPr lang="en-US" dirty="0" smtClean="0">
                <a:solidFill>
                  <a:schemeClr val="bg1"/>
                </a:solidFill>
              </a:rPr>
              <a:t>float</a:t>
            </a:r>
            <a:r>
              <a:rPr lang="en-US" dirty="0" smtClean="0">
                <a:solidFill>
                  <a:srgbClr val="FF66CC"/>
                </a:solidFill>
              </a:rPr>
              <a:t>(</a:t>
            </a:r>
            <a:r>
              <a:rPr lang="en-US" dirty="0" smtClean="0">
                <a:solidFill>
                  <a:schemeClr val="bg1"/>
                </a:solidFill>
              </a:rPr>
              <a:t>x</a:t>
            </a:r>
            <a:r>
              <a:rPr lang="en-US" dirty="0" smtClean="0">
                <a:solidFill>
                  <a:srgbClr val="FF66CC"/>
                </a:solidFill>
              </a:rPr>
              <a:t>)</a:t>
            </a:r>
            <a:r>
              <a:rPr lang="en-US" dirty="0" smtClean="0">
                <a:solidFill>
                  <a:srgbClr val="FFC500"/>
                </a:solidFill>
              </a:rPr>
              <a:t>) </a:t>
            </a:r>
            <a:r>
              <a:rPr lang="en-US" dirty="0" smtClean="0">
                <a:solidFill>
                  <a:schemeClr val="accent6">
                    <a:lumMod val="75000"/>
                  </a:schemeClr>
                </a:solidFill>
              </a:rPr>
              <a:t># x </a:t>
            </a:r>
            <a:r>
              <a:rPr lang="en-US" dirty="0" err="1" smtClean="0">
                <a:solidFill>
                  <a:schemeClr val="accent6">
                    <a:lumMod val="75000"/>
                  </a:schemeClr>
                </a:solidFill>
              </a:rPr>
              <a:t>giờ</a:t>
            </a:r>
            <a:r>
              <a:rPr lang="en-US" dirty="0" smtClean="0">
                <a:solidFill>
                  <a:schemeClr val="accent6">
                    <a:lumMod val="75000"/>
                  </a:schemeClr>
                </a:solidFill>
              </a:rPr>
              <a:t> </a:t>
            </a:r>
            <a:r>
              <a:rPr lang="en-US" dirty="0" err="1" smtClean="0">
                <a:solidFill>
                  <a:schemeClr val="accent6">
                    <a:lumMod val="75000"/>
                  </a:schemeClr>
                </a:solidFill>
              </a:rPr>
              <a:t>là</a:t>
            </a:r>
            <a:r>
              <a:rPr lang="en-US" dirty="0" smtClean="0">
                <a:solidFill>
                  <a:schemeClr val="accent6">
                    <a:lumMod val="75000"/>
                  </a:schemeClr>
                </a:solidFill>
              </a:rPr>
              <a:t> </a:t>
            </a:r>
            <a:r>
              <a:rPr lang="en-US" dirty="0" err="1" smtClean="0">
                <a:solidFill>
                  <a:schemeClr val="accent6">
                    <a:lumMod val="75000"/>
                  </a:schemeClr>
                </a:solidFill>
              </a:rPr>
              <a:t>int</a:t>
            </a:r>
            <a:r>
              <a:rPr lang="en-US" dirty="0" smtClean="0">
                <a:solidFill>
                  <a:schemeClr val="accent6">
                    <a:lumMod val="75000"/>
                  </a:schemeClr>
                </a:solidFill>
              </a:rPr>
              <a:t> </a:t>
            </a:r>
            <a:r>
              <a:rPr lang="en-US" smtClean="0">
                <a:solidFill>
                  <a:schemeClr val="accent6">
                    <a:lumMod val="75000"/>
                  </a:schemeClr>
                </a:solidFill>
              </a:rPr>
              <a:t>= </a:t>
            </a:r>
            <a:r>
              <a:rPr lang="en-US" smtClean="0">
                <a:solidFill>
                  <a:schemeClr val="accent6">
                    <a:lumMod val="75000"/>
                  </a:schemeClr>
                </a:solidFill>
              </a:rPr>
              <a:t>2.74156</a:t>
            </a:r>
            <a:endParaRPr lang="en-US" dirty="0">
              <a:solidFill>
                <a:schemeClr val="accent6">
                  <a:lumMod val="75000"/>
                </a:schemeClr>
              </a:solidFill>
            </a:endParaRPr>
          </a:p>
        </p:txBody>
      </p:sp>
      <p:sp>
        <p:nvSpPr>
          <p:cNvPr id="26" name="TextBox 25"/>
          <p:cNvSpPr txBox="1"/>
          <p:nvPr/>
        </p:nvSpPr>
        <p:spPr>
          <a:xfrm>
            <a:off x="520998" y="6133482"/>
            <a:ext cx="893132" cy="369332"/>
          </a:xfrm>
          <a:prstGeom prst="rect">
            <a:avLst/>
          </a:prstGeom>
          <a:noFill/>
        </p:spPr>
        <p:txBody>
          <a:bodyPr wrap="square" rtlCol="0">
            <a:spAutoFit/>
          </a:bodyPr>
          <a:lstStyle/>
          <a:p>
            <a:r>
              <a:rPr lang="en-US" b="1" dirty="0" err="1" smtClean="0"/>
              <a:t>strt</a:t>
            </a:r>
            <a:r>
              <a:rPr lang="en-US" b="1" dirty="0" smtClean="0"/>
              <a:t>()</a:t>
            </a:r>
            <a:endParaRPr lang="en-US" b="1" dirty="0">
              <a:solidFill>
                <a:srgbClr val="FF0000"/>
              </a:solidFill>
            </a:endParaRPr>
          </a:p>
        </p:txBody>
      </p:sp>
      <p:sp>
        <p:nvSpPr>
          <p:cNvPr id="27" name="TextBox 26"/>
          <p:cNvSpPr txBox="1"/>
          <p:nvPr/>
        </p:nvSpPr>
        <p:spPr>
          <a:xfrm>
            <a:off x="423468" y="2099432"/>
            <a:ext cx="8040048" cy="646331"/>
          </a:xfrm>
          <a:prstGeom prst="rect">
            <a:avLst/>
          </a:prstGeom>
          <a:noFill/>
        </p:spPr>
        <p:txBody>
          <a:bodyPr wrap="square" rtlCol="0">
            <a:spAutoFit/>
          </a:bodyPr>
          <a:lstStyle/>
          <a:p>
            <a:r>
              <a:rPr lang="en-US" dirty="0" err="1" smtClean="0"/>
              <a:t>Để</a:t>
            </a:r>
            <a:r>
              <a:rPr lang="en-US" dirty="0" smtClean="0"/>
              <a:t> </a:t>
            </a:r>
            <a:r>
              <a:rPr lang="en-US" dirty="0" err="1" smtClean="0"/>
              <a:t>có</a:t>
            </a:r>
            <a:r>
              <a:rPr lang="en-US" dirty="0" smtClean="0"/>
              <a:t> </a:t>
            </a:r>
            <a:r>
              <a:rPr lang="en-US" dirty="0" err="1" smtClean="0"/>
              <a:t>được</a:t>
            </a:r>
            <a:r>
              <a:rPr lang="en-US" dirty="0" smtClean="0"/>
              <a:t> </a:t>
            </a:r>
            <a:r>
              <a:rPr lang="en-US" dirty="0" err="1" smtClean="0"/>
              <a:t>kiểu</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mình</a:t>
            </a:r>
            <a:r>
              <a:rPr lang="en-US" dirty="0" smtClean="0"/>
              <a:t> </a:t>
            </a:r>
            <a:r>
              <a:rPr lang="en-US" dirty="0" err="1" smtClean="0"/>
              <a:t>muốn</a:t>
            </a:r>
            <a:r>
              <a:rPr lang="en-US" dirty="0" smtClean="0"/>
              <a:t>, </a:t>
            </a:r>
            <a:r>
              <a:rPr lang="en-US" dirty="0" err="1" smtClean="0"/>
              <a:t>chúng</a:t>
            </a:r>
            <a:r>
              <a:rPr lang="en-US" dirty="0" smtClean="0"/>
              <a:t> ta </a:t>
            </a:r>
            <a:r>
              <a:rPr lang="en-US" dirty="0" err="1" smtClean="0"/>
              <a:t>có</a:t>
            </a:r>
            <a:r>
              <a:rPr lang="en-US" dirty="0" smtClean="0"/>
              <a:t> </a:t>
            </a:r>
            <a:r>
              <a:rPr lang="en-US" dirty="0" err="1" smtClean="0"/>
              <a:t>thể</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các</a:t>
            </a:r>
            <a:r>
              <a:rPr lang="en-US" dirty="0" smtClean="0"/>
              <a:t> </a:t>
            </a:r>
            <a:r>
              <a:rPr lang="en-US" dirty="0" err="1" smtClean="0"/>
              <a:t>hàm</a:t>
            </a:r>
            <a:r>
              <a:rPr lang="en-US" dirty="0" smtClean="0"/>
              <a:t> </a:t>
            </a:r>
            <a:r>
              <a:rPr lang="en-US" dirty="0" err="1" smtClean="0"/>
              <a:t>int</a:t>
            </a:r>
            <a:r>
              <a:rPr lang="en-US" dirty="0" smtClean="0"/>
              <a:t>(), float(), </a:t>
            </a:r>
            <a:r>
              <a:rPr lang="en-US" dirty="0" err="1" smtClean="0"/>
              <a:t>str</a:t>
            </a:r>
            <a:r>
              <a:rPr lang="en-US" dirty="0" smtClean="0"/>
              <a:t>() </a:t>
            </a:r>
            <a:r>
              <a:rPr lang="en-US" dirty="0" err="1" smtClean="0"/>
              <a:t>để</a:t>
            </a:r>
            <a:r>
              <a:rPr lang="en-US" dirty="0" smtClean="0"/>
              <a:t> </a:t>
            </a:r>
            <a:r>
              <a:rPr lang="en-US" dirty="0" err="1" smtClean="0"/>
              <a:t>chuyển</a:t>
            </a:r>
            <a:r>
              <a:rPr lang="en-US" dirty="0" smtClean="0"/>
              <a:t> </a:t>
            </a:r>
            <a:r>
              <a:rPr lang="en-US" dirty="0" err="1" smtClean="0"/>
              <a:t>đổi</a:t>
            </a:r>
            <a:r>
              <a:rPr lang="en-US" dirty="0" smtClean="0"/>
              <a:t> </a:t>
            </a:r>
            <a:r>
              <a:rPr lang="en-US" dirty="0" err="1" smtClean="0"/>
              <a:t>kiểu</a:t>
            </a:r>
            <a:r>
              <a:rPr lang="en-US" dirty="0" smtClean="0"/>
              <a:t> </a:t>
            </a:r>
            <a:r>
              <a:rPr lang="en-US" dirty="0" err="1" smtClean="0"/>
              <a:t>dữ</a:t>
            </a:r>
            <a:r>
              <a:rPr lang="en-US" dirty="0" smtClean="0"/>
              <a:t> </a:t>
            </a:r>
            <a:r>
              <a:rPr lang="en-US" dirty="0" err="1" smtClean="0"/>
              <a:t>liệu</a:t>
            </a:r>
            <a:r>
              <a:rPr lang="en-US" dirty="0" smtClean="0"/>
              <a:t>:</a:t>
            </a:r>
            <a:endParaRPr lang="en-US" b="1" dirty="0"/>
          </a:p>
        </p:txBody>
      </p:sp>
    </p:spTree>
    <p:extLst>
      <p:ext uri="{BB962C8B-B14F-4D97-AF65-F5344CB8AC3E}">
        <p14:creationId xmlns:p14="http://schemas.microsoft.com/office/powerpoint/2010/main" val="27316602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24</a:t>
            </a:fld>
            <a:endParaRPr lang="en-US"/>
          </a:p>
        </p:txBody>
      </p:sp>
      <p:sp>
        <p:nvSpPr>
          <p:cNvPr id="4" name="Text Placeholder 2"/>
          <p:cNvSpPr txBox="1">
            <a:spLocks/>
          </p:cNvSpPr>
          <p:nvPr/>
        </p:nvSpPr>
        <p:spPr>
          <a:xfrm>
            <a:off x="209777" y="854833"/>
            <a:ext cx="8454964" cy="424732"/>
          </a:xfrm>
          <a:prstGeom prst="rect">
            <a:avLst/>
          </a:prstGeom>
          <a:noFill/>
        </p:spPr>
        <p:txBody>
          <a:bodyPr vert="horz" wrap="square" lIns="91440" tIns="45720" rIns="91440" bIns="45720" rtlCol="0">
            <a:spAutoFit/>
          </a:bodyPr>
          <a:lstStyle>
            <a:lvl1pPr marL="0" indent="0" algn="l" defTabSz="914400" rtl="0" eaLnBrk="1" latinLnBrk="0" hangingPunct="1">
              <a:lnSpc>
                <a:spcPct val="90000"/>
              </a:lnSpc>
              <a:spcBef>
                <a:spcPts val="1000"/>
              </a:spcBef>
              <a:buFont typeface="Arial" panose="020B0604020202020204" pitchFamily="34" charset="0"/>
              <a:buNone/>
              <a:defRPr lang="en-US" sz="2400" b="1" kern="1200" dirty="0" smtClean="0">
                <a:solidFill>
                  <a:srgbClr val="64C7E9"/>
                </a:solidFill>
                <a:latin typeface="+mn-lt"/>
                <a:ea typeface="Roboto"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mtClean="0"/>
              <a:t>2.7 </a:t>
            </a:r>
            <a:r>
              <a:rPr lang="en-US" dirty="0" err="1"/>
              <a:t>Tìm</a:t>
            </a:r>
            <a:r>
              <a:rPr lang="en-US" dirty="0"/>
              <a:t> </a:t>
            </a:r>
            <a:r>
              <a:rPr lang="en-US" dirty="0" err="1"/>
              <a:t>hiểu</a:t>
            </a:r>
            <a:r>
              <a:rPr lang="en-US" dirty="0"/>
              <a:t> </a:t>
            </a:r>
            <a:r>
              <a:rPr lang="en-US" dirty="0" err="1"/>
              <a:t>về</a:t>
            </a:r>
            <a:r>
              <a:rPr lang="en-US" dirty="0"/>
              <a:t> </a:t>
            </a:r>
            <a:r>
              <a:rPr lang="en-US" dirty="0" err="1" smtClean="0"/>
              <a:t>lệnh</a:t>
            </a:r>
            <a:r>
              <a:rPr lang="en-US" dirty="0" smtClean="0"/>
              <a:t> </a:t>
            </a:r>
            <a:r>
              <a:rPr lang="en-US" dirty="0"/>
              <a:t>input()</a:t>
            </a:r>
          </a:p>
        </p:txBody>
      </p:sp>
      <p:sp>
        <p:nvSpPr>
          <p:cNvPr id="5" name="Rectangle 4"/>
          <p:cNvSpPr/>
          <p:nvPr/>
        </p:nvSpPr>
        <p:spPr>
          <a:xfrm>
            <a:off x="563525" y="2653286"/>
            <a:ext cx="7899991" cy="97644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63710" y="2804707"/>
            <a:ext cx="7347097" cy="646331"/>
          </a:xfrm>
          <a:prstGeom prst="rect">
            <a:avLst/>
          </a:prstGeom>
          <a:noFill/>
        </p:spPr>
        <p:txBody>
          <a:bodyPr wrap="square" rtlCol="0">
            <a:spAutoFit/>
          </a:bodyPr>
          <a:lstStyle/>
          <a:p>
            <a:r>
              <a:rPr lang="en-US" dirty="0" smtClean="0">
                <a:solidFill>
                  <a:schemeClr val="bg1"/>
                </a:solidFill>
              </a:rPr>
              <a:t>print</a:t>
            </a:r>
            <a:r>
              <a:rPr lang="en-US" dirty="0" smtClean="0">
                <a:solidFill>
                  <a:srgbClr val="FFC500"/>
                </a:solidFill>
              </a:rPr>
              <a:t>(</a:t>
            </a:r>
            <a:r>
              <a:rPr lang="en-US" dirty="0" err="1" smtClean="0">
                <a:solidFill>
                  <a:schemeClr val="bg1"/>
                </a:solidFill>
              </a:rPr>
              <a:t>eval</a:t>
            </a:r>
            <a:r>
              <a:rPr lang="en-US" dirty="0" smtClean="0">
                <a:solidFill>
                  <a:srgbClr val="FF66CC"/>
                </a:solidFill>
              </a:rPr>
              <a:t>(</a:t>
            </a:r>
            <a:r>
              <a:rPr lang="en-US" dirty="0" smtClean="0">
                <a:solidFill>
                  <a:schemeClr val="accent2">
                    <a:lumMod val="75000"/>
                  </a:schemeClr>
                </a:solidFill>
              </a:rPr>
              <a:t>“12 + 7”</a:t>
            </a:r>
            <a:r>
              <a:rPr lang="en-US" dirty="0" smtClean="0">
                <a:solidFill>
                  <a:srgbClr val="FF66CC"/>
                </a:solidFill>
              </a:rPr>
              <a:t>)</a:t>
            </a:r>
            <a:r>
              <a:rPr lang="en-US" dirty="0" smtClean="0">
                <a:solidFill>
                  <a:srgbClr val="FFC500"/>
                </a:solidFill>
              </a:rPr>
              <a:t>)</a:t>
            </a:r>
          </a:p>
          <a:p>
            <a:r>
              <a:rPr lang="en-US" dirty="0">
                <a:solidFill>
                  <a:schemeClr val="accent6">
                    <a:lumMod val="75000"/>
                  </a:schemeClr>
                </a:solidFill>
              </a:rPr>
              <a:t># </a:t>
            </a:r>
            <a:r>
              <a:rPr lang="en-US" dirty="0" err="1" smtClean="0">
                <a:solidFill>
                  <a:schemeClr val="accent6">
                    <a:lumMod val="75000"/>
                  </a:schemeClr>
                </a:solidFill>
              </a:rPr>
              <a:t>kết</a:t>
            </a:r>
            <a:r>
              <a:rPr lang="en-US" dirty="0" smtClean="0">
                <a:solidFill>
                  <a:schemeClr val="accent6">
                    <a:lumMod val="75000"/>
                  </a:schemeClr>
                </a:solidFill>
              </a:rPr>
              <a:t> </a:t>
            </a:r>
            <a:r>
              <a:rPr lang="en-US" dirty="0" err="1" smtClean="0">
                <a:solidFill>
                  <a:schemeClr val="accent6">
                    <a:lumMod val="75000"/>
                  </a:schemeClr>
                </a:solidFill>
              </a:rPr>
              <a:t>quả</a:t>
            </a:r>
            <a:r>
              <a:rPr lang="en-US" dirty="0" smtClean="0">
                <a:solidFill>
                  <a:schemeClr val="accent6">
                    <a:lumMod val="75000"/>
                  </a:schemeClr>
                </a:solidFill>
              </a:rPr>
              <a:t> </a:t>
            </a:r>
            <a:r>
              <a:rPr lang="en-US" dirty="0" err="1" smtClean="0">
                <a:solidFill>
                  <a:schemeClr val="accent6">
                    <a:lumMod val="75000"/>
                  </a:schemeClr>
                </a:solidFill>
              </a:rPr>
              <a:t>cho</a:t>
            </a:r>
            <a:r>
              <a:rPr lang="en-US" dirty="0" smtClean="0">
                <a:solidFill>
                  <a:schemeClr val="accent6">
                    <a:lumMod val="75000"/>
                  </a:schemeClr>
                </a:solidFill>
              </a:rPr>
              <a:t> </a:t>
            </a:r>
            <a:r>
              <a:rPr lang="en-US" dirty="0" err="1" smtClean="0">
                <a:solidFill>
                  <a:schemeClr val="accent6">
                    <a:lumMod val="75000"/>
                  </a:schemeClr>
                </a:solidFill>
              </a:rPr>
              <a:t>ra</a:t>
            </a:r>
            <a:r>
              <a:rPr lang="en-US" dirty="0" smtClean="0">
                <a:solidFill>
                  <a:schemeClr val="accent6">
                    <a:lumMod val="75000"/>
                  </a:schemeClr>
                </a:solidFill>
              </a:rPr>
              <a:t> </a:t>
            </a:r>
            <a:r>
              <a:rPr lang="en-US" dirty="0" err="1" smtClean="0">
                <a:solidFill>
                  <a:schemeClr val="accent6">
                    <a:lumMod val="75000"/>
                  </a:schemeClr>
                </a:solidFill>
              </a:rPr>
              <a:t>một</a:t>
            </a:r>
            <a:r>
              <a:rPr lang="en-US" dirty="0" smtClean="0">
                <a:solidFill>
                  <a:schemeClr val="accent6">
                    <a:lumMod val="75000"/>
                  </a:schemeClr>
                </a:solidFill>
              </a:rPr>
              <a:t> </a:t>
            </a:r>
            <a:r>
              <a:rPr lang="en-US" dirty="0" err="1" smtClean="0">
                <a:solidFill>
                  <a:schemeClr val="accent6">
                    <a:lumMod val="75000"/>
                  </a:schemeClr>
                </a:solidFill>
              </a:rPr>
              <a:t>số</a:t>
            </a:r>
            <a:r>
              <a:rPr lang="en-US" dirty="0" smtClean="0">
                <a:solidFill>
                  <a:schemeClr val="accent6">
                    <a:lumMod val="75000"/>
                  </a:schemeClr>
                </a:solidFill>
              </a:rPr>
              <a:t> : 19</a:t>
            </a:r>
            <a:endParaRPr lang="en-US" dirty="0">
              <a:solidFill>
                <a:schemeClr val="accent6">
                  <a:lumMod val="75000"/>
                </a:schemeClr>
              </a:solidFill>
            </a:endParaRPr>
          </a:p>
        </p:txBody>
      </p:sp>
      <p:pic>
        <p:nvPicPr>
          <p:cNvPr id="20"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80670"/>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p:cNvSpPr txBox="1"/>
          <p:nvPr/>
        </p:nvSpPr>
        <p:spPr>
          <a:xfrm>
            <a:off x="1041993" y="1621244"/>
            <a:ext cx="7068814" cy="369332"/>
          </a:xfrm>
          <a:prstGeom prst="rect">
            <a:avLst/>
          </a:prstGeom>
          <a:noFill/>
        </p:spPr>
        <p:txBody>
          <a:bodyPr wrap="square" rtlCol="0">
            <a:spAutoFit/>
          </a:bodyPr>
          <a:lstStyle/>
          <a:p>
            <a:r>
              <a:rPr lang="en-US" b="1" dirty="0" err="1" smtClean="0"/>
              <a:t>Eval</a:t>
            </a:r>
            <a:r>
              <a:rPr lang="en-US" b="1" dirty="0" smtClean="0"/>
              <a:t>() </a:t>
            </a:r>
            <a:r>
              <a:rPr lang="en-US" b="1" dirty="0" err="1" smtClean="0"/>
              <a:t>tính</a:t>
            </a:r>
            <a:r>
              <a:rPr lang="en-US" b="1" dirty="0" smtClean="0"/>
              <a:t> </a:t>
            </a:r>
            <a:r>
              <a:rPr lang="en-US" b="1" dirty="0" err="1" smtClean="0"/>
              <a:t>toán</a:t>
            </a:r>
            <a:r>
              <a:rPr lang="en-US" b="1" dirty="0" smtClean="0"/>
              <a:t> </a:t>
            </a:r>
            <a:r>
              <a:rPr lang="en-US" b="1" dirty="0" err="1" smtClean="0"/>
              <a:t>giá</a:t>
            </a:r>
            <a:r>
              <a:rPr lang="en-US" b="1" dirty="0" smtClean="0"/>
              <a:t> </a:t>
            </a:r>
            <a:r>
              <a:rPr lang="en-US" b="1" dirty="0" err="1" smtClean="0"/>
              <a:t>trị</a:t>
            </a:r>
            <a:r>
              <a:rPr lang="en-US" b="1" dirty="0" smtClean="0"/>
              <a:t> </a:t>
            </a:r>
            <a:r>
              <a:rPr lang="en-US" b="1" dirty="0" err="1" smtClean="0"/>
              <a:t>từ</a:t>
            </a:r>
            <a:r>
              <a:rPr lang="en-US" b="1" dirty="0" smtClean="0"/>
              <a:t> </a:t>
            </a:r>
            <a:r>
              <a:rPr lang="en-US" b="1" dirty="0" err="1" smtClean="0"/>
              <a:t>một</a:t>
            </a:r>
            <a:r>
              <a:rPr lang="en-US" b="1" dirty="0" smtClean="0"/>
              <a:t> </a:t>
            </a:r>
            <a:r>
              <a:rPr lang="en-US" b="1" dirty="0" err="1" smtClean="0"/>
              <a:t>biểu</a:t>
            </a:r>
            <a:r>
              <a:rPr lang="en-US" b="1" dirty="0" smtClean="0"/>
              <a:t> </a:t>
            </a:r>
            <a:r>
              <a:rPr lang="en-US" b="1" dirty="0" err="1" smtClean="0"/>
              <a:t>thức</a:t>
            </a:r>
            <a:r>
              <a:rPr lang="en-US" b="1" dirty="0" smtClean="0"/>
              <a:t> </a:t>
            </a:r>
            <a:r>
              <a:rPr lang="en-US" b="1" dirty="0" err="1" smtClean="0"/>
              <a:t>trong</a:t>
            </a:r>
            <a:r>
              <a:rPr lang="en-US" b="1" dirty="0" smtClean="0"/>
              <a:t> </a:t>
            </a:r>
            <a:r>
              <a:rPr lang="en-US" b="1" dirty="0" err="1" smtClean="0"/>
              <a:t>chuỗi</a:t>
            </a:r>
            <a:endParaRPr lang="en-US" b="1" dirty="0">
              <a:solidFill>
                <a:srgbClr val="FF0000"/>
              </a:solidFill>
            </a:endParaRPr>
          </a:p>
        </p:txBody>
      </p:sp>
      <p:sp>
        <p:nvSpPr>
          <p:cNvPr id="13" name="TextBox 12"/>
          <p:cNvSpPr txBox="1"/>
          <p:nvPr/>
        </p:nvSpPr>
        <p:spPr>
          <a:xfrm>
            <a:off x="520998" y="2146272"/>
            <a:ext cx="1679942" cy="369332"/>
          </a:xfrm>
          <a:prstGeom prst="rect">
            <a:avLst/>
          </a:prstGeom>
          <a:noFill/>
        </p:spPr>
        <p:txBody>
          <a:bodyPr wrap="square" rtlCol="0">
            <a:spAutoFit/>
          </a:bodyPr>
          <a:lstStyle/>
          <a:p>
            <a:r>
              <a:rPr lang="en-US" b="1" dirty="0" err="1" smtClean="0"/>
              <a:t>Cú</a:t>
            </a:r>
            <a:r>
              <a:rPr lang="en-US" b="1" dirty="0" smtClean="0"/>
              <a:t> </a:t>
            </a:r>
            <a:r>
              <a:rPr lang="en-US" b="1" dirty="0" err="1" smtClean="0"/>
              <a:t>pháp</a:t>
            </a:r>
            <a:endParaRPr lang="en-US" b="1" dirty="0">
              <a:solidFill>
                <a:srgbClr val="FF0000"/>
              </a:solidFill>
            </a:endParaRPr>
          </a:p>
        </p:txBody>
      </p:sp>
      <p:sp>
        <p:nvSpPr>
          <p:cNvPr id="14" name="TextBox 13"/>
          <p:cNvSpPr txBox="1"/>
          <p:nvPr/>
        </p:nvSpPr>
        <p:spPr>
          <a:xfrm>
            <a:off x="2658142" y="2146272"/>
            <a:ext cx="4465672" cy="369332"/>
          </a:xfrm>
          <a:prstGeom prst="rect">
            <a:avLst/>
          </a:prstGeom>
          <a:noFill/>
        </p:spPr>
        <p:txBody>
          <a:bodyPr wrap="square" rtlCol="0">
            <a:spAutoFit/>
          </a:bodyPr>
          <a:lstStyle/>
          <a:p>
            <a:r>
              <a:rPr lang="en-US" b="1" dirty="0" err="1" smtClean="0">
                <a:solidFill>
                  <a:srgbClr val="FF0000"/>
                </a:solidFill>
              </a:rPr>
              <a:t>Giá</a:t>
            </a:r>
            <a:r>
              <a:rPr lang="en-US" b="1" dirty="0" smtClean="0">
                <a:solidFill>
                  <a:srgbClr val="FF0000"/>
                </a:solidFill>
              </a:rPr>
              <a:t> </a:t>
            </a:r>
            <a:r>
              <a:rPr lang="en-US" b="1" dirty="0" err="1" smtClean="0">
                <a:solidFill>
                  <a:srgbClr val="FF0000"/>
                </a:solidFill>
              </a:rPr>
              <a:t>trị</a:t>
            </a:r>
            <a:r>
              <a:rPr lang="en-US" b="1" dirty="0" smtClean="0">
                <a:solidFill>
                  <a:srgbClr val="FF0000"/>
                </a:solidFill>
              </a:rPr>
              <a:t> </a:t>
            </a:r>
            <a:r>
              <a:rPr lang="en-US" b="1" dirty="0" err="1" smtClean="0">
                <a:solidFill>
                  <a:srgbClr val="FF0000"/>
                </a:solidFill>
              </a:rPr>
              <a:t>trả</a:t>
            </a:r>
            <a:r>
              <a:rPr lang="en-US" b="1" dirty="0" smtClean="0">
                <a:solidFill>
                  <a:srgbClr val="FF0000"/>
                </a:solidFill>
              </a:rPr>
              <a:t> </a:t>
            </a:r>
            <a:r>
              <a:rPr lang="en-US" b="1" dirty="0" err="1" smtClean="0">
                <a:solidFill>
                  <a:srgbClr val="FF0000"/>
                </a:solidFill>
              </a:rPr>
              <a:t>về</a:t>
            </a:r>
            <a:r>
              <a:rPr lang="en-US" b="1" dirty="0" smtClean="0">
                <a:solidFill>
                  <a:srgbClr val="FF0000"/>
                </a:solidFill>
              </a:rPr>
              <a:t> = </a:t>
            </a:r>
            <a:r>
              <a:rPr lang="en-US" b="1" dirty="0" err="1" smtClean="0">
                <a:solidFill>
                  <a:srgbClr val="FF0000"/>
                </a:solidFill>
              </a:rPr>
              <a:t>eval</a:t>
            </a:r>
            <a:r>
              <a:rPr lang="en-US" b="1" dirty="0" smtClean="0">
                <a:solidFill>
                  <a:srgbClr val="FF0000"/>
                </a:solidFill>
              </a:rPr>
              <a:t>(“&lt;</a:t>
            </a:r>
            <a:r>
              <a:rPr lang="en-US" b="1" dirty="0" err="1" smtClean="0">
                <a:solidFill>
                  <a:srgbClr val="FF0000"/>
                </a:solidFill>
              </a:rPr>
              <a:t>biểu</a:t>
            </a:r>
            <a:r>
              <a:rPr lang="en-US" b="1" dirty="0" smtClean="0">
                <a:solidFill>
                  <a:srgbClr val="FF0000"/>
                </a:solidFill>
              </a:rPr>
              <a:t> </a:t>
            </a:r>
            <a:r>
              <a:rPr lang="en-US" b="1" dirty="0" err="1" smtClean="0">
                <a:solidFill>
                  <a:srgbClr val="FF0000"/>
                </a:solidFill>
              </a:rPr>
              <a:t>thức</a:t>
            </a:r>
            <a:r>
              <a:rPr lang="en-US" b="1" dirty="0" smtClean="0">
                <a:solidFill>
                  <a:srgbClr val="FF0000"/>
                </a:solidFill>
              </a:rPr>
              <a:t>&gt;”)</a:t>
            </a:r>
            <a:endParaRPr lang="en-US" b="1" dirty="0">
              <a:solidFill>
                <a:srgbClr val="FF0000"/>
              </a:solidFill>
            </a:endParaRPr>
          </a:p>
        </p:txBody>
      </p:sp>
      <p:sp>
        <p:nvSpPr>
          <p:cNvPr id="17" name="Rectangle 16"/>
          <p:cNvSpPr/>
          <p:nvPr/>
        </p:nvSpPr>
        <p:spPr>
          <a:xfrm>
            <a:off x="563525" y="4173338"/>
            <a:ext cx="7899991" cy="97644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763710" y="4324759"/>
            <a:ext cx="7347097" cy="646331"/>
          </a:xfrm>
          <a:prstGeom prst="rect">
            <a:avLst/>
          </a:prstGeom>
          <a:noFill/>
        </p:spPr>
        <p:txBody>
          <a:bodyPr wrap="square" rtlCol="0">
            <a:spAutoFit/>
          </a:bodyPr>
          <a:lstStyle/>
          <a:p>
            <a:r>
              <a:rPr lang="en-US" dirty="0" smtClean="0">
                <a:solidFill>
                  <a:schemeClr val="bg1"/>
                </a:solidFill>
              </a:rPr>
              <a:t>x  =  </a:t>
            </a:r>
            <a:r>
              <a:rPr lang="en-US" dirty="0" err="1" smtClean="0">
                <a:solidFill>
                  <a:schemeClr val="bg1"/>
                </a:solidFill>
              </a:rPr>
              <a:t>eval</a:t>
            </a:r>
            <a:r>
              <a:rPr lang="en-US" dirty="0" smtClean="0">
                <a:solidFill>
                  <a:srgbClr val="FFC000"/>
                </a:solidFill>
              </a:rPr>
              <a:t>(</a:t>
            </a:r>
            <a:r>
              <a:rPr lang="en-US" dirty="0" smtClean="0">
                <a:solidFill>
                  <a:schemeClr val="bg1"/>
                </a:solidFill>
              </a:rPr>
              <a:t>input</a:t>
            </a:r>
            <a:r>
              <a:rPr lang="en-US" dirty="0" smtClean="0">
                <a:solidFill>
                  <a:srgbClr val="FF66CC"/>
                </a:solidFill>
              </a:rPr>
              <a:t>(</a:t>
            </a:r>
            <a:r>
              <a:rPr lang="en-US" dirty="0" smtClean="0">
                <a:solidFill>
                  <a:schemeClr val="accent2">
                    <a:lumMod val="75000"/>
                  </a:schemeClr>
                </a:solidFill>
              </a:rPr>
              <a:t>“</a:t>
            </a:r>
            <a:r>
              <a:rPr lang="en-US" dirty="0" err="1" smtClean="0">
                <a:solidFill>
                  <a:schemeClr val="accent2">
                    <a:lumMod val="75000"/>
                  </a:schemeClr>
                </a:solidFill>
              </a:rPr>
              <a:t>Nhập</a:t>
            </a:r>
            <a:r>
              <a:rPr lang="en-US" dirty="0" smtClean="0">
                <a:solidFill>
                  <a:schemeClr val="accent2">
                    <a:lumMod val="75000"/>
                  </a:schemeClr>
                </a:solidFill>
              </a:rPr>
              <a:t> </a:t>
            </a:r>
            <a:r>
              <a:rPr lang="en-US" dirty="0" err="1" smtClean="0">
                <a:solidFill>
                  <a:schemeClr val="accent2">
                    <a:lumMod val="75000"/>
                  </a:schemeClr>
                </a:solidFill>
              </a:rPr>
              <a:t>vào</a:t>
            </a:r>
            <a:r>
              <a:rPr lang="en-US" dirty="0" smtClean="0">
                <a:solidFill>
                  <a:schemeClr val="accent2">
                    <a:lumMod val="75000"/>
                  </a:schemeClr>
                </a:solidFill>
              </a:rPr>
              <a:t> </a:t>
            </a:r>
            <a:r>
              <a:rPr lang="en-US" dirty="0" err="1" smtClean="0">
                <a:solidFill>
                  <a:schemeClr val="accent2">
                    <a:lumMod val="75000"/>
                  </a:schemeClr>
                </a:solidFill>
              </a:rPr>
              <a:t>biểu</a:t>
            </a:r>
            <a:r>
              <a:rPr lang="en-US" dirty="0" smtClean="0">
                <a:solidFill>
                  <a:schemeClr val="accent2">
                    <a:lumMod val="75000"/>
                  </a:schemeClr>
                </a:solidFill>
              </a:rPr>
              <a:t> </a:t>
            </a:r>
            <a:r>
              <a:rPr lang="en-US" dirty="0" err="1" smtClean="0">
                <a:solidFill>
                  <a:schemeClr val="accent2">
                    <a:lumMod val="75000"/>
                  </a:schemeClr>
                </a:solidFill>
              </a:rPr>
              <a:t>thức</a:t>
            </a:r>
            <a:r>
              <a:rPr lang="en-US" dirty="0" smtClean="0">
                <a:solidFill>
                  <a:schemeClr val="accent2">
                    <a:lumMod val="75000"/>
                  </a:schemeClr>
                </a:solidFill>
              </a:rPr>
              <a:t> </a:t>
            </a:r>
            <a:r>
              <a:rPr lang="en-US" dirty="0" err="1" smtClean="0">
                <a:solidFill>
                  <a:schemeClr val="accent2">
                    <a:lumMod val="75000"/>
                  </a:schemeClr>
                </a:solidFill>
              </a:rPr>
              <a:t>toán</a:t>
            </a:r>
            <a:r>
              <a:rPr lang="en-US" dirty="0" smtClean="0">
                <a:solidFill>
                  <a:schemeClr val="accent2">
                    <a:lumMod val="75000"/>
                  </a:schemeClr>
                </a:solidFill>
              </a:rPr>
              <a:t> </a:t>
            </a:r>
            <a:r>
              <a:rPr lang="en-US" dirty="0" err="1" smtClean="0">
                <a:solidFill>
                  <a:schemeClr val="accent2">
                    <a:lumMod val="75000"/>
                  </a:schemeClr>
                </a:solidFill>
              </a:rPr>
              <a:t>học</a:t>
            </a:r>
            <a:r>
              <a:rPr lang="en-US" dirty="0" smtClean="0">
                <a:solidFill>
                  <a:schemeClr val="accent2">
                    <a:lumMod val="75000"/>
                  </a:schemeClr>
                </a:solidFill>
              </a:rPr>
              <a:t>: ”</a:t>
            </a:r>
            <a:r>
              <a:rPr lang="en-US" dirty="0" smtClean="0">
                <a:solidFill>
                  <a:srgbClr val="FF66CC"/>
                </a:solidFill>
              </a:rPr>
              <a:t>)</a:t>
            </a:r>
            <a:r>
              <a:rPr lang="en-US" dirty="0" smtClean="0">
                <a:solidFill>
                  <a:srgbClr val="FFC000"/>
                </a:solidFill>
              </a:rPr>
              <a:t>)</a:t>
            </a:r>
          </a:p>
          <a:p>
            <a:r>
              <a:rPr lang="en-US" dirty="0" smtClean="0">
                <a:solidFill>
                  <a:schemeClr val="bg1"/>
                </a:solidFill>
              </a:rPr>
              <a:t>print</a:t>
            </a:r>
            <a:r>
              <a:rPr lang="en-US" dirty="0" smtClean="0">
                <a:solidFill>
                  <a:srgbClr val="FFC500"/>
                </a:solidFill>
              </a:rPr>
              <a:t>(</a:t>
            </a:r>
            <a:r>
              <a:rPr lang="en-US" dirty="0" smtClean="0">
                <a:solidFill>
                  <a:schemeClr val="accent2">
                    <a:lumMod val="75000"/>
                  </a:schemeClr>
                </a:solidFill>
              </a:rPr>
              <a:t>“</a:t>
            </a:r>
            <a:r>
              <a:rPr lang="en-US" dirty="0" err="1" smtClean="0">
                <a:solidFill>
                  <a:schemeClr val="accent2">
                    <a:lumMod val="75000"/>
                  </a:schemeClr>
                </a:solidFill>
              </a:rPr>
              <a:t>Giá</a:t>
            </a:r>
            <a:r>
              <a:rPr lang="en-US" dirty="0" smtClean="0">
                <a:solidFill>
                  <a:schemeClr val="accent2">
                    <a:lumMod val="75000"/>
                  </a:schemeClr>
                </a:solidFill>
              </a:rPr>
              <a:t> </a:t>
            </a:r>
            <a:r>
              <a:rPr lang="en-US" dirty="0" err="1" smtClean="0">
                <a:solidFill>
                  <a:schemeClr val="accent2">
                    <a:lumMod val="75000"/>
                  </a:schemeClr>
                </a:solidFill>
              </a:rPr>
              <a:t>trị</a:t>
            </a:r>
            <a:r>
              <a:rPr lang="en-US" dirty="0" smtClean="0">
                <a:solidFill>
                  <a:schemeClr val="accent2">
                    <a:lumMod val="75000"/>
                  </a:schemeClr>
                </a:solidFill>
              </a:rPr>
              <a:t> </a:t>
            </a:r>
            <a:r>
              <a:rPr lang="en-US" dirty="0" err="1" smtClean="0">
                <a:solidFill>
                  <a:schemeClr val="accent2">
                    <a:lumMod val="75000"/>
                  </a:schemeClr>
                </a:solidFill>
              </a:rPr>
              <a:t>của</a:t>
            </a:r>
            <a:r>
              <a:rPr lang="en-US" dirty="0" smtClean="0">
                <a:solidFill>
                  <a:schemeClr val="accent2">
                    <a:lumMod val="75000"/>
                  </a:schemeClr>
                </a:solidFill>
              </a:rPr>
              <a:t> </a:t>
            </a:r>
            <a:r>
              <a:rPr lang="en-US" dirty="0" err="1" smtClean="0">
                <a:solidFill>
                  <a:schemeClr val="accent2">
                    <a:lumMod val="75000"/>
                  </a:schemeClr>
                </a:solidFill>
              </a:rPr>
              <a:t>biểu</a:t>
            </a:r>
            <a:r>
              <a:rPr lang="en-US" dirty="0" smtClean="0">
                <a:solidFill>
                  <a:schemeClr val="accent2">
                    <a:lumMod val="75000"/>
                  </a:schemeClr>
                </a:solidFill>
              </a:rPr>
              <a:t> </a:t>
            </a:r>
            <a:r>
              <a:rPr lang="en-US" dirty="0" err="1" smtClean="0">
                <a:solidFill>
                  <a:schemeClr val="accent2">
                    <a:lumMod val="75000"/>
                  </a:schemeClr>
                </a:solidFill>
              </a:rPr>
              <a:t>thức</a:t>
            </a:r>
            <a:r>
              <a:rPr lang="en-US" dirty="0" smtClean="0">
                <a:solidFill>
                  <a:schemeClr val="accent2">
                    <a:lumMod val="75000"/>
                  </a:schemeClr>
                </a:solidFill>
              </a:rPr>
              <a:t> x </a:t>
            </a:r>
            <a:r>
              <a:rPr lang="en-US" dirty="0" err="1" smtClean="0">
                <a:solidFill>
                  <a:schemeClr val="accent2">
                    <a:lumMod val="75000"/>
                  </a:schemeClr>
                </a:solidFill>
              </a:rPr>
              <a:t>là</a:t>
            </a:r>
            <a:r>
              <a:rPr lang="en-US" dirty="0" smtClean="0">
                <a:solidFill>
                  <a:schemeClr val="accent2">
                    <a:lumMod val="75000"/>
                  </a:schemeClr>
                </a:solidFill>
              </a:rPr>
              <a:t>”</a:t>
            </a:r>
            <a:r>
              <a:rPr lang="en-US" dirty="0" smtClean="0">
                <a:solidFill>
                  <a:schemeClr val="bg1"/>
                </a:solidFill>
              </a:rPr>
              <a:t>, x</a:t>
            </a:r>
            <a:r>
              <a:rPr lang="en-US" dirty="0" smtClean="0">
                <a:solidFill>
                  <a:srgbClr val="FFC500"/>
                </a:solidFill>
              </a:rPr>
              <a:t>)</a:t>
            </a:r>
            <a:endParaRPr lang="en-US" dirty="0">
              <a:solidFill>
                <a:schemeClr val="accent6">
                  <a:lumMod val="75000"/>
                </a:schemeClr>
              </a:solidFill>
            </a:endParaRPr>
          </a:p>
        </p:txBody>
      </p:sp>
      <p:sp>
        <p:nvSpPr>
          <p:cNvPr id="19" name="TextBox 18"/>
          <p:cNvSpPr txBox="1"/>
          <p:nvPr/>
        </p:nvSpPr>
        <p:spPr>
          <a:xfrm>
            <a:off x="520997" y="3704659"/>
            <a:ext cx="7398051" cy="369332"/>
          </a:xfrm>
          <a:prstGeom prst="rect">
            <a:avLst/>
          </a:prstGeom>
          <a:noFill/>
        </p:spPr>
        <p:txBody>
          <a:bodyPr wrap="square" rtlCol="0">
            <a:spAutoFit/>
          </a:bodyPr>
          <a:lstStyle/>
          <a:p>
            <a:r>
              <a:rPr lang="en-US" b="1" dirty="0" err="1" smtClean="0"/>
              <a:t>Tính</a:t>
            </a:r>
            <a:r>
              <a:rPr lang="en-US" b="1" dirty="0" smtClean="0"/>
              <a:t> </a:t>
            </a:r>
            <a:r>
              <a:rPr lang="en-US" b="1" dirty="0" err="1" smtClean="0"/>
              <a:t>toán</a:t>
            </a:r>
            <a:r>
              <a:rPr lang="en-US" b="1" dirty="0" smtClean="0"/>
              <a:t> </a:t>
            </a:r>
            <a:r>
              <a:rPr lang="en-US" b="1" dirty="0" err="1" smtClean="0"/>
              <a:t>giá</a:t>
            </a:r>
            <a:r>
              <a:rPr lang="en-US" b="1" dirty="0" smtClean="0"/>
              <a:t> </a:t>
            </a:r>
            <a:r>
              <a:rPr lang="en-US" b="1" dirty="0" err="1" smtClean="0"/>
              <a:t>trị</a:t>
            </a:r>
            <a:r>
              <a:rPr lang="en-US" b="1" dirty="0" smtClean="0"/>
              <a:t> </a:t>
            </a:r>
            <a:r>
              <a:rPr lang="en-US" b="1" dirty="0" err="1" smtClean="0"/>
              <a:t>từ</a:t>
            </a:r>
            <a:r>
              <a:rPr lang="en-US" b="1" dirty="0" smtClean="0"/>
              <a:t> </a:t>
            </a:r>
            <a:r>
              <a:rPr lang="en-US" b="1" dirty="0" err="1" smtClean="0"/>
              <a:t>biểu</a:t>
            </a:r>
            <a:r>
              <a:rPr lang="en-US" b="1" dirty="0" smtClean="0"/>
              <a:t> </a:t>
            </a:r>
            <a:r>
              <a:rPr lang="en-US" b="1" dirty="0" err="1" smtClean="0"/>
              <a:t>thức</a:t>
            </a:r>
            <a:r>
              <a:rPr lang="en-US" b="1" dirty="0" smtClean="0"/>
              <a:t> </a:t>
            </a:r>
            <a:r>
              <a:rPr lang="en-US" b="1" dirty="0" err="1" smtClean="0"/>
              <a:t>nhập</a:t>
            </a:r>
            <a:r>
              <a:rPr lang="en-US" b="1" dirty="0" smtClean="0"/>
              <a:t> </a:t>
            </a:r>
            <a:r>
              <a:rPr lang="en-US" b="1" dirty="0" err="1" smtClean="0"/>
              <a:t>vào</a:t>
            </a:r>
            <a:r>
              <a:rPr lang="en-US" b="1" dirty="0" smtClean="0"/>
              <a:t> </a:t>
            </a:r>
            <a:r>
              <a:rPr lang="en-US" b="1" dirty="0" err="1" smtClean="0"/>
              <a:t>bằng</a:t>
            </a:r>
            <a:r>
              <a:rPr lang="en-US" b="1" dirty="0" smtClean="0"/>
              <a:t> input()</a:t>
            </a:r>
            <a:endParaRPr lang="en-US" b="1" dirty="0">
              <a:solidFill>
                <a:srgbClr val="FF0000"/>
              </a:solidFill>
            </a:endParaRPr>
          </a:p>
        </p:txBody>
      </p:sp>
      <p:sp>
        <p:nvSpPr>
          <p:cNvPr id="22" name="TextBox 21"/>
          <p:cNvSpPr txBox="1"/>
          <p:nvPr/>
        </p:nvSpPr>
        <p:spPr>
          <a:xfrm>
            <a:off x="520997" y="5223688"/>
            <a:ext cx="7398051" cy="369332"/>
          </a:xfrm>
          <a:prstGeom prst="rect">
            <a:avLst/>
          </a:prstGeom>
          <a:noFill/>
        </p:spPr>
        <p:txBody>
          <a:bodyPr wrap="square" rtlCol="0">
            <a:spAutoFit/>
          </a:bodyPr>
          <a:lstStyle/>
          <a:p>
            <a:r>
              <a:rPr lang="en-US" b="1" dirty="0" err="1" smtClean="0"/>
              <a:t>Nhận</a:t>
            </a:r>
            <a:r>
              <a:rPr lang="en-US" b="1" dirty="0" smtClean="0"/>
              <a:t> </a:t>
            </a:r>
            <a:r>
              <a:rPr lang="en-US" b="1" dirty="0" err="1" smtClean="0"/>
              <a:t>biết</a:t>
            </a:r>
            <a:r>
              <a:rPr lang="en-US" b="1" dirty="0" smtClean="0"/>
              <a:t> </a:t>
            </a:r>
            <a:r>
              <a:rPr lang="en-US" b="1" dirty="0" err="1" smtClean="0"/>
              <a:t>đồng</a:t>
            </a:r>
            <a:r>
              <a:rPr lang="en-US" b="1" dirty="0" smtClean="0"/>
              <a:t> </a:t>
            </a:r>
            <a:r>
              <a:rPr lang="en-US" b="1" dirty="0" err="1" smtClean="0"/>
              <a:t>thời</a:t>
            </a:r>
            <a:r>
              <a:rPr lang="en-US" b="1" dirty="0" smtClean="0"/>
              <a:t> </a:t>
            </a:r>
            <a:r>
              <a:rPr lang="en-US" b="1" dirty="0" err="1" smtClean="0"/>
              <a:t>nhiều</a:t>
            </a:r>
            <a:r>
              <a:rPr lang="en-US" b="1" dirty="0" smtClean="0"/>
              <a:t> </a:t>
            </a:r>
            <a:r>
              <a:rPr lang="en-US" b="1" dirty="0" err="1" smtClean="0"/>
              <a:t>biểu</a:t>
            </a:r>
            <a:r>
              <a:rPr lang="en-US" b="1" dirty="0" smtClean="0"/>
              <a:t> </a:t>
            </a:r>
            <a:r>
              <a:rPr lang="en-US" b="1" dirty="0" err="1" smtClean="0"/>
              <a:t>thức</a:t>
            </a:r>
            <a:r>
              <a:rPr lang="en-US" b="1" dirty="0" smtClean="0"/>
              <a:t> </a:t>
            </a:r>
            <a:r>
              <a:rPr lang="en-US" b="1" dirty="0" err="1" smtClean="0"/>
              <a:t>trên</a:t>
            </a:r>
            <a:r>
              <a:rPr lang="en-US" b="1" dirty="0" smtClean="0"/>
              <a:t> </a:t>
            </a:r>
            <a:r>
              <a:rPr lang="en-US" b="1" dirty="0" err="1" smtClean="0"/>
              <a:t>một</a:t>
            </a:r>
            <a:r>
              <a:rPr lang="en-US" b="1" dirty="0" smtClean="0"/>
              <a:t> hang, </a:t>
            </a:r>
            <a:r>
              <a:rPr lang="en-US" b="1" dirty="0" err="1" smtClean="0"/>
              <a:t>cách</a:t>
            </a:r>
            <a:r>
              <a:rPr lang="en-US" b="1" dirty="0" smtClean="0"/>
              <a:t> </a:t>
            </a:r>
            <a:r>
              <a:rPr lang="en-US" b="1" dirty="0" err="1" smtClean="0"/>
              <a:t>bởi</a:t>
            </a:r>
            <a:r>
              <a:rPr lang="en-US" b="1" dirty="0" smtClean="0"/>
              <a:t> </a:t>
            </a:r>
            <a:r>
              <a:rPr lang="en-US" b="1" dirty="0" err="1" smtClean="0"/>
              <a:t>dấu</a:t>
            </a:r>
            <a:r>
              <a:rPr lang="en-US" b="1" dirty="0" smtClean="0"/>
              <a:t> ,</a:t>
            </a:r>
            <a:endParaRPr lang="en-US" b="1" dirty="0">
              <a:solidFill>
                <a:srgbClr val="FF0000"/>
              </a:solidFill>
            </a:endParaRPr>
          </a:p>
        </p:txBody>
      </p:sp>
      <p:sp>
        <p:nvSpPr>
          <p:cNvPr id="23" name="Rectangle 22"/>
          <p:cNvSpPr/>
          <p:nvPr/>
        </p:nvSpPr>
        <p:spPr>
          <a:xfrm>
            <a:off x="563525" y="5598101"/>
            <a:ext cx="7899991" cy="97644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763710" y="5749522"/>
            <a:ext cx="7572216" cy="615553"/>
          </a:xfrm>
          <a:prstGeom prst="rect">
            <a:avLst/>
          </a:prstGeom>
          <a:noFill/>
        </p:spPr>
        <p:txBody>
          <a:bodyPr wrap="square" rtlCol="0">
            <a:spAutoFit/>
          </a:bodyPr>
          <a:lstStyle/>
          <a:p>
            <a:r>
              <a:rPr lang="en-US" sz="1700" dirty="0">
                <a:solidFill>
                  <a:schemeClr val="bg1"/>
                </a:solidFill>
              </a:rPr>
              <a:t>m</a:t>
            </a:r>
            <a:r>
              <a:rPr lang="en-US" sz="1700" dirty="0" smtClean="0">
                <a:solidFill>
                  <a:schemeClr val="bg1"/>
                </a:solidFill>
              </a:rPr>
              <a:t>, n, p  =  </a:t>
            </a:r>
            <a:r>
              <a:rPr lang="en-US" sz="1700" dirty="0" err="1" smtClean="0">
                <a:solidFill>
                  <a:schemeClr val="bg1"/>
                </a:solidFill>
              </a:rPr>
              <a:t>eval</a:t>
            </a:r>
            <a:r>
              <a:rPr lang="en-US" sz="1700" dirty="0" smtClean="0">
                <a:solidFill>
                  <a:srgbClr val="FECC36"/>
                </a:solidFill>
              </a:rPr>
              <a:t>(</a:t>
            </a:r>
            <a:r>
              <a:rPr lang="en-US" sz="1700" dirty="0" smtClean="0">
                <a:solidFill>
                  <a:schemeClr val="bg1"/>
                </a:solidFill>
              </a:rPr>
              <a:t>input</a:t>
            </a:r>
            <a:r>
              <a:rPr lang="en-US" sz="1700" dirty="0" smtClean="0">
                <a:solidFill>
                  <a:srgbClr val="FF66CC"/>
                </a:solidFill>
              </a:rPr>
              <a:t>(</a:t>
            </a:r>
            <a:r>
              <a:rPr lang="en-US" sz="1700" dirty="0" smtClean="0">
                <a:solidFill>
                  <a:schemeClr val="accent2">
                    <a:lumMod val="75000"/>
                  </a:schemeClr>
                </a:solidFill>
              </a:rPr>
              <a:t>“</a:t>
            </a:r>
            <a:r>
              <a:rPr lang="en-US" sz="1700" dirty="0" err="1" smtClean="0">
                <a:solidFill>
                  <a:schemeClr val="accent2">
                    <a:lumMod val="75000"/>
                  </a:schemeClr>
                </a:solidFill>
              </a:rPr>
              <a:t>Nhập</a:t>
            </a:r>
            <a:r>
              <a:rPr lang="en-US" sz="1700" dirty="0" smtClean="0">
                <a:solidFill>
                  <a:schemeClr val="accent2">
                    <a:lumMod val="75000"/>
                  </a:schemeClr>
                </a:solidFill>
              </a:rPr>
              <a:t> </a:t>
            </a:r>
            <a:r>
              <a:rPr lang="en-US" sz="1700" dirty="0" err="1" smtClean="0">
                <a:solidFill>
                  <a:schemeClr val="accent2">
                    <a:lumMod val="75000"/>
                  </a:schemeClr>
                </a:solidFill>
              </a:rPr>
              <a:t>vào</a:t>
            </a:r>
            <a:r>
              <a:rPr lang="en-US" sz="1700" dirty="0" smtClean="0">
                <a:solidFill>
                  <a:schemeClr val="accent2">
                    <a:lumMod val="75000"/>
                  </a:schemeClr>
                </a:solidFill>
              </a:rPr>
              <a:t> </a:t>
            </a:r>
            <a:r>
              <a:rPr lang="en-US" sz="1700" dirty="0" err="1" smtClean="0">
                <a:solidFill>
                  <a:schemeClr val="accent2">
                    <a:lumMod val="75000"/>
                  </a:schemeClr>
                </a:solidFill>
              </a:rPr>
              <a:t>các</a:t>
            </a:r>
            <a:r>
              <a:rPr lang="en-US" sz="1700" dirty="0" smtClean="0">
                <a:solidFill>
                  <a:schemeClr val="accent2">
                    <a:lumMod val="75000"/>
                  </a:schemeClr>
                </a:solidFill>
              </a:rPr>
              <a:t> </a:t>
            </a:r>
            <a:r>
              <a:rPr lang="en-US" sz="1700" dirty="0" err="1" smtClean="0">
                <a:solidFill>
                  <a:schemeClr val="accent2">
                    <a:lumMod val="75000"/>
                  </a:schemeClr>
                </a:solidFill>
              </a:rPr>
              <a:t>số</a:t>
            </a:r>
            <a:r>
              <a:rPr lang="en-US" sz="1700" dirty="0" smtClean="0">
                <a:solidFill>
                  <a:schemeClr val="accent2">
                    <a:lumMod val="75000"/>
                  </a:schemeClr>
                </a:solidFill>
              </a:rPr>
              <a:t> m, n, p (</a:t>
            </a:r>
            <a:r>
              <a:rPr lang="en-US" sz="1700" dirty="0" err="1" smtClean="0">
                <a:solidFill>
                  <a:schemeClr val="accent2">
                    <a:lumMod val="75000"/>
                  </a:schemeClr>
                </a:solidFill>
              </a:rPr>
              <a:t>cách</a:t>
            </a:r>
            <a:r>
              <a:rPr lang="en-US" sz="1700" dirty="0" smtClean="0">
                <a:solidFill>
                  <a:schemeClr val="accent2">
                    <a:lumMod val="75000"/>
                  </a:schemeClr>
                </a:solidFill>
              </a:rPr>
              <a:t> </a:t>
            </a:r>
            <a:r>
              <a:rPr lang="en-US" sz="1700" dirty="0" err="1" smtClean="0">
                <a:solidFill>
                  <a:schemeClr val="accent2">
                    <a:lumMod val="75000"/>
                  </a:schemeClr>
                </a:solidFill>
              </a:rPr>
              <a:t>nhau</a:t>
            </a:r>
            <a:r>
              <a:rPr lang="en-US" sz="1700" dirty="0" smtClean="0">
                <a:solidFill>
                  <a:schemeClr val="accent2">
                    <a:lumMod val="75000"/>
                  </a:schemeClr>
                </a:solidFill>
              </a:rPr>
              <a:t> </a:t>
            </a:r>
            <a:r>
              <a:rPr lang="en-US" sz="1700" dirty="0" err="1" smtClean="0">
                <a:solidFill>
                  <a:schemeClr val="accent2">
                    <a:lumMod val="75000"/>
                  </a:schemeClr>
                </a:solidFill>
              </a:rPr>
              <a:t>bởi</a:t>
            </a:r>
            <a:r>
              <a:rPr lang="en-US" sz="1700" dirty="0" smtClean="0">
                <a:solidFill>
                  <a:schemeClr val="accent2">
                    <a:lumMod val="75000"/>
                  </a:schemeClr>
                </a:solidFill>
              </a:rPr>
              <a:t> </a:t>
            </a:r>
            <a:r>
              <a:rPr lang="en-US" sz="1700" dirty="0" err="1" smtClean="0">
                <a:solidFill>
                  <a:schemeClr val="accent2">
                    <a:lumMod val="75000"/>
                  </a:schemeClr>
                </a:solidFill>
              </a:rPr>
              <a:t>dấu</a:t>
            </a:r>
            <a:r>
              <a:rPr lang="en-US" sz="1700" dirty="0" smtClean="0">
                <a:solidFill>
                  <a:schemeClr val="accent2">
                    <a:lumMod val="75000"/>
                  </a:schemeClr>
                </a:solidFill>
              </a:rPr>
              <a:t> </a:t>
            </a:r>
            <a:r>
              <a:rPr lang="en-US" sz="1700" dirty="0" err="1" smtClean="0">
                <a:solidFill>
                  <a:schemeClr val="accent2">
                    <a:lumMod val="75000"/>
                  </a:schemeClr>
                </a:solidFill>
              </a:rPr>
              <a:t>phẩy</a:t>
            </a:r>
            <a:r>
              <a:rPr lang="en-US" sz="1700" dirty="0" smtClean="0">
                <a:solidFill>
                  <a:schemeClr val="accent2">
                    <a:lumMod val="75000"/>
                  </a:schemeClr>
                </a:solidFill>
              </a:rPr>
              <a:t>) ”</a:t>
            </a:r>
            <a:r>
              <a:rPr lang="en-US" sz="1700" dirty="0" smtClean="0">
                <a:solidFill>
                  <a:srgbClr val="FF66CC"/>
                </a:solidFill>
              </a:rPr>
              <a:t>)</a:t>
            </a:r>
            <a:r>
              <a:rPr lang="en-US" sz="1700" dirty="0" smtClean="0">
                <a:solidFill>
                  <a:srgbClr val="FECC36"/>
                </a:solidFill>
              </a:rPr>
              <a:t>)</a:t>
            </a:r>
          </a:p>
          <a:p>
            <a:r>
              <a:rPr lang="en-US" sz="1700" dirty="0" smtClean="0">
                <a:solidFill>
                  <a:schemeClr val="bg1"/>
                </a:solidFill>
              </a:rPr>
              <a:t>print</a:t>
            </a:r>
            <a:r>
              <a:rPr lang="en-US" sz="1700" dirty="0" smtClean="0">
                <a:solidFill>
                  <a:srgbClr val="FFC500"/>
                </a:solidFill>
              </a:rPr>
              <a:t>(</a:t>
            </a:r>
            <a:r>
              <a:rPr lang="en-US" sz="1700" dirty="0" smtClean="0">
                <a:solidFill>
                  <a:schemeClr val="accent2">
                    <a:lumMod val="75000"/>
                  </a:schemeClr>
                </a:solidFill>
              </a:rPr>
              <a:t>“</a:t>
            </a:r>
            <a:r>
              <a:rPr lang="en-US" sz="1700" dirty="0" err="1" smtClean="0">
                <a:solidFill>
                  <a:schemeClr val="accent2">
                    <a:lumMod val="75000"/>
                  </a:schemeClr>
                </a:solidFill>
              </a:rPr>
              <a:t>Các</a:t>
            </a:r>
            <a:r>
              <a:rPr lang="en-US" sz="1700" dirty="0" smtClean="0">
                <a:solidFill>
                  <a:schemeClr val="accent2">
                    <a:lumMod val="75000"/>
                  </a:schemeClr>
                </a:solidFill>
              </a:rPr>
              <a:t> </a:t>
            </a:r>
            <a:r>
              <a:rPr lang="en-US" sz="1700" dirty="0" err="1" smtClean="0">
                <a:solidFill>
                  <a:schemeClr val="accent2">
                    <a:lumMod val="75000"/>
                  </a:schemeClr>
                </a:solidFill>
              </a:rPr>
              <a:t>số</a:t>
            </a:r>
            <a:r>
              <a:rPr lang="en-US" sz="1700" dirty="0" smtClean="0">
                <a:solidFill>
                  <a:schemeClr val="accent2">
                    <a:lumMod val="75000"/>
                  </a:schemeClr>
                </a:solidFill>
              </a:rPr>
              <a:t> </a:t>
            </a:r>
            <a:r>
              <a:rPr lang="en-US" sz="1700" dirty="0" err="1" smtClean="0">
                <a:solidFill>
                  <a:schemeClr val="accent2">
                    <a:lumMod val="75000"/>
                  </a:schemeClr>
                </a:solidFill>
              </a:rPr>
              <a:t>đã</a:t>
            </a:r>
            <a:r>
              <a:rPr lang="en-US" sz="1700" dirty="0" smtClean="0">
                <a:solidFill>
                  <a:schemeClr val="accent2">
                    <a:lumMod val="75000"/>
                  </a:schemeClr>
                </a:solidFill>
              </a:rPr>
              <a:t> </a:t>
            </a:r>
            <a:r>
              <a:rPr lang="en-US" sz="1700" dirty="0" err="1" smtClean="0">
                <a:solidFill>
                  <a:schemeClr val="accent2">
                    <a:lumMod val="75000"/>
                  </a:schemeClr>
                </a:solidFill>
              </a:rPr>
              <a:t>nhập</a:t>
            </a:r>
            <a:r>
              <a:rPr lang="en-US" sz="1700" dirty="0" smtClean="0">
                <a:solidFill>
                  <a:schemeClr val="accent2">
                    <a:lumMod val="75000"/>
                  </a:schemeClr>
                </a:solidFill>
              </a:rPr>
              <a:t> </a:t>
            </a:r>
            <a:r>
              <a:rPr lang="en-US" sz="1700" dirty="0" err="1" smtClean="0">
                <a:solidFill>
                  <a:schemeClr val="accent2">
                    <a:lumMod val="75000"/>
                  </a:schemeClr>
                </a:solidFill>
              </a:rPr>
              <a:t>là</a:t>
            </a:r>
            <a:r>
              <a:rPr lang="en-US" sz="1700" dirty="0" smtClean="0">
                <a:solidFill>
                  <a:schemeClr val="accent2">
                    <a:lumMod val="75000"/>
                  </a:schemeClr>
                </a:solidFill>
              </a:rPr>
              <a:t>”</a:t>
            </a:r>
            <a:r>
              <a:rPr lang="en-US" sz="1700" dirty="0" smtClean="0">
                <a:solidFill>
                  <a:schemeClr val="bg1"/>
                </a:solidFill>
              </a:rPr>
              <a:t>, </a:t>
            </a:r>
            <a:r>
              <a:rPr lang="en-US" sz="1700" dirty="0" err="1" smtClean="0">
                <a:solidFill>
                  <a:schemeClr val="bg1"/>
                </a:solidFill>
              </a:rPr>
              <a:t>m,n</a:t>
            </a:r>
            <a:r>
              <a:rPr lang="en-US" sz="1700" dirty="0" smtClean="0">
                <a:solidFill>
                  <a:schemeClr val="bg1"/>
                </a:solidFill>
              </a:rPr>
              <a:t>, p</a:t>
            </a:r>
            <a:r>
              <a:rPr lang="en-US" sz="1700" dirty="0" smtClean="0">
                <a:solidFill>
                  <a:srgbClr val="FFC500"/>
                </a:solidFill>
              </a:rPr>
              <a:t>)</a:t>
            </a:r>
            <a:endParaRPr lang="en-US" sz="1700" dirty="0">
              <a:solidFill>
                <a:schemeClr val="accent6">
                  <a:lumMod val="75000"/>
                </a:schemeClr>
              </a:solidFill>
            </a:endParaRPr>
          </a:p>
        </p:txBody>
      </p:sp>
    </p:spTree>
    <p:extLst>
      <p:ext uri="{BB962C8B-B14F-4D97-AF65-F5344CB8AC3E}">
        <p14:creationId xmlns:p14="http://schemas.microsoft.com/office/powerpoint/2010/main" val="169707262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25</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2.8 </a:t>
            </a:r>
            <a:r>
              <a:rPr lang="en-US" dirty="0" err="1"/>
              <a:t>Tổng</a:t>
            </a:r>
            <a:r>
              <a:rPr lang="en-US" dirty="0"/>
              <a:t> </a:t>
            </a:r>
            <a:r>
              <a:rPr lang="en-US" dirty="0" err="1"/>
              <a:t>quan</a:t>
            </a:r>
            <a:r>
              <a:rPr lang="en-US" dirty="0"/>
              <a:t> </a:t>
            </a:r>
            <a:r>
              <a:rPr lang="en-US" dirty="0" err="1"/>
              <a:t>về</a:t>
            </a:r>
            <a:r>
              <a:rPr lang="en-US" dirty="0"/>
              <a:t> </a:t>
            </a:r>
            <a:r>
              <a:rPr lang="en-US" dirty="0" err="1" smtClean="0"/>
              <a:t>Chuỗi</a:t>
            </a:r>
            <a:r>
              <a:rPr lang="en-US" dirty="0" smtClean="0"/>
              <a:t> (String )</a:t>
            </a:r>
            <a:endParaRPr lang="en-US" dirty="0"/>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10051"/>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450625"/>
            <a:ext cx="6432695" cy="369332"/>
          </a:xfrm>
          <a:prstGeom prst="rect">
            <a:avLst/>
          </a:prstGeom>
          <a:noFill/>
        </p:spPr>
        <p:txBody>
          <a:bodyPr wrap="square" rtlCol="0">
            <a:spAutoFit/>
          </a:bodyPr>
          <a:lstStyle/>
          <a:p>
            <a:r>
              <a:rPr lang="en-US" b="1" dirty="0" err="1" smtClean="0"/>
              <a:t>Giới</a:t>
            </a:r>
            <a:r>
              <a:rPr lang="en-US" b="1" dirty="0" smtClean="0"/>
              <a:t> </a:t>
            </a:r>
            <a:r>
              <a:rPr lang="en-US" b="1" dirty="0" err="1" smtClean="0"/>
              <a:t>thiệu</a:t>
            </a:r>
            <a:r>
              <a:rPr lang="en-US" b="1" dirty="0" smtClean="0"/>
              <a:t> </a:t>
            </a:r>
            <a:r>
              <a:rPr lang="en-US" b="1" dirty="0" err="1" smtClean="0"/>
              <a:t>về</a:t>
            </a:r>
            <a:r>
              <a:rPr lang="en-US" b="1" dirty="0" smtClean="0"/>
              <a:t> </a:t>
            </a:r>
            <a:r>
              <a:rPr lang="en-US" b="1" dirty="0" err="1" smtClean="0"/>
              <a:t>Kiểu</a:t>
            </a:r>
            <a:r>
              <a:rPr lang="en-US" b="1" dirty="0" smtClean="0"/>
              <a:t> </a:t>
            </a:r>
            <a:r>
              <a:rPr lang="en-US" b="1" dirty="0" err="1" smtClean="0"/>
              <a:t>dữ</a:t>
            </a:r>
            <a:r>
              <a:rPr lang="en-US" b="1" dirty="0" smtClean="0"/>
              <a:t> </a:t>
            </a:r>
            <a:r>
              <a:rPr lang="en-US" b="1" dirty="0" err="1" smtClean="0"/>
              <a:t>liệu</a:t>
            </a:r>
            <a:r>
              <a:rPr lang="en-US" b="1" dirty="0" smtClean="0"/>
              <a:t> String</a:t>
            </a:r>
            <a:endParaRPr lang="en-US" b="1" dirty="0">
              <a:solidFill>
                <a:srgbClr val="FF0000"/>
              </a:solidFill>
            </a:endParaRPr>
          </a:p>
        </p:txBody>
      </p:sp>
      <p:sp>
        <p:nvSpPr>
          <p:cNvPr id="8" name="TextBox 7"/>
          <p:cNvSpPr txBox="1"/>
          <p:nvPr/>
        </p:nvSpPr>
        <p:spPr>
          <a:xfrm>
            <a:off x="925034" y="1903017"/>
            <a:ext cx="7831856" cy="646331"/>
          </a:xfrm>
          <a:prstGeom prst="rect">
            <a:avLst/>
          </a:prstGeom>
          <a:noFill/>
        </p:spPr>
        <p:txBody>
          <a:bodyPr wrap="square" rtlCol="0">
            <a:spAutoFit/>
          </a:bodyPr>
          <a:lstStyle/>
          <a:p>
            <a:r>
              <a:rPr lang="vi-VN" dirty="0"/>
              <a:t>Trong Python, kiểu dữ liệu chuỗi (string) là một dạng dữ liệu dùng để lưu trữ văn bản, chữ số, ký tự, hoặc bất kỳ dãy các ký tự nào</a:t>
            </a:r>
            <a:endParaRPr lang="en-US" dirty="0"/>
          </a:p>
        </p:txBody>
      </p:sp>
      <p:sp>
        <p:nvSpPr>
          <p:cNvPr id="14" name="TextBox 13"/>
          <p:cNvSpPr txBox="1"/>
          <p:nvPr/>
        </p:nvSpPr>
        <p:spPr>
          <a:xfrm>
            <a:off x="925033" y="2708821"/>
            <a:ext cx="7697972" cy="923330"/>
          </a:xfrm>
          <a:prstGeom prst="rect">
            <a:avLst/>
          </a:prstGeom>
          <a:noFill/>
        </p:spPr>
        <p:txBody>
          <a:bodyPr wrap="square" rtlCol="0">
            <a:spAutoFit/>
          </a:bodyPr>
          <a:lstStyle/>
          <a:p>
            <a:r>
              <a:rPr lang="vi-VN" dirty="0"/>
              <a:t>Chuỗi trong Python được biểu diễn bằng các ký tự nằm trong cặp dấu nháy đơn ('...') hoặc nháy kép ("..."). Python hỗ trợ các thao tác và phương thức mạnh mẽ để làm việc với kiểu dữ liệu chuỗi</a:t>
            </a:r>
            <a:endParaRPr lang="en-US" dirty="0"/>
          </a:p>
        </p:txBody>
      </p:sp>
      <p:sp>
        <p:nvSpPr>
          <p:cNvPr id="15" name="Flowchart: Decision 14"/>
          <p:cNvSpPr/>
          <p:nvPr/>
        </p:nvSpPr>
        <p:spPr>
          <a:xfrm>
            <a:off x="710426" y="1998538"/>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Decision 16"/>
          <p:cNvSpPr/>
          <p:nvPr/>
        </p:nvSpPr>
        <p:spPr>
          <a:xfrm>
            <a:off x="710426" y="2817240"/>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699793" y="3842487"/>
            <a:ext cx="7774356" cy="265400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p:cNvSpPr txBox="1"/>
          <p:nvPr/>
        </p:nvSpPr>
        <p:spPr>
          <a:xfrm>
            <a:off x="880547" y="3965780"/>
            <a:ext cx="7402216" cy="2308324"/>
          </a:xfrm>
          <a:prstGeom prst="rect">
            <a:avLst/>
          </a:prstGeom>
          <a:noFill/>
        </p:spPr>
        <p:txBody>
          <a:bodyPr wrap="square" rtlCol="0">
            <a:spAutoFit/>
          </a:bodyPr>
          <a:lstStyle/>
          <a:p>
            <a:r>
              <a:rPr lang="vi-VN" dirty="0">
                <a:solidFill>
                  <a:schemeClr val="accent6">
                    <a:lumMod val="75000"/>
                  </a:schemeClr>
                </a:solidFill>
              </a:rPr>
              <a:t># Khai báo chuỗi bằng cặp dấu nháy đơn</a:t>
            </a:r>
            <a:endParaRPr lang="en-US" dirty="0" smtClean="0">
              <a:solidFill>
                <a:schemeClr val="accent6">
                  <a:lumMod val="75000"/>
                </a:schemeClr>
              </a:solidFill>
            </a:endParaRPr>
          </a:p>
          <a:p>
            <a:r>
              <a:rPr lang="en-US" dirty="0" smtClean="0">
                <a:solidFill>
                  <a:schemeClr val="bg1"/>
                </a:solidFill>
              </a:rPr>
              <a:t>string1 </a:t>
            </a:r>
            <a:r>
              <a:rPr lang="en-US" dirty="0">
                <a:solidFill>
                  <a:schemeClr val="bg1"/>
                </a:solidFill>
              </a:rPr>
              <a:t>= </a:t>
            </a:r>
            <a:r>
              <a:rPr lang="en-US" dirty="0">
                <a:solidFill>
                  <a:schemeClr val="accent2">
                    <a:lumMod val="75000"/>
                  </a:schemeClr>
                </a:solidFill>
              </a:rPr>
              <a:t>'Hello, World</a:t>
            </a:r>
            <a:r>
              <a:rPr lang="en-US" dirty="0" smtClean="0">
                <a:solidFill>
                  <a:schemeClr val="accent2">
                    <a:lumMod val="75000"/>
                  </a:schemeClr>
                </a:solidFill>
              </a:rPr>
              <a:t>!'</a:t>
            </a:r>
          </a:p>
          <a:p>
            <a:r>
              <a:rPr lang="en-US" dirty="0">
                <a:solidFill>
                  <a:schemeClr val="accent6">
                    <a:lumMod val="75000"/>
                  </a:schemeClr>
                </a:solidFill>
              </a:rPr>
              <a:t># </a:t>
            </a:r>
            <a:r>
              <a:rPr lang="en-US" dirty="0" err="1">
                <a:solidFill>
                  <a:schemeClr val="accent6">
                    <a:lumMod val="75000"/>
                  </a:schemeClr>
                </a:solidFill>
              </a:rPr>
              <a:t>Khai</a:t>
            </a:r>
            <a:r>
              <a:rPr lang="en-US" dirty="0">
                <a:solidFill>
                  <a:schemeClr val="accent6">
                    <a:lumMod val="75000"/>
                  </a:schemeClr>
                </a:solidFill>
              </a:rPr>
              <a:t> </a:t>
            </a:r>
            <a:r>
              <a:rPr lang="en-US" dirty="0" err="1">
                <a:solidFill>
                  <a:schemeClr val="accent6">
                    <a:lumMod val="75000"/>
                  </a:schemeClr>
                </a:solidFill>
              </a:rPr>
              <a:t>báo</a:t>
            </a:r>
            <a:r>
              <a:rPr lang="en-US" dirty="0">
                <a:solidFill>
                  <a:schemeClr val="accent6">
                    <a:lumMod val="75000"/>
                  </a:schemeClr>
                </a:solidFill>
              </a:rPr>
              <a:t> </a:t>
            </a:r>
            <a:r>
              <a:rPr lang="en-US" dirty="0" err="1">
                <a:solidFill>
                  <a:schemeClr val="accent6">
                    <a:lumMod val="75000"/>
                  </a:schemeClr>
                </a:solidFill>
              </a:rPr>
              <a:t>chuỗi</a:t>
            </a:r>
            <a:r>
              <a:rPr lang="en-US" dirty="0">
                <a:solidFill>
                  <a:schemeClr val="accent6">
                    <a:lumMod val="75000"/>
                  </a:schemeClr>
                </a:solidFill>
              </a:rPr>
              <a:t> </a:t>
            </a:r>
            <a:r>
              <a:rPr lang="en-US" dirty="0" err="1">
                <a:solidFill>
                  <a:schemeClr val="accent6">
                    <a:lumMod val="75000"/>
                  </a:schemeClr>
                </a:solidFill>
              </a:rPr>
              <a:t>bằng</a:t>
            </a:r>
            <a:r>
              <a:rPr lang="en-US" dirty="0">
                <a:solidFill>
                  <a:schemeClr val="accent6">
                    <a:lumMod val="75000"/>
                  </a:schemeClr>
                </a:solidFill>
              </a:rPr>
              <a:t> </a:t>
            </a:r>
            <a:r>
              <a:rPr lang="en-US" dirty="0" err="1">
                <a:solidFill>
                  <a:schemeClr val="accent6">
                    <a:lumMod val="75000"/>
                  </a:schemeClr>
                </a:solidFill>
              </a:rPr>
              <a:t>cặp</a:t>
            </a:r>
            <a:r>
              <a:rPr lang="en-US" dirty="0">
                <a:solidFill>
                  <a:schemeClr val="accent6">
                    <a:lumMod val="75000"/>
                  </a:schemeClr>
                </a:solidFill>
              </a:rPr>
              <a:t> </a:t>
            </a:r>
            <a:r>
              <a:rPr lang="en-US" dirty="0" err="1">
                <a:solidFill>
                  <a:schemeClr val="accent6">
                    <a:lumMod val="75000"/>
                  </a:schemeClr>
                </a:solidFill>
              </a:rPr>
              <a:t>dấu</a:t>
            </a:r>
            <a:r>
              <a:rPr lang="en-US" dirty="0">
                <a:solidFill>
                  <a:schemeClr val="accent6">
                    <a:lumMod val="75000"/>
                  </a:schemeClr>
                </a:solidFill>
              </a:rPr>
              <a:t> </a:t>
            </a:r>
            <a:r>
              <a:rPr lang="en-US" dirty="0" err="1">
                <a:solidFill>
                  <a:schemeClr val="accent6">
                    <a:lumMod val="75000"/>
                  </a:schemeClr>
                </a:solidFill>
              </a:rPr>
              <a:t>nháy</a:t>
            </a:r>
            <a:r>
              <a:rPr lang="en-US" dirty="0">
                <a:solidFill>
                  <a:schemeClr val="accent6">
                    <a:lumMod val="75000"/>
                  </a:schemeClr>
                </a:solidFill>
              </a:rPr>
              <a:t> </a:t>
            </a:r>
            <a:r>
              <a:rPr lang="en-US" dirty="0" err="1">
                <a:solidFill>
                  <a:schemeClr val="accent6">
                    <a:lumMod val="75000"/>
                  </a:schemeClr>
                </a:solidFill>
              </a:rPr>
              <a:t>kép</a:t>
            </a:r>
            <a:endParaRPr lang="en-US" dirty="0" smtClean="0">
              <a:solidFill>
                <a:schemeClr val="accent6">
                  <a:lumMod val="75000"/>
                </a:schemeClr>
              </a:solidFill>
            </a:endParaRPr>
          </a:p>
          <a:p>
            <a:r>
              <a:rPr lang="en-US" dirty="0" smtClean="0">
                <a:solidFill>
                  <a:schemeClr val="bg1"/>
                </a:solidFill>
              </a:rPr>
              <a:t>string2 </a:t>
            </a:r>
            <a:r>
              <a:rPr lang="en-US" dirty="0">
                <a:solidFill>
                  <a:schemeClr val="bg1"/>
                </a:solidFill>
              </a:rPr>
              <a:t>= </a:t>
            </a:r>
            <a:r>
              <a:rPr lang="en-US" dirty="0">
                <a:solidFill>
                  <a:schemeClr val="accent2">
                    <a:lumMod val="75000"/>
                  </a:schemeClr>
                </a:solidFill>
              </a:rPr>
              <a:t>"Python is </a:t>
            </a:r>
            <a:r>
              <a:rPr lang="en-US" dirty="0" smtClean="0">
                <a:solidFill>
                  <a:schemeClr val="accent2">
                    <a:lumMod val="75000"/>
                  </a:schemeClr>
                </a:solidFill>
              </a:rPr>
              <a:t>awesome"</a:t>
            </a:r>
          </a:p>
          <a:p>
            <a:r>
              <a:rPr lang="en-US" dirty="0">
                <a:solidFill>
                  <a:schemeClr val="accent6">
                    <a:lumMod val="75000"/>
                  </a:schemeClr>
                </a:solidFill>
              </a:rPr>
              <a:t># </a:t>
            </a:r>
            <a:r>
              <a:rPr lang="en-US" dirty="0" err="1">
                <a:solidFill>
                  <a:schemeClr val="accent6">
                    <a:lumMod val="75000"/>
                  </a:schemeClr>
                </a:solidFill>
              </a:rPr>
              <a:t>Chuỗi</a:t>
            </a:r>
            <a:r>
              <a:rPr lang="en-US" dirty="0">
                <a:solidFill>
                  <a:schemeClr val="accent6">
                    <a:lumMod val="75000"/>
                  </a:schemeClr>
                </a:solidFill>
              </a:rPr>
              <a:t> </a:t>
            </a:r>
            <a:r>
              <a:rPr lang="en-US" dirty="0" err="1">
                <a:solidFill>
                  <a:schemeClr val="accent6">
                    <a:lumMod val="75000"/>
                  </a:schemeClr>
                </a:solidFill>
              </a:rPr>
              <a:t>có</a:t>
            </a:r>
            <a:r>
              <a:rPr lang="en-US" dirty="0">
                <a:solidFill>
                  <a:schemeClr val="accent6">
                    <a:lumMod val="75000"/>
                  </a:schemeClr>
                </a:solidFill>
              </a:rPr>
              <a:t> </a:t>
            </a:r>
            <a:r>
              <a:rPr lang="en-US" dirty="0" err="1">
                <a:solidFill>
                  <a:schemeClr val="accent6">
                    <a:lumMod val="75000"/>
                  </a:schemeClr>
                </a:solidFill>
              </a:rPr>
              <a:t>thể</a:t>
            </a:r>
            <a:r>
              <a:rPr lang="en-US" dirty="0">
                <a:solidFill>
                  <a:schemeClr val="accent6">
                    <a:lumMod val="75000"/>
                  </a:schemeClr>
                </a:solidFill>
              </a:rPr>
              <a:t> </a:t>
            </a:r>
            <a:r>
              <a:rPr lang="en-US" dirty="0" err="1">
                <a:solidFill>
                  <a:schemeClr val="accent6">
                    <a:lumMod val="75000"/>
                  </a:schemeClr>
                </a:solidFill>
              </a:rPr>
              <a:t>chứa</a:t>
            </a:r>
            <a:r>
              <a:rPr lang="en-US" dirty="0">
                <a:solidFill>
                  <a:schemeClr val="accent6">
                    <a:lumMod val="75000"/>
                  </a:schemeClr>
                </a:solidFill>
              </a:rPr>
              <a:t> </a:t>
            </a:r>
            <a:r>
              <a:rPr lang="en-US" dirty="0" err="1">
                <a:solidFill>
                  <a:schemeClr val="accent6">
                    <a:lumMod val="75000"/>
                  </a:schemeClr>
                </a:solidFill>
              </a:rPr>
              <a:t>các</a:t>
            </a:r>
            <a:r>
              <a:rPr lang="en-US" dirty="0">
                <a:solidFill>
                  <a:schemeClr val="accent6">
                    <a:lumMod val="75000"/>
                  </a:schemeClr>
                </a:solidFill>
              </a:rPr>
              <a:t> </a:t>
            </a:r>
            <a:r>
              <a:rPr lang="en-US" dirty="0" err="1">
                <a:solidFill>
                  <a:schemeClr val="accent6">
                    <a:lumMod val="75000"/>
                  </a:schemeClr>
                </a:solidFill>
              </a:rPr>
              <a:t>ký</a:t>
            </a:r>
            <a:r>
              <a:rPr lang="en-US" dirty="0">
                <a:solidFill>
                  <a:schemeClr val="accent6">
                    <a:lumMod val="75000"/>
                  </a:schemeClr>
                </a:solidFill>
              </a:rPr>
              <a:t> </a:t>
            </a:r>
            <a:r>
              <a:rPr lang="en-US" dirty="0" err="1">
                <a:solidFill>
                  <a:schemeClr val="accent6">
                    <a:lumMod val="75000"/>
                  </a:schemeClr>
                </a:solidFill>
              </a:rPr>
              <a:t>tự</a:t>
            </a:r>
            <a:r>
              <a:rPr lang="en-US" dirty="0">
                <a:solidFill>
                  <a:schemeClr val="accent6">
                    <a:lumMod val="75000"/>
                  </a:schemeClr>
                </a:solidFill>
              </a:rPr>
              <a:t> </a:t>
            </a:r>
            <a:r>
              <a:rPr lang="en-US" dirty="0" err="1">
                <a:solidFill>
                  <a:schemeClr val="accent6">
                    <a:lumMod val="75000"/>
                  </a:schemeClr>
                </a:solidFill>
              </a:rPr>
              <a:t>đặc</a:t>
            </a:r>
            <a:r>
              <a:rPr lang="en-US" dirty="0">
                <a:solidFill>
                  <a:schemeClr val="accent6">
                    <a:lumMod val="75000"/>
                  </a:schemeClr>
                </a:solidFill>
              </a:rPr>
              <a:t> </a:t>
            </a:r>
            <a:r>
              <a:rPr lang="en-US" dirty="0" err="1">
                <a:solidFill>
                  <a:schemeClr val="accent6">
                    <a:lumMod val="75000"/>
                  </a:schemeClr>
                </a:solidFill>
              </a:rPr>
              <a:t>biệt</a:t>
            </a:r>
            <a:endParaRPr lang="en-US" dirty="0" smtClean="0">
              <a:solidFill>
                <a:schemeClr val="accent6">
                  <a:lumMod val="75000"/>
                </a:schemeClr>
              </a:solidFill>
            </a:endParaRPr>
          </a:p>
          <a:p>
            <a:r>
              <a:rPr lang="en-US" dirty="0" smtClean="0">
                <a:solidFill>
                  <a:schemeClr val="bg1"/>
                </a:solidFill>
              </a:rPr>
              <a:t>string3 </a:t>
            </a:r>
            <a:r>
              <a:rPr lang="en-US" dirty="0">
                <a:solidFill>
                  <a:schemeClr val="bg1"/>
                </a:solidFill>
              </a:rPr>
              <a:t>= </a:t>
            </a:r>
            <a:r>
              <a:rPr lang="en-US" dirty="0">
                <a:solidFill>
                  <a:schemeClr val="accent2">
                    <a:lumMod val="75000"/>
                  </a:schemeClr>
                </a:solidFill>
              </a:rPr>
              <a:t>'</a:t>
            </a:r>
            <a:r>
              <a:rPr lang="en-US" dirty="0" err="1">
                <a:solidFill>
                  <a:schemeClr val="accent2">
                    <a:lumMod val="75000"/>
                  </a:schemeClr>
                </a:solidFill>
              </a:rPr>
              <a:t>Các</a:t>
            </a:r>
            <a:r>
              <a:rPr lang="en-US" dirty="0">
                <a:solidFill>
                  <a:schemeClr val="accent2">
                    <a:lumMod val="75000"/>
                  </a:schemeClr>
                </a:solidFill>
              </a:rPr>
              <a:t> </a:t>
            </a:r>
            <a:r>
              <a:rPr lang="en-US" dirty="0" err="1">
                <a:solidFill>
                  <a:schemeClr val="accent2">
                    <a:lumMod val="75000"/>
                  </a:schemeClr>
                </a:solidFill>
              </a:rPr>
              <a:t>ký</a:t>
            </a:r>
            <a:r>
              <a:rPr lang="en-US" dirty="0">
                <a:solidFill>
                  <a:schemeClr val="accent2">
                    <a:lumMod val="75000"/>
                  </a:schemeClr>
                </a:solidFill>
              </a:rPr>
              <a:t> </a:t>
            </a:r>
            <a:r>
              <a:rPr lang="en-US" dirty="0" err="1">
                <a:solidFill>
                  <a:schemeClr val="accent2">
                    <a:lumMod val="75000"/>
                  </a:schemeClr>
                </a:solidFill>
              </a:rPr>
              <a:t>tự</a:t>
            </a:r>
            <a:r>
              <a:rPr lang="en-US" dirty="0">
                <a:solidFill>
                  <a:schemeClr val="accent2">
                    <a:lumMod val="75000"/>
                  </a:schemeClr>
                </a:solidFill>
              </a:rPr>
              <a:t> </a:t>
            </a:r>
            <a:r>
              <a:rPr lang="en-US" dirty="0" err="1">
                <a:solidFill>
                  <a:schemeClr val="accent2">
                    <a:lumMod val="75000"/>
                  </a:schemeClr>
                </a:solidFill>
              </a:rPr>
              <a:t>đặc</a:t>
            </a:r>
            <a:r>
              <a:rPr lang="en-US" dirty="0">
                <a:solidFill>
                  <a:schemeClr val="accent2">
                    <a:lumMod val="75000"/>
                  </a:schemeClr>
                </a:solidFill>
              </a:rPr>
              <a:t> </a:t>
            </a:r>
            <a:r>
              <a:rPr lang="en-US" dirty="0" err="1">
                <a:solidFill>
                  <a:schemeClr val="accent2">
                    <a:lumMod val="75000"/>
                  </a:schemeClr>
                </a:solidFill>
              </a:rPr>
              <a:t>biệt</a:t>
            </a:r>
            <a:r>
              <a:rPr lang="en-US" dirty="0">
                <a:solidFill>
                  <a:schemeClr val="accent2">
                    <a:lumMod val="75000"/>
                  </a:schemeClr>
                </a:solidFill>
              </a:rPr>
              <a:t>: </a:t>
            </a:r>
            <a:r>
              <a:rPr lang="en-US" dirty="0" smtClean="0">
                <a:solidFill>
                  <a:schemeClr val="accent2">
                    <a:lumMod val="75000"/>
                  </a:schemeClr>
                </a:solidFill>
              </a:rPr>
              <a:t>!@#$%^&amp;*()'</a:t>
            </a:r>
          </a:p>
          <a:p>
            <a:r>
              <a:rPr lang="en-US" dirty="0">
                <a:solidFill>
                  <a:schemeClr val="accent6">
                    <a:lumMod val="75000"/>
                  </a:schemeClr>
                </a:solidFill>
              </a:rPr>
              <a:t># </a:t>
            </a:r>
            <a:r>
              <a:rPr lang="en-US" dirty="0" err="1">
                <a:solidFill>
                  <a:schemeClr val="accent6">
                    <a:lumMod val="75000"/>
                  </a:schemeClr>
                </a:solidFill>
              </a:rPr>
              <a:t>Chuỗi</a:t>
            </a:r>
            <a:r>
              <a:rPr lang="en-US" dirty="0">
                <a:solidFill>
                  <a:schemeClr val="accent6">
                    <a:lumMod val="75000"/>
                  </a:schemeClr>
                </a:solidFill>
              </a:rPr>
              <a:t> </a:t>
            </a:r>
            <a:r>
              <a:rPr lang="en-US" dirty="0" err="1">
                <a:solidFill>
                  <a:schemeClr val="accent6">
                    <a:lumMod val="75000"/>
                  </a:schemeClr>
                </a:solidFill>
              </a:rPr>
              <a:t>có</a:t>
            </a:r>
            <a:r>
              <a:rPr lang="en-US" dirty="0">
                <a:solidFill>
                  <a:schemeClr val="accent6">
                    <a:lumMod val="75000"/>
                  </a:schemeClr>
                </a:solidFill>
              </a:rPr>
              <a:t> </a:t>
            </a:r>
            <a:r>
              <a:rPr lang="en-US" dirty="0" err="1">
                <a:solidFill>
                  <a:schemeClr val="accent6">
                    <a:lumMod val="75000"/>
                  </a:schemeClr>
                </a:solidFill>
              </a:rPr>
              <a:t>thể</a:t>
            </a:r>
            <a:r>
              <a:rPr lang="en-US" dirty="0">
                <a:solidFill>
                  <a:schemeClr val="accent6">
                    <a:lumMod val="75000"/>
                  </a:schemeClr>
                </a:solidFill>
              </a:rPr>
              <a:t> </a:t>
            </a:r>
            <a:r>
              <a:rPr lang="en-US" dirty="0" err="1">
                <a:solidFill>
                  <a:schemeClr val="accent6">
                    <a:lumMod val="75000"/>
                  </a:schemeClr>
                </a:solidFill>
              </a:rPr>
              <a:t>chứa</a:t>
            </a:r>
            <a:r>
              <a:rPr lang="en-US" dirty="0">
                <a:solidFill>
                  <a:schemeClr val="accent6">
                    <a:lumMod val="75000"/>
                  </a:schemeClr>
                </a:solidFill>
              </a:rPr>
              <a:t> </a:t>
            </a:r>
            <a:r>
              <a:rPr lang="en-US" dirty="0" err="1">
                <a:solidFill>
                  <a:schemeClr val="accent6">
                    <a:lumMod val="75000"/>
                  </a:schemeClr>
                </a:solidFill>
              </a:rPr>
              <a:t>các</a:t>
            </a:r>
            <a:r>
              <a:rPr lang="en-US" dirty="0">
                <a:solidFill>
                  <a:schemeClr val="accent6">
                    <a:lumMod val="75000"/>
                  </a:schemeClr>
                </a:solidFill>
              </a:rPr>
              <a:t> </a:t>
            </a:r>
            <a:r>
              <a:rPr lang="en-US" dirty="0" err="1">
                <a:solidFill>
                  <a:schemeClr val="accent6">
                    <a:lumMod val="75000"/>
                  </a:schemeClr>
                </a:solidFill>
              </a:rPr>
              <a:t>số</a:t>
            </a:r>
            <a:r>
              <a:rPr lang="en-US" dirty="0">
                <a:solidFill>
                  <a:schemeClr val="accent6">
                    <a:lumMod val="75000"/>
                  </a:schemeClr>
                </a:solidFill>
              </a:rPr>
              <a:t> </a:t>
            </a:r>
            <a:r>
              <a:rPr lang="en-US" dirty="0" err="1">
                <a:solidFill>
                  <a:schemeClr val="accent6">
                    <a:lumMod val="75000"/>
                  </a:schemeClr>
                </a:solidFill>
              </a:rPr>
              <a:t>và</a:t>
            </a:r>
            <a:r>
              <a:rPr lang="en-US" dirty="0">
                <a:solidFill>
                  <a:schemeClr val="accent6">
                    <a:lumMod val="75000"/>
                  </a:schemeClr>
                </a:solidFill>
              </a:rPr>
              <a:t> </a:t>
            </a:r>
            <a:r>
              <a:rPr lang="en-US" dirty="0" err="1">
                <a:solidFill>
                  <a:schemeClr val="accent6">
                    <a:lumMod val="75000"/>
                  </a:schemeClr>
                </a:solidFill>
              </a:rPr>
              <a:t>chữ</a:t>
            </a:r>
            <a:r>
              <a:rPr lang="en-US" dirty="0">
                <a:solidFill>
                  <a:schemeClr val="accent6">
                    <a:lumMod val="75000"/>
                  </a:schemeClr>
                </a:solidFill>
              </a:rPr>
              <a:t> </a:t>
            </a:r>
            <a:r>
              <a:rPr lang="en-US" dirty="0" err="1">
                <a:solidFill>
                  <a:schemeClr val="accent6">
                    <a:lumMod val="75000"/>
                  </a:schemeClr>
                </a:solidFill>
              </a:rPr>
              <a:t>số</a:t>
            </a:r>
            <a:endParaRPr lang="en-US" dirty="0" smtClean="0">
              <a:solidFill>
                <a:schemeClr val="accent6">
                  <a:lumMod val="75000"/>
                </a:schemeClr>
              </a:solidFill>
            </a:endParaRPr>
          </a:p>
          <a:p>
            <a:r>
              <a:rPr lang="en-US" dirty="0" smtClean="0">
                <a:solidFill>
                  <a:schemeClr val="bg1"/>
                </a:solidFill>
              </a:rPr>
              <a:t>string4 </a:t>
            </a:r>
            <a:r>
              <a:rPr lang="en-US" dirty="0">
                <a:solidFill>
                  <a:schemeClr val="bg1"/>
                </a:solidFill>
              </a:rPr>
              <a:t>= </a:t>
            </a:r>
            <a:r>
              <a:rPr lang="en-US" dirty="0">
                <a:solidFill>
                  <a:schemeClr val="accent2">
                    <a:lumMod val="75000"/>
                  </a:schemeClr>
                </a:solidFill>
              </a:rPr>
              <a:t>'12345'</a:t>
            </a:r>
            <a:endParaRPr lang="en-US" sz="1600" dirty="0">
              <a:solidFill>
                <a:schemeClr val="accent2">
                  <a:lumMod val="75000"/>
                </a:schemeClr>
              </a:solidFill>
            </a:endParaRPr>
          </a:p>
        </p:txBody>
      </p:sp>
    </p:spTree>
    <p:extLst>
      <p:ext uri="{BB962C8B-B14F-4D97-AF65-F5344CB8AC3E}">
        <p14:creationId xmlns:p14="http://schemas.microsoft.com/office/powerpoint/2010/main" val="374133567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26</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2.8 </a:t>
            </a:r>
            <a:r>
              <a:rPr lang="en-US" dirty="0" err="1"/>
              <a:t>Tổng</a:t>
            </a:r>
            <a:r>
              <a:rPr lang="en-US" dirty="0"/>
              <a:t> </a:t>
            </a:r>
            <a:r>
              <a:rPr lang="en-US" dirty="0" err="1"/>
              <a:t>quan</a:t>
            </a:r>
            <a:r>
              <a:rPr lang="en-US" dirty="0"/>
              <a:t> </a:t>
            </a:r>
            <a:r>
              <a:rPr lang="en-US" dirty="0" err="1"/>
              <a:t>về</a:t>
            </a:r>
            <a:r>
              <a:rPr lang="en-US" dirty="0"/>
              <a:t> </a:t>
            </a:r>
            <a:r>
              <a:rPr lang="en-US" dirty="0" err="1" smtClean="0"/>
              <a:t>Chuỗi</a:t>
            </a:r>
            <a:r>
              <a:rPr lang="en-US" dirty="0" smtClean="0"/>
              <a:t> (String )</a:t>
            </a:r>
            <a:endParaRPr lang="en-US" dirty="0"/>
          </a:p>
        </p:txBody>
      </p:sp>
      <p:sp>
        <p:nvSpPr>
          <p:cNvPr id="8" name="TextBox 7"/>
          <p:cNvSpPr txBox="1"/>
          <p:nvPr/>
        </p:nvSpPr>
        <p:spPr>
          <a:xfrm>
            <a:off x="925034" y="1484818"/>
            <a:ext cx="7831856" cy="369332"/>
          </a:xfrm>
          <a:prstGeom prst="rect">
            <a:avLst/>
          </a:prstGeom>
          <a:noFill/>
        </p:spPr>
        <p:txBody>
          <a:bodyPr wrap="square" rtlCol="0">
            <a:spAutoFit/>
          </a:bodyPr>
          <a:lstStyle/>
          <a:p>
            <a:r>
              <a:rPr lang="en-US" dirty="0" err="1" smtClean="0"/>
              <a:t>Chuỗi</a:t>
            </a:r>
            <a:r>
              <a:rPr lang="en-US" dirty="0" smtClean="0"/>
              <a:t> </a:t>
            </a:r>
            <a:r>
              <a:rPr lang="en-US" dirty="0" err="1" smtClean="0"/>
              <a:t>nhiều</a:t>
            </a:r>
            <a:r>
              <a:rPr lang="en-US" dirty="0" smtClean="0"/>
              <a:t> </a:t>
            </a:r>
            <a:r>
              <a:rPr lang="en-US" dirty="0" err="1" smtClean="0"/>
              <a:t>dòng</a:t>
            </a:r>
            <a:r>
              <a:rPr lang="en-US" dirty="0" smtClean="0"/>
              <a:t> </a:t>
            </a:r>
            <a:r>
              <a:rPr lang="en-US" dirty="0" err="1" smtClean="0"/>
              <a:t>với</a:t>
            </a:r>
            <a:r>
              <a:rPr lang="en-US" dirty="0" smtClean="0"/>
              <a:t> 3 </a:t>
            </a:r>
            <a:r>
              <a:rPr lang="en-US" dirty="0" err="1" smtClean="0"/>
              <a:t>kí</a:t>
            </a:r>
            <a:r>
              <a:rPr lang="en-US" dirty="0" smtClean="0"/>
              <a:t> </a:t>
            </a:r>
            <a:r>
              <a:rPr lang="en-US" dirty="0" err="1" smtClean="0"/>
              <a:t>tự</a:t>
            </a:r>
            <a:r>
              <a:rPr lang="en-US" dirty="0" smtClean="0"/>
              <a:t> </a:t>
            </a:r>
            <a:r>
              <a:rPr lang="en-US" dirty="0" err="1" smtClean="0"/>
              <a:t>nháy</a:t>
            </a:r>
            <a:r>
              <a:rPr lang="en-US" dirty="0" smtClean="0"/>
              <a:t> </a:t>
            </a:r>
            <a:r>
              <a:rPr lang="en-US" dirty="0" err="1" smtClean="0"/>
              <a:t>kép</a:t>
            </a:r>
            <a:r>
              <a:rPr lang="en-US" dirty="0" smtClean="0"/>
              <a:t> </a:t>
            </a:r>
            <a:r>
              <a:rPr lang="en-US" dirty="0">
                <a:solidFill>
                  <a:schemeClr val="accent2">
                    <a:lumMod val="75000"/>
                  </a:schemeClr>
                </a:solidFill>
              </a:rPr>
              <a:t>"""</a:t>
            </a:r>
            <a:endParaRPr lang="en-US" dirty="0"/>
          </a:p>
        </p:txBody>
      </p:sp>
      <p:sp>
        <p:nvSpPr>
          <p:cNvPr id="15" name="Flowchart: Decision 14"/>
          <p:cNvSpPr/>
          <p:nvPr/>
        </p:nvSpPr>
        <p:spPr>
          <a:xfrm>
            <a:off x="710426" y="1580339"/>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699793" y="2062946"/>
            <a:ext cx="7774356" cy="182857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p:cNvSpPr txBox="1"/>
          <p:nvPr/>
        </p:nvSpPr>
        <p:spPr>
          <a:xfrm>
            <a:off x="880547" y="2186239"/>
            <a:ext cx="7402216" cy="1477328"/>
          </a:xfrm>
          <a:prstGeom prst="rect">
            <a:avLst/>
          </a:prstGeom>
          <a:noFill/>
        </p:spPr>
        <p:txBody>
          <a:bodyPr wrap="square" rtlCol="0">
            <a:spAutoFit/>
          </a:bodyPr>
          <a:lstStyle/>
          <a:p>
            <a:r>
              <a:rPr lang="en-US" dirty="0">
                <a:solidFill>
                  <a:schemeClr val="bg1"/>
                </a:solidFill>
              </a:rPr>
              <a:t>a = </a:t>
            </a:r>
            <a:r>
              <a:rPr lang="en-US" dirty="0">
                <a:solidFill>
                  <a:schemeClr val="accent2">
                    <a:lumMod val="75000"/>
                  </a:schemeClr>
                </a:solidFill>
              </a:rPr>
              <a:t>"""Lorem ipsum dolor sit </a:t>
            </a:r>
            <a:r>
              <a:rPr lang="en-US" dirty="0" err="1">
                <a:solidFill>
                  <a:schemeClr val="accent2">
                    <a:lumMod val="75000"/>
                  </a:schemeClr>
                </a:solidFill>
              </a:rPr>
              <a:t>amet</a:t>
            </a:r>
            <a:r>
              <a:rPr lang="en-US" dirty="0">
                <a:solidFill>
                  <a:schemeClr val="accent2">
                    <a:lumMod val="75000"/>
                  </a:schemeClr>
                </a:solidFill>
              </a:rPr>
              <a:t>,</a:t>
            </a:r>
            <a:br>
              <a:rPr lang="en-US" dirty="0">
                <a:solidFill>
                  <a:schemeClr val="accent2">
                    <a:lumMod val="75000"/>
                  </a:schemeClr>
                </a:solidFill>
              </a:rPr>
            </a:br>
            <a:r>
              <a:rPr lang="en-US" dirty="0" err="1">
                <a:solidFill>
                  <a:schemeClr val="accent2">
                    <a:lumMod val="75000"/>
                  </a:schemeClr>
                </a:solidFill>
              </a:rPr>
              <a:t>consectetur</a:t>
            </a:r>
            <a:r>
              <a:rPr lang="en-US" dirty="0">
                <a:solidFill>
                  <a:schemeClr val="accent2">
                    <a:lumMod val="75000"/>
                  </a:schemeClr>
                </a:solidFill>
              </a:rPr>
              <a:t> </a:t>
            </a:r>
            <a:r>
              <a:rPr lang="en-US" dirty="0" err="1">
                <a:solidFill>
                  <a:schemeClr val="accent2">
                    <a:lumMod val="75000"/>
                  </a:schemeClr>
                </a:solidFill>
              </a:rPr>
              <a:t>adipiscing</a:t>
            </a:r>
            <a:r>
              <a:rPr lang="en-US" dirty="0">
                <a:solidFill>
                  <a:schemeClr val="accent2">
                    <a:lumMod val="75000"/>
                  </a:schemeClr>
                </a:solidFill>
              </a:rPr>
              <a:t> </a:t>
            </a:r>
            <a:r>
              <a:rPr lang="en-US" dirty="0" err="1">
                <a:solidFill>
                  <a:schemeClr val="accent2">
                    <a:lumMod val="75000"/>
                  </a:schemeClr>
                </a:solidFill>
              </a:rPr>
              <a:t>elit</a:t>
            </a:r>
            <a:r>
              <a:rPr lang="en-US" dirty="0">
                <a:solidFill>
                  <a:schemeClr val="accent2">
                    <a:lumMod val="75000"/>
                  </a:schemeClr>
                </a:solidFill>
              </a:rPr>
              <a:t>,</a:t>
            </a:r>
            <a:br>
              <a:rPr lang="en-US" dirty="0">
                <a:solidFill>
                  <a:schemeClr val="accent2">
                    <a:lumMod val="75000"/>
                  </a:schemeClr>
                </a:solidFill>
              </a:rPr>
            </a:br>
            <a:r>
              <a:rPr lang="en-US" dirty="0" err="1">
                <a:solidFill>
                  <a:schemeClr val="accent2">
                    <a:lumMod val="75000"/>
                  </a:schemeClr>
                </a:solidFill>
              </a:rPr>
              <a:t>sed</a:t>
            </a:r>
            <a:r>
              <a:rPr lang="en-US" dirty="0">
                <a:solidFill>
                  <a:schemeClr val="accent2">
                    <a:lumMod val="75000"/>
                  </a:schemeClr>
                </a:solidFill>
              </a:rPr>
              <a:t> do </a:t>
            </a:r>
            <a:r>
              <a:rPr lang="en-US" dirty="0" err="1">
                <a:solidFill>
                  <a:schemeClr val="accent2">
                    <a:lumMod val="75000"/>
                  </a:schemeClr>
                </a:solidFill>
              </a:rPr>
              <a:t>eiusmod</a:t>
            </a:r>
            <a:r>
              <a:rPr lang="en-US" dirty="0">
                <a:solidFill>
                  <a:schemeClr val="accent2">
                    <a:lumMod val="75000"/>
                  </a:schemeClr>
                </a:solidFill>
              </a:rPr>
              <a:t> </a:t>
            </a:r>
            <a:r>
              <a:rPr lang="en-US" dirty="0" err="1">
                <a:solidFill>
                  <a:schemeClr val="accent2">
                    <a:lumMod val="75000"/>
                  </a:schemeClr>
                </a:solidFill>
              </a:rPr>
              <a:t>tempor</a:t>
            </a:r>
            <a:r>
              <a:rPr lang="en-US" dirty="0">
                <a:solidFill>
                  <a:schemeClr val="accent2">
                    <a:lumMod val="75000"/>
                  </a:schemeClr>
                </a:solidFill>
              </a:rPr>
              <a:t> </a:t>
            </a:r>
            <a:r>
              <a:rPr lang="en-US" dirty="0" err="1">
                <a:solidFill>
                  <a:schemeClr val="accent2">
                    <a:lumMod val="75000"/>
                  </a:schemeClr>
                </a:solidFill>
              </a:rPr>
              <a:t>incididunt</a:t>
            </a:r>
            <a:r>
              <a:rPr lang="en-US" dirty="0">
                <a:solidFill>
                  <a:schemeClr val="accent2">
                    <a:lumMod val="75000"/>
                  </a:schemeClr>
                </a:solidFill>
              </a:rPr>
              <a:t/>
            </a:r>
            <a:br>
              <a:rPr lang="en-US" dirty="0">
                <a:solidFill>
                  <a:schemeClr val="accent2">
                    <a:lumMod val="75000"/>
                  </a:schemeClr>
                </a:solidFill>
              </a:rPr>
            </a:br>
            <a:r>
              <a:rPr lang="en-US" dirty="0" err="1">
                <a:solidFill>
                  <a:schemeClr val="accent2">
                    <a:lumMod val="75000"/>
                  </a:schemeClr>
                </a:solidFill>
              </a:rPr>
              <a:t>ut</a:t>
            </a:r>
            <a:r>
              <a:rPr lang="en-US" dirty="0">
                <a:solidFill>
                  <a:schemeClr val="accent2">
                    <a:lumMod val="75000"/>
                  </a:schemeClr>
                </a:solidFill>
              </a:rPr>
              <a:t> </a:t>
            </a:r>
            <a:r>
              <a:rPr lang="en-US" dirty="0" err="1">
                <a:solidFill>
                  <a:schemeClr val="accent2">
                    <a:lumMod val="75000"/>
                  </a:schemeClr>
                </a:solidFill>
              </a:rPr>
              <a:t>labore</a:t>
            </a:r>
            <a:r>
              <a:rPr lang="en-US" dirty="0">
                <a:solidFill>
                  <a:schemeClr val="accent2">
                    <a:lumMod val="75000"/>
                  </a:schemeClr>
                </a:solidFill>
              </a:rPr>
              <a:t> et </a:t>
            </a:r>
            <a:r>
              <a:rPr lang="en-US" dirty="0" err="1">
                <a:solidFill>
                  <a:schemeClr val="accent2">
                    <a:lumMod val="75000"/>
                  </a:schemeClr>
                </a:solidFill>
              </a:rPr>
              <a:t>dolore</a:t>
            </a:r>
            <a:r>
              <a:rPr lang="en-US" dirty="0">
                <a:solidFill>
                  <a:schemeClr val="accent2">
                    <a:lumMod val="75000"/>
                  </a:schemeClr>
                </a:solidFill>
              </a:rPr>
              <a:t> magna </a:t>
            </a:r>
            <a:r>
              <a:rPr lang="en-US" dirty="0" err="1">
                <a:solidFill>
                  <a:schemeClr val="accent2">
                    <a:lumMod val="75000"/>
                  </a:schemeClr>
                </a:solidFill>
              </a:rPr>
              <a:t>aliqua</a:t>
            </a:r>
            <a:r>
              <a:rPr lang="en-US" dirty="0">
                <a:solidFill>
                  <a:schemeClr val="accent2">
                    <a:lumMod val="75000"/>
                  </a:schemeClr>
                </a:solidFill>
              </a:rPr>
              <a:t>."""</a:t>
            </a:r>
            <a:r>
              <a:rPr lang="en-US" dirty="0">
                <a:solidFill>
                  <a:schemeClr val="bg1"/>
                </a:solidFill>
              </a:rPr>
              <a:t/>
            </a:r>
            <a:br>
              <a:rPr lang="en-US" dirty="0">
                <a:solidFill>
                  <a:schemeClr val="bg1"/>
                </a:solidFill>
              </a:rPr>
            </a:br>
            <a:r>
              <a:rPr lang="en-US" dirty="0">
                <a:solidFill>
                  <a:schemeClr val="bg1"/>
                </a:solidFill>
              </a:rPr>
              <a:t>print</a:t>
            </a:r>
            <a:r>
              <a:rPr lang="en-US" dirty="0">
                <a:solidFill>
                  <a:schemeClr val="accent4">
                    <a:lumMod val="60000"/>
                    <a:lumOff val="40000"/>
                  </a:schemeClr>
                </a:solidFill>
              </a:rPr>
              <a:t>(</a:t>
            </a:r>
            <a:r>
              <a:rPr lang="en-US" dirty="0">
                <a:solidFill>
                  <a:schemeClr val="bg1"/>
                </a:solidFill>
              </a:rPr>
              <a:t>a</a:t>
            </a:r>
            <a:r>
              <a:rPr lang="en-US" dirty="0">
                <a:solidFill>
                  <a:schemeClr val="accent4">
                    <a:lumMod val="60000"/>
                    <a:lumOff val="40000"/>
                  </a:schemeClr>
                </a:solidFill>
              </a:rPr>
              <a:t>)</a:t>
            </a:r>
            <a:endParaRPr lang="en-US" sz="1600" dirty="0">
              <a:solidFill>
                <a:schemeClr val="accent4">
                  <a:lumMod val="60000"/>
                  <a:lumOff val="40000"/>
                </a:schemeClr>
              </a:solidFill>
            </a:endParaRPr>
          </a:p>
        </p:txBody>
      </p:sp>
      <p:sp>
        <p:nvSpPr>
          <p:cNvPr id="12" name="TextBox 11"/>
          <p:cNvSpPr txBox="1"/>
          <p:nvPr/>
        </p:nvSpPr>
        <p:spPr>
          <a:xfrm>
            <a:off x="925034" y="4036632"/>
            <a:ext cx="7831856" cy="369332"/>
          </a:xfrm>
          <a:prstGeom prst="rect">
            <a:avLst/>
          </a:prstGeom>
          <a:noFill/>
        </p:spPr>
        <p:txBody>
          <a:bodyPr wrap="square" rtlCol="0">
            <a:spAutoFit/>
          </a:bodyPr>
          <a:lstStyle/>
          <a:p>
            <a:r>
              <a:rPr lang="en-US" dirty="0" err="1" smtClean="0"/>
              <a:t>Hoặc</a:t>
            </a:r>
            <a:r>
              <a:rPr lang="en-US" dirty="0" smtClean="0"/>
              <a:t> </a:t>
            </a:r>
            <a:r>
              <a:rPr lang="en-US" dirty="0" err="1" smtClean="0"/>
              <a:t>Chuỗi</a:t>
            </a:r>
            <a:r>
              <a:rPr lang="en-US" dirty="0" smtClean="0"/>
              <a:t> </a:t>
            </a:r>
            <a:r>
              <a:rPr lang="en-US" dirty="0" err="1" smtClean="0"/>
              <a:t>nhiều</a:t>
            </a:r>
            <a:r>
              <a:rPr lang="en-US" dirty="0" smtClean="0"/>
              <a:t> </a:t>
            </a:r>
            <a:r>
              <a:rPr lang="en-US" dirty="0" err="1" smtClean="0"/>
              <a:t>dòng</a:t>
            </a:r>
            <a:r>
              <a:rPr lang="en-US" dirty="0" smtClean="0"/>
              <a:t> </a:t>
            </a:r>
            <a:r>
              <a:rPr lang="en-US" dirty="0" err="1" smtClean="0"/>
              <a:t>với</a:t>
            </a:r>
            <a:r>
              <a:rPr lang="en-US" dirty="0" smtClean="0"/>
              <a:t> 3 </a:t>
            </a:r>
            <a:r>
              <a:rPr lang="en-US" dirty="0" err="1" smtClean="0"/>
              <a:t>kí</a:t>
            </a:r>
            <a:r>
              <a:rPr lang="en-US" dirty="0" smtClean="0"/>
              <a:t> </a:t>
            </a:r>
            <a:r>
              <a:rPr lang="en-US" dirty="0" err="1" smtClean="0"/>
              <a:t>tự</a:t>
            </a:r>
            <a:r>
              <a:rPr lang="en-US" dirty="0" smtClean="0"/>
              <a:t> </a:t>
            </a:r>
            <a:r>
              <a:rPr lang="en-US" dirty="0" err="1" smtClean="0"/>
              <a:t>nháy</a:t>
            </a:r>
            <a:r>
              <a:rPr lang="en-US" dirty="0" smtClean="0"/>
              <a:t> </a:t>
            </a:r>
            <a:r>
              <a:rPr lang="en-US" dirty="0" err="1" smtClean="0"/>
              <a:t>đơn</a:t>
            </a:r>
            <a:r>
              <a:rPr lang="en-US" dirty="0" smtClean="0"/>
              <a:t> </a:t>
            </a:r>
            <a:r>
              <a:rPr lang="en-US" dirty="0">
                <a:solidFill>
                  <a:schemeClr val="accent2">
                    <a:lumMod val="75000"/>
                  </a:schemeClr>
                </a:solidFill>
              </a:rPr>
              <a:t>'''</a:t>
            </a:r>
            <a:endParaRPr lang="en-US" dirty="0"/>
          </a:p>
        </p:txBody>
      </p:sp>
      <p:sp>
        <p:nvSpPr>
          <p:cNvPr id="13" name="Flowchart: Decision 12"/>
          <p:cNvSpPr/>
          <p:nvPr/>
        </p:nvSpPr>
        <p:spPr>
          <a:xfrm>
            <a:off x="710426" y="4132153"/>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699793" y="4540332"/>
            <a:ext cx="7774356" cy="182857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p:cNvSpPr txBox="1"/>
          <p:nvPr/>
        </p:nvSpPr>
        <p:spPr>
          <a:xfrm>
            <a:off x="880547" y="4663625"/>
            <a:ext cx="7402216" cy="1477328"/>
          </a:xfrm>
          <a:prstGeom prst="rect">
            <a:avLst/>
          </a:prstGeom>
          <a:noFill/>
        </p:spPr>
        <p:txBody>
          <a:bodyPr wrap="square" rtlCol="0">
            <a:spAutoFit/>
          </a:bodyPr>
          <a:lstStyle/>
          <a:p>
            <a:r>
              <a:rPr lang="en-US" dirty="0">
                <a:solidFill>
                  <a:schemeClr val="bg1"/>
                </a:solidFill>
              </a:rPr>
              <a:t>a = </a:t>
            </a:r>
            <a:r>
              <a:rPr lang="en-US" dirty="0">
                <a:solidFill>
                  <a:schemeClr val="accent2">
                    <a:lumMod val="75000"/>
                  </a:schemeClr>
                </a:solidFill>
              </a:rPr>
              <a:t> '''Lorem ipsum dolor sit </a:t>
            </a:r>
            <a:r>
              <a:rPr lang="en-US" dirty="0" err="1">
                <a:solidFill>
                  <a:schemeClr val="accent2">
                    <a:lumMod val="75000"/>
                  </a:schemeClr>
                </a:solidFill>
              </a:rPr>
              <a:t>amet</a:t>
            </a:r>
            <a:r>
              <a:rPr lang="en-US" dirty="0">
                <a:solidFill>
                  <a:schemeClr val="accent2">
                    <a:lumMod val="75000"/>
                  </a:schemeClr>
                </a:solidFill>
              </a:rPr>
              <a:t>,</a:t>
            </a:r>
            <a:br>
              <a:rPr lang="en-US" dirty="0">
                <a:solidFill>
                  <a:schemeClr val="accent2">
                    <a:lumMod val="75000"/>
                  </a:schemeClr>
                </a:solidFill>
              </a:rPr>
            </a:br>
            <a:r>
              <a:rPr lang="en-US" dirty="0" err="1">
                <a:solidFill>
                  <a:schemeClr val="accent2">
                    <a:lumMod val="75000"/>
                  </a:schemeClr>
                </a:solidFill>
              </a:rPr>
              <a:t>consectetur</a:t>
            </a:r>
            <a:r>
              <a:rPr lang="en-US" dirty="0">
                <a:solidFill>
                  <a:schemeClr val="accent2">
                    <a:lumMod val="75000"/>
                  </a:schemeClr>
                </a:solidFill>
              </a:rPr>
              <a:t> </a:t>
            </a:r>
            <a:r>
              <a:rPr lang="en-US" dirty="0" err="1">
                <a:solidFill>
                  <a:schemeClr val="accent2">
                    <a:lumMod val="75000"/>
                  </a:schemeClr>
                </a:solidFill>
              </a:rPr>
              <a:t>adipiscing</a:t>
            </a:r>
            <a:r>
              <a:rPr lang="en-US" dirty="0">
                <a:solidFill>
                  <a:schemeClr val="accent2">
                    <a:lumMod val="75000"/>
                  </a:schemeClr>
                </a:solidFill>
              </a:rPr>
              <a:t> </a:t>
            </a:r>
            <a:r>
              <a:rPr lang="en-US" dirty="0" err="1">
                <a:solidFill>
                  <a:schemeClr val="accent2">
                    <a:lumMod val="75000"/>
                  </a:schemeClr>
                </a:solidFill>
              </a:rPr>
              <a:t>elit</a:t>
            </a:r>
            <a:r>
              <a:rPr lang="en-US" dirty="0">
                <a:solidFill>
                  <a:schemeClr val="accent2">
                    <a:lumMod val="75000"/>
                  </a:schemeClr>
                </a:solidFill>
              </a:rPr>
              <a:t>,</a:t>
            </a:r>
            <a:br>
              <a:rPr lang="en-US" dirty="0">
                <a:solidFill>
                  <a:schemeClr val="accent2">
                    <a:lumMod val="75000"/>
                  </a:schemeClr>
                </a:solidFill>
              </a:rPr>
            </a:br>
            <a:r>
              <a:rPr lang="en-US" dirty="0" err="1">
                <a:solidFill>
                  <a:schemeClr val="accent2">
                    <a:lumMod val="75000"/>
                  </a:schemeClr>
                </a:solidFill>
              </a:rPr>
              <a:t>sed</a:t>
            </a:r>
            <a:r>
              <a:rPr lang="en-US" dirty="0">
                <a:solidFill>
                  <a:schemeClr val="accent2">
                    <a:lumMod val="75000"/>
                  </a:schemeClr>
                </a:solidFill>
              </a:rPr>
              <a:t> do </a:t>
            </a:r>
            <a:r>
              <a:rPr lang="en-US" dirty="0" err="1">
                <a:solidFill>
                  <a:schemeClr val="accent2">
                    <a:lumMod val="75000"/>
                  </a:schemeClr>
                </a:solidFill>
              </a:rPr>
              <a:t>eiusmod</a:t>
            </a:r>
            <a:r>
              <a:rPr lang="en-US" dirty="0">
                <a:solidFill>
                  <a:schemeClr val="accent2">
                    <a:lumMod val="75000"/>
                  </a:schemeClr>
                </a:solidFill>
              </a:rPr>
              <a:t> </a:t>
            </a:r>
            <a:r>
              <a:rPr lang="en-US" dirty="0" err="1">
                <a:solidFill>
                  <a:schemeClr val="accent2">
                    <a:lumMod val="75000"/>
                  </a:schemeClr>
                </a:solidFill>
              </a:rPr>
              <a:t>tempor</a:t>
            </a:r>
            <a:r>
              <a:rPr lang="en-US" dirty="0">
                <a:solidFill>
                  <a:schemeClr val="accent2">
                    <a:lumMod val="75000"/>
                  </a:schemeClr>
                </a:solidFill>
              </a:rPr>
              <a:t> </a:t>
            </a:r>
            <a:r>
              <a:rPr lang="en-US" dirty="0" err="1">
                <a:solidFill>
                  <a:schemeClr val="accent2">
                    <a:lumMod val="75000"/>
                  </a:schemeClr>
                </a:solidFill>
              </a:rPr>
              <a:t>incididunt</a:t>
            </a:r>
            <a:r>
              <a:rPr lang="en-US" dirty="0">
                <a:solidFill>
                  <a:schemeClr val="accent2">
                    <a:lumMod val="75000"/>
                  </a:schemeClr>
                </a:solidFill>
              </a:rPr>
              <a:t/>
            </a:r>
            <a:br>
              <a:rPr lang="en-US" dirty="0">
                <a:solidFill>
                  <a:schemeClr val="accent2">
                    <a:lumMod val="75000"/>
                  </a:schemeClr>
                </a:solidFill>
              </a:rPr>
            </a:br>
            <a:r>
              <a:rPr lang="en-US" dirty="0" err="1">
                <a:solidFill>
                  <a:schemeClr val="accent2">
                    <a:lumMod val="75000"/>
                  </a:schemeClr>
                </a:solidFill>
              </a:rPr>
              <a:t>ut</a:t>
            </a:r>
            <a:r>
              <a:rPr lang="en-US" dirty="0">
                <a:solidFill>
                  <a:schemeClr val="accent2">
                    <a:lumMod val="75000"/>
                  </a:schemeClr>
                </a:solidFill>
              </a:rPr>
              <a:t> </a:t>
            </a:r>
            <a:r>
              <a:rPr lang="en-US" dirty="0" err="1">
                <a:solidFill>
                  <a:schemeClr val="accent2">
                    <a:lumMod val="75000"/>
                  </a:schemeClr>
                </a:solidFill>
              </a:rPr>
              <a:t>labore</a:t>
            </a:r>
            <a:r>
              <a:rPr lang="en-US" dirty="0">
                <a:solidFill>
                  <a:schemeClr val="accent2">
                    <a:lumMod val="75000"/>
                  </a:schemeClr>
                </a:solidFill>
              </a:rPr>
              <a:t> et </a:t>
            </a:r>
            <a:r>
              <a:rPr lang="en-US" dirty="0" err="1">
                <a:solidFill>
                  <a:schemeClr val="accent2">
                    <a:lumMod val="75000"/>
                  </a:schemeClr>
                </a:solidFill>
              </a:rPr>
              <a:t>dolore</a:t>
            </a:r>
            <a:r>
              <a:rPr lang="en-US" dirty="0">
                <a:solidFill>
                  <a:schemeClr val="accent2">
                    <a:lumMod val="75000"/>
                  </a:schemeClr>
                </a:solidFill>
              </a:rPr>
              <a:t> magna </a:t>
            </a:r>
            <a:r>
              <a:rPr lang="en-US" dirty="0" err="1">
                <a:solidFill>
                  <a:schemeClr val="accent2">
                    <a:lumMod val="75000"/>
                  </a:schemeClr>
                </a:solidFill>
              </a:rPr>
              <a:t>aliqua</a:t>
            </a:r>
            <a:r>
              <a:rPr lang="en-US" dirty="0">
                <a:solidFill>
                  <a:schemeClr val="accent2">
                    <a:lumMod val="75000"/>
                  </a:schemeClr>
                </a:solidFill>
              </a:rPr>
              <a:t>.'''</a:t>
            </a:r>
            <a:r>
              <a:rPr lang="en-US" dirty="0">
                <a:solidFill>
                  <a:schemeClr val="bg1"/>
                </a:solidFill>
              </a:rPr>
              <a:t/>
            </a:r>
            <a:br>
              <a:rPr lang="en-US" dirty="0">
                <a:solidFill>
                  <a:schemeClr val="bg1"/>
                </a:solidFill>
              </a:rPr>
            </a:br>
            <a:r>
              <a:rPr lang="en-US" dirty="0">
                <a:solidFill>
                  <a:schemeClr val="bg1"/>
                </a:solidFill>
              </a:rPr>
              <a:t>print</a:t>
            </a:r>
            <a:r>
              <a:rPr lang="en-US" dirty="0">
                <a:solidFill>
                  <a:schemeClr val="accent4">
                    <a:lumMod val="60000"/>
                    <a:lumOff val="40000"/>
                  </a:schemeClr>
                </a:solidFill>
              </a:rPr>
              <a:t>(</a:t>
            </a:r>
            <a:r>
              <a:rPr lang="en-US" dirty="0">
                <a:solidFill>
                  <a:schemeClr val="bg1"/>
                </a:solidFill>
              </a:rPr>
              <a:t>a</a:t>
            </a:r>
            <a:r>
              <a:rPr lang="en-US" dirty="0">
                <a:solidFill>
                  <a:schemeClr val="accent4">
                    <a:lumMod val="60000"/>
                    <a:lumOff val="40000"/>
                  </a:schemeClr>
                </a:solidFill>
              </a:rPr>
              <a:t>)</a:t>
            </a:r>
            <a:endParaRPr lang="en-US" sz="1600" dirty="0">
              <a:solidFill>
                <a:schemeClr val="accent4">
                  <a:lumMod val="60000"/>
                  <a:lumOff val="40000"/>
                </a:schemeClr>
              </a:solidFill>
            </a:endParaRPr>
          </a:p>
        </p:txBody>
      </p:sp>
    </p:spTree>
    <p:extLst>
      <p:ext uri="{BB962C8B-B14F-4D97-AF65-F5344CB8AC3E}">
        <p14:creationId xmlns:p14="http://schemas.microsoft.com/office/powerpoint/2010/main" val="6243723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27</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2.8 </a:t>
            </a:r>
            <a:r>
              <a:rPr lang="en-US" dirty="0" err="1"/>
              <a:t>Tổng</a:t>
            </a:r>
            <a:r>
              <a:rPr lang="en-US" dirty="0"/>
              <a:t> </a:t>
            </a:r>
            <a:r>
              <a:rPr lang="en-US" dirty="0" err="1"/>
              <a:t>quan</a:t>
            </a:r>
            <a:r>
              <a:rPr lang="en-US" dirty="0"/>
              <a:t> </a:t>
            </a:r>
            <a:r>
              <a:rPr lang="en-US" dirty="0" err="1"/>
              <a:t>về</a:t>
            </a:r>
            <a:r>
              <a:rPr lang="en-US" dirty="0"/>
              <a:t> </a:t>
            </a:r>
            <a:r>
              <a:rPr lang="en-US" dirty="0" err="1" smtClean="0"/>
              <a:t>Chuỗi</a:t>
            </a:r>
            <a:r>
              <a:rPr lang="en-US" dirty="0" smtClean="0"/>
              <a:t> (String )</a:t>
            </a:r>
            <a:endParaRPr lang="en-US" dirty="0"/>
          </a:p>
        </p:txBody>
      </p:sp>
      <p:sp>
        <p:nvSpPr>
          <p:cNvPr id="8" name="TextBox 7"/>
          <p:cNvSpPr txBox="1"/>
          <p:nvPr/>
        </p:nvSpPr>
        <p:spPr>
          <a:xfrm>
            <a:off x="925034" y="1484818"/>
            <a:ext cx="7831856" cy="646331"/>
          </a:xfrm>
          <a:prstGeom prst="rect">
            <a:avLst/>
          </a:prstGeom>
          <a:noFill/>
        </p:spPr>
        <p:txBody>
          <a:bodyPr wrap="square" rtlCol="0">
            <a:spAutoFit/>
          </a:bodyPr>
          <a:lstStyle/>
          <a:p>
            <a:r>
              <a:rPr lang="en-US" dirty="0" err="1" smtClean="0"/>
              <a:t>Trong</a:t>
            </a:r>
            <a:r>
              <a:rPr lang="en-US" dirty="0" smtClean="0"/>
              <a:t> Python String </a:t>
            </a:r>
            <a:r>
              <a:rPr lang="en-US" dirty="0" err="1" smtClean="0"/>
              <a:t>cũng</a:t>
            </a:r>
            <a:r>
              <a:rPr lang="en-US" dirty="0" smtClean="0"/>
              <a:t> </a:t>
            </a:r>
            <a:r>
              <a:rPr lang="en-US" dirty="0" err="1" smtClean="0"/>
              <a:t>được</a:t>
            </a:r>
            <a:r>
              <a:rPr lang="en-US" dirty="0" smtClean="0"/>
              <a:t> </a:t>
            </a:r>
            <a:r>
              <a:rPr lang="en-US" dirty="0" err="1" smtClean="0"/>
              <a:t>coi</a:t>
            </a:r>
            <a:r>
              <a:rPr lang="en-US" dirty="0" smtClean="0"/>
              <a:t> </a:t>
            </a:r>
            <a:r>
              <a:rPr lang="en-US" dirty="0" err="1" smtClean="0"/>
              <a:t>là</a:t>
            </a:r>
            <a:r>
              <a:rPr lang="en-US" dirty="0" smtClean="0"/>
              <a:t> </a:t>
            </a:r>
            <a:r>
              <a:rPr lang="en-US" dirty="0" err="1" smtClean="0"/>
              <a:t>một</a:t>
            </a:r>
            <a:r>
              <a:rPr lang="en-US" dirty="0" smtClean="0"/>
              <a:t> </a:t>
            </a:r>
            <a:r>
              <a:rPr lang="en-US" dirty="0" err="1" smtClean="0"/>
              <a:t>Mảng</a:t>
            </a:r>
            <a:r>
              <a:rPr lang="en-US" dirty="0" smtClean="0"/>
              <a:t> (Array) </a:t>
            </a:r>
            <a:r>
              <a:rPr lang="en-US" dirty="0" err="1" smtClean="0"/>
              <a:t>tập</a:t>
            </a:r>
            <a:r>
              <a:rPr lang="en-US" dirty="0" smtClean="0"/>
              <a:t> </a:t>
            </a:r>
            <a:r>
              <a:rPr lang="en-US" dirty="0" err="1" smtClean="0"/>
              <a:t>hợp</a:t>
            </a:r>
            <a:r>
              <a:rPr lang="en-US" dirty="0" smtClean="0"/>
              <a:t> </a:t>
            </a:r>
            <a:r>
              <a:rPr lang="en-US" dirty="0" err="1" smtClean="0"/>
              <a:t>của</a:t>
            </a:r>
            <a:r>
              <a:rPr lang="en-US" dirty="0" smtClean="0"/>
              <a:t> </a:t>
            </a:r>
            <a:r>
              <a:rPr lang="en-US" dirty="0" err="1" smtClean="0"/>
              <a:t>nhiều</a:t>
            </a:r>
            <a:r>
              <a:rPr lang="en-US" dirty="0" smtClean="0"/>
              <a:t> </a:t>
            </a:r>
            <a:r>
              <a:rPr lang="en-US" dirty="0" err="1" smtClean="0"/>
              <a:t>kí</a:t>
            </a:r>
            <a:r>
              <a:rPr lang="en-US" dirty="0" smtClean="0"/>
              <a:t> </a:t>
            </a:r>
            <a:r>
              <a:rPr lang="en-US" dirty="0" err="1" smtClean="0"/>
              <a:t>tự</a:t>
            </a:r>
            <a:r>
              <a:rPr lang="en-US" dirty="0" smtClean="0"/>
              <a:t>, </a:t>
            </a:r>
            <a:r>
              <a:rPr lang="en-US" dirty="0" err="1" smtClean="0"/>
              <a:t>vị</a:t>
            </a:r>
            <a:r>
              <a:rPr lang="en-US" dirty="0" smtClean="0"/>
              <a:t> </a:t>
            </a:r>
            <a:r>
              <a:rPr lang="en-US" dirty="0" err="1" smtClean="0"/>
              <a:t>trí</a:t>
            </a:r>
            <a:r>
              <a:rPr lang="en-US" dirty="0" smtClean="0"/>
              <a:t> </a:t>
            </a:r>
            <a:r>
              <a:rPr lang="en-US" dirty="0" err="1" smtClean="0"/>
              <a:t>sắp</a:t>
            </a:r>
            <a:r>
              <a:rPr lang="en-US" dirty="0" smtClean="0"/>
              <a:t> </a:t>
            </a:r>
            <a:r>
              <a:rPr lang="en-US" dirty="0" err="1" smtClean="0"/>
              <a:t>xếp</a:t>
            </a:r>
            <a:r>
              <a:rPr lang="en-US" dirty="0" smtClean="0"/>
              <a:t> </a:t>
            </a:r>
            <a:r>
              <a:rPr lang="en-US" dirty="0" err="1" smtClean="0"/>
              <a:t>bắt</a:t>
            </a:r>
            <a:r>
              <a:rPr lang="en-US" dirty="0" smtClean="0"/>
              <a:t> </a:t>
            </a:r>
            <a:r>
              <a:rPr lang="en-US" dirty="0" err="1" smtClean="0"/>
              <a:t>đầu</a:t>
            </a:r>
            <a:r>
              <a:rPr lang="en-US" dirty="0" smtClean="0"/>
              <a:t> </a:t>
            </a:r>
            <a:r>
              <a:rPr lang="en-US" dirty="0" err="1" smtClean="0"/>
              <a:t>là</a:t>
            </a:r>
            <a:r>
              <a:rPr lang="en-US" dirty="0" smtClean="0"/>
              <a:t> </a:t>
            </a:r>
            <a:r>
              <a:rPr lang="en-US" dirty="0" err="1" smtClean="0"/>
              <a:t>số</a:t>
            </a:r>
            <a:r>
              <a:rPr lang="en-US" dirty="0" smtClean="0"/>
              <a:t> 0</a:t>
            </a:r>
            <a:endParaRPr lang="en-US" dirty="0"/>
          </a:p>
        </p:txBody>
      </p:sp>
      <p:sp>
        <p:nvSpPr>
          <p:cNvPr id="15" name="Flowchart: Decision 14"/>
          <p:cNvSpPr/>
          <p:nvPr/>
        </p:nvSpPr>
        <p:spPr>
          <a:xfrm>
            <a:off x="710426" y="1580339"/>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699793" y="2254442"/>
            <a:ext cx="7774356" cy="927063"/>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p:cNvSpPr txBox="1"/>
          <p:nvPr/>
        </p:nvSpPr>
        <p:spPr>
          <a:xfrm>
            <a:off x="880547" y="2369208"/>
            <a:ext cx="7402216" cy="646331"/>
          </a:xfrm>
          <a:prstGeom prst="rect">
            <a:avLst/>
          </a:prstGeom>
          <a:noFill/>
        </p:spPr>
        <p:txBody>
          <a:bodyPr wrap="square" rtlCol="0">
            <a:spAutoFit/>
          </a:bodyPr>
          <a:lstStyle/>
          <a:p>
            <a:r>
              <a:rPr lang="en-US" dirty="0">
                <a:solidFill>
                  <a:schemeClr val="bg1"/>
                </a:solidFill>
              </a:rPr>
              <a:t>a = </a:t>
            </a:r>
            <a:r>
              <a:rPr lang="en-US" dirty="0">
                <a:solidFill>
                  <a:schemeClr val="accent2">
                    <a:lumMod val="75000"/>
                  </a:schemeClr>
                </a:solidFill>
              </a:rPr>
              <a:t>"Hello, World!"</a:t>
            </a:r>
            <a:r>
              <a:rPr lang="en-US" dirty="0">
                <a:solidFill>
                  <a:schemeClr val="bg1"/>
                </a:solidFill>
              </a:rPr>
              <a:t/>
            </a:r>
            <a:br>
              <a:rPr lang="en-US" dirty="0">
                <a:solidFill>
                  <a:schemeClr val="bg1"/>
                </a:solidFill>
              </a:rPr>
            </a:br>
            <a:r>
              <a:rPr lang="en-US" dirty="0">
                <a:solidFill>
                  <a:schemeClr val="bg1"/>
                </a:solidFill>
              </a:rPr>
              <a:t>print</a:t>
            </a:r>
            <a:r>
              <a:rPr lang="en-US" dirty="0">
                <a:solidFill>
                  <a:schemeClr val="accent4">
                    <a:lumMod val="60000"/>
                    <a:lumOff val="40000"/>
                  </a:schemeClr>
                </a:solidFill>
              </a:rPr>
              <a:t>(</a:t>
            </a:r>
            <a:r>
              <a:rPr lang="en-US" dirty="0">
                <a:solidFill>
                  <a:schemeClr val="bg1"/>
                </a:solidFill>
              </a:rPr>
              <a:t>a</a:t>
            </a:r>
            <a:r>
              <a:rPr lang="en-US" dirty="0">
                <a:solidFill>
                  <a:srgbClr val="FF66CC"/>
                </a:solidFill>
              </a:rPr>
              <a:t>[</a:t>
            </a:r>
            <a:r>
              <a:rPr lang="en-US" dirty="0">
                <a:solidFill>
                  <a:schemeClr val="accent6">
                    <a:lumMod val="60000"/>
                    <a:lumOff val="40000"/>
                  </a:schemeClr>
                </a:solidFill>
              </a:rPr>
              <a:t>1</a:t>
            </a:r>
            <a:r>
              <a:rPr lang="en-US" dirty="0" smtClean="0">
                <a:solidFill>
                  <a:srgbClr val="FF66CC"/>
                </a:solidFill>
              </a:rPr>
              <a:t>]</a:t>
            </a:r>
            <a:r>
              <a:rPr lang="en-US" dirty="0" smtClean="0">
                <a:solidFill>
                  <a:schemeClr val="accent4">
                    <a:lumMod val="60000"/>
                    <a:lumOff val="40000"/>
                  </a:schemeClr>
                </a:solidFill>
              </a:rPr>
              <a:t>) #output: e</a:t>
            </a:r>
            <a:endParaRPr lang="en-US" sz="1600" dirty="0">
              <a:solidFill>
                <a:schemeClr val="accent4">
                  <a:lumMod val="60000"/>
                  <a:lumOff val="40000"/>
                </a:schemeClr>
              </a:solidFill>
            </a:endParaRPr>
          </a:p>
        </p:txBody>
      </p:sp>
      <p:sp>
        <p:nvSpPr>
          <p:cNvPr id="12" name="TextBox 11"/>
          <p:cNvSpPr txBox="1"/>
          <p:nvPr/>
        </p:nvSpPr>
        <p:spPr>
          <a:xfrm>
            <a:off x="925034" y="3295088"/>
            <a:ext cx="7831856" cy="369332"/>
          </a:xfrm>
          <a:prstGeom prst="rect">
            <a:avLst/>
          </a:prstGeom>
          <a:noFill/>
        </p:spPr>
        <p:txBody>
          <a:bodyPr wrap="square" rtlCol="0">
            <a:spAutoFit/>
          </a:bodyPr>
          <a:lstStyle/>
          <a:p>
            <a:r>
              <a:rPr lang="en-US" dirty="0" err="1" smtClean="0"/>
              <a:t>Vì</a:t>
            </a:r>
            <a:r>
              <a:rPr lang="en-US" dirty="0" smtClean="0"/>
              <a:t> </a:t>
            </a:r>
            <a:r>
              <a:rPr lang="en-US" dirty="0" err="1" smtClean="0"/>
              <a:t>là</a:t>
            </a:r>
            <a:r>
              <a:rPr lang="en-US" dirty="0" smtClean="0"/>
              <a:t> </a:t>
            </a:r>
            <a:r>
              <a:rPr lang="en-US" dirty="0" err="1" smtClean="0"/>
              <a:t>mảng</a:t>
            </a:r>
            <a:r>
              <a:rPr lang="en-US" dirty="0" smtClean="0"/>
              <a:t> </a:t>
            </a:r>
            <a:r>
              <a:rPr lang="en-US" dirty="0" err="1" smtClean="0"/>
              <a:t>nên</a:t>
            </a:r>
            <a:r>
              <a:rPr lang="en-US" dirty="0" smtClean="0"/>
              <a:t> </a:t>
            </a:r>
            <a:r>
              <a:rPr lang="en-US" dirty="0" err="1" smtClean="0"/>
              <a:t>bạn</a:t>
            </a:r>
            <a:r>
              <a:rPr lang="en-US" dirty="0" smtClean="0"/>
              <a:t> </a:t>
            </a:r>
            <a:r>
              <a:rPr lang="en-US" dirty="0" err="1" smtClean="0"/>
              <a:t>có</a:t>
            </a:r>
            <a:r>
              <a:rPr lang="en-US" dirty="0" smtClean="0"/>
              <a:t> </a:t>
            </a:r>
            <a:r>
              <a:rPr lang="en-US" dirty="0" err="1" smtClean="0"/>
              <a:t>thể</a:t>
            </a:r>
            <a:r>
              <a:rPr lang="en-US" dirty="0" smtClean="0"/>
              <a:t> </a:t>
            </a:r>
            <a:r>
              <a:rPr lang="en-US" dirty="0" err="1" smtClean="0"/>
              <a:t>lặp</a:t>
            </a:r>
            <a:r>
              <a:rPr lang="en-US" dirty="0" smtClean="0"/>
              <a:t> </a:t>
            </a:r>
            <a:r>
              <a:rPr lang="en-US" dirty="0" err="1" smtClean="0"/>
              <a:t>với</a:t>
            </a:r>
            <a:r>
              <a:rPr lang="en-US" dirty="0" smtClean="0"/>
              <a:t> </a:t>
            </a:r>
            <a:r>
              <a:rPr lang="en-US" dirty="0" err="1" smtClean="0"/>
              <a:t>vòng</a:t>
            </a:r>
            <a:r>
              <a:rPr lang="en-US" dirty="0" smtClean="0"/>
              <a:t> </a:t>
            </a:r>
            <a:r>
              <a:rPr lang="en-US" dirty="0" err="1" smtClean="0"/>
              <a:t>lặp</a:t>
            </a:r>
            <a:r>
              <a:rPr lang="en-US" dirty="0" smtClean="0"/>
              <a:t> </a:t>
            </a:r>
            <a:r>
              <a:rPr lang="en-US" b="1" dirty="0" smtClean="0"/>
              <a:t>for</a:t>
            </a:r>
            <a:endParaRPr lang="en-US" b="1" dirty="0"/>
          </a:p>
        </p:txBody>
      </p:sp>
      <p:sp>
        <p:nvSpPr>
          <p:cNvPr id="13" name="Flowchart: Decision 12"/>
          <p:cNvSpPr/>
          <p:nvPr/>
        </p:nvSpPr>
        <p:spPr>
          <a:xfrm>
            <a:off x="710426" y="3390609"/>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699793" y="3820205"/>
            <a:ext cx="7774356" cy="914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p:cNvSpPr txBox="1"/>
          <p:nvPr/>
        </p:nvSpPr>
        <p:spPr>
          <a:xfrm>
            <a:off x="880547" y="3943498"/>
            <a:ext cx="7402216" cy="646331"/>
          </a:xfrm>
          <a:prstGeom prst="rect">
            <a:avLst/>
          </a:prstGeom>
          <a:noFill/>
        </p:spPr>
        <p:txBody>
          <a:bodyPr wrap="square" rtlCol="0">
            <a:spAutoFit/>
          </a:bodyPr>
          <a:lstStyle/>
          <a:p>
            <a:r>
              <a:rPr lang="en-US" dirty="0">
                <a:solidFill>
                  <a:srgbClr val="00B0F0"/>
                </a:solidFill>
              </a:rPr>
              <a:t>for</a:t>
            </a:r>
            <a:r>
              <a:rPr lang="en-US" dirty="0">
                <a:solidFill>
                  <a:schemeClr val="bg1"/>
                </a:solidFill>
              </a:rPr>
              <a:t> x </a:t>
            </a:r>
            <a:r>
              <a:rPr lang="en-US" dirty="0">
                <a:solidFill>
                  <a:srgbClr val="00B0F0"/>
                </a:solidFill>
              </a:rPr>
              <a:t>in</a:t>
            </a:r>
            <a:r>
              <a:rPr lang="en-US" dirty="0">
                <a:solidFill>
                  <a:schemeClr val="bg1"/>
                </a:solidFill>
              </a:rPr>
              <a:t> </a:t>
            </a:r>
            <a:r>
              <a:rPr lang="en-US" dirty="0">
                <a:solidFill>
                  <a:schemeClr val="accent2">
                    <a:lumMod val="75000"/>
                  </a:schemeClr>
                </a:solidFill>
              </a:rPr>
              <a:t>"banana"</a:t>
            </a:r>
            <a:r>
              <a:rPr lang="en-US" dirty="0">
                <a:solidFill>
                  <a:schemeClr val="bg1"/>
                </a:solidFill>
              </a:rPr>
              <a:t>:</a:t>
            </a:r>
            <a:br>
              <a:rPr lang="en-US" dirty="0">
                <a:solidFill>
                  <a:schemeClr val="bg1"/>
                </a:solidFill>
              </a:rPr>
            </a:br>
            <a:r>
              <a:rPr lang="en-US" dirty="0">
                <a:solidFill>
                  <a:schemeClr val="bg1"/>
                </a:solidFill>
              </a:rPr>
              <a:t>  print</a:t>
            </a:r>
            <a:r>
              <a:rPr lang="en-US" dirty="0">
                <a:solidFill>
                  <a:schemeClr val="accent4">
                    <a:lumMod val="60000"/>
                    <a:lumOff val="40000"/>
                  </a:schemeClr>
                </a:solidFill>
              </a:rPr>
              <a:t>(</a:t>
            </a:r>
            <a:r>
              <a:rPr lang="en-US" dirty="0">
                <a:solidFill>
                  <a:schemeClr val="bg1"/>
                </a:solidFill>
              </a:rPr>
              <a:t>x</a:t>
            </a:r>
            <a:r>
              <a:rPr lang="en-US" dirty="0">
                <a:solidFill>
                  <a:schemeClr val="accent4">
                    <a:lumMod val="60000"/>
                    <a:lumOff val="40000"/>
                  </a:schemeClr>
                </a:solidFill>
              </a:rPr>
              <a:t>)</a:t>
            </a:r>
            <a:endParaRPr lang="en-US" sz="1600" dirty="0">
              <a:solidFill>
                <a:schemeClr val="accent4">
                  <a:lumMod val="60000"/>
                  <a:lumOff val="40000"/>
                </a:schemeClr>
              </a:solidFill>
            </a:endParaRPr>
          </a:p>
        </p:txBody>
      </p:sp>
      <p:sp>
        <p:nvSpPr>
          <p:cNvPr id="14" name="TextBox 13"/>
          <p:cNvSpPr txBox="1"/>
          <p:nvPr/>
        </p:nvSpPr>
        <p:spPr>
          <a:xfrm>
            <a:off x="925034" y="4921869"/>
            <a:ext cx="7831856" cy="369332"/>
          </a:xfrm>
          <a:prstGeom prst="rect">
            <a:avLst/>
          </a:prstGeom>
          <a:noFill/>
        </p:spPr>
        <p:txBody>
          <a:bodyPr wrap="square" rtlCol="0">
            <a:spAutoFit/>
          </a:bodyPr>
          <a:lstStyle/>
          <a:p>
            <a:r>
              <a:rPr lang="en-US" dirty="0" err="1" smtClean="0"/>
              <a:t>Dùng</a:t>
            </a:r>
            <a:r>
              <a:rPr lang="en-US" dirty="0" smtClean="0"/>
              <a:t> </a:t>
            </a:r>
            <a:r>
              <a:rPr lang="en-US" dirty="0" err="1" smtClean="0"/>
              <a:t>phương</a:t>
            </a:r>
            <a:r>
              <a:rPr lang="en-US" dirty="0" smtClean="0"/>
              <a:t> </a:t>
            </a:r>
            <a:r>
              <a:rPr lang="en-US" dirty="0" err="1" smtClean="0"/>
              <a:t>thức</a:t>
            </a:r>
            <a:r>
              <a:rPr lang="en-US" dirty="0" smtClean="0"/>
              <a:t> </a:t>
            </a:r>
            <a:r>
              <a:rPr lang="en-US" dirty="0" err="1" smtClean="0"/>
              <a:t>len</a:t>
            </a:r>
            <a:r>
              <a:rPr lang="en-US" dirty="0" smtClean="0"/>
              <a:t>() </a:t>
            </a:r>
            <a:r>
              <a:rPr lang="en-US" dirty="0" err="1" smtClean="0"/>
              <a:t>để</a:t>
            </a:r>
            <a:r>
              <a:rPr lang="en-US" dirty="0" smtClean="0"/>
              <a:t> </a:t>
            </a:r>
            <a:r>
              <a:rPr lang="en-US" dirty="0" err="1" smtClean="0"/>
              <a:t>kiểm</a:t>
            </a:r>
            <a:r>
              <a:rPr lang="en-US" dirty="0" smtClean="0"/>
              <a:t> </a:t>
            </a:r>
            <a:r>
              <a:rPr lang="en-US" dirty="0" err="1" smtClean="0"/>
              <a:t>tra</a:t>
            </a:r>
            <a:r>
              <a:rPr lang="en-US" dirty="0" smtClean="0"/>
              <a:t> </a:t>
            </a:r>
            <a:r>
              <a:rPr lang="en-US" dirty="0" err="1" smtClean="0"/>
              <a:t>độ</a:t>
            </a:r>
            <a:r>
              <a:rPr lang="en-US" dirty="0" smtClean="0"/>
              <a:t> </a:t>
            </a:r>
            <a:r>
              <a:rPr lang="en-US" dirty="0" err="1" smtClean="0"/>
              <a:t>dài</a:t>
            </a:r>
            <a:r>
              <a:rPr lang="en-US" dirty="0" smtClean="0"/>
              <a:t> </a:t>
            </a:r>
            <a:r>
              <a:rPr lang="en-US" dirty="0" err="1" smtClean="0"/>
              <a:t>của</a:t>
            </a:r>
            <a:r>
              <a:rPr lang="en-US" dirty="0" smtClean="0"/>
              <a:t> </a:t>
            </a:r>
            <a:r>
              <a:rPr lang="en-US" dirty="0" err="1" smtClean="0"/>
              <a:t>chuỗi</a:t>
            </a:r>
            <a:r>
              <a:rPr lang="en-US" dirty="0" smtClean="0"/>
              <a:t> </a:t>
            </a:r>
            <a:r>
              <a:rPr lang="en-US" dirty="0" err="1" smtClean="0"/>
              <a:t>có</a:t>
            </a:r>
            <a:r>
              <a:rPr lang="en-US" dirty="0" smtClean="0"/>
              <a:t> </a:t>
            </a:r>
            <a:r>
              <a:rPr lang="en-US" dirty="0" err="1" smtClean="0"/>
              <a:t>bao</a:t>
            </a:r>
            <a:r>
              <a:rPr lang="en-US" dirty="0" smtClean="0"/>
              <a:t> </a:t>
            </a:r>
            <a:r>
              <a:rPr lang="en-US" dirty="0" err="1" smtClean="0"/>
              <a:t>nhiêu</a:t>
            </a:r>
            <a:r>
              <a:rPr lang="en-US" dirty="0" smtClean="0"/>
              <a:t> </a:t>
            </a:r>
            <a:r>
              <a:rPr lang="en-US" dirty="0" err="1" smtClean="0"/>
              <a:t>kí</a:t>
            </a:r>
            <a:r>
              <a:rPr lang="en-US" dirty="0" smtClean="0"/>
              <a:t> </a:t>
            </a:r>
            <a:r>
              <a:rPr lang="en-US" dirty="0" err="1" smtClean="0"/>
              <a:t>tự</a:t>
            </a:r>
            <a:endParaRPr lang="en-US" b="1" dirty="0"/>
          </a:p>
        </p:txBody>
      </p:sp>
      <p:sp>
        <p:nvSpPr>
          <p:cNvPr id="17" name="Flowchart: Decision 16"/>
          <p:cNvSpPr/>
          <p:nvPr/>
        </p:nvSpPr>
        <p:spPr>
          <a:xfrm>
            <a:off x="710426" y="5017390"/>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699793" y="5433576"/>
            <a:ext cx="7774356" cy="927063"/>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p:cNvSpPr txBox="1"/>
          <p:nvPr/>
        </p:nvSpPr>
        <p:spPr>
          <a:xfrm>
            <a:off x="880547" y="5548342"/>
            <a:ext cx="7402216" cy="646331"/>
          </a:xfrm>
          <a:prstGeom prst="rect">
            <a:avLst/>
          </a:prstGeom>
          <a:noFill/>
        </p:spPr>
        <p:txBody>
          <a:bodyPr wrap="square" rtlCol="0">
            <a:spAutoFit/>
          </a:bodyPr>
          <a:lstStyle/>
          <a:p>
            <a:r>
              <a:rPr lang="en-US" dirty="0">
                <a:solidFill>
                  <a:schemeClr val="bg1"/>
                </a:solidFill>
              </a:rPr>
              <a:t>a = </a:t>
            </a:r>
            <a:r>
              <a:rPr lang="en-US" dirty="0">
                <a:solidFill>
                  <a:schemeClr val="accent2">
                    <a:lumMod val="75000"/>
                  </a:schemeClr>
                </a:solidFill>
              </a:rPr>
              <a:t>"Hello, World!"</a:t>
            </a:r>
            <a:r>
              <a:rPr lang="en-US" dirty="0">
                <a:solidFill>
                  <a:schemeClr val="bg1"/>
                </a:solidFill>
              </a:rPr>
              <a:t/>
            </a:r>
            <a:br>
              <a:rPr lang="en-US" dirty="0">
                <a:solidFill>
                  <a:schemeClr val="bg1"/>
                </a:solidFill>
              </a:rPr>
            </a:br>
            <a:r>
              <a:rPr lang="en-US" dirty="0" smtClean="0">
                <a:solidFill>
                  <a:schemeClr val="bg1"/>
                </a:solidFill>
              </a:rPr>
              <a:t>print</a:t>
            </a:r>
            <a:r>
              <a:rPr lang="en-US" dirty="0" smtClean="0">
                <a:solidFill>
                  <a:schemeClr val="accent4">
                    <a:lumMod val="60000"/>
                    <a:lumOff val="40000"/>
                  </a:schemeClr>
                </a:solidFill>
              </a:rPr>
              <a:t>(</a:t>
            </a:r>
            <a:r>
              <a:rPr lang="en-US" dirty="0" err="1" smtClean="0">
                <a:solidFill>
                  <a:schemeClr val="bg1"/>
                </a:solidFill>
              </a:rPr>
              <a:t>len</a:t>
            </a:r>
            <a:r>
              <a:rPr lang="en-US" dirty="0" smtClean="0">
                <a:solidFill>
                  <a:srgbClr val="FF66CC"/>
                </a:solidFill>
              </a:rPr>
              <a:t>(</a:t>
            </a:r>
            <a:r>
              <a:rPr lang="en-US" dirty="0" smtClean="0">
                <a:solidFill>
                  <a:schemeClr val="bg1"/>
                </a:solidFill>
              </a:rPr>
              <a:t>a</a:t>
            </a:r>
            <a:r>
              <a:rPr lang="en-US" dirty="0" smtClean="0">
                <a:solidFill>
                  <a:srgbClr val="FF66CC"/>
                </a:solidFill>
              </a:rPr>
              <a:t>)</a:t>
            </a:r>
            <a:r>
              <a:rPr lang="en-US" dirty="0" smtClean="0">
                <a:solidFill>
                  <a:schemeClr val="accent4">
                    <a:lumMod val="60000"/>
                    <a:lumOff val="40000"/>
                  </a:schemeClr>
                </a:solidFill>
              </a:rPr>
              <a:t>) #output: 13</a:t>
            </a:r>
            <a:endParaRPr lang="en-US" sz="1600" dirty="0">
              <a:solidFill>
                <a:schemeClr val="accent4">
                  <a:lumMod val="60000"/>
                  <a:lumOff val="40000"/>
                </a:schemeClr>
              </a:solidFill>
            </a:endParaRPr>
          </a:p>
        </p:txBody>
      </p:sp>
    </p:spTree>
    <p:extLst>
      <p:ext uri="{BB962C8B-B14F-4D97-AF65-F5344CB8AC3E}">
        <p14:creationId xmlns:p14="http://schemas.microsoft.com/office/powerpoint/2010/main" val="402665314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28</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2.8 </a:t>
            </a:r>
            <a:r>
              <a:rPr lang="en-US" dirty="0" err="1"/>
              <a:t>Tổng</a:t>
            </a:r>
            <a:r>
              <a:rPr lang="en-US" dirty="0"/>
              <a:t> </a:t>
            </a:r>
            <a:r>
              <a:rPr lang="en-US" dirty="0" err="1"/>
              <a:t>quan</a:t>
            </a:r>
            <a:r>
              <a:rPr lang="en-US" dirty="0"/>
              <a:t> </a:t>
            </a:r>
            <a:r>
              <a:rPr lang="en-US" dirty="0" err="1"/>
              <a:t>về</a:t>
            </a:r>
            <a:r>
              <a:rPr lang="en-US" dirty="0"/>
              <a:t> </a:t>
            </a:r>
            <a:r>
              <a:rPr lang="en-US" dirty="0" err="1" smtClean="0"/>
              <a:t>Chuỗi</a:t>
            </a:r>
            <a:r>
              <a:rPr lang="en-US" dirty="0" smtClean="0"/>
              <a:t> (String )</a:t>
            </a:r>
            <a:endParaRPr lang="en-US" dirty="0"/>
          </a:p>
        </p:txBody>
      </p:sp>
      <p:sp>
        <p:nvSpPr>
          <p:cNvPr id="8" name="TextBox 7"/>
          <p:cNvSpPr txBox="1"/>
          <p:nvPr/>
        </p:nvSpPr>
        <p:spPr>
          <a:xfrm>
            <a:off x="925034" y="1484818"/>
            <a:ext cx="7831856" cy="369332"/>
          </a:xfrm>
          <a:prstGeom prst="rect">
            <a:avLst/>
          </a:prstGeom>
          <a:noFill/>
        </p:spPr>
        <p:txBody>
          <a:bodyPr wrap="square" rtlCol="0">
            <a:spAutoFit/>
          </a:bodyPr>
          <a:lstStyle/>
          <a:p>
            <a:r>
              <a:rPr lang="en-US" dirty="0" err="1" smtClean="0"/>
              <a:t>Kiểm</a:t>
            </a:r>
            <a:r>
              <a:rPr lang="en-US" dirty="0" smtClean="0"/>
              <a:t> </a:t>
            </a:r>
            <a:r>
              <a:rPr lang="en-US" dirty="0" err="1" smtClean="0"/>
              <a:t>tra</a:t>
            </a:r>
            <a:r>
              <a:rPr lang="en-US" dirty="0" smtClean="0"/>
              <a:t> </a:t>
            </a:r>
            <a:r>
              <a:rPr lang="en-US" dirty="0" err="1" smtClean="0"/>
              <a:t>sự</a:t>
            </a:r>
            <a:r>
              <a:rPr lang="en-US" dirty="0" smtClean="0"/>
              <a:t> </a:t>
            </a:r>
            <a:r>
              <a:rPr lang="en-US" dirty="0" err="1" smtClean="0"/>
              <a:t>tồn</a:t>
            </a:r>
            <a:r>
              <a:rPr lang="en-US" dirty="0" smtClean="0"/>
              <a:t> </a:t>
            </a:r>
            <a:r>
              <a:rPr lang="en-US" dirty="0" err="1" smtClean="0"/>
              <a:t>tại</a:t>
            </a:r>
            <a:r>
              <a:rPr lang="en-US" dirty="0" smtClean="0"/>
              <a:t> </a:t>
            </a:r>
            <a:r>
              <a:rPr lang="en-US" dirty="0" err="1" smtClean="0"/>
              <a:t>của</a:t>
            </a:r>
            <a:r>
              <a:rPr lang="en-US" dirty="0" smtClean="0"/>
              <a:t> </a:t>
            </a:r>
            <a:r>
              <a:rPr lang="en-US" dirty="0" err="1" smtClean="0"/>
              <a:t>một</a:t>
            </a:r>
            <a:r>
              <a:rPr lang="en-US" dirty="0" smtClean="0"/>
              <a:t> </a:t>
            </a:r>
            <a:r>
              <a:rPr lang="en-US" dirty="0" err="1" smtClean="0"/>
              <a:t>kí</a:t>
            </a:r>
            <a:r>
              <a:rPr lang="en-US" dirty="0" smtClean="0"/>
              <a:t> </a:t>
            </a:r>
            <a:r>
              <a:rPr lang="en-US" dirty="0" err="1" smtClean="0"/>
              <a:t>tự</a:t>
            </a:r>
            <a:r>
              <a:rPr lang="en-US" dirty="0" smtClean="0"/>
              <a:t> </a:t>
            </a:r>
            <a:r>
              <a:rPr lang="en-US" dirty="0" err="1" smtClean="0"/>
              <a:t>trong</a:t>
            </a:r>
            <a:r>
              <a:rPr lang="en-US" dirty="0" smtClean="0"/>
              <a:t> </a:t>
            </a:r>
            <a:r>
              <a:rPr lang="en-US" dirty="0" err="1" smtClean="0"/>
              <a:t>chuỗi</a:t>
            </a:r>
            <a:r>
              <a:rPr lang="en-US" dirty="0" smtClean="0"/>
              <a:t> </a:t>
            </a:r>
            <a:r>
              <a:rPr lang="en-US" dirty="0" err="1" smtClean="0"/>
              <a:t>với</a:t>
            </a:r>
            <a:r>
              <a:rPr lang="en-US" dirty="0" smtClean="0"/>
              <a:t> </a:t>
            </a:r>
            <a:r>
              <a:rPr lang="en-US" dirty="0" err="1" smtClean="0"/>
              <a:t>từ</a:t>
            </a:r>
            <a:r>
              <a:rPr lang="en-US" dirty="0" smtClean="0"/>
              <a:t> </a:t>
            </a:r>
            <a:r>
              <a:rPr lang="en-US" dirty="0" err="1" smtClean="0"/>
              <a:t>khóa</a:t>
            </a:r>
            <a:r>
              <a:rPr lang="en-US" dirty="0" smtClean="0"/>
              <a:t> </a:t>
            </a:r>
            <a:r>
              <a:rPr lang="en-US" b="1" dirty="0" smtClean="0">
                <a:solidFill>
                  <a:srgbClr val="FF0000"/>
                </a:solidFill>
              </a:rPr>
              <a:t>in</a:t>
            </a:r>
            <a:endParaRPr lang="en-US" b="1" dirty="0">
              <a:solidFill>
                <a:srgbClr val="FF0000"/>
              </a:solidFill>
            </a:endParaRPr>
          </a:p>
        </p:txBody>
      </p:sp>
      <p:sp>
        <p:nvSpPr>
          <p:cNvPr id="15" name="Flowchart: Decision 14"/>
          <p:cNvSpPr/>
          <p:nvPr/>
        </p:nvSpPr>
        <p:spPr>
          <a:xfrm>
            <a:off x="710426" y="1580339"/>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699793" y="2038271"/>
            <a:ext cx="7774356" cy="183909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p:cNvSpPr txBox="1"/>
          <p:nvPr/>
        </p:nvSpPr>
        <p:spPr>
          <a:xfrm>
            <a:off x="880547" y="2153036"/>
            <a:ext cx="7402216" cy="1446550"/>
          </a:xfrm>
          <a:prstGeom prst="rect">
            <a:avLst/>
          </a:prstGeom>
          <a:noFill/>
        </p:spPr>
        <p:txBody>
          <a:bodyPr wrap="square" rtlCol="0">
            <a:spAutoFit/>
          </a:bodyPr>
          <a:lstStyle/>
          <a:p>
            <a:r>
              <a:rPr lang="en-US" dirty="0">
                <a:solidFill>
                  <a:schemeClr val="bg1"/>
                </a:solidFill>
              </a:rPr>
              <a:t>txt = </a:t>
            </a:r>
            <a:r>
              <a:rPr lang="en-US" dirty="0">
                <a:solidFill>
                  <a:schemeClr val="accent2">
                    <a:lumMod val="75000"/>
                  </a:schemeClr>
                </a:solidFill>
              </a:rPr>
              <a:t>"The best things in life are free!"</a:t>
            </a:r>
            <a:r>
              <a:rPr lang="en-US" dirty="0">
                <a:solidFill>
                  <a:schemeClr val="bg1"/>
                </a:solidFill>
              </a:rPr>
              <a:t/>
            </a:r>
            <a:br>
              <a:rPr lang="en-US" dirty="0">
                <a:solidFill>
                  <a:schemeClr val="bg1"/>
                </a:solidFill>
              </a:rPr>
            </a:br>
            <a:r>
              <a:rPr lang="en-US" dirty="0">
                <a:solidFill>
                  <a:schemeClr val="bg1"/>
                </a:solidFill>
              </a:rPr>
              <a:t>print</a:t>
            </a:r>
            <a:r>
              <a:rPr lang="en-US" dirty="0">
                <a:solidFill>
                  <a:schemeClr val="accent4">
                    <a:lumMod val="60000"/>
                    <a:lumOff val="40000"/>
                  </a:schemeClr>
                </a:solidFill>
              </a:rPr>
              <a:t>(</a:t>
            </a:r>
            <a:r>
              <a:rPr lang="en-US" dirty="0">
                <a:solidFill>
                  <a:schemeClr val="accent2">
                    <a:lumMod val="75000"/>
                  </a:schemeClr>
                </a:solidFill>
              </a:rPr>
              <a:t>"free"</a:t>
            </a:r>
            <a:r>
              <a:rPr lang="en-US" dirty="0">
                <a:solidFill>
                  <a:schemeClr val="bg1"/>
                </a:solidFill>
              </a:rPr>
              <a:t> </a:t>
            </a:r>
            <a:r>
              <a:rPr lang="en-US" dirty="0">
                <a:solidFill>
                  <a:srgbClr val="00B0F0"/>
                </a:solidFill>
              </a:rPr>
              <a:t>in</a:t>
            </a:r>
            <a:r>
              <a:rPr lang="en-US" dirty="0">
                <a:solidFill>
                  <a:schemeClr val="bg1"/>
                </a:solidFill>
              </a:rPr>
              <a:t> txt</a:t>
            </a:r>
            <a:r>
              <a:rPr lang="en-US" dirty="0" smtClean="0">
                <a:solidFill>
                  <a:schemeClr val="accent4">
                    <a:lumMod val="60000"/>
                    <a:lumOff val="40000"/>
                  </a:schemeClr>
                </a:solidFill>
              </a:rPr>
              <a:t>)</a:t>
            </a:r>
          </a:p>
          <a:p>
            <a:endParaRPr lang="en-US" sz="1600" dirty="0">
              <a:solidFill>
                <a:schemeClr val="accent4">
                  <a:lumMod val="60000"/>
                  <a:lumOff val="40000"/>
                </a:schemeClr>
              </a:solidFill>
            </a:endParaRPr>
          </a:p>
          <a:p>
            <a:r>
              <a:rPr lang="en-US" dirty="0">
                <a:solidFill>
                  <a:srgbClr val="00B0F0"/>
                </a:solidFill>
              </a:rPr>
              <a:t>if</a:t>
            </a:r>
            <a:r>
              <a:rPr lang="en-US" dirty="0">
                <a:solidFill>
                  <a:schemeClr val="bg1"/>
                </a:solidFill>
              </a:rPr>
              <a:t> </a:t>
            </a:r>
            <a:r>
              <a:rPr lang="en-US" dirty="0">
                <a:solidFill>
                  <a:schemeClr val="accent2">
                    <a:lumMod val="75000"/>
                  </a:schemeClr>
                </a:solidFill>
              </a:rPr>
              <a:t>"free"</a:t>
            </a:r>
            <a:r>
              <a:rPr lang="en-US" dirty="0">
                <a:solidFill>
                  <a:schemeClr val="bg1"/>
                </a:solidFill>
              </a:rPr>
              <a:t> </a:t>
            </a:r>
            <a:r>
              <a:rPr lang="en-US" dirty="0">
                <a:solidFill>
                  <a:srgbClr val="00B0F0"/>
                </a:solidFill>
              </a:rPr>
              <a:t>in</a:t>
            </a:r>
            <a:r>
              <a:rPr lang="en-US" dirty="0">
                <a:solidFill>
                  <a:schemeClr val="bg1"/>
                </a:solidFill>
              </a:rPr>
              <a:t> txt:</a:t>
            </a:r>
            <a:r>
              <a:rPr lang="en-US" sz="1600" dirty="0">
                <a:solidFill>
                  <a:schemeClr val="bg1"/>
                </a:solidFill>
              </a:rPr>
              <a:t/>
            </a:r>
            <a:br>
              <a:rPr lang="en-US" sz="1600" dirty="0">
                <a:solidFill>
                  <a:schemeClr val="bg1"/>
                </a:solidFill>
              </a:rPr>
            </a:br>
            <a:r>
              <a:rPr lang="en-US" dirty="0">
                <a:solidFill>
                  <a:schemeClr val="bg1"/>
                </a:solidFill>
              </a:rPr>
              <a:t>  print</a:t>
            </a:r>
            <a:r>
              <a:rPr lang="en-US" dirty="0" smtClean="0">
                <a:solidFill>
                  <a:schemeClr val="accent4">
                    <a:lumMod val="60000"/>
                    <a:lumOff val="40000"/>
                  </a:schemeClr>
                </a:solidFill>
              </a:rPr>
              <a:t>(</a:t>
            </a:r>
            <a:r>
              <a:rPr lang="en-US" dirty="0" smtClean="0">
                <a:solidFill>
                  <a:schemeClr val="accent2">
                    <a:lumMod val="75000"/>
                  </a:schemeClr>
                </a:solidFill>
              </a:rPr>
              <a:t>“</a:t>
            </a:r>
            <a:r>
              <a:rPr lang="en-US" dirty="0" err="1" smtClean="0">
                <a:solidFill>
                  <a:schemeClr val="accent2">
                    <a:lumMod val="75000"/>
                  </a:schemeClr>
                </a:solidFill>
              </a:rPr>
              <a:t>Có</a:t>
            </a:r>
            <a:r>
              <a:rPr lang="en-US" dirty="0" smtClean="0">
                <a:solidFill>
                  <a:schemeClr val="accent2">
                    <a:lumMod val="75000"/>
                  </a:schemeClr>
                </a:solidFill>
              </a:rPr>
              <a:t> </a:t>
            </a:r>
            <a:r>
              <a:rPr lang="en-US" dirty="0" err="1" smtClean="0">
                <a:solidFill>
                  <a:schemeClr val="accent2">
                    <a:lumMod val="75000"/>
                  </a:schemeClr>
                </a:solidFill>
              </a:rPr>
              <a:t>tồn</a:t>
            </a:r>
            <a:r>
              <a:rPr lang="en-US" dirty="0" smtClean="0">
                <a:solidFill>
                  <a:schemeClr val="accent2">
                    <a:lumMod val="75000"/>
                  </a:schemeClr>
                </a:solidFill>
              </a:rPr>
              <a:t> </a:t>
            </a:r>
            <a:r>
              <a:rPr lang="en-US" dirty="0" err="1" smtClean="0">
                <a:solidFill>
                  <a:schemeClr val="accent2">
                    <a:lumMod val="75000"/>
                  </a:schemeClr>
                </a:solidFill>
              </a:rPr>
              <a:t>tại</a:t>
            </a:r>
            <a:r>
              <a:rPr lang="en-US" dirty="0" smtClean="0">
                <a:solidFill>
                  <a:schemeClr val="accent2">
                    <a:lumMod val="75000"/>
                  </a:schemeClr>
                </a:solidFill>
              </a:rPr>
              <a:t>"</a:t>
            </a:r>
            <a:r>
              <a:rPr lang="en-US" dirty="0" smtClean="0">
                <a:solidFill>
                  <a:schemeClr val="accent4">
                    <a:lumMod val="60000"/>
                    <a:lumOff val="40000"/>
                  </a:schemeClr>
                </a:solidFill>
              </a:rPr>
              <a:t>)</a:t>
            </a:r>
            <a:endParaRPr lang="en-US" sz="1600" dirty="0">
              <a:solidFill>
                <a:schemeClr val="accent4">
                  <a:lumMod val="60000"/>
                  <a:lumOff val="40000"/>
                </a:schemeClr>
              </a:solidFill>
            </a:endParaRPr>
          </a:p>
        </p:txBody>
      </p:sp>
      <p:sp>
        <p:nvSpPr>
          <p:cNvPr id="14" name="TextBox 13"/>
          <p:cNvSpPr txBox="1"/>
          <p:nvPr/>
        </p:nvSpPr>
        <p:spPr>
          <a:xfrm>
            <a:off x="925034" y="3992128"/>
            <a:ext cx="7831856" cy="369332"/>
          </a:xfrm>
          <a:prstGeom prst="rect">
            <a:avLst/>
          </a:prstGeom>
          <a:noFill/>
        </p:spPr>
        <p:txBody>
          <a:bodyPr wrap="square" rtlCol="0">
            <a:spAutoFit/>
          </a:bodyPr>
          <a:lstStyle/>
          <a:p>
            <a:r>
              <a:rPr lang="en-US" dirty="0" err="1" smtClean="0"/>
              <a:t>Hoặc</a:t>
            </a:r>
            <a:r>
              <a:rPr lang="en-US" dirty="0" smtClean="0"/>
              <a:t> </a:t>
            </a:r>
            <a:r>
              <a:rPr lang="en-US" dirty="0" err="1" smtClean="0"/>
              <a:t>kết</a:t>
            </a:r>
            <a:r>
              <a:rPr lang="en-US" dirty="0" smtClean="0"/>
              <a:t> </a:t>
            </a:r>
            <a:r>
              <a:rPr lang="en-US" dirty="0" err="1" smtClean="0"/>
              <a:t>hợp</a:t>
            </a:r>
            <a:r>
              <a:rPr lang="en-US" dirty="0" smtClean="0"/>
              <a:t> </a:t>
            </a:r>
            <a:r>
              <a:rPr lang="en-US" dirty="0" err="1" smtClean="0"/>
              <a:t>với</a:t>
            </a:r>
            <a:r>
              <a:rPr lang="en-US" dirty="0" smtClean="0"/>
              <a:t> </a:t>
            </a:r>
            <a:r>
              <a:rPr lang="en-US" b="1" dirty="0" smtClean="0"/>
              <a:t>not </a:t>
            </a:r>
            <a:r>
              <a:rPr lang="en-US" dirty="0" err="1" smtClean="0"/>
              <a:t>để</a:t>
            </a:r>
            <a:r>
              <a:rPr lang="en-US" dirty="0" smtClean="0"/>
              <a:t> </a:t>
            </a:r>
            <a:r>
              <a:rPr lang="en-US" dirty="0" err="1" smtClean="0"/>
              <a:t>kiểm</a:t>
            </a:r>
            <a:r>
              <a:rPr lang="en-US" dirty="0" smtClean="0"/>
              <a:t> </a:t>
            </a:r>
            <a:r>
              <a:rPr lang="en-US" dirty="0" err="1" smtClean="0"/>
              <a:t>tra</a:t>
            </a:r>
            <a:r>
              <a:rPr lang="en-US" dirty="0" smtClean="0"/>
              <a:t> </a:t>
            </a:r>
            <a:r>
              <a:rPr lang="en-US" dirty="0" err="1" smtClean="0"/>
              <a:t>không</a:t>
            </a:r>
            <a:r>
              <a:rPr lang="en-US" dirty="0" smtClean="0"/>
              <a:t> </a:t>
            </a:r>
            <a:r>
              <a:rPr lang="en-US" dirty="0" err="1" smtClean="0"/>
              <a:t>tồn</a:t>
            </a:r>
            <a:r>
              <a:rPr lang="en-US" dirty="0" smtClean="0"/>
              <a:t> </a:t>
            </a:r>
            <a:r>
              <a:rPr lang="en-US" dirty="0" err="1" smtClean="0"/>
              <a:t>tại</a:t>
            </a:r>
            <a:endParaRPr lang="en-US" b="1" dirty="0"/>
          </a:p>
        </p:txBody>
      </p:sp>
      <p:sp>
        <p:nvSpPr>
          <p:cNvPr id="17" name="Flowchart: Decision 16"/>
          <p:cNvSpPr/>
          <p:nvPr/>
        </p:nvSpPr>
        <p:spPr>
          <a:xfrm>
            <a:off x="710426" y="4087649"/>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699793" y="4577892"/>
            <a:ext cx="7774356" cy="927063"/>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p:cNvSpPr txBox="1"/>
          <p:nvPr/>
        </p:nvSpPr>
        <p:spPr>
          <a:xfrm>
            <a:off x="880547" y="4692658"/>
            <a:ext cx="7402216" cy="646331"/>
          </a:xfrm>
          <a:prstGeom prst="rect">
            <a:avLst/>
          </a:prstGeom>
          <a:noFill/>
        </p:spPr>
        <p:txBody>
          <a:bodyPr wrap="square" rtlCol="0">
            <a:spAutoFit/>
          </a:bodyPr>
          <a:lstStyle/>
          <a:p>
            <a:r>
              <a:rPr lang="en-US" dirty="0">
                <a:solidFill>
                  <a:srgbClr val="00B0F0"/>
                </a:solidFill>
              </a:rPr>
              <a:t>if</a:t>
            </a:r>
            <a:r>
              <a:rPr lang="en-US" dirty="0">
                <a:solidFill>
                  <a:schemeClr val="bg1"/>
                </a:solidFill>
              </a:rPr>
              <a:t> </a:t>
            </a:r>
            <a:r>
              <a:rPr lang="en-US" dirty="0" smtClean="0">
                <a:solidFill>
                  <a:schemeClr val="accent2">
                    <a:lumMod val="75000"/>
                  </a:schemeClr>
                </a:solidFill>
              </a:rPr>
              <a:t>“fresh“ not</a:t>
            </a:r>
            <a:r>
              <a:rPr lang="en-US" dirty="0">
                <a:solidFill>
                  <a:schemeClr val="bg1"/>
                </a:solidFill>
              </a:rPr>
              <a:t> </a:t>
            </a:r>
            <a:r>
              <a:rPr lang="en-US" dirty="0">
                <a:solidFill>
                  <a:srgbClr val="00B0F0"/>
                </a:solidFill>
              </a:rPr>
              <a:t>in</a:t>
            </a:r>
            <a:r>
              <a:rPr lang="en-US" dirty="0">
                <a:solidFill>
                  <a:schemeClr val="bg1"/>
                </a:solidFill>
              </a:rPr>
              <a:t> txt:</a:t>
            </a:r>
            <a:r>
              <a:rPr lang="en-US" sz="1600" dirty="0">
                <a:solidFill>
                  <a:schemeClr val="bg1"/>
                </a:solidFill>
              </a:rPr>
              <a:t/>
            </a:r>
            <a:br>
              <a:rPr lang="en-US" sz="1600" dirty="0">
                <a:solidFill>
                  <a:schemeClr val="bg1"/>
                </a:solidFill>
              </a:rPr>
            </a:br>
            <a:r>
              <a:rPr lang="en-US" dirty="0">
                <a:solidFill>
                  <a:schemeClr val="bg1"/>
                </a:solidFill>
              </a:rPr>
              <a:t>  </a:t>
            </a:r>
            <a:r>
              <a:rPr lang="en-US" dirty="0" smtClean="0">
                <a:solidFill>
                  <a:schemeClr val="bg1"/>
                </a:solidFill>
              </a:rPr>
              <a:t>  print</a:t>
            </a:r>
            <a:r>
              <a:rPr lang="en-US" dirty="0" smtClean="0">
                <a:solidFill>
                  <a:schemeClr val="accent4">
                    <a:lumMod val="60000"/>
                    <a:lumOff val="40000"/>
                  </a:schemeClr>
                </a:solidFill>
              </a:rPr>
              <a:t>(</a:t>
            </a:r>
            <a:r>
              <a:rPr lang="en-US" dirty="0" smtClean="0">
                <a:solidFill>
                  <a:schemeClr val="accent2">
                    <a:lumMod val="75000"/>
                  </a:schemeClr>
                </a:solidFill>
              </a:rPr>
              <a:t>“</a:t>
            </a:r>
            <a:r>
              <a:rPr lang="en-US" dirty="0" err="1" smtClean="0">
                <a:solidFill>
                  <a:schemeClr val="accent2">
                    <a:lumMod val="75000"/>
                  </a:schemeClr>
                </a:solidFill>
              </a:rPr>
              <a:t>Đúng</a:t>
            </a:r>
            <a:r>
              <a:rPr lang="en-US" dirty="0" smtClean="0">
                <a:solidFill>
                  <a:schemeClr val="accent2">
                    <a:lumMod val="75000"/>
                  </a:schemeClr>
                </a:solidFill>
              </a:rPr>
              <a:t>, </a:t>
            </a:r>
            <a:r>
              <a:rPr lang="en-US" dirty="0">
                <a:solidFill>
                  <a:schemeClr val="accent2">
                    <a:lumMod val="75000"/>
                  </a:schemeClr>
                </a:solidFill>
              </a:rPr>
              <a:t>fresh </a:t>
            </a:r>
            <a:r>
              <a:rPr lang="en-US" dirty="0" err="1" smtClean="0">
                <a:solidFill>
                  <a:schemeClr val="accent2">
                    <a:lumMod val="75000"/>
                  </a:schemeClr>
                </a:solidFill>
              </a:rPr>
              <a:t>không</a:t>
            </a:r>
            <a:r>
              <a:rPr lang="en-US" dirty="0" smtClean="0">
                <a:solidFill>
                  <a:schemeClr val="accent2">
                    <a:lumMod val="75000"/>
                  </a:schemeClr>
                </a:solidFill>
              </a:rPr>
              <a:t> </a:t>
            </a:r>
            <a:r>
              <a:rPr lang="en-US" dirty="0" err="1" smtClean="0">
                <a:solidFill>
                  <a:schemeClr val="accent2">
                    <a:lumMod val="75000"/>
                  </a:schemeClr>
                </a:solidFill>
              </a:rPr>
              <a:t>tồn</a:t>
            </a:r>
            <a:r>
              <a:rPr lang="en-US" dirty="0" smtClean="0">
                <a:solidFill>
                  <a:schemeClr val="accent2">
                    <a:lumMod val="75000"/>
                  </a:schemeClr>
                </a:solidFill>
              </a:rPr>
              <a:t> </a:t>
            </a:r>
            <a:r>
              <a:rPr lang="en-US" dirty="0" err="1" smtClean="0">
                <a:solidFill>
                  <a:schemeClr val="accent2">
                    <a:lumMod val="75000"/>
                  </a:schemeClr>
                </a:solidFill>
              </a:rPr>
              <a:t>tại</a:t>
            </a:r>
            <a:r>
              <a:rPr lang="en-US" dirty="0" smtClean="0">
                <a:solidFill>
                  <a:schemeClr val="accent2">
                    <a:lumMod val="75000"/>
                  </a:schemeClr>
                </a:solidFill>
              </a:rPr>
              <a:t> </a:t>
            </a:r>
            <a:r>
              <a:rPr lang="en-US" dirty="0" err="1" smtClean="0">
                <a:solidFill>
                  <a:schemeClr val="accent2">
                    <a:lumMod val="75000"/>
                  </a:schemeClr>
                </a:solidFill>
              </a:rPr>
              <a:t>trong</a:t>
            </a:r>
            <a:r>
              <a:rPr lang="en-US" dirty="0" smtClean="0">
                <a:solidFill>
                  <a:schemeClr val="accent2">
                    <a:lumMod val="75000"/>
                  </a:schemeClr>
                </a:solidFill>
              </a:rPr>
              <a:t> </a:t>
            </a:r>
            <a:r>
              <a:rPr lang="en-US" dirty="0" err="1" smtClean="0">
                <a:solidFill>
                  <a:schemeClr val="accent2">
                    <a:lumMod val="75000"/>
                  </a:schemeClr>
                </a:solidFill>
              </a:rPr>
              <a:t>chuỗi</a:t>
            </a:r>
            <a:r>
              <a:rPr lang="en-US" dirty="0" smtClean="0">
                <a:solidFill>
                  <a:schemeClr val="accent2">
                    <a:lumMod val="75000"/>
                  </a:schemeClr>
                </a:solidFill>
              </a:rPr>
              <a:t>"</a:t>
            </a:r>
            <a:r>
              <a:rPr lang="en-US" dirty="0" smtClean="0">
                <a:solidFill>
                  <a:schemeClr val="accent4">
                    <a:lumMod val="60000"/>
                    <a:lumOff val="40000"/>
                  </a:schemeClr>
                </a:solidFill>
              </a:rPr>
              <a:t>)</a:t>
            </a:r>
            <a:endParaRPr lang="en-US" sz="1600" dirty="0">
              <a:solidFill>
                <a:schemeClr val="accent4">
                  <a:lumMod val="60000"/>
                  <a:lumOff val="40000"/>
                </a:schemeClr>
              </a:solidFill>
            </a:endParaRPr>
          </a:p>
        </p:txBody>
      </p:sp>
    </p:spTree>
    <p:extLst>
      <p:ext uri="{BB962C8B-B14F-4D97-AF65-F5344CB8AC3E}">
        <p14:creationId xmlns:p14="http://schemas.microsoft.com/office/powerpoint/2010/main" val="422843858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29</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2.9 </a:t>
            </a:r>
            <a:r>
              <a:rPr lang="en-US" dirty="0" err="1" smtClean="0"/>
              <a:t>Các</a:t>
            </a:r>
            <a:r>
              <a:rPr lang="en-US" dirty="0" smtClean="0"/>
              <a:t> </a:t>
            </a:r>
            <a:r>
              <a:rPr lang="en-US" dirty="0" err="1" smtClean="0"/>
              <a:t>phương</a:t>
            </a:r>
            <a:r>
              <a:rPr lang="en-US" dirty="0" smtClean="0"/>
              <a:t> </a:t>
            </a:r>
            <a:r>
              <a:rPr lang="en-US" dirty="0" err="1" smtClean="0"/>
              <a:t>thức</a:t>
            </a:r>
            <a:r>
              <a:rPr lang="en-US" dirty="0" smtClean="0"/>
              <a:t> </a:t>
            </a:r>
            <a:r>
              <a:rPr lang="en-US" dirty="0" err="1" smtClean="0"/>
              <a:t>xử</a:t>
            </a:r>
            <a:r>
              <a:rPr lang="en-US" dirty="0" smtClean="0"/>
              <a:t> </a:t>
            </a:r>
            <a:r>
              <a:rPr lang="en-US" dirty="0" err="1" smtClean="0"/>
              <a:t>lí</a:t>
            </a:r>
            <a:r>
              <a:rPr lang="en-US" dirty="0" smtClean="0"/>
              <a:t> </a:t>
            </a:r>
            <a:r>
              <a:rPr lang="en-US" dirty="0" err="1"/>
              <a:t>C</a:t>
            </a:r>
            <a:r>
              <a:rPr lang="en-US" dirty="0" err="1" smtClean="0"/>
              <a:t>huỗi</a:t>
            </a:r>
            <a:endParaRPr lang="en-US" dirty="0"/>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1041993" y="1557449"/>
            <a:ext cx="6432695" cy="369332"/>
          </a:xfrm>
          <a:prstGeom prst="rect">
            <a:avLst/>
          </a:prstGeom>
          <a:noFill/>
        </p:spPr>
        <p:txBody>
          <a:bodyPr wrap="square" rtlCol="0">
            <a:spAutoFit/>
          </a:bodyPr>
          <a:lstStyle/>
          <a:p>
            <a:r>
              <a:rPr lang="en-US" b="1" dirty="0" err="1" smtClean="0"/>
              <a:t>Cắt</a:t>
            </a:r>
            <a:r>
              <a:rPr lang="en-US" b="1" dirty="0" smtClean="0"/>
              <a:t> </a:t>
            </a:r>
            <a:r>
              <a:rPr lang="en-US" b="1" dirty="0" err="1" smtClean="0"/>
              <a:t>chuỗi</a:t>
            </a:r>
            <a:endParaRPr lang="en-US" b="1" dirty="0">
              <a:solidFill>
                <a:srgbClr val="FF0000"/>
              </a:solidFill>
            </a:endParaRPr>
          </a:p>
        </p:txBody>
      </p:sp>
      <p:sp>
        <p:nvSpPr>
          <p:cNvPr id="29" name="Rectangle 28"/>
          <p:cNvSpPr/>
          <p:nvPr/>
        </p:nvSpPr>
        <p:spPr>
          <a:xfrm>
            <a:off x="699793" y="3674545"/>
            <a:ext cx="7774356" cy="93517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880547" y="3797838"/>
            <a:ext cx="7402216" cy="646331"/>
          </a:xfrm>
          <a:prstGeom prst="rect">
            <a:avLst/>
          </a:prstGeom>
          <a:noFill/>
        </p:spPr>
        <p:txBody>
          <a:bodyPr wrap="square" rtlCol="0">
            <a:spAutoFit/>
          </a:bodyPr>
          <a:lstStyle/>
          <a:p>
            <a:r>
              <a:rPr lang="en-US" dirty="0">
                <a:solidFill>
                  <a:schemeClr val="bg1"/>
                </a:solidFill>
              </a:rPr>
              <a:t>b = </a:t>
            </a:r>
            <a:r>
              <a:rPr lang="en-US" dirty="0">
                <a:solidFill>
                  <a:schemeClr val="accent2">
                    <a:lumMod val="75000"/>
                  </a:schemeClr>
                </a:solidFill>
              </a:rPr>
              <a:t>"Hello, World!"</a:t>
            </a:r>
            <a:r>
              <a:rPr lang="en-US" dirty="0">
                <a:solidFill>
                  <a:schemeClr val="bg1"/>
                </a:solidFill>
              </a:rPr>
              <a:t/>
            </a:r>
            <a:br>
              <a:rPr lang="en-US" dirty="0">
                <a:solidFill>
                  <a:schemeClr val="bg1"/>
                </a:solidFill>
              </a:rPr>
            </a:br>
            <a:r>
              <a:rPr lang="en-US" dirty="0">
                <a:solidFill>
                  <a:schemeClr val="bg1"/>
                </a:solidFill>
              </a:rPr>
              <a:t>print</a:t>
            </a:r>
            <a:r>
              <a:rPr lang="en-US" dirty="0">
                <a:solidFill>
                  <a:schemeClr val="accent4">
                    <a:lumMod val="60000"/>
                    <a:lumOff val="40000"/>
                  </a:schemeClr>
                </a:solidFill>
              </a:rPr>
              <a:t>(</a:t>
            </a:r>
            <a:r>
              <a:rPr lang="en-US" dirty="0">
                <a:solidFill>
                  <a:schemeClr val="bg1"/>
                </a:solidFill>
              </a:rPr>
              <a:t>b</a:t>
            </a:r>
            <a:r>
              <a:rPr lang="en-US" dirty="0">
                <a:solidFill>
                  <a:srgbClr val="FF66CC"/>
                </a:solidFill>
              </a:rPr>
              <a:t>[</a:t>
            </a:r>
            <a:r>
              <a:rPr lang="en-US" dirty="0">
                <a:solidFill>
                  <a:schemeClr val="accent6">
                    <a:lumMod val="60000"/>
                    <a:lumOff val="40000"/>
                  </a:schemeClr>
                </a:solidFill>
              </a:rPr>
              <a:t>2</a:t>
            </a:r>
            <a:r>
              <a:rPr lang="en-US" dirty="0">
                <a:solidFill>
                  <a:schemeClr val="bg1"/>
                </a:solidFill>
              </a:rPr>
              <a:t>:</a:t>
            </a:r>
            <a:r>
              <a:rPr lang="en-US" dirty="0">
                <a:solidFill>
                  <a:schemeClr val="accent6">
                    <a:lumMod val="60000"/>
                    <a:lumOff val="40000"/>
                  </a:schemeClr>
                </a:solidFill>
              </a:rPr>
              <a:t>5</a:t>
            </a:r>
            <a:r>
              <a:rPr lang="en-US" dirty="0" smtClean="0">
                <a:solidFill>
                  <a:srgbClr val="FF66CC"/>
                </a:solidFill>
              </a:rPr>
              <a:t>]</a:t>
            </a:r>
            <a:r>
              <a:rPr lang="en-US" dirty="0" smtClean="0">
                <a:solidFill>
                  <a:schemeClr val="accent4">
                    <a:lumMod val="60000"/>
                    <a:lumOff val="40000"/>
                  </a:schemeClr>
                </a:solidFill>
              </a:rPr>
              <a:t>) #output: </a:t>
            </a:r>
            <a:r>
              <a:rPr lang="en-US" dirty="0" err="1">
                <a:solidFill>
                  <a:schemeClr val="bg1"/>
                </a:solidFill>
              </a:rPr>
              <a:t>llo</a:t>
            </a:r>
            <a:endParaRPr lang="en-US" sz="1600" dirty="0">
              <a:solidFill>
                <a:schemeClr val="bg1"/>
              </a:solidFill>
            </a:endParaRPr>
          </a:p>
        </p:txBody>
      </p:sp>
      <p:sp>
        <p:nvSpPr>
          <p:cNvPr id="19" name="TextBox 18"/>
          <p:cNvSpPr txBox="1"/>
          <p:nvPr/>
        </p:nvSpPr>
        <p:spPr>
          <a:xfrm>
            <a:off x="639997" y="2015148"/>
            <a:ext cx="7697972" cy="369332"/>
          </a:xfrm>
          <a:prstGeom prst="rect">
            <a:avLst/>
          </a:prstGeom>
          <a:noFill/>
        </p:spPr>
        <p:txBody>
          <a:bodyPr wrap="square" rtlCol="0">
            <a:spAutoFit/>
          </a:bodyPr>
          <a:lstStyle/>
          <a:p>
            <a:r>
              <a:rPr lang="en-US" dirty="0" err="1" smtClean="0"/>
              <a:t>Bạn</a:t>
            </a:r>
            <a:r>
              <a:rPr lang="en-US" dirty="0" smtClean="0"/>
              <a:t> </a:t>
            </a:r>
            <a:r>
              <a:rPr lang="en-US" dirty="0" err="1" smtClean="0"/>
              <a:t>có</a:t>
            </a:r>
            <a:r>
              <a:rPr lang="en-US" dirty="0" smtClean="0"/>
              <a:t> </a:t>
            </a:r>
            <a:r>
              <a:rPr lang="en-US" dirty="0" err="1" smtClean="0"/>
              <a:t>thể</a:t>
            </a:r>
            <a:r>
              <a:rPr lang="en-US" dirty="0" smtClean="0"/>
              <a:t> </a:t>
            </a:r>
            <a:r>
              <a:rPr lang="en-US" dirty="0" err="1" smtClean="0"/>
              <a:t>tách</a:t>
            </a:r>
            <a:r>
              <a:rPr lang="en-US" dirty="0" smtClean="0"/>
              <a:t> </a:t>
            </a:r>
            <a:r>
              <a:rPr lang="en-US" dirty="0" err="1" smtClean="0"/>
              <a:t>chuỗi</a:t>
            </a:r>
            <a:r>
              <a:rPr lang="en-US" dirty="0" smtClean="0"/>
              <a:t> </a:t>
            </a:r>
            <a:r>
              <a:rPr lang="en-US" dirty="0" err="1" smtClean="0"/>
              <a:t>dự</a:t>
            </a:r>
            <a:r>
              <a:rPr lang="en-US" dirty="0" smtClean="0"/>
              <a:t> </a:t>
            </a:r>
            <a:r>
              <a:rPr lang="en-US" dirty="0" err="1" smtClean="0"/>
              <a:t>vào</a:t>
            </a:r>
            <a:r>
              <a:rPr lang="en-US" dirty="0" smtClean="0"/>
              <a:t> </a:t>
            </a:r>
            <a:r>
              <a:rPr lang="en-US" dirty="0" err="1" smtClean="0"/>
              <a:t>vị</a:t>
            </a:r>
            <a:r>
              <a:rPr lang="en-US" dirty="0" smtClean="0"/>
              <a:t> </a:t>
            </a:r>
            <a:r>
              <a:rPr lang="en-US" dirty="0" err="1" smtClean="0"/>
              <a:t>trí</a:t>
            </a:r>
            <a:r>
              <a:rPr lang="en-US" dirty="0" smtClean="0"/>
              <a:t> index </a:t>
            </a:r>
            <a:r>
              <a:rPr lang="en-US" dirty="0" err="1" smtClean="0"/>
              <a:t>của</a:t>
            </a:r>
            <a:r>
              <a:rPr lang="en-US" dirty="0" smtClean="0"/>
              <a:t> </a:t>
            </a:r>
            <a:r>
              <a:rPr lang="en-US" dirty="0" err="1" smtClean="0"/>
              <a:t>nó</a:t>
            </a:r>
            <a:r>
              <a:rPr lang="en-US" dirty="0" smtClean="0"/>
              <a:t> </a:t>
            </a:r>
            <a:r>
              <a:rPr lang="en-US" dirty="0" err="1" smtClean="0"/>
              <a:t>trong</a:t>
            </a:r>
            <a:r>
              <a:rPr lang="en-US" dirty="0" smtClean="0"/>
              <a:t> </a:t>
            </a:r>
            <a:r>
              <a:rPr lang="en-US" dirty="0" err="1" smtClean="0"/>
              <a:t>chuỗi</a:t>
            </a:r>
            <a:endParaRPr lang="en-US" b="1" dirty="0"/>
          </a:p>
        </p:txBody>
      </p:sp>
      <p:sp>
        <p:nvSpPr>
          <p:cNvPr id="13" name="TextBox 12"/>
          <p:cNvSpPr txBox="1"/>
          <p:nvPr/>
        </p:nvSpPr>
        <p:spPr>
          <a:xfrm>
            <a:off x="639997" y="2482980"/>
            <a:ext cx="7697972" cy="954107"/>
          </a:xfrm>
          <a:prstGeom prst="rect">
            <a:avLst/>
          </a:prstGeom>
          <a:noFill/>
        </p:spPr>
        <p:txBody>
          <a:bodyPr wrap="square" rtlCol="0">
            <a:spAutoFit/>
          </a:bodyPr>
          <a:lstStyle/>
          <a:p>
            <a:r>
              <a:rPr lang="en-US" dirty="0" err="1" smtClean="0"/>
              <a:t>Cú</a:t>
            </a:r>
            <a:r>
              <a:rPr lang="en-US" dirty="0" smtClean="0"/>
              <a:t> </a:t>
            </a:r>
            <a:r>
              <a:rPr lang="en-US" dirty="0" err="1" smtClean="0"/>
              <a:t>pháp</a:t>
            </a:r>
            <a:r>
              <a:rPr lang="en-US" dirty="0" smtClean="0"/>
              <a:t>: </a:t>
            </a:r>
            <a:r>
              <a:rPr lang="en-US" sz="2000" b="1" dirty="0" smtClean="0"/>
              <a:t>string[</a:t>
            </a:r>
            <a:r>
              <a:rPr lang="en-US" sz="2000" b="1" dirty="0" err="1" smtClean="0"/>
              <a:t>start:end</a:t>
            </a:r>
            <a:r>
              <a:rPr lang="en-US" sz="2000" b="1" dirty="0" smtClean="0"/>
              <a:t>]</a:t>
            </a:r>
            <a:r>
              <a:rPr lang="en-US" dirty="0" smtClean="0"/>
              <a:t> </a:t>
            </a:r>
          </a:p>
          <a:p>
            <a:pPr marL="285750" indent="-285750">
              <a:buFontTx/>
              <a:buChar char="-"/>
            </a:pPr>
            <a:r>
              <a:rPr lang="en-US" dirty="0" smtClean="0"/>
              <a:t>start </a:t>
            </a:r>
            <a:r>
              <a:rPr lang="en-US" dirty="0" err="1" smtClean="0"/>
              <a:t>mặc</a:t>
            </a:r>
            <a:r>
              <a:rPr lang="en-US" dirty="0" smtClean="0"/>
              <a:t> </a:t>
            </a:r>
            <a:r>
              <a:rPr lang="en-US" dirty="0" err="1" smtClean="0"/>
              <a:t>định</a:t>
            </a:r>
            <a:r>
              <a:rPr lang="en-US" dirty="0" smtClean="0"/>
              <a:t> </a:t>
            </a:r>
            <a:r>
              <a:rPr lang="en-US" dirty="0" err="1" smtClean="0"/>
              <a:t>là</a:t>
            </a:r>
            <a:r>
              <a:rPr lang="en-US" dirty="0" smtClean="0"/>
              <a:t> 0, </a:t>
            </a:r>
            <a:r>
              <a:rPr lang="en-US" dirty="0" err="1" smtClean="0"/>
              <a:t>có</a:t>
            </a:r>
            <a:r>
              <a:rPr lang="en-US" dirty="0" smtClean="0"/>
              <a:t> </a:t>
            </a:r>
            <a:r>
              <a:rPr lang="en-US" dirty="0" err="1" smtClean="0"/>
              <a:t>thể</a:t>
            </a:r>
            <a:r>
              <a:rPr lang="en-US" dirty="0" smtClean="0"/>
              <a:t> </a:t>
            </a:r>
            <a:r>
              <a:rPr lang="en-US" dirty="0" err="1" smtClean="0"/>
              <a:t>là</a:t>
            </a:r>
            <a:r>
              <a:rPr lang="en-US" dirty="0" smtClean="0"/>
              <a:t> </a:t>
            </a:r>
            <a:r>
              <a:rPr lang="en-US" dirty="0" err="1" smtClean="0"/>
              <a:t>số</a:t>
            </a:r>
            <a:r>
              <a:rPr lang="en-US" dirty="0" smtClean="0"/>
              <a:t> </a:t>
            </a:r>
            <a:r>
              <a:rPr lang="en-US" dirty="0" err="1" smtClean="0"/>
              <a:t>nguyên</a:t>
            </a:r>
            <a:r>
              <a:rPr lang="en-US" dirty="0" smtClean="0"/>
              <a:t> </a:t>
            </a:r>
            <a:r>
              <a:rPr lang="en-US" dirty="0" err="1" smtClean="0"/>
              <a:t>âm</a:t>
            </a:r>
            <a:endParaRPr lang="en-US" dirty="0" smtClean="0"/>
          </a:p>
          <a:p>
            <a:pPr marL="285750" indent="-285750">
              <a:buFontTx/>
              <a:buChar char="-"/>
            </a:pPr>
            <a:r>
              <a:rPr lang="en-US" dirty="0"/>
              <a:t>e</a:t>
            </a:r>
            <a:r>
              <a:rPr lang="en-US" dirty="0" smtClean="0"/>
              <a:t>nd </a:t>
            </a:r>
            <a:r>
              <a:rPr lang="en-US" dirty="0" err="1" smtClean="0"/>
              <a:t>mặc</a:t>
            </a:r>
            <a:r>
              <a:rPr lang="en-US" dirty="0" smtClean="0"/>
              <a:t> </a:t>
            </a:r>
            <a:r>
              <a:rPr lang="en-US" dirty="0" err="1" smtClean="0"/>
              <a:t>định</a:t>
            </a:r>
            <a:r>
              <a:rPr lang="en-US" dirty="0" smtClean="0"/>
              <a:t> </a:t>
            </a:r>
            <a:r>
              <a:rPr lang="en-US" dirty="0" err="1" smtClean="0"/>
              <a:t>là</a:t>
            </a:r>
            <a:r>
              <a:rPr lang="en-US" dirty="0" smtClean="0"/>
              <a:t> </a:t>
            </a:r>
            <a:r>
              <a:rPr lang="en-US" dirty="0" err="1" smtClean="0"/>
              <a:t>đến</a:t>
            </a:r>
            <a:r>
              <a:rPr lang="en-US" dirty="0" smtClean="0"/>
              <a:t> </a:t>
            </a:r>
            <a:r>
              <a:rPr lang="en-US" dirty="0" err="1" smtClean="0"/>
              <a:t>cuối</a:t>
            </a:r>
            <a:r>
              <a:rPr lang="en-US" dirty="0" smtClean="0"/>
              <a:t> </a:t>
            </a:r>
            <a:r>
              <a:rPr lang="en-US" dirty="0" err="1" smtClean="0"/>
              <a:t>chuỗi</a:t>
            </a:r>
            <a:r>
              <a:rPr lang="en-US" dirty="0"/>
              <a:t>, </a:t>
            </a:r>
            <a:r>
              <a:rPr lang="en-US" dirty="0" smtClean="0"/>
              <a:t> </a:t>
            </a:r>
            <a:r>
              <a:rPr lang="en-US" dirty="0" err="1"/>
              <a:t>có</a:t>
            </a:r>
            <a:r>
              <a:rPr lang="en-US" dirty="0"/>
              <a:t> </a:t>
            </a:r>
            <a:r>
              <a:rPr lang="en-US" dirty="0" err="1"/>
              <a:t>thể</a:t>
            </a:r>
            <a:r>
              <a:rPr lang="en-US" dirty="0"/>
              <a:t> </a:t>
            </a:r>
            <a:r>
              <a:rPr lang="en-US" dirty="0" err="1"/>
              <a:t>là</a:t>
            </a:r>
            <a:r>
              <a:rPr lang="en-US" dirty="0"/>
              <a:t> </a:t>
            </a:r>
            <a:r>
              <a:rPr lang="en-US" dirty="0" err="1"/>
              <a:t>số</a:t>
            </a:r>
            <a:r>
              <a:rPr lang="en-US" dirty="0"/>
              <a:t> </a:t>
            </a:r>
            <a:r>
              <a:rPr lang="en-US" dirty="0" err="1"/>
              <a:t>nguyên</a:t>
            </a:r>
            <a:r>
              <a:rPr lang="en-US" dirty="0"/>
              <a:t> </a:t>
            </a:r>
            <a:r>
              <a:rPr lang="en-US" dirty="0" err="1"/>
              <a:t>âm</a:t>
            </a:r>
            <a:endParaRPr lang="en-US" dirty="0"/>
          </a:p>
        </p:txBody>
      </p:sp>
      <p:sp>
        <p:nvSpPr>
          <p:cNvPr id="14" name="TextBox 13"/>
          <p:cNvSpPr txBox="1"/>
          <p:nvPr/>
        </p:nvSpPr>
        <p:spPr>
          <a:xfrm>
            <a:off x="639997" y="4747716"/>
            <a:ext cx="7834152" cy="369332"/>
          </a:xfrm>
          <a:prstGeom prst="rect">
            <a:avLst/>
          </a:prstGeom>
          <a:noFill/>
        </p:spPr>
        <p:txBody>
          <a:bodyPr wrap="square" rtlCol="0">
            <a:spAutoFit/>
          </a:bodyPr>
          <a:lstStyle/>
          <a:p>
            <a:r>
              <a:rPr lang="en-US" dirty="0" err="1" smtClean="0"/>
              <a:t>Ví</a:t>
            </a:r>
            <a:r>
              <a:rPr lang="en-US" dirty="0" smtClean="0"/>
              <a:t> </a:t>
            </a:r>
            <a:r>
              <a:rPr lang="en-US" dirty="0" err="1" smtClean="0"/>
              <a:t>dụ</a:t>
            </a:r>
            <a:r>
              <a:rPr lang="en-US" dirty="0" smtClean="0"/>
              <a:t> </a:t>
            </a:r>
            <a:r>
              <a:rPr lang="en-US" dirty="0" err="1" smtClean="0"/>
              <a:t>này</a:t>
            </a:r>
            <a:r>
              <a:rPr lang="en-US" dirty="0" smtClean="0"/>
              <a:t> </a:t>
            </a:r>
            <a:r>
              <a:rPr lang="en-US" dirty="0" err="1" smtClean="0"/>
              <a:t>sẽ</a:t>
            </a:r>
            <a:r>
              <a:rPr lang="en-US" dirty="0" smtClean="0"/>
              <a:t> </a:t>
            </a:r>
            <a:r>
              <a:rPr lang="en-US" dirty="0" err="1" smtClean="0"/>
              <a:t>lấy</a:t>
            </a:r>
            <a:r>
              <a:rPr lang="en-US" dirty="0" smtClean="0"/>
              <a:t> </a:t>
            </a:r>
            <a:r>
              <a:rPr lang="en-US" dirty="0" err="1" smtClean="0"/>
              <a:t>kí</a:t>
            </a:r>
            <a:r>
              <a:rPr lang="en-US" dirty="0" smtClean="0"/>
              <a:t> </a:t>
            </a:r>
            <a:r>
              <a:rPr lang="en-US" dirty="0" err="1" smtClean="0"/>
              <a:t>tự</a:t>
            </a:r>
            <a:r>
              <a:rPr lang="en-US" dirty="0" smtClean="0"/>
              <a:t> </a:t>
            </a:r>
            <a:r>
              <a:rPr lang="en-US" dirty="0" err="1" smtClean="0"/>
              <a:t>từ</a:t>
            </a:r>
            <a:r>
              <a:rPr lang="en-US" dirty="0" smtClean="0"/>
              <a:t> </a:t>
            </a:r>
            <a:r>
              <a:rPr lang="en-US" dirty="0" err="1" smtClean="0"/>
              <a:t>vị</a:t>
            </a:r>
            <a:r>
              <a:rPr lang="en-US" dirty="0" smtClean="0"/>
              <a:t> </a:t>
            </a:r>
            <a:r>
              <a:rPr lang="en-US" dirty="0" err="1" smtClean="0"/>
              <a:t>trí</a:t>
            </a:r>
            <a:r>
              <a:rPr lang="en-US" dirty="0" smtClean="0"/>
              <a:t> </a:t>
            </a:r>
            <a:r>
              <a:rPr lang="en-US" dirty="0" err="1" smtClean="0"/>
              <a:t>thứ</a:t>
            </a:r>
            <a:r>
              <a:rPr lang="en-US" dirty="0" smtClean="0"/>
              <a:t> 2 </a:t>
            </a:r>
            <a:r>
              <a:rPr lang="en-US" dirty="0" err="1" smtClean="0"/>
              <a:t>đến</a:t>
            </a:r>
            <a:r>
              <a:rPr lang="en-US" dirty="0" smtClean="0"/>
              <a:t> 4 (5 – 1, </a:t>
            </a:r>
            <a:r>
              <a:rPr lang="en-US" dirty="0" err="1" smtClean="0"/>
              <a:t>không</a:t>
            </a:r>
            <a:r>
              <a:rPr lang="en-US" dirty="0" smtClean="0"/>
              <a:t> </a:t>
            </a:r>
            <a:r>
              <a:rPr lang="en-US" dirty="0" err="1" smtClean="0"/>
              <a:t>bao</a:t>
            </a:r>
            <a:r>
              <a:rPr lang="en-US" dirty="0" smtClean="0"/>
              <a:t> </a:t>
            </a:r>
            <a:r>
              <a:rPr lang="en-US" dirty="0" err="1" smtClean="0"/>
              <a:t>gồm</a:t>
            </a:r>
            <a:r>
              <a:rPr lang="en-US" dirty="0" smtClean="0"/>
              <a:t> </a:t>
            </a:r>
            <a:r>
              <a:rPr lang="en-US" dirty="0" err="1" smtClean="0"/>
              <a:t>vị</a:t>
            </a:r>
            <a:r>
              <a:rPr lang="en-US" dirty="0" smtClean="0"/>
              <a:t> </a:t>
            </a:r>
            <a:r>
              <a:rPr lang="en-US" dirty="0" err="1" smtClean="0"/>
              <a:t>trí</a:t>
            </a:r>
            <a:r>
              <a:rPr lang="en-US" dirty="0" smtClean="0"/>
              <a:t> </a:t>
            </a:r>
            <a:r>
              <a:rPr lang="en-US" dirty="0" err="1" smtClean="0"/>
              <a:t>số</a:t>
            </a:r>
            <a:r>
              <a:rPr lang="en-US" dirty="0" smtClean="0"/>
              <a:t> 5)</a:t>
            </a:r>
            <a:endParaRPr lang="en-US" b="1" dirty="0"/>
          </a:p>
        </p:txBody>
      </p:sp>
      <p:sp>
        <p:nvSpPr>
          <p:cNvPr id="21" name="Rectangle 20"/>
          <p:cNvSpPr/>
          <p:nvPr/>
        </p:nvSpPr>
        <p:spPr>
          <a:xfrm>
            <a:off x="699793" y="5258797"/>
            <a:ext cx="7774356" cy="71677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p:cNvSpPr txBox="1"/>
          <p:nvPr/>
        </p:nvSpPr>
        <p:spPr>
          <a:xfrm>
            <a:off x="880547" y="5382089"/>
            <a:ext cx="7402216" cy="369332"/>
          </a:xfrm>
          <a:prstGeom prst="rect">
            <a:avLst/>
          </a:prstGeom>
          <a:noFill/>
        </p:spPr>
        <p:txBody>
          <a:bodyPr wrap="square" rtlCol="0">
            <a:spAutoFit/>
          </a:bodyPr>
          <a:lstStyle/>
          <a:p>
            <a:r>
              <a:rPr lang="en-US" dirty="0" smtClean="0">
                <a:solidFill>
                  <a:schemeClr val="bg1"/>
                </a:solidFill>
              </a:rPr>
              <a:t>print</a:t>
            </a:r>
            <a:r>
              <a:rPr lang="en-US" dirty="0" smtClean="0">
                <a:solidFill>
                  <a:schemeClr val="accent4">
                    <a:lumMod val="60000"/>
                    <a:lumOff val="40000"/>
                  </a:schemeClr>
                </a:solidFill>
              </a:rPr>
              <a:t>(</a:t>
            </a:r>
            <a:r>
              <a:rPr lang="en-US" dirty="0" smtClean="0">
                <a:solidFill>
                  <a:schemeClr val="bg1"/>
                </a:solidFill>
              </a:rPr>
              <a:t>b</a:t>
            </a:r>
            <a:r>
              <a:rPr lang="en-US" dirty="0" smtClean="0">
                <a:solidFill>
                  <a:srgbClr val="FF66CC"/>
                </a:solidFill>
              </a:rPr>
              <a:t>[</a:t>
            </a:r>
            <a:r>
              <a:rPr lang="en-US" dirty="0" smtClean="0">
                <a:solidFill>
                  <a:schemeClr val="bg1"/>
                </a:solidFill>
              </a:rPr>
              <a:t>-</a:t>
            </a:r>
            <a:r>
              <a:rPr lang="en-US" dirty="0" smtClean="0">
                <a:solidFill>
                  <a:schemeClr val="accent6">
                    <a:lumMod val="60000"/>
                    <a:lumOff val="40000"/>
                  </a:schemeClr>
                </a:solidFill>
              </a:rPr>
              <a:t>2</a:t>
            </a:r>
            <a:r>
              <a:rPr lang="en-US" dirty="0" smtClean="0">
                <a:solidFill>
                  <a:schemeClr val="bg1"/>
                </a:solidFill>
              </a:rPr>
              <a:t>:-</a:t>
            </a:r>
            <a:r>
              <a:rPr lang="en-US" dirty="0" smtClean="0">
                <a:solidFill>
                  <a:schemeClr val="accent6">
                    <a:lumMod val="60000"/>
                    <a:lumOff val="40000"/>
                  </a:schemeClr>
                </a:solidFill>
              </a:rPr>
              <a:t>5</a:t>
            </a:r>
            <a:r>
              <a:rPr lang="en-US" dirty="0" smtClean="0">
                <a:solidFill>
                  <a:srgbClr val="FF66CC"/>
                </a:solidFill>
              </a:rPr>
              <a:t>]</a:t>
            </a:r>
            <a:r>
              <a:rPr lang="en-US" dirty="0" smtClean="0">
                <a:solidFill>
                  <a:schemeClr val="accent4">
                    <a:lumMod val="60000"/>
                    <a:lumOff val="40000"/>
                  </a:schemeClr>
                </a:solidFill>
              </a:rPr>
              <a:t>) #output: </a:t>
            </a:r>
            <a:r>
              <a:rPr lang="en-US" dirty="0" err="1">
                <a:solidFill>
                  <a:schemeClr val="bg1"/>
                </a:solidFill>
              </a:rPr>
              <a:t>orl</a:t>
            </a:r>
            <a:endParaRPr lang="en-US" sz="1600" dirty="0">
              <a:solidFill>
                <a:schemeClr val="bg1"/>
              </a:solidFill>
            </a:endParaRPr>
          </a:p>
        </p:txBody>
      </p:sp>
      <p:sp>
        <p:nvSpPr>
          <p:cNvPr id="23" name="TextBox 22"/>
          <p:cNvSpPr txBox="1"/>
          <p:nvPr/>
        </p:nvSpPr>
        <p:spPr>
          <a:xfrm>
            <a:off x="639997" y="6076786"/>
            <a:ext cx="7834152" cy="369332"/>
          </a:xfrm>
          <a:prstGeom prst="rect">
            <a:avLst/>
          </a:prstGeom>
          <a:noFill/>
        </p:spPr>
        <p:txBody>
          <a:bodyPr wrap="square" rtlCol="0">
            <a:spAutoFit/>
          </a:bodyPr>
          <a:lstStyle/>
          <a:p>
            <a:r>
              <a:rPr lang="en-US" dirty="0" err="1" smtClean="0"/>
              <a:t>Dùng</a:t>
            </a:r>
            <a:r>
              <a:rPr lang="en-US" dirty="0" smtClean="0"/>
              <a:t> </a:t>
            </a:r>
            <a:r>
              <a:rPr lang="en-US" dirty="0" err="1" smtClean="0"/>
              <a:t>số</a:t>
            </a:r>
            <a:r>
              <a:rPr lang="en-US" dirty="0" smtClean="0"/>
              <a:t> </a:t>
            </a:r>
            <a:r>
              <a:rPr lang="en-US" dirty="0" err="1" smtClean="0"/>
              <a:t>nguyên</a:t>
            </a:r>
            <a:r>
              <a:rPr lang="en-US" dirty="0" smtClean="0"/>
              <a:t> </a:t>
            </a:r>
            <a:r>
              <a:rPr lang="en-US" dirty="0" err="1" smtClean="0"/>
              <a:t>âm</a:t>
            </a:r>
            <a:r>
              <a:rPr lang="en-US" dirty="0" smtClean="0"/>
              <a:t> </a:t>
            </a:r>
            <a:r>
              <a:rPr lang="en-US" dirty="0" err="1" smtClean="0"/>
              <a:t>để</a:t>
            </a:r>
            <a:r>
              <a:rPr lang="en-US" dirty="0" smtClean="0"/>
              <a:t> </a:t>
            </a:r>
            <a:r>
              <a:rPr lang="en-US" dirty="0" err="1" smtClean="0"/>
              <a:t>đảo</a:t>
            </a:r>
            <a:r>
              <a:rPr lang="en-US" dirty="0" smtClean="0"/>
              <a:t> </a:t>
            </a:r>
            <a:r>
              <a:rPr lang="en-US" dirty="0" err="1" smtClean="0"/>
              <a:t>chiều</a:t>
            </a:r>
            <a:r>
              <a:rPr lang="en-US" dirty="0" smtClean="0"/>
              <a:t> </a:t>
            </a:r>
            <a:r>
              <a:rPr lang="en-US" dirty="0" err="1" smtClean="0"/>
              <a:t>vị</a:t>
            </a:r>
            <a:r>
              <a:rPr lang="en-US" dirty="0" smtClean="0"/>
              <a:t> </a:t>
            </a:r>
            <a:r>
              <a:rPr lang="en-US" dirty="0" err="1" smtClean="0"/>
              <a:t>trí</a:t>
            </a:r>
            <a:r>
              <a:rPr lang="en-US" dirty="0" smtClean="0"/>
              <a:t> </a:t>
            </a:r>
            <a:r>
              <a:rPr lang="en-US" dirty="0" err="1" smtClean="0"/>
              <a:t>lấy</a:t>
            </a:r>
            <a:endParaRPr lang="en-US" b="1" dirty="0"/>
          </a:p>
        </p:txBody>
      </p:sp>
    </p:spTree>
    <p:extLst>
      <p:ext uri="{BB962C8B-B14F-4D97-AF65-F5344CB8AC3E}">
        <p14:creationId xmlns:p14="http://schemas.microsoft.com/office/powerpoint/2010/main" val="73922843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30</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2.9 </a:t>
            </a:r>
            <a:r>
              <a:rPr lang="en-US" dirty="0" err="1" smtClean="0"/>
              <a:t>Các</a:t>
            </a:r>
            <a:r>
              <a:rPr lang="en-US" dirty="0" smtClean="0"/>
              <a:t> </a:t>
            </a:r>
            <a:r>
              <a:rPr lang="en-US" dirty="0" err="1" smtClean="0"/>
              <a:t>phương</a:t>
            </a:r>
            <a:r>
              <a:rPr lang="en-US" dirty="0" smtClean="0"/>
              <a:t> </a:t>
            </a:r>
            <a:r>
              <a:rPr lang="en-US" dirty="0" err="1" smtClean="0"/>
              <a:t>thức</a:t>
            </a:r>
            <a:r>
              <a:rPr lang="en-US" dirty="0" smtClean="0"/>
              <a:t> </a:t>
            </a:r>
            <a:r>
              <a:rPr lang="en-US" dirty="0" err="1" smtClean="0"/>
              <a:t>xử</a:t>
            </a:r>
            <a:r>
              <a:rPr lang="en-US" dirty="0" smtClean="0"/>
              <a:t> </a:t>
            </a:r>
            <a:r>
              <a:rPr lang="en-US" dirty="0" err="1" smtClean="0"/>
              <a:t>lí</a:t>
            </a:r>
            <a:r>
              <a:rPr lang="en-US" dirty="0" smtClean="0"/>
              <a:t> </a:t>
            </a:r>
            <a:r>
              <a:rPr lang="en-US" dirty="0" err="1"/>
              <a:t>C</a:t>
            </a:r>
            <a:r>
              <a:rPr lang="en-US" dirty="0" err="1" smtClean="0"/>
              <a:t>huỗi</a:t>
            </a:r>
            <a:endParaRPr lang="en-US" dirty="0"/>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1041993" y="1557449"/>
            <a:ext cx="6432695" cy="369332"/>
          </a:xfrm>
          <a:prstGeom prst="rect">
            <a:avLst/>
          </a:prstGeom>
          <a:noFill/>
        </p:spPr>
        <p:txBody>
          <a:bodyPr wrap="square" rtlCol="0">
            <a:spAutoFit/>
          </a:bodyPr>
          <a:lstStyle/>
          <a:p>
            <a:r>
              <a:rPr lang="en-US" b="1" dirty="0" err="1"/>
              <a:t>Cắt</a:t>
            </a:r>
            <a:r>
              <a:rPr lang="en-US" b="1" dirty="0" smtClean="0"/>
              <a:t> </a:t>
            </a:r>
            <a:r>
              <a:rPr lang="en-US" b="1" dirty="0" err="1" smtClean="0"/>
              <a:t>chuỗi</a:t>
            </a:r>
            <a:endParaRPr lang="en-US" b="1" dirty="0">
              <a:solidFill>
                <a:srgbClr val="FF0000"/>
              </a:solidFill>
            </a:endParaRPr>
          </a:p>
        </p:txBody>
      </p:sp>
      <p:sp>
        <p:nvSpPr>
          <p:cNvPr id="29" name="Rectangle 28"/>
          <p:cNvSpPr/>
          <p:nvPr/>
        </p:nvSpPr>
        <p:spPr>
          <a:xfrm>
            <a:off x="699793" y="2886519"/>
            <a:ext cx="7774356" cy="93517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880547" y="3009812"/>
            <a:ext cx="7402216" cy="646331"/>
          </a:xfrm>
          <a:prstGeom prst="rect">
            <a:avLst/>
          </a:prstGeom>
          <a:noFill/>
        </p:spPr>
        <p:txBody>
          <a:bodyPr wrap="square" rtlCol="0">
            <a:spAutoFit/>
          </a:bodyPr>
          <a:lstStyle/>
          <a:p>
            <a:r>
              <a:rPr lang="en-US" dirty="0">
                <a:solidFill>
                  <a:schemeClr val="bg1"/>
                </a:solidFill>
              </a:rPr>
              <a:t>b = </a:t>
            </a:r>
            <a:r>
              <a:rPr lang="en-US" dirty="0">
                <a:solidFill>
                  <a:schemeClr val="accent2">
                    <a:lumMod val="75000"/>
                  </a:schemeClr>
                </a:solidFill>
              </a:rPr>
              <a:t>"Hello, World!"</a:t>
            </a:r>
            <a:r>
              <a:rPr lang="en-US" dirty="0">
                <a:solidFill>
                  <a:schemeClr val="bg1"/>
                </a:solidFill>
              </a:rPr>
              <a:t/>
            </a:r>
            <a:br>
              <a:rPr lang="en-US" dirty="0">
                <a:solidFill>
                  <a:schemeClr val="bg1"/>
                </a:solidFill>
              </a:rPr>
            </a:br>
            <a:r>
              <a:rPr lang="en-US" dirty="0" smtClean="0">
                <a:solidFill>
                  <a:schemeClr val="bg1"/>
                </a:solidFill>
              </a:rPr>
              <a:t>print</a:t>
            </a:r>
            <a:r>
              <a:rPr lang="en-US" dirty="0" smtClean="0">
                <a:solidFill>
                  <a:schemeClr val="accent4">
                    <a:lumMod val="60000"/>
                    <a:lumOff val="40000"/>
                  </a:schemeClr>
                </a:solidFill>
              </a:rPr>
              <a:t>(</a:t>
            </a:r>
            <a:r>
              <a:rPr lang="en-US" dirty="0" smtClean="0">
                <a:solidFill>
                  <a:schemeClr val="bg1"/>
                </a:solidFill>
              </a:rPr>
              <a:t>b</a:t>
            </a:r>
            <a:r>
              <a:rPr lang="en-US" dirty="0" smtClean="0">
                <a:solidFill>
                  <a:srgbClr val="FF66CC"/>
                </a:solidFill>
              </a:rPr>
              <a:t>[</a:t>
            </a:r>
            <a:r>
              <a:rPr lang="en-US" dirty="0">
                <a:solidFill>
                  <a:schemeClr val="accent6">
                    <a:lumMod val="60000"/>
                    <a:lumOff val="40000"/>
                  </a:schemeClr>
                </a:solidFill>
              </a:rPr>
              <a:t>0</a:t>
            </a:r>
            <a:r>
              <a:rPr lang="en-US" dirty="0" smtClean="0">
                <a:solidFill>
                  <a:schemeClr val="bg1"/>
                </a:solidFill>
              </a:rPr>
              <a:t>:</a:t>
            </a:r>
            <a:r>
              <a:rPr lang="en-US" dirty="0" smtClean="0">
                <a:solidFill>
                  <a:schemeClr val="accent6">
                    <a:lumMod val="60000"/>
                    <a:lumOff val="40000"/>
                  </a:schemeClr>
                </a:solidFill>
              </a:rPr>
              <a:t>5</a:t>
            </a:r>
            <a:r>
              <a:rPr lang="en-US" dirty="0" smtClean="0">
                <a:solidFill>
                  <a:srgbClr val="FF66CC"/>
                </a:solidFill>
              </a:rPr>
              <a:t>]</a:t>
            </a:r>
            <a:r>
              <a:rPr lang="en-US" dirty="0" smtClean="0">
                <a:solidFill>
                  <a:schemeClr val="accent4">
                    <a:lumMod val="60000"/>
                    <a:lumOff val="40000"/>
                  </a:schemeClr>
                </a:solidFill>
              </a:rPr>
              <a:t>) #output: </a:t>
            </a:r>
            <a:r>
              <a:rPr lang="en-US" dirty="0" smtClean="0">
                <a:solidFill>
                  <a:schemeClr val="bg1"/>
                </a:solidFill>
              </a:rPr>
              <a:t>Hello</a:t>
            </a:r>
            <a:endParaRPr lang="en-US" sz="1600" dirty="0">
              <a:solidFill>
                <a:schemeClr val="bg1"/>
              </a:solidFill>
            </a:endParaRPr>
          </a:p>
        </p:txBody>
      </p:sp>
      <p:sp>
        <p:nvSpPr>
          <p:cNvPr id="14" name="TextBox 13"/>
          <p:cNvSpPr txBox="1"/>
          <p:nvPr/>
        </p:nvSpPr>
        <p:spPr>
          <a:xfrm>
            <a:off x="639997" y="2267793"/>
            <a:ext cx="7834152" cy="369332"/>
          </a:xfrm>
          <a:prstGeom prst="rect">
            <a:avLst/>
          </a:prstGeom>
          <a:noFill/>
        </p:spPr>
        <p:txBody>
          <a:bodyPr wrap="square" rtlCol="0">
            <a:spAutoFit/>
          </a:bodyPr>
          <a:lstStyle/>
          <a:p>
            <a:r>
              <a:rPr lang="en-US" dirty="0" err="1" smtClean="0"/>
              <a:t>Ví</a:t>
            </a:r>
            <a:r>
              <a:rPr lang="en-US" dirty="0" smtClean="0"/>
              <a:t> </a:t>
            </a:r>
            <a:r>
              <a:rPr lang="en-US" dirty="0" err="1" smtClean="0"/>
              <a:t>dụ</a:t>
            </a:r>
            <a:r>
              <a:rPr lang="en-US" dirty="0" smtClean="0"/>
              <a:t> </a:t>
            </a:r>
            <a:r>
              <a:rPr lang="en-US" dirty="0" err="1" smtClean="0"/>
              <a:t>không</a:t>
            </a:r>
            <a:r>
              <a:rPr lang="en-US" dirty="0" smtClean="0"/>
              <a:t> </a:t>
            </a:r>
            <a:r>
              <a:rPr lang="en-US" dirty="0" err="1" smtClean="0"/>
              <a:t>điền</a:t>
            </a:r>
            <a:r>
              <a:rPr lang="en-US" dirty="0" smtClean="0"/>
              <a:t> </a:t>
            </a:r>
            <a:r>
              <a:rPr lang="en-US" b="1" dirty="0" smtClean="0"/>
              <a:t>start</a:t>
            </a:r>
            <a:r>
              <a:rPr lang="en-US" dirty="0" smtClean="0"/>
              <a:t>, </a:t>
            </a:r>
            <a:r>
              <a:rPr lang="en-US" dirty="0" err="1" smtClean="0"/>
              <a:t>thì</a:t>
            </a:r>
            <a:r>
              <a:rPr lang="en-US" dirty="0" smtClean="0"/>
              <a:t> start </a:t>
            </a:r>
            <a:r>
              <a:rPr lang="en-US" dirty="0" err="1" smtClean="0"/>
              <a:t>mặc</a:t>
            </a:r>
            <a:r>
              <a:rPr lang="en-US" dirty="0" smtClean="0"/>
              <a:t> </a:t>
            </a:r>
            <a:r>
              <a:rPr lang="en-US" dirty="0" err="1" smtClean="0"/>
              <a:t>định</a:t>
            </a:r>
            <a:r>
              <a:rPr lang="en-US" dirty="0" smtClean="0"/>
              <a:t> </a:t>
            </a:r>
            <a:r>
              <a:rPr lang="en-US" dirty="0" err="1" smtClean="0"/>
              <a:t>là</a:t>
            </a:r>
            <a:r>
              <a:rPr lang="en-US" dirty="0" smtClean="0"/>
              <a:t> </a:t>
            </a:r>
            <a:r>
              <a:rPr lang="en-US" dirty="0" err="1" smtClean="0"/>
              <a:t>số</a:t>
            </a:r>
            <a:r>
              <a:rPr lang="en-US" dirty="0" smtClean="0"/>
              <a:t> 0</a:t>
            </a:r>
            <a:endParaRPr lang="en-US" b="1" dirty="0"/>
          </a:p>
        </p:txBody>
      </p:sp>
      <p:sp>
        <p:nvSpPr>
          <p:cNvPr id="21" name="Rectangle 20"/>
          <p:cNvSpPr/>
          <p:nvPr/>
        </p:nvSpPr>
        <p:spPr>
          <a:xfrm>
            <a:off x="699793" y="4697572"/>
            <a:ext cx="7774356" cy="71677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p:cNvSpPr txBox="1"/>
          <p:nvPr/>
        </p:nvSpPr>
        <p:spPr>
          <a:xfrm>
            <a:off x="880547" y="4820864"/>
            <a:ext cx="7402216" cy="369332"/>
          </a:xfrm>
          <a:prstGeom prst="rect">
            <a:avLst/>
          </a:prstGeom>
          <a:noFill/>
        </p:spPr>
        <p:txBody>
          <a:bodyPr wrap="square" rtlCol="0">
            <a:spAutoFit/>
          </a:bodyPr>
          <a:lstStyle/>
          <a:p>
            <a:r>
              <a:rPr lang="en-US" dirty="0" smtClean="0">
                <a:solidFill>
                  <a:schemeClr val="bg1"/>
                </a:solidFill>
              </a:rPr>
              <a:t>print</a:t>
            </a:r>
            <a:r>
              <a:rPr lang="en-US" dirty="0" smtClean="0">
                <a:solidFill>
                  <a:schemeClr val="accent4">
                    <a:lumMod val="60000"/>
                    <a:lumOff val="40000"/>
                  </a:schemeClr>
                </a:solidFill>
              </a:rPr>
              <a:t>(</a:t>
            </a:r>
            <a:r>
              <a:rPr lang="en-US" dirty="0" smtClean="0">
                <a:solidFill>
                  <a:schemeClr val="bg1"/>
                </a:solidFill>
              </a:rPr>
              <a:t>b</a:t>
            </a:r>
            <a:r>
              <a:rPr lang="en-US" dirty="0" smtClean="0">
                <a:solidFill>
                  <a:srgbClr val="FF66CC"/>
                </a:solidFill>
              </a:rPr>
              <a:t>[</a:t>
            </a:r>
            <a:r>
              <a:rPr lang="en-US" dirty="0" smtClean="0">
                <a:solidFill>
                  <a:schemeClr val="accent6">
                    <a:lumMod val="60000"/>
                    <a:lumOff val="40000"/>
                  </a:schemeClr>
                </a:solidFill>
              </a:rPr>
              <a:t>2</a:t>
            </a:r>
            <a:r>
              <a:rPr lang="en-US" dirty="0" smtClean="0">
                <a:solidFill>
                  <a:schemeClr val="bg1"/>
                </a:solidFill>
              </a:rPr>
              <a:t>:</a:t>
            </a:r>
            <a:r>
              <a:rPr lang="en-US" dirty="0" smtClean="0">
                <a:solidFill>
                  <a:srgbClr val="FF66CC"/>
                </a:solidFill>
              </a:rPr>
              <a:t>]</a:t>
            </a:r>
            <a:r>
              <a:rPr lang="en-US" dirty="0" smtClean="0">
                <a:solidFill>
                  <a:schemeClr val="accent4">
                    <a:lumMod val="60000"/>
                    <a:lumOff val="40000"/>
                  </a:schemeClr>
                </a:solidFill>
              </a:rPr>
              <a:t>) #output: </a:t>
            </a:r>
            <a:r>
              <a:rPr lang="en-US" dirty="0" err="1">
                <a:solidFill>
                  <a:schemeClr val="bg1"/>
                </a:solidFill>
              </a:rPr>
              <a:t>llo</a:t>
            </a:r>
            <a:r>
              <a:rPr lang="en-US" dirty="0">
                <a:solidFill>
                  <a:schemeClr val="bg1"/>
                </a:solidFill>
              </a:rPr>
              <a:t>, World!</a:t>
            </a:r>
            <a:endParaRPr lang="en-US" sz="1600" dirty="0">
              <a:solidFill>
                <a:schemeClr val="bg1"/>
              </a:solidFill>
            </a:endParaRPr>
          </a:p>
        </p:txBody>
      </p:sp>
      <p:sp>
        <p:nvSpPr>
          <p:cNvPr id="15" name="TextBox 14"/>
          <p:cNvSpPr txBox="1"/>
          <p:nvPr/>
        </p:nvSpPr>
        <p:spPr>
          <a:xfrm>
            <a:off x="639997" y="4107226"/>
            <a:ext cx="7834152" cy="369332"/>
          </a:xfrm>
          <a:prstGeom prst="rect">
            <a:avLst/>
          </a:prstGeom>
          <a:noFill/>
        </p:spPr>
        <p:txBody>
          <a:bodyPr wrap="square" rtlCol="0">
            <a:spAutoFit/>
          </a:bodyPr>
          <a:lstStyle/>
          <a:p>
            <a:r>
              <a:rPr lang="en-US" dirty="0" err="1" smtClean="0"/>
              <a:t>Ví</a:t>
            </a:r>
            <a:r>
              <a:rPr lang="en-US" dirty="0" smtClean="0"/>
              <a:t> </a:t>
            </a:r>
            <a:r>
              <a:rPr lang="en-US" dirty="0" err="1" smtClean="0"/>
              <a:t>dụ</a:t>
            </a:r>
            <a:r>
              <a:rPr lang="en-US" dirty="0" smtClean="0"/>
              <a:t> </a:t>
            </a:r>
            <a:r>
              <a:rPr lang="en-US" dirty="0" err="1" smtClean="0"/>
              <a:t>không</a:t>
            </a:r>
            <a:r>
              <a:rPr lang="en-US" dirty="0" smtClean="0"/>
              <a:t> </a:t>
            </a:r>
            <a:r>
              <a:rPr lang="en-US" dirty="0" err="1" smtClean="0"/>
              <a:t>điền</a:t>
            </a:r>
            <a:r>
              <a:rPr lang="en-US" dirty="0" smtClean="0"/>
              <a:t> </a:t>
            </a:r>
            <a:r>
              <a:rPr lang="en-US" b="1" dirty="0" smtClean="0"/>
              <a:t>end</a:t>
            </a:r>
            <a:r>
              <a:rPr lang="en-US" dirty="0" smtClean="0"/>
              <a:t>, </a:t>
            </a:r>
            <a:r>
              <a:rPr lang="en-US" dirty="0" err="1" smtClean="0"/>
              <a:t>thì</a:t>
            </a:r>
            <a:r>
              <a:rPr lang="en-US" dirty="0" smtClean="0"/>
              <a:t> start </a:t>
            </a:r>
            <a:r>
              <a:rPr lang="en-US" dirty="0" err="1" smtClean="0"/>
              <a:t>mặc</a:t>
            </a:r>
            <a:r>
              <a:rPr lang="en-US" dirty="0" smtClean="0"/>
              <a:t> </a:t>
            </a:r>
            <a:r>
              <a:rPr lang="en-US" dirty="0" err="1" smtClean="0"/>
              <a:t>định</a:t>
            </a:r>
            <a:r>
              <a:rPr lang="en-US" dirty="0" smtClean="0"/>
              <a:t> </a:t>
            </a:r>
            <a:r>
              <a:rPr lang="en-US" dirty="0" err="1" smtClean="0"/>
              <a:t>là</a:t>
            </a:r>
            <a:r>
              <a:rPr lang="en-US" dirty="0" smtClean="0"/>
              <a:t> </a:t>
            </a:r>
            <a:r>
              <a:rPr lang="en-US" dirty="0" err="1" smtClean="0"/>
              <a:t>đến</a:t>
            </a:r>
            <a:r>
              <a:rPr lang="en-US" dirty="0" smtClean="0"/>
              <a:t> </a:t>
            </a:r>
            <a:r>
              <a:rPr lang="en-US" dirty="0" err="1" smtClean="0"/>
              <a:t>vị</a:t>
            </a:r>
            <a:r>
              <a:rPr lang="en-US" dirty="0" smtClean="0"/>
              <a:t> </a:t>
            </a:r>
            <a:r>
              <a:rPr lang="en-US" dirty="0" err="1" smtClean="0"/>
              <a:t>trí</a:t>
            </a:r>
            <a:r>
              <a:rPr lang="en-US" dirty="0" smtClean="0"/>
              <a:t> </a:t>
            </a:r>
            <a:r>
              <a:rPr lang="en-US" dirty="0" err="1" smtClean="0"/>
              <a:t>cuối</a:t>
            </a:r>
            <a:endParaRPr lang="en-US" b="1" dirty="0"/>
          </a:p>
        </p:txBody>
      </p:sp>
    </p:spTree>
    <p:extLst>
      <p:ext uri="{BB962C8B-B14F-4D97-AF65-F5344CB8AC3E}">
        <p14:creationId xmlns:p14="http://schemas.microsoft.com/office/powerpoint/2010/main" val="211814094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31</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2.9 </a:t>
            </a:r>
            <a:r>
              <a:rPr lang="en-US" dirty="0" err="1" smtClean="0"/>
              <a:t>Các</a:t>
            </a:r>
            <a:r>
              <a:rPr lang="en-US" dirty="0" smtClean="0"/>
              <a:t> </a:t>
            </a:r>
            <a:r>
              <a:rPr lang="en-US" dirty="0" err="1" smtClean="0"/>
              <a:t>phương</a:t>
            </a:r>
            <a:r>
              <a:rPr lang="en-US" dirty="0" smtClean="0"/>
              <a:t> </a:t>
            </a:r>
            <a:r>
              <a:rPr lang="en-US" dirty="0" err="1" smtClean="0"/>
              <a:t>thức</a:t>
            </a:r>
            <a:r>
              <a:rPr lang="en-US" dirty="0" smtClean="0"/>
              <a:t> </a:t>
            </a:r>
            <a:r>
              <a:rPr lang="en-US" dirty="0" err="1" smtClean="0"/>
              <a:t>xử</a:t>
            </a:r>
            <a:r>
              <a:rPr lang="en-US" dirty="0" smtClean="0"/>
              <a:t> </a:t>
            </a:r>
            <a:r>
              <a:rPr lang="en-US" dirty="0" err="1" smtClean="0"/>
              <a:t>lí</a:t>
            </a:r>
            <a:r>
              <a:rPr lang="en-US" dirty="0" smtClean="0"/>
              <a:t> </a:t>
            </a:r>
            <a:r>
              <a:rPr lang="en-US" dirty="0" err="1"/>
              <a:t>C</a:t>
            </a:r>
            <a:r>
              <a:rPr lang="en-US" dirty="0" err="1" smtClean="0"/>
              <a:t>huỗi</a:t>
            </a:r>
            <a:endParaRPr lang="en-US" dirty="0"/>
          </a:p>
        </p:txBody>
      </p:sp>
      <p:pic>
        <p:nvPicPr>
          <p:cNvPr id="1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1041993" y="1557449"/>
            <a:ext cx="6432695" cy="369332"/>
          </a:xfrm>
          <a:prstGeom prst="rect">
            <a:avLst/>
          </a:prstGeom>
          <a:noFill/>
        </p:spPr>
        <p:txBody>
          <a:bodyPr wrap="square" rtlCol="0">
            <a:spAutoFit/>
          </a:bodyPr>
          <a:lstStyle/>
          <a:p>
            <a:r>
              <a:rPr lang="en-US" b="1" dirty="0" err="1" smtClean="0"/>
              <a:t>Biến</a:t>
            </a:r>
            <a:r>
              <a:rPr lang="en-US" b="1" dirty="0" smtClean="0"/>
              <a:t> </a:t>
            </a:r>
            <a:r>
              <a:rPr lang="en-US" b="1" dirty="0" err="1" smtClean="0"/>
              <a:t>đổi</a:t>
            </a:r>
            <a:r>
              <a:rPr lang="en-US" b="1" dirty="0" smtClean="0"/>
              <a:t> </a:t>
            </a:r>
            <a:r>
              <a:rPr lang="en-US" b="1" dirty="0" err="1" smtClean="0"/>
              <a:t>chuỗi</a:t>
            </a:r>
            <a:endParaRPr lang="en-US" b="1" dirty="0">
              <a:solidFill>
                <a:srgbClr val="FF0000"/>
              </a:solidFill>
            </a:endParaRPr>
          </a:p>
        </p:txBody>
      </p:sp>
      <p:sp>
        <p:nvSpPr>
          <p:cNvPr id="29" name="Rectangle 28"/>
          <p:cNvSpPr/>
          <p:nvPr/>
        </p:nvSpPr>
        <p:spPr>
          <a:xfrm>
            <a:off x="699793" y="2589546"/>
            <a:ext cx="7774356" cy="93517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880547" y="2712839"/>
            <a:ext cx="7402216" cy="646331"/>
          </a:xfrm>
          <a:prstGeom prst="rect">
            <a:avLst/>
          </a:prstGeom>
          <a:noFill/>
        </p:spPr>
        <p:txBody>
          <a:bodyPr wrap="square" rtlCol="0">
            <a:spAutoFit/>
          </a:bodyPr>
          <a:lstStyle/>
          <a:p>
            <a:r>
              <a:rPr lang="en-US" dirty="0">
                <a:solidFill>
                  <a:schemeClr val="bg1"/>
                </a:solidFill>
              </a:rPr>
              <a:t>a</a:t>
            </a:r>
            <a:r>
              <a:rPr lang="en-US" dirty="0" smtClean="0">
                <a:solidFill>
                  <a:schemeClr val="bg1"/>
                </a:solidFill>
              </a:rPr>
              <a:t> </a:t>
            </a:r>
            <a:r>
              <a:rPr lang="en-US" dirty="0">
                <a:solidFill>
                  <a:schemeClr val="bg1"/>
                </a:solidFill>
              </a:rPr>
              <a:t>= </a:t>
            </a:r>
            <a:r>
              <a:rPr lang="en-US" dirty="0">
                <a:solidFill>
                  <a:schemeClr val="accent2">
                    <a:lumMod val="75000"/>
                  </a:schemeClr>
                </a:solidFill>
              </a:rPr>
              <a:t>"Hello, World!"</a:t>
            </a:r>
            <a:r>
              <a:rPr lang="en-US" dirty="0">
                <a:solidFill>
                  <a:schemeClr val="bg1"/>
                </a:solidFill>
              </a:rPr>
              <a:t/>
            </a:r>
            <a:br>
              <a:rPr lang="en-US" dirty="0">
                <a:solidFill>
                  <a:schemeClr val="bg1"/>
                </a:solidFill>
              </a:rPr>
            </a:br>
            <a:r>
              <a:rPr lang="en-US" dirty="0" smtClean="0">
                <a:solidFill>
                  <a:schemeClr val="bg1"/>
                </a:solidFill>
              </a:rPr>
              <a:t>print</a:t>
            </a:r>
            <a:r>
              <a:rPr lang="en-US" dirty="0" smtClean="0">
                <a:solidFill>
                  <a:schemeClr val="accent4">
                    <a:lumMod val="60000"/>
                    <a:lumOff val="40000"/>
                  </a:schemeClr>
                </a:solidFill>
              </a:rPr>
              <a:t>(</a:t>
            </a:r>
            <a:r>
              <a:rPr lang="en-US" dirty="0" err="1">
                <a:solidFill>
                  <a:schemeClr val="bg1"/>
                </a:solidFill>
              </a:rPr>
              <a:t>a.upper</a:t>
            </a:r>
            <a:r>
              <a:rPr lang="en-US" dirty="0">
                <a:solidFill>
                  <a:srgbClr val="FF66CC"/>
                </a:solidFill>
              </a:rPr>
              <a:t>()</a:t>
            </a:r>
            <a:r>
              <a:rPr lang="en-US" dirty="0" smtClean="0">
                <a:solidFill>
                  <a:schemeClr val="accent4">
                    <a:lumMod val="60000"/>
                    <a:lumOff val="40000"/>
                  </a:schemeClr>
                </a:solidFill>
              </a:rPr>
              <a:t>) #output: </a:t>
            </a:r>
            <a:r>
              <a:rPr lang="en-US" dirty="0">
                <a:solidFill>
                  <a:schemeClr val="bg1"/>
                </a:solidFill>
              </a:rPr>
              <a:t>HELLO, WORLD!</a:t>
            </a:r>
            <a:endParaRPr lang="en-US" sz="1600" dirty="0">
              <a:solidFill>
                <a:schemeClr val="bg1"/>
              </a:solidFill>
            </a:endParaRPr>
          </a:p>
        </p:txBody>
      </p:sp>
      <p:sp>
        <p:nvSpPr>
          <p:cNvPr id="14" name="TextBox 13"/>
          <p:cNvSpPr txBox="1"/>
          <p:nvPr/>
        </p:nvSpPr>
        <p:spPr>
          <a:xfrm>
            <a:off x="774221" y="2098011"/>
            <a:ext cx="7834152" cy="369332"/>
          </a:xfrm>
          <a:prstGeom prst="rect">
            <a:avLst/>
          </a:prstGeom>
          <a:noFill/>
        </p:spPr>
        <p:txBody>
          <a:bodyPr wrap="square" rtlCol="0">
            <a:spAutoFit/>
          </a:bodyPr>
          <a:lstStyle/>
          <a:p>
            <a:r>
              <a:rPr lang="en-US" dirty="0" err="1" smtClean="0"/>
              <a:t>Biến</a:t>
            </a:r>
            <a:r>
              <a:rPr lang="en-US" dirty="0" smtClean="0"/>
              <a:t> </a:t>
            </a:r>
            <a:r>
              <a:rPr lang="en-US" dirty="0" err="1" smtClean="0"/>
              <a:t>thành</a:t>
            </a:r>
            <a:r>
              <a:rPr lang="en-US" dirty="0" smtClean="0"/>
              <a:t> </a:t>
            </a:r>
            <a:r>
              <a:rPr lang="en-US" dirty="0" err="1" smtClean="0"/>
              <a:t>chuỗi</a:t>
            </a:r>
            <a:r>
              <a:rPr lang="en-US" dirty="0" smtClean="0"/>
              <a:t> </a:t>
            </a:r>
            <a:r>
              <a:rPr lang="en-US" dirty="0" err="1" smtClean="0"/>
              <a:t>viết</a:t>
            </a:r>
            <a:r>
              <a:rPr lang="en-US" dirty="0" smtClean="0"/>
              <a:t> HOA</a:t>
            </a:r>
            <a:endParaRPr lang="en-US" b="1" dirty="0"/>
          </a:p>
        </p:txBody>
      </p:sp>
      <p:sp>
        <p:nvSpPr>
          <p:cNvPr id="21" name="Rectangle 20"/>
          <p:cNvSpPr/>
          <p:nvPr/>
        </p:nvSpPr>
        <p:spPr>
          <a:xfrm>
            <a:off x="699793" y="4087685"/>
            <a:ext cx="7774356" cy="65741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p:cNvSpPr txBox="1"/>
          <p:nvPr/>
        </p:nvSpPr>
        <p:spPr>
          <a:xfrm>
            <a:off x="880547" y="4210977"/>
            <a:ext cx="7402216" cy="369332"/>
          </a:xfrm>
          <a:prstGeom prst="rect">
            <a:avLst/>
          </a:prstGeom>
          <a:noFill/>
        </p:spPr>
        <p:txBody>
          <a:bodyPr wrap="square" rtlCol="0">
            <a:spAutoFit/>
          </a:bodyPr>
          <a:lstStyle/>
          <a:p>
            <a:r>
              <a:rPr lang="en-US" dirty="0" smtClean="0">
                <a:solidFill>
                  <a:schemeClr val="bg1"/>
                </a:solidFill>
              </a:rPr>
              <a:t>print</a:t>
            </a:r>
            <a:r>
              <a:rPr lang="en-US" dirty="0" smtClean="0">
                <a:solidFill>
                  <a:schemeClr val="accent4">
                    <a:lumMod val="60000"/>
                    <a:lumOff val="40000"/>
                  </a:schemeClr>
                </a:solidFill>
              </a:rPr>
              <a:t>(</a:t>
            </a:r>
            <a:r>
              <a:rPr lang="en-US" dirty="0" err="1" smtClean="0">
                <a:solidFill>
                  <a:schemeClr val="bg1"/>
                </a:solidFill>
              </a:rPr>
              <a:t>a.lower</a:t>
            </a:r>
            <a:r>
              <a:rPr lang="en-US" dirty="0">
                <a:solidFill>
                  <a:srgbClr val="FF66CC"/>
                </a:solidFill>
              </a:rPr>
              <a:t>()</a:t>
            </a:r>
            <a:r>
              <a:rPr lang="en-US" dirty="0">
                <a:solidFill>
                  <a:schemeClr val="accent4">
                    <a:lumMod val="60000"/>
                    <a:lumOff val="40000"/>
                  </a:schemeClr>
                </a:solidFill>
              </a:rPr>
              <a:t>) #output: </a:t>
            </a:r>
            <a:r>
              <a:rPr lang="en-US" dirty="0" smtClean="0">
                <a:solidFill>
                  <a:schemeClr val="bg1"/>
                </a:solidFill>
              </a:rPr>
              <a:t>hello</a:t>
            </a:r>
            <a:r>
              <a:rPr lang="en-US" dirty="0">
                <a:solidFill>
                  <a:schemeClr val="bg1"/>
                </a:solidFill>
              </a:rPr>
              <a:t>, world</a:t>
            </a:r>
            <a:r>
              <a:rPr lang="en-US" dirty="0" smtClean="0">
                <a:solidFill>
                  <a:schemeClr val="bg1"/>
                </a:solidFill>
              </a:rPr>
              <a:t>!</a:t>
            </a:r>
            <a:endParaRPr lang="en-US" dirty="0">
              <a:solidFill>
                <a:schemeClr val="bg1"/>
              </a:solidFill>
            </a:endParaRPr>
          </a:p>
        </p:txBody>
      </p:sp>
      <p:sp>
        <p:nvSpPr>
          <p:cNvPr id="12" name="Flowchart: Decision 11"/>
          <p:cNvSpPr/>
          <p:nvPr/>
        </p:nvSpPr>
        <p:spPr>
          <a:xfrm>
            <a:off x="625365" y="2175837"/>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774221" y="3617937"/>
            <a:ext cx="7834152" cy="369332"/>
          </a:xfrm>
          <a:prstGeom prst="rect">
            <a:avLst/>
          </a:prstGeom>
          <a:noFill/>
        </p:spPr>
        <p:txBody>
          <a:bodyPr wrap="square" rtlCol="0">
            <a:spAutoFit/>
          </a:bodyPr>
          <a:lstStyle/>
          <a:p>
            <a:r>
              <a:rPr lang="en-US" dirty="0" err="1" smtClean="0"/>
              <a:t>Biến</a:t>
            </a:r>
            <a:r>
              <a:rPr lang="en-US" dirty="0" smtClean="0"/>
              <a:t> </a:t>
            </a:r>
            <a:r>
              <a:rPr lang="en-US" dirty="0" err="1" smtClean="0"/>
              <a:t>thành</a:t>
            </a:r>
            <a:r>
              <a:rPr lang="en-US" dirty="0" smtClean="0"/>
              <a:t> </a:t>
            </a:r>
            <a:r>
              <a:rPr lang="en-US" dirty="0" err="1" smtClean="0"/>
              <a:t>chuỗi</a:t>
            </a:r>
            <a:r>
              <a:rPr lang="en-US" dirty="0" smtClean="0"/>
              <a:t> </a:t>
            </a:r>
            <a:r>
              <a:rPr lang="en-US" dirty="0" err="1" smtClean="0"/>
              <a:t>viết</a:t>
            </a:r>
            <a:r>
              <a:rPr lang="en-US" dirty="0" smtClean="0"/>
              <a:t> </a:t>
            </a:r>
            <a:r>
              <a:rPr lang="en-US" dirty="0" err="1" smtClean="0"/>
              <a:t>thường</a:t>
            </a:r>
            <a:endParaRPr lang="en-US" b="1" dirty="0"/>
          </a:p>
        </p:txBody>
      </p:sp>
      <p:sp>
        <p:nvSpPr>
          <p:cNvPr id="18" name="Flowchart: Decision 17"/>
          <p:cNvSpPr/>
          <p:nvPr/>
        </p:nvSpPr>
        <p:spPr>
          <a:xfrm>
            <a:off x="625365" y="3695763"/>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774221" y="4893185"/>
            <a:ext cx="7834152" cy="369332"/>
          </a:xfrm>
          <a:prstGeom prst="rect">
            <a:avLst/>
          </a:prstGeom>
          <a:noFill/>
        </p:spPr>
        <p:txBody>
          <a:bodyPr wrap="square" rtlCol="0">
            <a:spAutoFit/>
          </a:bodyPr>
          <a:lstStyle/>
          <a:p>
            <a:r>
              <a:rPr lang="en-US" dirty="0" err="1" smtClean="0"/>
              <a:t>Kí</a:t>
            </a:r>
            <a:r>
              <a:rPr lang="en-US" dirty="0" smtClean="0"/>
              <a:t> </a:t>
            </a:r>
            <a:r>
              <a:rPr lang="en-US" dirty="0" err="1" smtClean="0"/>
              <a:t>tự</a:t>
            </a:r>
            <a:r>
              <a:rPr lang="en-US" dirty="0" smtClean="0"/>
              <a:t> </a:t>
            </a:r>
            <a:r>
              <a:rPr lang="en-US" dirty="0" err="1" smtClean="0"/>
              <a:t>đầu</a:t>
            </a:r>
            <a:r>
              <a:rPr lang="en-US" dirty="0" smtClean="0"/>
              <a:t> </a:t>
            </a:r>
            <a:r>
              <a:rPr lang="en-US" dirty="0" err="1" smtClean="0"/>
              <a:t>tiên</a:t>
            </a:r>
            <a:r>
              <a:rPr lang="en-US" dirty="0" smtClean="0"/>
              <a:t> </a:t>
            </a:r>
            <a:r>
              <a:rPr lang="en-US" dirty="0" err="1" smtClean="0"/>
              <a:t>mỗi</a:t>
            </a:r>
            <a:r>
              <a:rPr lang="en-US" dirty="0" smtClean="0"/>
              <a:t> </a:t>
            </a:r>
            <a:r>
              <a:rPr lang="en-US" dirty="0" err="1" smtClean="0"/>
              <a:t>chữ</a:t>
            </a:r>
            <a:r>
              <a:rPr lang="en-US" dirty="0" smtClean="0"/>
              <a:t> </a:t>
            </a:r>
            <a:r>
              <a:rPr lang="en-US" dirty="0" err="1" smtClean="0"/>
              <a:t>viết</a:t>
            </a:r>
            <a:r>
              <a:rPr lang="en-US" dirty="0" smtClean="0"/>
              <a:t> HOA</a:t>
            </a:r>
            <a:endParaRPr lang="en-US" b="1" dirty="0"/>
          </a:p>
        </p:txBody>
      </p:sp>
      <p:sp>
        <p:nvSpPr>
          <p:cNvPr id="20" name="Flowchart: Decision 19"/>
          <p:cNvSpPr/>
          <p:nvPr/>
        </p:nvSpPr>
        <p:spPr>
          <a:xfrm>
            <a:off x="625365" y="4971011"/>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699793" y="5365904"/>
            <a:ext cx="7774356" cy="106999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p:cNvSpPr txBox="1"/>
          <p:nvPr/>
        </p:nvSpPr>
        <p:spPr>
          <a:xfrm>
            <a:off x="880547" y="5527066"/>
            <a:ext cx="7402216" cy="646331"/>
          </a:xfrm>
          <a:prstGeom prst="rect">
            <a:avLst/>
          </a:prstGeom>
          <a:noFill/>
        </p:spPr>
        <p:txBody>
          <a:bodyPr wrap="square" rtlCol="0">
            <a:spAutoFit/>
          </a:bodyPr>
          <a:lstStyle/>
          <a:p>
            <a:r>
              <a:rPr lang="en-US" dirty="0">
                <a:solidFill>
                  <a:schemeClr val="bg1"/>
                </a:solidFill>
              </a:rPr>
              <a:t>txt = "Welcome to my world"</a:t>
            </a:r>
          </a:p>
          <a:p>
            <a:r>
              <a:rPr lang="en-US" dirty="0" smtClean="0">
                <a:solidFill>
                  <a:schemeClr val="bg1"/>
                </a:solidFill>
              </a:rPr>
              <a:t>print</a:t>
            </a:r>
            <a:r>
              <a:rPr lang="en-US" dirty="0" smtClean="0">
                <a:solidFill>
                  <a:schemeClr val="accent4">
                    <a:lumMod val="60000"/>
                    <a:lumOff val="40000"/>
                  </a:schemeClr>
                </a:solidFill>
              </a:rPr>
              <a:t>(</a:t>
            </a:r>
            <a:r>
              <a:rPr lang="en-US" dirty="0" err="1" smtClean="0">
                <a:solidFill>
                  <a:schemeClr val="bg1"/>
                </a:solidFill>
              </a:rPr>
              <a:t>txt.title</a:t>
            </a:r>
            <a:r>
              <a:rPr lang="en-US" dirty="0" smtClean="0">
                <a:solidFill>
                  <a:srgbClr val="FF66CC"/>
                </a:solidFill>
              </a:rPr>
              <a:t>()</a:t>
            </a:r>
            <a:r>
              <a:rPr lang="en-US" dirty="0" smtClean="0">
                <a:solidFill>
                  <a:schemeClr val="accent4">
                    <a:lumMod val="60000"/>
                    <a:lumOff val="40000"/>
                  </a:schemeClr>
                </a:solidFill>
              </a:rPr>
              <a:t>) </a:t>
            </a:r>
            <a:r>
              <a:rPr lang="en-US" dirty="0">
                <a:solidFill>
                  <a:schemeClr val="accent4">
                    <a:lumMod val="60000"/>
                    <a:lumOff val="40000"/>
                  </a:schemeClr>
                </a:solidFill>
              </a:rPr>
              <a:t>#output: </a:t>
            </a:r>
            <a:r>
              <a:rPr lang="en-US" dirty="0">
                <a:solidFill>
                  <a:schemeClr val="bg1"/>
                </a:solidFill>
              </a:rPr>
              <a:t>Welcome To My World</a:t>
            </a:r>
          </a:p>
        </p:txBody>
      </p:sp>
    </p:spTree>
    <p:extLst>
      <p:ext uri="{BB962C8B-B14F-4D97-AF65-F5344CB8AC3E}">
        <p14:creationId xmlns:p14="http://schemas.microsoft.com/office/powerpoint/2010/main" val="459535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32</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2.9 </a:t>
            </a:r>
            <a:r>
              <a:rPr lang="en-US" dirty="0" err="1" smtClean="0"/>
              <a:t>Các</a:t>
            </a:r>
            <a:r>
              <a:rPr lang="en-US" dirty="0" smtClean="0"/>
              <a:t> </a:t>
            </a:r>
            <a:r>
              <a:rPr lang="en-US" dirty="0" err="1" smtClean="0"/>
              <a:t>phương</a:t>
            </a:r>
            <a:r>
              <a:rPr lang="en-US" dirty="0" smtClean="0"/>
              <a:t> </a:t>
            </a:r>
            <a:r>
              <a:rPr lang="en-US" dirty="0" err="1" smtClean="0"/>
              <a:t>thức</a:t>
            </a:r>
            <a:r>
              <a:rPr lang="en-US" dirty="0" smtClean="0"/>
              <a:t> </a:t>
            </a:r>
            <a:r>
              <a:rPr lang="en-US" dirty="0" err="1" smtClean="0"/>
              <a:t>xử</a:t>
            </a:r>
            <a:r>
              <a:rPr lang="en-US" dirty="0" smtClean="0"/>
              <a:t> </a:t>
            </a:r>
            <a:r>
              <a:rPr lang="en-US" dirty="0" err="1" smtClean="0"/>
              <a:t>lí</a:t>
            </a:r>
            <a:r>
              <a:rPr lang="en-US" dirty="0" smtClean="0"/>
              <a:t> </a:t>
            </a:r>
            <a:r>
              <a:rPr lang="en-US" dirty="0" err="1"/>
              <a:t>C</a:t>
            </a:r>
            <a:r>
              <a:rPr lang="en-US" dirty="0" err="1" smtClean="0"/>
              <a:t>huỗi</a:t>
            </a:r>
            <a:endParaRPr lang="en-US" dirty="0"/>
          </a:p>
        </p:txBody>
      </p:sp>
      <p:sp>
        <p:nvSpPr>
          <p:cNvPr id="29" name="Rectangle 28"/>
          <p:cNvSpPr/>
          <p:nvPr/>
        </p:nvSpPr>
        <p:spPr>
          <a:xfrm>
            <a:off x="699793" y="2589546"/>
            <a:ext cx="7774356" cy="81583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880547" y="2640746"/>
            <a:ext cx="7402216" cy="646331"/>
          </a:xfrm>
          <a:prstGeom prst="rect">
            <a:avLst/>
          </a:prstGeom>
          <a:noFill/>
        </p:spPr>
        <p:txBody>
          <a:bodyPr wrap="square" rtlCol="0">
            <a:spAutoFit/>
          </a:bodyPr>
          <a:lstStyle/>
          <a:p>
            <a:r>
              <a:rPr lang="en-US" dirty="0" smtClean="0">
                <a:solidFill>
                  <a:schemeClr val="bg1"/>
                </a:solidFill>
              </a:rPr>
              <a:t>a = </a:t>
            </a:r>
            <a:r>
              <a:rPr lang="en-US" dirty="0" smtClean="0">
                <a:solidFill>
                  <a:schemeClr val="accent2">
                    <a:lumMod val="75000"/>
                  </a:schemeClr>
                </a:solidFill>
              </a:rPr>
              <a:t>"Hello, World!"</a:t>
            </a:r>
            <a:r>
              <a:rPr lang="en-US" dirty="0" smtClean="0">
                <a:solidFill>
                  <a:schemeClr val="bg1"/>
                </a:solidFill>
              </a:rPr>
              <a:t/>
            </a:r>
            <a:br>
              <a:rPr lang="en-US" dirty="0" smtClean="0">
                <a:solidFill>
                  <a:schemeClr val="bg1"/>
                </a:solidFill>
              </a:rPr>
            </a:br>
            <a:r>
              <a:rPr lang="en-US" dirty="0" smtClean="0">
                <a:solidFill>
                  <a:schemeClr val="bg1"/>
                </a:solidFill>
              </a:rPr>
              <a:t>print</a:t>
            </a:r>
            <a:r>
              <a:rPr lang="en-US" dirty="0" smtClean="0">
                <a:solidFill>
                  <a:schemeClr val="accent4">
                    <a:lumMod val="60000"/>
                    <a:lumOff val="40000"/>
                  </a:schemeClr>
                </a:solidFill>
              </a:rPr>
              <a:t>(</a:t>
            </a:r>
            <a:r>
              <a:rPr lang="en-US" dirty="0" err="1" smtClean="0">
                <a:solidFill>
                  <a:schemeClr val="bg1"/>
                </a:solidFill>
              </a:rPr>
              <a:t>a.split</a:t>
            </a:r>
            <a:r>
              <a:rPr lang="en-US" dirty="0" smtClean="0">
                <a:solidFill>
                  <a:srgbClr val="FF66CC"/>
                </a:solidFill>
              </a:rPr>
              <a:t>(</a:t>
            </a:r>
            <a:r>
              <a:rPr lang="en-US" dirty="0" smtClean="0">
                <a:solidFill>
                  <a:schemeClr val="accent2">
                    <a:lumMod val="75000"/>
                  </a:schemeClr>
                </a:solidFill>
              </a:rPr>
              <a:t>","</a:t>
            </a:r>
            <a:r>
              <a:rPr lang="en-US" dirty="0" smtClean="0">
                <a:solidFill>
                  <a:srgbClr val="FF66CC"/>
                </a:solidFill>
              </a:rPr>
              <a:t>)</a:t>
            </a:r>
            <a:r>
              <a:rPr lang="en-US" dirty="0" smtClean="0">
                <a:solidFill>
                  <a:schemeClr val="accent4">
                    <a:lumMod val="60000"/>
                    <a:lumOff val="40000"/>
                  </a:schemeClr>
                </a:solidFill>
              </a:rPr>
              <a:t>) #returns list:  ['Hello', ' World!']</a:t>
            </a:r>
            <a:endParaRPr lang="en-US" sz="1600" dirty="0">
              <a:solidFill>
                <a:schemeClr val="accent4">
                  <a:lumMod val="60000"/>
                  <a:lumOff val="40000"/>
                </a:schemeClr>
              </a:solidFill>
            </a:endParaRPr>
          </a:p>
        </p:txBody>
      </p:sp>
      <p:sp>
        <p:nvSpPr>
          <p:cNvPr id="14" name="TextBox 13"/>
          <p:cNvSpPr txBox="1"/>
          <p:nvPr/>
        </p:nvSpPr>
        <p:spPr>
          <a:xfrm>
            <a:off x="774221" y="2098011"/>
            <a:ext cx="7834152" cy="369332"/>
          </a:xfrm>
          <a:prstGeom prst="rect">
            <a:avLst/>
          </a:prstGeom>
          <a:noFill/>
        </p:spPr>
        <p:txBody>
          <a:bodyPr wrap="square" rtlCol="0">
            <a:spAutoFit/>
          </a:bodyPr>
          <a:lstStyle/>
          <a:p>
            <a:r>
              <a:rPr lang="en-US" dirty="0" err="1" smtClean="0"/>
              <a:t>Tách</a:t>
            </a:r>
            <a:r>
              <a:rPr lang="en-US" dirty="0" smtClean="0"/>
              <a:t> </a:t>
            </a:r>
            <a:r>
              <a:rPr lang="en-US" dirty="0" err="1" smtClean="0"/>
              <a:t>chuỗi</a:t>
            </a:r>
            <a:r>
              <a:rPr lang="en-US" dirty="0" smtClean="0"/>
              <a:t> </a:t>
            </a:r>
            <a:r>
              <a:rPr lang="en-US" dirty="0" err="1" smtClean="0"/>
              <a:t>với</a:t>
            </a:r>
            <a:r>
              <a:rPr lang="en-US" dirty="0" smtClean="0"/>
              <a:t> </a:t>
            </a:r>
            <a:r>
              <a:rPr lang="en-US" b="1" dirty="0">
                <a:solidFill>
                  <a:srgbClr val="FF0000"/>
                </a:solidFill>
              </a:rPr>
              <a:t>split</a:t>
            </a:r>
            <a:r>
              <a:rPr lang="en-US" b="1" dirty="0" smtClean="0">
                <a:solidFill>
                  <a:srgbClr val="FF0000"/>
                </a:solidFill>
              </a:rPr>
              <a:t>()</a:t>
            </a:r>
            <a:r>
              <a:rPr lang="en-US" b="1" dirty="0" smtClean="0"/>
              <a:t> </a:t>
            </a:r>
            <a:r>
              <a:rPr lang="en-US" dirty="0" err="1" smtClean="0"/>
              <a:t>dựa</a:t>
            </a:r>
            <a:r>
              <a:rPr lang="en-US" dirty="0" smtClean="0"/>
              <a:t> </a:t>
            </a:r>
            <a:r>
              <a:rPr lang="en-US" dirty="0" err="1" smtClean="0"/>
              <a:t>vào</a:t>
            </a:r>
            <a:r>
              <a:rPr lang="en-US" dirty="0" smtClean="0"/>
              <a:t> </a:t>
            </a:r>
            <a:r>
              <a:rPr lang="en-US" dirty="0" err="1" smtClean="0"/>
              <a:t>một</a:t>
            </a:r>
            <a:r>
              <a:rPr lang="en-US" dirty="0" smtClean="0"/>
              <a:t> </a:t>
            </a:r>
            <a:r>
              <a:rPr lang="en-US" dirty="0" err="1" smtClean="0"/>
              <a:t>kí</a:t>
            </a:r>
            <a:r>
              <a:rPr lang="en-US" dirty="0" smtClean="0"/>
              <a:t> </a:t>
            </a:r>
            <a:r>
              <a:rPr lang="en-US" dirty="0" err="1" smtClean="0"/>
              <a:t>tự</a:t>
            </a:r>
            <a:r>
              <a:rPr lang="en-US" dirty="0" smtClean="0"/>
              <a:t> </a:t>
            </a:r>
            <a:r>
              <a:rPr lang="en-US" dirty="0" err="1" smtClean="0"/>
              <a:t>nằm</a:t>
            </a:r>
            <a:r>
              <a:rPr lang="en-US" dirty="0" smtClean="0"/>
              <a:t> </a:t>
            </a:r>
            <a:r>
              <a:rPr lang="en-US" dirty="0" err="1" smtClean="0"/>
              <a:t>giữa</a:t>
            </a:r>
            <a:r>
              <a:rPr lang="en-US" dirty="0" smtClean="0"/>
              <a:t> </a:t>
            </a:r>
            <a:r>
              <a:rPr lang="en-US" dirty="0" err="1" smtClean="0"/>
              <a:t>chuỗi</a:t>
            </a:r>
            <a:endParaRPr lang="en-US" b="1" dirty="0"/>
          </a:p>
        </p:txBody>
      </p:sp>
      <p:sp>
        <p:nvSpPr>
          <p:cNvPr id="21" name="Rectangle 20"/>
          <p:cNvSpPr/>
          <p:nvPr/>
        </p:nvSpPr>
        <p:spPr>
          <a:xfrm>
            <a:off x="699793" y="3906854"/>
            <a:ext cx="7774356" cy="88123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 name="TextBox 21"/>
          <p:cNvSpPr txBox="1"/>
          <p:nvPr/>
        </p:nvSpPr>
        <p:spPr>
          <a:xfrm>
            <a:off x="880547" y="4030146"/>
            <a:ext cx="7402216" cy="646331"/>
          </a:xfrm>
          <a:prstGeom prst="rect">
            <a:avLst/>
          </a:prstGeom>
          <a:noFill/>
        </p:spPr>
        <p:txBody>
          <a:bodyPr wrap="square" rtlCol="0">
            <a:spAutoFit/>
          </a:bodyPr>
          <a:lstStyle/>
          <a:p>
            <a:r>
              <a:rPr lang="en-US" dirty="0">
                <a:solidFill>
                  <a:schemeClr val="bg1"/>
                </a:solidFill>
              </a:rPr>
              <a:t>a = </a:t>
            </a:r>
            <a:r>
              <a:rPr lang="en-US" dirty="0">
                <a:solidFill>
                  <a:schemeClr val="accent2">
                    <a:lumMod val="75000"/>
                  </a:schemeClr>
                </a:solidFill>
              </a:rPr>
              <a:t>" Hello, World! "</a:t>
            </a:r>
            <a:r>
              <a:rPr lang="en-US" dirty="0">
                <a:solidFill>
                  <a:schemeClr val="bg1"/>
                </a:solidFill>
              </a:rPr>
              <a:t/>
            </a:r>
            <a:br>
              <a:rPr lang="en-US" dirty="0">
                <a:solidFill>
                  <a:schemeClr val="bg1"/>
                </a:solidFill>
              </a:rPr>
            </a:br>
            <a:r>
              <a:rPr lang="en-US" dirty="0" smtClean="0">
                <a:solidFill>
                  <a:schemeClr val="bg1"/>
                </a:solidFill>
              </a:rPr>
              <a:t>print</a:t>
            </a:r>
            <a:r>
              <a:rPr lang="en-US" dirty="0" smtClean="0">
                <a:solidFill>
                  <a:schemeClr val="accent4">
                    <a:lumMod val="60000"/>
                    <a:lumOff val="40000"/>
                  </a:schemeClr>
                </a:solidFill>
              </a:rPr>
              <a:t>(</a:t>
            </a:r>
            <a:r>
              <a:rPr lang="en-US" dirty="0" err="1" smtClean="0">
                <a:solidFill>
                  <a:schemeClr val="bg1"/>
                </a:solidFill>
              </a:rPr>
              <a:t>a.strip</a:t>
            </a:r>
            <a:r>
              <a:rPr lang="en-US" dirty="0" smtClean="0">
                <a:solidFill>
                  <a:srgbClr val="FF66CC"/>
                </a:solidFill>
              </a:rPr>
              <a:t>()</a:t>
            </a:r>
            <a:r>
              <a:rPr lang="en-US" dirty="0" smtClean="0">
                <a:solidFill>
                  <a:schemeClr val="accent4">
                    <a:lumMod val="60000"/>
                    <a:lumOff val="40000"/>
                  </a:schemeClr>
                </a:solidFill>
              </a:rPr>
              <a:t>) </a:t>
            </a:r>
            <a:r>
              <a:rPr lang="en-US" dirty="0">
                <a:solidFill>
                  <a:schemeClr val="bg1"/>
                </a:solidFill>
              </a:rPr>
              <a:t> </a:t>
            </a:r>
            <a:r>
              <a:rPr lang="en-US" dirty="0">
                <a:solidFill>
                  <a:schemeClr val="accent4">
                    <a:lumMod val="60000"/>
                    <a:lumOff val="40000"/>
                  </a:schemeClr>
                </a:solidFill>
              </a:rPr>
              <a:t># returns "Hello, World!"</a:t>
            </a:r>
          </a:p>
        </p:txBody>
      </p:sp>
      <p:sp>
        <p:nvSpPr>
          <p:cNvPr id="13" name="TextBox 12"/>
          <p:cNvSpPr txBox="1"/>
          <p:nvPr/>
        </p:nvSpPr>
        <p:spPr>
          <a:xfrm>
            <a:off x="774221" y="3458387"/>
            <a:ext cx="7834152" cy="369332"/>
          </a:xfrm>
          <a:prstGeom prst="rect">
            <a:avLst/>
          </a:prstGeom>
          <a:noFill/>
        </p:spPr>
        <p:txBody>
          <a:bodyPr wrap="square" rtlCol="0">
            <a:spAutoFit/>
          </a:bodyPr>
          <a:lstStyle/>
          <a:p>
            <a:r>
              <a:rPr lang="en-US" dirty="0" err="1" smtClean="0"/>
              <a:t>Xóa</a:t>
            </a:r>
            <a:r>
              <a:rPr lang="en-US" dirty="0" smtClean="0"/>
              <a:t> </a:t>
            </a:r>
            <a:r>
              <a:rPr lang="en-US" dirty="0" err="1" smtClean="0"/>
              <a:t>khoảng</a:t>
            </a:r>
            <a:r>
              <a:rPr lang="en-US" dirty="0" smtClean="0"/>
              <a:t> </a:t>
            </a:r>
            <a:r>
              <a:rPr lang="en-US" dirty="0" err="1" smtClean="0"/>
              <a:t>trắng</a:t>
            </a:r>
            <a:r>
              <a:rPr lang="en-US" dirty="0" smtClean="0"/>
              <a:t> 2 </a:t>
            </a:r>
            <a:r>
              <a:rPr lang="en-US" dirty="0" err="1" smtClean="0"/>
              <a:t>đầu</a:t>
            </a:r>
            <a:r>
              <a:rPr lang="en-US" dirty="0" smtClean="0"/>
              <a:t> </a:t>
            </a:r>
            <a:r>
              <a:rPr lang="en-US" dirty="0" err="1" smtClean="0"/>
              <a:t>chuỗi</a:t>
            </a:r>
            <a:r>
              <a:rPr lang="en-US" dirty="0" smtClean="0"/>
              <a:t> </a:t>
            </a:r>
            <a:r>
              <a:rPr lang="en-US" dirty="0" err="1" smtClean="0"/>
              <a:t>với</a:t>
            </a:r>
            <a:r>
              <a:rPr lang="en-US" dirty="0" smtClean="0"/>
              <a:t> </a:t>
            </a:r>
            <a:r>
              <a:rPr lang="en-US" b="1" dirty="0" smtClean="0">
                <a:solidFill>
                  <a:srgbClr val="FF0000"/>
                </a:solidFill>
              </a:rPr>
              <a:t>strip()</a:t>
            </a:r>
            <a:endParaRPr lang="en-US" b="1" dirty="0">
              <a:solidFill>
                <a:srgbClr val="FF0000"/>
              </a:solidFill>
            </a:endParaRPr>
          </a:p>
        </p:txBody>
      </p:sp>
      <p:sp>
        <p:nvSpPr>
          <p:cNvPr id="18" name="Flowchart: Decision 17"/>
          <p:cNvSpPr/>
          <p:nvPr/>
        </p:nvSpPr>
        <p:spPr>
          <a:xfrm>
            <a:off x="625365" y="3536213"/>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774221" y="4893185"/>
            <a:ext cx="7834152" cy="369332"/>
          </a:xfrm>
          <a:prstGeom prst="rect">
            <a:avLst/>
          </a:prstGeom>
          <a:noFill/>
        </p:spPr>
        <p:txBody>
          <a:bodyPr wrap="square" rtlCol="0">
            <a:spAutoFit/>
          </a:bodyPr>
          <a:lstStyle/>
          <a:p>
            <a:r>
              <a:rPr lang="en-US" dirty="0" err="1" smtClean="0"/>
              <a:t>Thay</a:t>
            </a:r>
            <a:r>
              <a:rPr lang="en-US" dirty="0" smtClean="0"/>
              <a:t> </a:t>
            </a:r>
            <a:r>
              <a:rPr lang="en-US" dirty="0" err="1" smtClean="0"/>
              <a:t>thế</a:t>
            </a:r>
            <a:r>
              <a:rPr lang="en-US" dirty="0" smtClean="0"/>
              <a:t> </a:t>
            </a:r>
            <a:r>
              <a:rPr lang="en-US" dirty="0" err="1" smtClean="0"/>
              <a:t>kí</a:t>
            </a:r>
            <a:r>
              <a:rPr lang="en-US" dirty="0" smtClean="0"/>
              <a:t> </a:t>
            </a:r>
            <a:r>
              <a:rPr lang="en-US" dirty="0" err="1" smtClean="0"/>
              <a:t>tự</a:t>
            </a:r>
            <a:r>
              <a:rPr lang="en-US" dirty="0" smtClean="0"/>
              <a:t> </a:t>
            </a:r>
            <a:r>
              <a:rPr lang="en-US" dirty="0" err="1" smtClean="0"/>
              <a:t>trong</a:t>
            </a:r>
            <a:r>
              <a:rPr lang="en-US" dirty="0" smtClean="0"/>
              <a:t> </a:t>
            </a:r>
            <a:r>
              <a:rPr lang="en-US" dirty="0" err="1" smtClean="0"/>
              <a:t>chuỗi</a:t>
            </a:r>
            <a:r>
              <a:rPr lang="en-US" dirty="0" smtClean="0"/>
              <a:t> </a:t>
            </a:r>
            <a:r>
              <a:rPr lang="en-US" dirty="0" err="1" smtClean="0"/>
              <a:t>với</a:t>
            </a:r>
            <a:r>
              <a:rPr lang="en-US" dirty="0" smtClean="0"/>
              <a:t> </a:t>
            </a:r>
            <a:r>
              <a:rPr lang="en-US" b="1" dirty="0" smtClean="0">
                <a:solidFill>
                  <a:srgbClr val="FF0000"/>
                </a:solidFill>
              </a:rPr>
              <a:t>replace()</a:t>
            </a:r>
            <a:endParaRPr lang="en-US" b="1" dirty="0">
              <a:solidFill>
                <a:srgbClr val="FF0000"/>
              </a:solidFill>
            </a:endParaRPr>
          </a:p>
        </p:txBody>
      </p:sp>
      <p:sp>
        <p:nvSpPr>
          <p:cNvPr id="20" name="Flowchart: Decision 19"/>
          <p:cNvSpPr/>
          <p:nvPr/>
        </p:nvSpPr>
        <p:spPr>
          <a:xfrm>
            <a:off x="625365" y="4971011"/>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699793" y="5365904"/>
            <a:ext cx="7774356" cy="106999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p:cNvSpPr txBox="1"/>
          <p:nvPr/>
        </p:nvSpPr>
        <p:spPr>
          <a:xfrm>
            <a:off x="880547" y="5527066"/>
            <a:ext cx="7402216" cy="646331"/>
          </a:xfrm>
          <a:prstGeom prst="rect">
            <a:avLst/>
          </a:prstGeom>
          <a:noFill/>
        </p:spPr>
        <p:txBody>
          <a:bodyPr wrap="square" rtlCol="0">
            <a:spAutoFit/>
          </a:bodyPr>
          <a:lstStyle/>
          <a:p>
            <a:r>
              <a:rPr lang="en-US" dirty="0">
                <a:solidFill>
                  <a:schemeClr val="bg1"/>
                </a:solidFill>
              </a:rPr>
              <a:t>txt = "Welcome to my world"</a:t>
            </a:r>
          </a:p>
          <a:p>
            <a:r>
              <a:rPr lang="en-US" dirty="0" smtClean="0">
                <a:solidFill>
                  <a:schemeClr val="bg1"/>
                </a:solidFill>
              </a:rPr>
              <a:t>print</a:t>
            </a:r>
            <a:r>
              <a:rPr lang="en-US" dirty="0" smtClean="0">
                <a:solidFill>
                  <a:schemeClr val="accent4">
                    <a:lumMod val="60000"/>
                    <a:lumOff val="40000"/>
                  </a:schemeClr>
                </a:solidFill>
              </a:rPr>
              <a:t>(</a:t>
            </a:r>
            <a:r>
              <a:rPr lang="en-US" dirty="0" err="1" smtClean="0">
                <a:solidFill>
                  <a:schemeClr val="bg1"/>
                </a:solidFill>
              </a:rPr>
              <a:t>txt.replace</a:t>
            </a:r>
            <a:r>
              <a:rPr lang="en-US" dirty="0" smtClean="0">
                <a:solidFill>
                  <a:srgbClr val="FF66CC"/>
                </a:solidFill>
              </a:rPr>
              <a:t>(</a:t>
            </a:r>
            <a:r>
              <a:rPr lang="en-US" dirty="0" smtClean="0">
                <a:solidFill>
                  <a:schemeClr val="accent2">
                    <a:lumMod val="75000"/>
                  </a:schemeClr>
                </a:solidFill>
              </a:rPr>
              <a:t>“world"</a:t>
            </a:r>
            <a:r>
              <a:rPr lang="en-US" dirty="0" smtClean="0">
                <a:solidFill>
                  <a:schemeClr val="bg1"/>
                </a:solidFill>
              </a:rPr>
              <a:t>,</a:t>
            </a:r>
            <a:r>
              <a:rPr lang="en-US" dirty="0">
                <a:solidFill>
                  <a:schemeClr val="accent2">
                    <a:lumMod val="75000"/>
                  </a:schemeClr>
                </a:solidFill>
              </a:rPr>
              <a:t> </a:t>
            </a:r>
            <a:r>
              <a:rPr lang="en-US" dirty="0" smtClean="0">
                <a:solidFill>
                  <a:schemeClr val="accent2">
                    <a:lumMod val="75000"/>
                  </a:schemeClr>
                </a:solidFill>
              </a:rPr>
              <a:t>“home"</a:t>
            </a:r>
            <a:r>
              <a:rPr lang="en-US" dirty="0" smtClean="0">
                <a:solidFill>
                  <a:srgbClr val="FF66CC"/>
                </a:solidFill>
              </a:rPr>
              <a:t>)</a:t>
            </a:r>
            <a:r>
              <a:rPr lang="en-US" dirty="0" smtClean="0">
                <a:solidFill>
                  <a:schemeClr val="accent4">
                    <a:lumMod val="60000"/>
                    <a:lumOff val="40000"/>
                  </a:schemeClr>
                </a:solidFill>
              </a:rPr>
              <a:t>) </a:t>
            </a:r>
            <a:r>
              <a:rPr lang="en-US" dirty="0">
                <a:solidFill>
                  <a:schemeClr val="accent4">
                    <a:lumMod val="60000"/>
                    <a:lumOff val="40000"/>
                  </a:schemeClr>
                </a:solidFill>
              </a:rPr>
              <a:t>#output: </a:t>
            </a:r>
            <a:r>
              <a:rPr lang="en-US" dirty="0">
                <a:solidFill>
                  <a:schemeClr val="bg1"/>
                </a:solidFill>
              </a:rPr>
              <a:t>Welcome To My </a:t>
            </a:r>
            <a:r>
              <a:rPr lang="en-US" dirty="0" smtClean="0">
                <a:solidFill>
                  <a:schemeClr val="bg1"/>
                </a:solidFill>
              </a:rPr>
              <a:t>home</a:t>
            </a:r>
            <a:endParaRPr lang="en-US" dirty="0">
              <a:solidFill>
                <a:schemeClr val="bg1"/>
              </a:solidFill>
            </a:endParaRPr>
          </a:p>
        </p:txBody>
      </p:sp>
      <p:sp>
        <p:nvSpPr>
          <p:cNvPr id="25" name="Flowchart: Decision 24"/>
          <p:cNvSpPr/>
          <p:nvPr/>
        </p:nvSpPr>
        <p:spPr>
          <a:xfrm>
            <a:off x="625365" y="2207205"/>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smtClean="0"/>
              <a:t>Biến</a:t>
            </a:r>
            <a:r>
              <a:rPr lang="en-US" b="1" dirty="0" smtClean="0"/>
              <a:t> </a:t>
            </a:r>
            <a:r>
              <a:rPr lang="en-US" b="1" dirty="0" err="1" smtClean="0"/>
              <a:t>đổi</a:t>
            </a:r>
            <a:r>
              <a:rPr lang="en-US" b="1" dirty="0" smtClean="0"/>
              <a:t> </a:t>
            </a:r>
            <a:r>
              <a:rPr lang="en-US" b="1" dirty="0" err="1" smtClean="0"/>
              <a:t>chuỗi</a:t>
            </a:r>
            <a:endParaRPr lang="en-US" b="1" dirty="0">
              <a:solidFill>
                <a:srgbClr val="FF0000"/>
              </a:solidFill>
            </a:endParaRPr>
          </a:p>
        </p:txBody>
      </p:sp>
    </p:spTree>
    <p:extLst>
      <p:ext uri="{BB962C8B-B14F-4D97-AF65-F5344CB8AC3E}">
        <p14:creationId xmlns:p14="http://schemas.microsoft.com/office/powerpoint/2010/main" val="63647157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33</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2.9 </a:t>
            </a:r>
            <a:r>
              <a:rPr lang="en-US" dirty="0" err="1" smtClean="0"/>
              <a:t>Định</a:t>
            </a:r>
            <a:r>
              <a:rPr lang="en-US" dirty="0" smtClean="0"/>
              <a:t> </a:t>
            </a:r>
            <a:r>
              <a:rPr lang="en-US" dirty="0" err="1" smtClean="0"/>
              <a:t>dạng</a:t>
            </a:r>
            <a:r>
              <a:rPr lang="en-US" dirty="0" smtClean="0"/>
              <a:t> </a:t>
            </a:r>
            <a:r>
              <a:rPr lang="en-US" dirty="0" err="1"/>
              <a:t>C</a:t>
            </a:r>
            <a:r>
              <a:rPr lang="en-US" dirty="0" err="1" smtClean="0"/>
              <a:t>huỗi</a:t>
            </a:r>
            <a:endParaRPr lang="en-US" dirty="0"/>
          </a:p>
        </p:txBody>
      </p:sp>
      <p:sp>
        <p:nvSpPr>
          <p:cNvPr id="29" name="Rectangle 28"/>
          <p:cNvSpPr/>
          <p:nvPr/>
        </p:nvSpPr>
        <p:spPr>
          <a:xfrm>
            <a:off x="699793" y="2847729"/>
            <a:ext cx="7774356" cy="141687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880547" y="2898929"/>
            <a:ext cx="7402216" cy="1200329"/>
          </a:xfrm>
          <a:prstGeom prst="rect">
            <a:avLst/>
          </a:prstGeom>
          <a:noFill/>
        </p:spPr>
        <p:txBody>
          <a:bodyPr wrap="square" rtlCol="0">
            <a:spAutoFit/>
          </a:bodyPr>
          <a:lstStyle/>
          <a:p>
            <a:r>
              <a:rPr lang="en-US" dirty="0">
                <a:solidFill>
                  <a:schemeClr val="bg1"/>
                </a:solidFill>
              </a:rPr>
              <a:t>age = </a:t>
            </a:r>
            <a:r>
              <a:rPr lang="en-US" dirty="0">
                <a:solidFill>
                  <a:schemeClr val="accent6">
                    <a:lumMod val="60000"/>
                    <a:lumOff val="40000"/>
                  </a:schemeClr>
                </a:solidFill>
              </a:rPr>
              <a:t>36</a:t>
            </a:r>
            <a:r>
              <a:rPr lang="en-US" dirty="0">
                <a:solidFill>
                  <a:schemeClr val="bg1"/>
                </a:solidFill>
              </a:rPr>
              <a:t/>
            </a:r>
            <a:br>
              <a:rPr lang="en-US" dirty="0">
                <a:solidFill>
                  <a:schemeClr val="bg1"/>
                </a:solidFill>
              </a:rPr>
            </a:br>
            <a:r>
              <a:rPr lang="en-US" dirty="0">
                <a:solidFill>
                  <a:schemeClr val="bg1"/>
                </a:solidFill>
              </a:rPr>
              <a:t>txt = </a:t>
            </a:r>
            <a:r>
              <a:rPr lang="en-US" dirty="0" smtClean="0">
                <a:solidFill>
                  <a:schemeClr val="accent2">
                    <a:lumMod val="75000"/>
                  </a:schemeClr>
                </a:solidFill>
              </a:rPr>
              <a:t>“</a:t>
            </a:r>
            <a:r>
              <a:rPr lang="en-US" dirty="0" err="1" smtClean="0">
                <a:solidFill>
                  <a:schemeClr val="accent2">
                    <a:lumMod val="75000"/>
                  </a:schemeClr>
                </a:solidFill>
              </a:rPr>
              <a:t>Tôi</a:t>
            </a:r>
            <a:r>
              <a:rPr lang="en-US" dirty="0" smtClean="0">
                <a:solidFill>
                  <a:schemeClr val="accent2">
                    <a:lumMod val="75000"/>
                  </a:schemeClr>
                </a:solidFill>
              </a:rPr>
              <a:t> </a:t>
            </a:r>
            <a:r>
              <a:rPr lang="en-US" dirty="0" err="1" smtClean="0">
                <a:solidFill>
                  <a:schemeClr val="accent2">
                    <a:lumMod val="75000"/>
                  </a:schemeClr>
                </a:solidFill>
              </a:rPr>
              <a:t>là</a:t>
            </a:r>
            <a:r>
              <a:rPr lang="en-US" dirty="0" smtClean="0">
                <a:solidFill>
                  <a:schemeClr val="accent2">
                    <a:lumMod val="75000"/>
                  </a:schemeClr>
                </a:solidFill>
              </a:rPr>
              <a:t>  </a:t>
            </a:r>
            <a:r>
              <a:rPr lang="en-US" dirty="0">
                <a:solidFill>
                  <a:schemeClr val="accent2">
                    <a:lumMod val="75000"/>
                  </a:schemeClr>
                </a:solidFill>
              </a:rPr>
              <a:t>John, </a:t>
            </a:r>
            <a:r>
              <a:rPr lang="en-US" dirty="0" err="1" smtClean="0">
                <a:solidFill>
                  <a:schemeClr val="accent2">
                    <a:lumMod val="75000"/>
                  </a:schemeClr>
                </a:solidFill>
              </a:rPr>
              <a:t>Tôi</a:t>
            </a:r>
            <a:r>
              <a:rPr lang="en-US" dirty="0" smtClean="0">
                <a:solidFill>
                  <a:schemeClr val="accent2">
                    <a:lumMod val="75000"/>
                  </a:schemeClr>
                </a:solidFill>
              </a:rPr>
              <a:t> {} </a:t>
            </a:r>
            <a:r>
              <a:rPr lang="en-US" dirty="0" err="1" smtClean="0">
                <a:solidFill>
                  <a:schemeClr val="accent2">
                    <a:lumMod val="75000"/>
                  </a:schemeClr>
                </a:solidFill>
              </a:rPr>
              <a:t>tuổi</a:t>
            </a:r>
            <a:r>
              <a:rPr lang="en-US" dirty="0" smtClean="0">
                <a:solidFill>
                  <a:schemeClr val="accent2">
                    <a:lumMod val="75000"/>
                  </a:schemeClr>
                </a:solidFill>
              </a:rPr>
              <a:t>"</a:t>
            </a:r>
            <a:r>
              <a:rPr lang="en-US" dirty="0">
                <a:solidFill>
                  <a:schemeClr val="bg1"/>
                </a:solidFill>
              </a:rPr>
              <a:t/>
            </a:r>
            <a:br>
              <a:rPr lang="en-US" dirty="0">
                <a:solidFill>
                  <a:schemeClr val="bg1"/>
                </a:solidFill>
              </a:rPr>
            </a:br>
            <a:r>
              <a:rPr lang="en-US" dirty="0">
                <a:solidFill>
                  <a:schemeClr val="bg1"/>
                </a:solidFill>
              </a:rPr>
              <a:t>print</a:t>
            </a:r>
            <a:r>
              <a:rPr lang="en-US" dirty="0">
                <a:solidFill>
                  <a:schemeClr val="accent4">
                    <a:lumMod val="60000"/>
                    <a:lumOff val="40000"/>
                  </a:schemeClr>
                </a:solidFill>
              </a:rPr>
              <a:t>(</a:t>
            </a:r>
            <a:r>
              <a:rPr lang="en-US" dirty="0" err="1">
                <a:solidFill>
                  <a:schemeClr val="bg1"/>
                </a:solidFill>
              </a:rPr>
              <a:t>txt.format</a:t>
            </a:r>
            <a:r>
              <a:rPr lang="en-US" dirty="0">
                <a:solidFill>
                  <a:srgbClr val="FF66CC"/>
                </a:solidFill>
              </a:rPr>
              <a:t>(</a:t>
            </a:r>
            <a:r>
              <a:rPr lang="en-US" dirty="0">
                <a:solidFill>
                  <a:schemeClr val="bg1"/>
                </a:solidFill>
              </a:rPr>
              <a:t>age</a:t>
            </a:r>
            <a:r>
              <a:rPr lang="en-US" dirty="0" smtClean="0">
                <a:solidFill>
                  <a:srgbClr val="FF66CC"/>
                </a:solidFill>
              </a:rPr>
              <a:t>)</a:t>
            </a:r>
            <a:r>
              <a:rPr lang="en-US" dirty="0" smtClean="0">
                <a:solidFill>
                  <a:schemeClr val="accent4">
                    <a:lumMod val="60000"/>
                    <a:lumOff val="40000"/>
                  </a:schemeClr>
                </a:solidFill>
              </a:rPr>
              <a:t>)</a:t>
            </a:r>
          </a:p>
          <a:p>
            <a:r>
              <a:rPr lang="en-US" sz="1600" dirty="0" smtClean="0">
                <a:solidFill>
                  <a:schemeClr val="accent4">
                    <a:lumMod val="60000"/>
                    <a:lumOff val="40000"/>
                  </a:schemeClr>
                </a:solidFill>
              </a:rPr>
              <a:t>#</a:t>
            </a:r>
            <a:r>
              <a:rPr lang="en-US" sz="1600" dirty="0" err="1" smtClean="0">
                <a:solidFill>
                  <a:schemeClr val="accent4">
                    <a:lumMod val="60000"/>
                    <a:lumOff val="40000"/>
                  </a:schemeClr>
                </a:solidFill>
              </a:rPr>
              <a:t>Kết</a:t>
            </a:r>
            <a:r>
              <a:rPr lang="en-US" sz="1600" dirty="0" smtClean="0">
                <a:solidFill>
                  <a:schemeClr val="accent4">
                    <a:lumMod val="60000"/>
                    <a:lumOff val="40000"/>
                  </a:schemeClr>
                </a:solidFill>
              </a:rPr>
              <a:t> </a:t>
            </a:r>
            <a:r>
              <a:rPr lang="en-US" sz="1600" dirty="0" err="1" smtClean="0">
                <a:solidFill>
                  <a:schemeClr val="accent4">
                    <a:lumMod val="60000"/>
                    <a:lumOff val="40000"/>
                  </a:schemeClr>
                </a:solidFill>
              </a:rPr>
              <a:t>quả</a:t>
            </a:r>
            <a:r>
              <a:rPr lang="en-US" sz="1600" dirty="0" smtClean="0">
                <a:solidFill>
                  <a:schemeClr val="accent4">
                    <a:lumMod val="60000"/>
                    <a:lumOff val="40000"/>
                  </a:schemeClr>
                </a:solidFill>
              </a:rPr>
              <a:t> in </a:t>
            </a:r>
            <a:r>
              <a:rPr lang="en-US" sz="1600" dirty="0" err="1" smtClean="0">
                <a:solidFill>
                  <a:schemeClr val="accent4">
                    <a:lumMod val="60000"/>
                    <a:lumOff val="40000"/>
                  </a:schemeClr>
                </a:solidFill>
              </a:rPr>
              <a:t>ra</a:t>
            </a:r>
            <a:r>
              <a:rPr lang="en-US" sz="1600" dirty="0" smtClean="0">
                <a:solidFill>
                  <a:schemeClr val="accent4">
                    <a:lumMod val="60000"/>
                    <a:lumOff val="40000"/>
                  </a:schemeClr>
                </a:solidFill>
              </a:rPr>
              <a:t>: </a:t>
            </a:r>
            <a:r>
              <a:rPr lang="en-US" dirty="0" err="1" smtClean="0">
                <a:solidFill>
                  <a:schemeClr val="accent4">
                    <a:lumMod val="60000"/>
                    <a:lumOff val="40000"/>
                  </a:schemeClr>
                </a:solidFill>
              </a:rPr>
              <a:t>Tôi</a:t>
            </a:r>
            <a:r>
              <a:rPr lang="en-US" dirty="0" smtClean="0">
                <a:solidFill>
                  <a:schemeClr val="accent4">
                    <a:lumMod val="60000"/>
                    <a:lumOff val="40000"/>
                  </a:schemeClr>
                </a:solidFill>
              </a:rPr>
              <a:t> </a:t>
            </a:r>
            <a:r>
              <a:rPr lang="en-US" dirty="0" err="1" smtClean="0">
                <a:solidFill>
                  <a:schemeClr val="accent4">
                    <a:lumMod val="60000"/>
                    <a:lumOff val="40000"/>
                  </a:schemeClr>
                </a:solidFill>
              </a:rPr>
              <a:t>là</a:t>
            </a:r>
            <a:r>
              <a:rPr lang="en-US" dirty="0" smtClean="0">
                <a:solidFill>
                  <a:schemeClr val="accent4">
                    <a:lumMod val="60000"/>
                    <a:lumOff val="40000"/>
                  </a:schemeClr>
                </a:solidFill>
              </a:rPr>
              <a:t>  John, </a:t>
            </a:r>
            <a:r>
              <a:rPr lang="en-US" dirty="0" err="1" smtClean="0">
                <a:solidFill>
                  <a:schemeClr val="accent4">
                    <a:lumMod val="60000"/>
                    <a:lumOff val="40000"/>
                  </a:schemeClr>
                </a:solidFill>
              </a:rPr>
              <a:t>Tôi</a:t>
            </a:r>
            <a:r>
              <a:rPr lang="en-US" dirty="0" smtClean="0">
                <a:solidFill>
                  <a:schemeClr val="accent4">
                    <a:lumMod val="60000"/>
                    <a:lumOff val="40000"/>
                  </a:schemeClr>
                </a:solidFill>
              </a:rPr>
              <a:t> 36 </a:t>
            </a:r>
            <a:r>
              <a:rPr lang="en-US" dirty="0" err="1" smtClean="0">
                <a:solidFill>
                  <a:schemeClr val="accent4">
                    <a:lumMod val="60000"/>
                    <a:lumOff val="40000"/>
                  </a:schemeClr>
                </a:solidFill>
              </a:rPr>
              <a:t>tuổi</a:t>
            </a:r>
            <a:endParaRPr lang="en-US" sz="1600" dirty="0">
              <a:solidFill>
                <a:schemeClr val="accent4">
                  <a:lumMod val="60000"/>
                  <a:lumOff val="40000"/>
                </a:schemeClr>
              </a:solidFill>
            </a:endParaRPr>
          </a:p>
        </p:txBody>
      </p:sp>
      <p:sp>
        <p:nvSpPr>
          <p:cNvPr id="14" name="TextBox 13"/>
          <p:cNvSpPr txBox="1"/>
          <p:nvPr/>
        </p:nvSpPr>
        <p:spPr>
          <a:xfrm>
            <a:off x="774221" y="2098011"/>
            <a:ext cx="7834152" cy="646331"/>
          </a:xfrm>
          <a:prstGeom prst="rect">
            <a:avLst/>
          </a:prstGeom>
          <a:noFill/>
        </p:spPr>
        <p:txBody>
          <a:bodyPr wrap="square" rtlCol="0">
            <a:spAutoFit/>
          </a:bodyPr>
          <a:lstStyle/>
          <a:p>
            <a:r>
              <a:rPr lang="en-US" dirty="0" err="1" smtClean="0"/>
              <a:t>Trong</a:t>
            </a:r>
            <a:r>
              <a:rPr lang="en-US" dirty="0" smtClean="0"/>
              <a:t> python, </a:t>
            </a:r>
            <a:r>
              <a:rPr lang="en-US" dirty="0" err="1" smtClean="0"/>
              <a:t>không</a:t>
            </a:r>
            <a:r>
              <a:rPr lang="en-US" dirty="0" smtClean="0"/>
              <a:t> </a:t>
            </a:r>
            <a:r>
              <a:rPr lang="en-US" dirty="0" err="1" smtClean="0"/>
              <a:t>thể</a:t>
            </a:r>
            <a:r>
              <a:rPr lang="en-US" dirty="0" smtClean="0"/>
              <a:t> </a:t>
            </a:r>
            <a:r>
              <a:rPr lang="en-US" dirty="0" err="1" smtClean="0"/>
              <a:t>nối</a:t>
            </a:r>
            <a:r>
              <a:rPr lang="en-US" dirty="0" smtClean="0"/>
              <a:t> </a:t>
            </a:r>
            <a:r>
              <a:rPr lang="en-US" dirty="0" err="1" smtClean="0"/>
              <a:t>chuỗi</a:t>
            </a:r>
            <a:r>
              <a:rPr lang="en-US" dirty="0" smtClean="0"/>
              <a:t> </a:t>
            </a:r>
            <a:r>
              <a:rPr lang="en-US" dirty="0" err="1" smtClean="0"/>
              <a:t>với</a:t>
            </a:r>
            <a:r>
              <a:rPr lang="en-US" dirty="0" smtClean="0"/>
              <a:t> </a:t>
            </a:r>
            <a:r>
              <a:rPr lang="en-US" dirty="0" err="1" smtClean="0"/>
              <a:t>số</a:t>
            </a:r>
            <a:r>
              <a:rPr lang="en-US" dirty="0" smtClean="0"/>
              <a:t> </a:t>
            </a:r>
            <a:r>
              <a:rPr lang="en-US" dirty="0" err="1" smtClean="0"/>
              <a:t>với</a:t>
            </a:r>
            <a:r>
              <a:rPr lang="en-US" dirty="0" smtClean="0"/>
              <a:t> </a:t>
            </a:r>
            <a:r>
              <a:rPr lang="en-US" dirty="0" err="1" smtClean="0"/>
              <a:t>toán</a:t>
            </a:r>
            <a:r>
              <a:rPr lang="en-US" dirty="0" smtClean="0"/>
              <a:t> </a:t>
            </a:r>
            <a:r>
              <a:rPr lang="en-US" dirty="0" err="1" smtClean="0"/>
              <a:t>tử</a:t>
            </a:r>
            <a:r>
              <a:rPr lang="en-US" dirty="0" smtClean="0"/>
              <a:t> + </a:t>
            </a:r>
            <a:r>
              <a:rPr lang="en-US" dirty="0" err="1" smtClean="0"/>
              <a:t>cộng</a:t>
            </a:r>
            <a:r>
              <a:rPr lang="en-US" dirty="0" smtClean="0"/>
              <a:t>, </a:t>
            </a:r>
            <a:r>
              <a:rPr lang="en-US" dirty="0" err="1" smtClean="0"/>
              <a:t>nhưng</a:t>
            </a:r>
            <a:r>
              <a:rPr lang="en-US" dirty="0" smtClean="0"/>
              <a:t> </a:t>
            </a:r>
            <a:r>
              <a:rPr lang="en-US" dirty="0" err="1" smtClean="0"/>
              <a:t>chúng</a:t>
            </a:r>
            <a:r>
              <a:rPr lang="en-US" dirty="0" smtClean="0"/>
              <a:t> ta </a:t>
            </a:r>
            <a:r>
              <a:rPr lang="en-US" dirty="0" err="1" smtClean="0"/>
              <a:t>có</a:t>
            </a:r>
            <a:r>
              <a:rPr lang="en-US" dirty="0" smtClean="0"/>
              <a:t> </a:t>
            </a:r>
            <a:r>
              <a:rPr lang="en-US" dirty="0" err="1" smtClean="0"/>
              <a:t>thể</a:t>
            </a:r>
            <a:r>
              <a:rPr lang="en-US" dirty="0" smtClean="0"/>
              <a:t> </a:t>
            </a:r>
            <a:r>
              <a:rPr lang="en-US" dirty="0" err="1" smtClean="0"/>
              <a:t>làm</a:t>
            </a:r>
            <a:r>
              <a:rPr lang="en-US" dirty="0" smtClean="0"/>
              <a:t> </a:t>
            </a:r>
            <a:r>
              <a:rPr lang="en-US" dirty="0" err="1" smtClean="0"/>
              <a:t>điều</a:t>
            </a:r>
            <a:r>
              <a:rPr lang="en-US" dirty="0" smtClean="0"/>
              <a:t> </a:t>
            </a:r>
            <a:r>
              <a:rPr lang="en-US" dirty="0" err="1" smtClean="0"/>
              <a:t>đó</a:t>
            </a:r>
            <a:r>
              <a:rPr lang="en-US" dirty="0" smtClean="0"/>
              <a:t> </a:t>
            </a:r>
            <a:r>
              <a:rPr lang="en-US" dirty="0" err="1" smtClean="0"/>
              <a:t>với</a:t>
            </a:r>
            <a:r>
              <a:rPr lang="en-US" dirty="0" smtClean="0"/>
              <a:t> </a:t>
            </a:r>
            <a:r>
              <a:rPr lang="en-US" dirty="0" err="1" smtClean="0"/>
              <a:t>hàm</a:t>
            </a:r>
            <a:r>
              <a:rPr lang="en-US" dirty="0" smtClean="0"/>
              <a:t> </a:t>
            </a:r>
            <a:r>
              <a:rPr lang="en-US" b="1" dirty="0" smtClean="0">
                <a:solidFill>
                  <a:srgbClr val="FF0000"/>
                </a:solidFill>
              </a:rPr>
              <a:t>format()</a:t>
            </a:r>
            <a:endParaRPr lang="en-US" b="1" dirty="0">
              <a:solidFill>
                <a:srgbClr val="FF0000"/>
              </a:solidFill>
            </a:endParaRPr>
          </a:p>
        </p:txBody>
      </p:sp>
      <p:sp>
        <p:nvSpPr>
          <p:cNvPr id="25" name="Flowchart: Decision 24"/>
          <p:cNvSpPr/>
          <p:nvPr/>
        </p:nvSpPr>
        <p:spPr>
          <a:xfrm>
            <a:off x="625365" y="2207205"/>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smtClean="0"/>
              <a:t>Định</a:t>
            </a:r>
            <a:r>
              <a:rPr lang="en-US" b="1" dirty="0" smtClean="0"/>
              <a:t> </a:t>
            </a:r>
            <a:r>
              <a:rPr lang="en-US" b="1" dirty="0" err="1" smtClean="0"/>
              <a:t>dạng</a:t>
            </a:r>
            <a:r>
              <a:rPr lang="en-US" b="1" dirty="0" smtClean="0"/>
              <a:t> (</a:t>
            </a:r>
            <a:r>
              <a:rPr lang="en-US" b="1" dirty="0" err="1" smtClean="0"/>
              <a:t>đóng</a:t>
            </a:r>
            <a:r>
              <a:rPr lang="en-US" b="1" dirty="0" smtClean="0"/>
              <a:t> </a:t>
            </a:r>
            <a:r>
              <a:rPr lang="en-US" b="1" dirty="0" err="1" smtClean="0"/>
              <a:t>khuôn</a:t>
            </a:r>
            <a:r>
              <a:rPr lang="en-US" b="1" smtClean="0"/>
              <a:t>) </a:t>
            </a:r>
            <a:r>
              <a:rPr lang="en-US" b="1" dirty="0" err="1" smtClean="0"/>
              <a:t>chuỗi</a:t>
            </a:r>
            <a:endParaRPr lang="en-US" b="1" dirty="0">
              <a:solidFill>
                <a:srgbClr val="FF0000"/>
              </a:solidFill>
            </a:endParaRPr>
          </a:p>
        </p:txBody>
      </p:sp>
      <p:sp>
        <p:nvSpPr>
          <p:cNvPr id="28" name="TextBox 27"/>
          <p:cNvSpPr txBox="1"/>
          <p:nvPr/>
        </p:nvSpPr>
        <p:spPr>
          <a:xfrm>
            <a:off x="612331" y="4411839"/>
            <a:ext cx="7834152" cy="646331"/>
          </a:xfrm>
          <a:prstGeom prst="rect">
            <a:avLst/>
          </a:prstGeom>
          <a:noFill/>
        </p:spPr>
        <p:txBody>
          <a:bodyPr wrap="square" rtlCol="0">
            <a:spAutoFit/>
          </a:bodyPr>
          <a:lstStyle/>
          <a:p>
            <a:r>
              <a:rPr lang="en-US" dirty="0" err="1" smtClean="0"/>
              <a:t>Trong</a:t>
            </a:r>
            <a:r>
              <a:rPr lang="en-US" dirty="0" smtClean="0"/>
              <a:t> </a:t>
            </a:r>
            <a:r>
              <a:rPr lang="en-US" dirty="0" err="1" smtClean="0"/>
              <a:t>ví</a:t>
            </a:r>
            <a:r>
              <a:rPr lang="en-US" dirty="0" smtClean="0"/>
              <a:t> </a:t>
            </a:r>
            <a:r>
              <a:rPr lang="en-US" dirty="0" err="1" smtClean="0"/>
              <a:t>dụ</a:t>
            </a:r>
            <a:r>
              <a:rPr lang="en-US" dirty="0" smtClean="0"/>
              <a:t> </a:t>
            </a:r>
            <a:r>
              <a:rPr lang="en-US" dirty="0" err="1" smtClean="0"/>
              <a:t>trên</a:t>
            </a:r>
            <a:r>
              <a:rPr lang="en-US" dirty="0" smtClean="0"/>
              <a:t> </a:t>
            </a:r>
            <a:r>
              <a:rPr lang="en-US" dirty="0" err="1" smtClean="0"/>
              <a:t>kí</a:t>
            </a:r>
            <a:r>
              <a:rPr lang="en-US" dirty="0" smtClean="0"/>
              <a:t> </a:t>
            </a:r>
            <a:r>
              <a:rPr lang="en-US" dirty="0" err="1" smtClean="0"/>
              <a:t>tự</a:t>
            </a:r>
            <a:r>
              <a:rPr lang="en-US" dirty="0" smtClean="0"/>
              <a:t> </a:t>
            </a:r>
            <a:r>
              <a:rPr lang="en-US" dirty="0" smtClean="0">
                <a:solidFill>
                  <a:srgbClr val="FF0000"/>
                </a:solidFill>
              </a:rPr>
              <a:t>{} </a:t>
            </a:r>
            <a:r>
              <a:rPr lang="en-US" dirty="0" err="1" smtClean="0"/>
              <a:t>đóng</a:t>
            </a:r>
            <a:r>
              <a:rPr lang="en-US" dirty="0" smtClean="0"/>
              <a:t> </a:t>
            </a:r>
            <a:r>
              <a:rPr lang="en-US" dirty="0" err="1" smtClean="0"/>
              <a:t>vai</a:t>
            </a:r>
            <a:r>
              <a:rPr lang="en-US" dirty="0" smtClean="0"/>
              <a:t> </a:t>
            </a:r>
            <a:r>
              <a:rPr lang="en-US" dirty="0" err="1" smtClean="0"/>
              <a:t>trò</a:t>
            </a:r>
            <a:r>
              <a:rPr lang="en-US" dirty="0" smtClean="0"/>
              <a:t> </a:t>
            </a:r>
            <a:r>
              <a:rPr lang="en-US" dirty="0" err="1" smtClean="0"/>
              <a:t>giữ</a:t>
            </a:r>
            <a:r>
              <a:rPr lang="en-US" dirty="0" smtClean="0"/>
              <a:t> </a:t>
            </a:r>
            <a:r>
              <a:rPr lang="en-US" dirty="0" err="1" smtClean="0"/>
              <a:t>chỗ</a:t>
            </a:r>
            <a:r>
              <a:rPr lang="en-US" dirty="0" smtClean="0"/>
              <a:t> </a:t>
            </a:r>
            <a:r>
              <a:rPr lang="en-US" dirty="0" err="1" smtClean="0"/>
              <a:t>cho</a:t>
            </a:r>
            <a:r>
              <a:rPr lang="en-US" dirty="0" smtClean="0"/>
              <a:t> </a:t>
            </a:r>
            <a:r>
              <a:rPr lang="en-US" dirty="0" err="1" smtClean="0"/>
              <a:t>biến</a:t>
            </a:r>
            <a:r>
              <a:rPr lang="en-US" dirty="0" smtClean="0"/>
              <a:t> age, </a:t>
            </a:r>
            <a:r>
              <a:rPr lang="en-US" dirty="0" err="1" smtClean="0"/>
              <a:t>và</a:t>
            </a:r>
            <a:r>
              <a:rPr lang="en-US" dirty="0" smtClean="0"/>
              <a:t> age </a:t>
            </a:r>
            <a:r>
              <a:rPr lang="en-US" dirty="0" err="1" smtClean="0"/>
              <a:t>sẽ</a:t>
            </a:r>
            <a:r>
              <a:rPr lang="en-US" dirty="0" smtClean="0"/>
              <a:t> </a:t>
            </a:r>
            <a:r>
              <a:rPr lang="en-US" dirty="0" err="1" smtClean="0"/>
              <a:t>hiển</a:t>
            </a:r>
            <a:r>
              <a:rPr lang="en-US" dirty="0" smtClean="0"/>
              <a:t> </a:t>
            </a:r>
            <a:r>
              <a:rPr lang="en-US" dirty="0" err="1" smtClean="0"/>
              <a:t>thị</a:t>
            </a:r>
            <a:r>
              <a:rPr lang="en-US" dirty="0" smtClean="0"/>
              <a:t> </a:t>
            </a:r>
            <a:r>
              <a:rPr lang="en-US" dirty="0" err="1" smtClean="0"/>
              <a:t>ra</a:t>
            </a:r>
            <a:r>
              <a:rPr lang="en-US" dirty="0" smtClean="0"/>
              <a:t> </a:t>
            </a:r>
            <a:r>
              <a:rPr lang="en-US" dirty="0" err="1" smtClean="0"/>
              <a:t>thay</a:t>
            </a:r>
            <a:r>
              <a:rPr lang="en-US" dirty="0" smtClean="0"/>
              <a:t> </a:t>
            </a:r>
            <a:r>
              <a:rPr lang="en-US" dirty="0" err="1" smtClean="0"/>
              <a:t>cho</a:t>
            </a:r>
            <a:r>
              <a:rPr lang="en-US" dirty="0" smtClean="0"/>
              <a:t> </a:t>
            </a:r>
            <a:r>
              <a:rPr lang="en-US" dirty="0" smtClean="0">
                <a:solidFill>
                  <a:srgbClr val="FF0000"/>
                </a:solidFill>
              </a:rPr>
              <a:t>{}. </a:t>
            </a:r>
            <a:r>
              <a:rPr lang="en-US" dirty="0" err="1" smtClean="0"/>
              <a:t>Các</a:t>
            </a:r>
            <a:r>
              <a:rPr lang="en-US" dirty="0" smtClean="0"/>
              <a:t> </a:t>
            </a:r>
            <a:r>
              <a:rPr lang="en-US" dirty="0" err="1" smtClean="0"/>
              <a:t>vị</a:t>
            </a:r>
            <a:r>
              <a:rPr lang="en-US" dirty="0" smtClean="0"/>
              <a:t> </a:t>
            </a:r>
            <a:r>
              <a:rPr lang="en-US" dirty="0" err="1" smtClean="0"/>
              <a:t>trí</a:t>
            </a:r>
            <a:r>
              <a:rPr lang="en-US" dirty="0" smtClean="0"/>
              <a:t> {} </a:t>
            </a:r>
            <a:r>
              <a:rPr lang="en-US" dirty="0" err="1" smtClean="0"/>
              <a:t>này</a:t>
            </a:r>
            <a:r>
              <a:rPr lang="en-US" dirty="0" smtClean="0"/>
              <a:t> </a:t>
            </a:r>
            <a:r>
              <a:rPr lang="en-US" dirty="0" err="1" smtClean="0"/>
              <a:t>được</a:t>
            </a:r>
            <a:r>
              <a:rPr lang="en-US" dirty="0" smtClean="0"/>
              <a:t> </a:t>
            </a:r>
            <a:r>
              <a:rPr lang="en-US" dirty="0" err="1" smtClean="0"/>
              <a:t>gọi</a:t>
            </a:r>
            <a:r>
              <a:rPr lang="en-US" dirty="0" smtClean="0"/>
              <a:t> </a:t>
            </a:r>
            <a:r>
              <a:rPr lang="en-US" dirty="0" err="1" smtClean="0"/>
              <a:t>là</a:t>
            </a:r>
            <a:r>
              <a:rPr lang="en-US" dirty="0" smtClean="0"/>
              <a:t> </a:t>
            </a:r>
            <a:r>
              <a:rPr lang="en-US" b="1" dirty="0" err="1" smtClean="0"/>
              <a:t>trường</a:t>
            </a:r>
            <a:r>
              <a:rPr lang="en-US" dirty="0" smtClean="0"/>
              <a:t> (hay </a:t>
            </a:r>
            <a:r>
              <a:rPr lang="en-US" dirty="0" err="1" smtClean="0"/>
              <a:t>là</a:t>
            </a:r>
            <a:r>
              <a:rPr lang="en-US" dirty="0" smtClean="0"/>
              <a:t> field)</a:t>
            </a:r>
            <a:endParaRPr lang="en-US" b="1" dirty="0"/>
          </a:p>
        </p:txBody>
      </p:sp>
    </p:spTree>
    <p:extLst>
      <p:ext uri="{BB962C8B-B14F-4D97-AF65-F5344CB8AC3E}">
        <p14:creationId xmlns:p14="http://schemas.microsoft.com/office/powerpoint/2010/main" val="357710028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34</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2.9 </a:t>
            </a:r>
            <a:r>
              <a:rPr lang="en-US" dirty="0" err="1"/>
              <a:t>Định</a:t>
            </a:r>
            <a:r>
              <a:rPr lang="en-US" dirty="0"/>
              <a:t> </a:t>
            </a:r>
            <a:r>
              <a:rPr lang="en-US" dirty="0" err="1"/>
              <a:t>dạng</a:t>
            </a:r>
            <a:r>
              <a:rPr lang="en-US" dirty="0"/>
              <a:t> </a:t>
            </a:r>
            <a:r>
              <a:rPr lang="en-US" dirty="0" err="1"/>
              <a:t>Chuỗi</a:t>
            </a:r>
            <a:endParaRPr lang="en-US" dirty="0"/>
          </a:p>
        </p:txBody>
      </p:sp>
      <p:sp>
        <p:nvSpPr>
          <p:cNvPr id="29" name="Rectangle 28"/>
          <p:cNvSpPr/>
          <p:nvPr/>
        </p:nvSpPr>
        <p:spPr>
          <a:xfrm>
            <a:off x="699793" y="2748770"/>
            <a:ext cx="7774356" cy="184360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880547" y="2898929"/>
            <a:ext cx="7402216" cy="1477328"/>
          </a:xfrm>
          <a:prstGeom prst="rect">
            <a:avLst/>
          </a:prstGeom>
          <a:noFill/>
        </p:spPr>
        <p:txBody>
          <a:bodyPr wrap="square" rtlCol="0">
            <a:spAutoFit/>
          </a:bodyPr>
          <a:lstStyle/>
          <a:p>
            <a:r>
              <a:rPr lang="en-US" dirty="0">
                <a:solidFill>
                  <a:schemeClr val="bg1"/>
                </a:solidFill>
              </a:rPr>
              <a:t>age = </a:t>
            </a:r>
            <a:r>
              <a:rPr lang="en-US" dirty="0" smtClean="0">
                <a:solidFill>
                  <a:schemeClr val="accent6">
                    <a:lumMod val="60000"/>
                    <a:lumOff val="40000"/>
                  </a:schemeClr>
                </a:solidFill>
              </a:rPr>
              <a:t>36</a:t>
            </a:r>
          </a:p>
          <a:p>
            <a:r>
              <a:rPr lang="en-US" dirty="0">
                <a:solidFill>
                  <a:schemeClr val="bg1"/>
                </a:solidFill>
              </a:rPr>
              <a:t>n</a:t>
            </a:r>
            <a:r>
              <a:rPr lang="en-US" dirty="0" smtClean="0">
                <a:solidFill>
                  <a:schemeClr val="bg1"/>
                </a:solidFill>
              </a:rPr>
              <a:t>ame = </a:t>
            </a:r>
            <a:r>
              <a:rPr lang="en-US" dirty="0" smtClean="0">
                <a:solidFill>
                  <a:schemeClr val="accent2">
                    <a:lumMod val="75000"/>
                  </a:schemeClr>
                </a:solidFill>
              </a:rPr>
              <a:t>‘</a:t>
            </a:r>
            <a:r>
              <a:rPr lang="en-US" dirty="0" err="1" smtClean="0">
                <a:solidFill>
                  <a:schemeClr val="accent2">
                    <a:lumMod val="75000"/>
                  </a:schemeClr>
                </a:solidFill>
              </a:rPr>
              <a:t>Jonh</a:t>
            </a:r>
            <a:r>
              <a:rPr lang="en-US" dirty="0" smtClean="0">
                <a:solidFill>
                  <a:schemeClr val="accent2">
                    <a:lumMod val="75000"/>
                  </a:schemeClr>
                </a:solidFill>
              </a:rPr>
              <a:t>’</a:t>
            </a:r>
            <a:r>
              <a:rPr lang="en-US" dirty="0">
                <a:solidFill>
                  <a:schemeClr val="bg1"/>
                </a:solidFill>
              </a:rPr>
              <a:t/>
            </a:r>
            <a:br>
              <a:rPr lang="en-US" dirty="0">
                <a:solidFill>
                  <a:schemeClr val="bg1"/>
                </a:solidFill>
              </a:rPr>
            </a:br>
            <a:r>
              <a:rPr lang="en-US" dirty="0">
                <a:solidFill>
                  <a:schemeClr val="bg1"/>
                </a:solidFill>
              </a:rPr>
              <a:t>txt = </a:t>
            </a:r>
            <a:r>
              <a:rPr lang="en-US" dirty="0" smtClean="0">
                <a:solidFill>
                  <a:schemeClr val="accent2">
                    <a:lumMod val="75000"/>
                  </a:schemeClr>
                </a:solidFill>
              </a:rPr>
              <a:t>“</a:t>
            </a:r>
            <a:r>
              <a:rPr lang="en-US" dirty="0" err="1" smtClean="0">
                <a:solidFill>
                  <a:schemeClr val="accent2">
                    <a:lumMod val="75000"/>
                  </a:schemeClr>
                </a:solidFill>
              </a:rPr>
              <a:t>Tôi</a:t>
            </a:r>
            <a:r>
              <a:rPr lang="en-US" dirty="0" smtClean="0">
                <a:solidFill>
                  <a:schemeClr val="accent2">
                    <a:lumMod val="75000"/>
                  </a:schemeClr>
                </a:solidFill>
              </a:rPr>
              <a:t> </a:t>
            </a:r>
            <a:r>
              <a:rPr lang="en-US" dirty="0" err="1" smtClean="0">
                <a:solidFill>
                  <a:schemeClr val="accent2">
                    <a:lumMod val="75000"/>
                  </a:schemeClr>
                </a:solidFill>
              </a:rPr>
              <a:t>là</a:t>
            </a:r>
            <a:r>
              <a:rPr lang="en-US" dirty="0" smtClean="0">
                <a:solidFill>
                  <a:schemeClr val="accent2">
                    <a:lumMod val="75000"/>
                  </a:schemeClr>
                </a:solidFill>
              </a:rPr>
              <a:t>  {}, </a:t>
            </a:r>
            <a:r>
              <a:rPr lang="en-US" dirty="0" err="1" smtClean="0">
                <a:solidFill>
                  <a:schemeClr val="accent2">
                    <a:lumMod val="75000"/>
                  </a:schemeClr>
                </a:solidFill>
              </a:rPr>
              <a:t>Tôi</a:t>
            </a:r>
            <a:r>
              <a:rPr lang="en-US" dirty="0" smtClean="0">
                <a:solidFill>
                  <a:schemeClr val="accent2">
                    <a:lumMod val="75000"/>
                  </a:schemeClr>
                </a:solidFill>
              </a:rPr>
              <a:t> {} </a:t>
            </a:r>
            <a:r>
              <a:rPr lang="en-US" dirty="0" err="1" smtClean="0">
                <a:solidFill>
                  <a:schemeClr val="accent2">
                    <a:lumMod val="75000"/>
                  </a:schemeClr>
                </a:solidFill>
              </a:rPr>
              <a:t>tuổi</a:t>
            </a:r>
            <a:r>
              <a:rPr lang="en-US" dirty="0" smtClean="0">
                <a:solidFill>
                  <a:schemeClr val="accent2">
                    <a:lumMod val="75000"/>
                  </a:schemeClr>
                </a:solidFill>
              </a:rPr>
              <a:t>"</a:t>
            </a:r>
            <a:r>
              <a:rPr lang="en-US" dirty="0">
                <a:solidFill>
                  <a:schemeClr val="bg1"/>
                </a:solidFill>
              </a:rPr>
              <a:t/>
            </a:r>
            <a:br>
              <a:rPr lang="en-US" dirty="0">
                <a:solidFill>
                  <a:schemeClr val="bg1"/>
                </a:solidFill>
              </a:rPr>
            </a:br>
            <a:r>
              <a:rPr lang="en-US" dirty="0" smtClean="0">
                <a:solidFill>
                  <a:schemeClr val="bg1"/>
                </a:solidFill>
              </a:rPr>
              <a:t>print</a:t>
            </a:r>
            <a:r>
              <a:rPr lang="en-US" dirty="0" smtClean="0">
                <a:solidFill>
                  <a:schemeClr val="accent4">
                    <a:lumMod val="60000"/>
                    <a:lumOff val="40000"/>
                  </a:schemeClr>
                </a:solidFill>
              </a:rPr>
              <a:t>(</a:t>
            </a:r>
            <a:r>
              <a:rPr lang="en-US" dirty="0" err="1" smtClean="0">
                <a:solidFill>
                  <a:schemeClr val="bg1"/>
                </a:solidFill>
              </a:rPr>
              <a:t>txt.format</a:t>
            </a:r>
            <a:r>
              <a:rPr lang="en-US" dirty="0" smtClean="0">
                <a:solidFill>
                  <a:srgbClr val="FF66CC"/>
                </a:solidFill>
              </a:rPr>
              <a:t>(</a:t>
            </a:r>
            <a:r>
              <a:rPr lang="en-US" dirty="0" smtClean="0">
                <a:solidFill>
                  <a:schemeClr val="bg1"/>
                </a:solidFill>
              </a:rPr>
              <a:t>name, age</a:t>
            </a:r>
            <a:r>
              <a:rPr lang="en-US" dirty="0" smtClean="0">
                <a:solidFill>
                  <a:srgbClr val="FF66CC"/>
                </a:solidFill>
              </a:rPr>
              <a:t>)</a:t>
            </a:r>
            <a:r>
              <a:rPr lang="en-US" dirty="0" smtClean="0">
                <a:solidFill>
                  <a:schemeClr val="accent4">
                    <a:lumMod val="60000"/>
                    <a:lumOff val="40000"/>
                  </a:schemeClr>
                </a:solidFill>
              </a:rPr>
              <a:t>)</a:t>
            </a:r>
          </a:p>
          <a:p>
            <a:r>
              <a:rPr lang="en-US" sz="1600" dirty="0" smtClean="0">
                <a:solidFill>
                  <a:schemeClr val="accent4">
                    <a:lumMod val="60000"/>
                    <a:lumOff val="40000"/>
                  </a:schemeClr>
                </a:solidFill>
              </a:rPr>
              <a:t>#</a:t>
            </a:r>
            <a:r>
              <a:rPr lang="en-US" sz="1600" dirty="0" err="1" smtClean="0">
                <a:solidFill>
                  <a:schemeClr val="accent4">
                    <a:lumMod val="60000"/>
                    <a:lumOff val="40000"/>
                  </a:schemeClr>
                </a:solidFill>
              </a:rPr>
              <a:t>Kết</a:t>
            </a:r>
            <a:r>
              <a:rPr lang="en-US" sz="1600" dirty="0" smtClean="0">
                <a:solidFill>
                  <a:schemeClr val="accent4">
                    <a:lumMod val="60000"/>
                    <a:lumOff val="40000"/>
                  </a:schemeClr>
                </a:solidFill>
              </a:rPr>
              <a:t> </a:t>
            </a:r>
            <a:r>
              <a:rPr lang="en-US" sz="1600" dirty="0" err="1" smtClean="0">
                <a:solidFill>
                  <a:schemeClr val="accent4">
                    <a:lumMod val="60000"/>
                    <a:lumOff val="40000"/>
                  </a:schemeClr>
                </a:solidFill>
              </a:rPr>
              <a:t>quả</a:t>
            </a:r>
            <a:r>
              <a:rPr lang="en-US" sz="1600" dirty="0" smtClean="0">
                <a:solidFill>
                  <a:schemeClr val="accent4">
                    <a:lumMod val="60000"/>
                    <a:lumOff val="40000"/>
                  </a:schemeClr>
                </a:solidFill>
              </a:rPr>
              <a:t> in </a:t>
            </a:r>
            <a:r>
              <a:rPr lang="en-US" sz="1600" dirty="0" err="1" smtClean="0">
                <a:solidFill>
                  <a:schemeClr val="accent4">
                    <a:lumMod val="60000"/>
                    <a:lumOff val="40000"/>
                  </a:schemeClr>
                </a:solidFill>
              </a:rPr>
              <a:t>ra</a:t>
            </a:r>
            <a:r>
              <a:rPr lang="en-US" sz="1600" dirty="0" smtClean="0">
                <a:solidFill>
                  <a:schemeClr val="accent4">
                    <a:lumMod val="60000"/>
                    <a:lumOff val="40000"/>
                  </a:schemeClr>
                </a:solidFill>
              </a:rPr>
              <a:t>: </a:t>
            </a:r>
            <a:r>
              <a:rPr lang="en-US" dirty="0" err="1" smtClean="0">
                <a:solidFill>
                  <a:schemeClr val="accent4">
                    <a:lumMod val="60000"/>
                    <a:lumOff val="40000"/>
                  </a:schemeClr>
                </a:solidFill>
              </a:rPr>
              <a:t>Tôi</a:t>
            </a:r>
            <a:r>
              <a:rPr lang="en-US" dirty="0" smtClean="0">
                <a:solidFill>
                  <a:schemeClr val="accent4">
                    <a:lumMod val="60000"/>
                    <a:lumOff val="40000"/>
                  </a:schemeClr>
                </a:solidFill>
              </a:rPr>
              <a:t> </a:t>
            </a:r>
            <a:r>
              <a:rPr lang="en-US" dirty="0" err="1" smtClean="0">
                <a:solidFill>
                  <a:schemeClr val="accent4">
                    <a:lumMod val="60000"/>
                    <a:lumOff val="40000"/>
                  </a:schemeClr>
                </a:solidFill>
              </a:rPr>
              <a:t>là</a:t>
            </a:r>
            <a:r>
              <a:rPr lang="en-US" dirty="0" smtClean="0">
                <a:solidFill>
                  <a:schemeClr val="accent4">
                    <a:lumMod val="60000"/>
                    <a:lumOff val="40000"/>
                  </a:schemeClr>
                </a:solidFill>
              </a:rPr>
              <a:t>  John, </a:t>
            </a:r>
            <a:r>
              <a:rPr lang="en-US" dirty="0" err="1" smtClean="0">
                <a:solidFill>
                  <a:schemeClr val="accent4">
                    <a:lumMod val="60000"/>
                    <a:lumOff val="40000"/>
                  </a:schemeClr>
                </a:solidFill>
              </a:rPr>
              <a:t>Tôi</a:t>
            </a:r>
            <a:r>
              <a:rPr lang="en-US" dirty="0" smtClean="0">
                <a:solidFill>
                  <a:schemeClr val="accent4">
                    <a:lumMod val="60000"/>
                    <a:lumOff val="40000"/>
                  </a:schemeClr>
                </a:solidFill>
              </a:rPr>
              <a:t> 36 </a:t>
            </a:r>
            <a:r>
              <a:rPr lang="en-US" dirty="0" err="1" smtClean="0">
                <a:solidFill>
                  <a:schemeClr val="accent4">
                    <a:lumMod val="60000"/>
                    <a:lumOff val="40000"/>
                  </a:schemeClr>
                </a:solidFill>
              </a:rPr>
              <a:t>tuổi</a:t>
            </a:r>
            <a:endParaRPr lang="en-US" sz="1600" dirty="0">
              <a:solidFill>
                <a:schemeClr val="accent4">
                  <a:lumMod val="60000"/>
                  <a:lumOff val="40000"/>
                </a:schemeClr>
              </a:solidFill>
            </a:endParaRPr>
          </a:p>
        </p:txBody>
      </p:sp>
      <p:sp>
        <p:nvSpPr>
          <p:cNvPr id="14" name="TextBox 13"/>
          <p:cNvSpPr txBox="1"/>
          <p:nvPr/>
        </p:nvSpPr>
        <p:spPr>
          <a:xfrm>
            <a:off x="774221" y="2098011"/>
            <a:ext cx="7834152" cy="369332"/>
          </a:xfrm>
          <a:prstGeom prst="rect">
            <a:avLst/>
          </a:prstGeom>
          <a:noFill/>
        </p:spPr>
        <p:txBody>
          <a:bodyPr wrap="square" rtlCol="0">
            <a:spAutoFit/>
          </a:bodyPr>
          <a:lstStyle/>
          <a:p>
            <a:r>
              <a:rPr lang="en-US" b="1" dirty="0" err="1" smtClean="0"/>
              <a:t>Thay</a:t>
            </a:r>
            <a:r>
              <a:rPr lang="en-US" b="1" dirty="0" smtClean="0"/>
              <a:t> </a:t>
            </a:r>
            <a:r>
              <a:rPr lang="en-US" b="1" dirty="0" err="1" smtClean="0"/>
              <a:t>thế</a:t>
            </a:r>
            <a:r>
              <a:rPr lang="en-US" b="1" dirty="0" smtClean="0"/>
              <a:t> </a:t>
            </a:r>
            <a:r>
              <a:rPr lang="en-US" b="1" dirty="0" err="1" smtClean="0"/>
              <a:t>đơn</a:t>
            </a:r>
            <a:r>
              <a:rPr lang="en-US" b="1" dirty="0" smtClean="0"/>
              <a:t> </a:t>
            </a:r>
            <a:r>
              <a:rPr lang="en-US" b="1" dirty="0" err="1" smtClean="0"/>
              <a:t>giản</a:t>
            </a:r>
            <a:r>
              <a:rPr lang="en-US" b="1" dirty="0" smtClean="0"/>
              <a:t> </a:t>
            </a:r>
            <a:r>
              <a:rPr lang="en-US" b="1" dirty="0" err="1" smtClean="0"/>
              <a:t>không</a:t>
            </a:r>
            <a:r>
              <a:rPr lang="en-US" b="1" dirty="0" smtClean="0"/>
              <a:t> </a:t>
            </a:r>
            <a:r>
              <a:rPr lang="en-US" b="1" dirty="0" err="1" smtClean="0"/>
              <a:t>chỉ</a:t>
            </a:r>
            <a:r>
              <a:rPr lang="en-US" b="1" dirty="0" smtClean="0"/>
              <a:t> </a:t>
            </a:r>
            <a:r>
              <a:rPr lang="en-US" b="1" dirty="0" err="1" smtClean="0"/>
              <a:t>số</a:t>
            </a:r>
            <a:endParaRPr lang="en-US" b="1" dirty="0">
              <a:solidFill>
                <a:srgbClr val="FF0000"/>
              </a:solidFill>
            </a:endParaRPr>
          </a:p>
        </p:txBody>
      </p:sp>
      <p:sp>
        <p:nvSpPr>
          <p:cNvPr id="25" name="Flowchart: Decision 24"/>
          <p:cNvSpPr/>
          <p:nvPr/>
        </p:nvSpPr>
        <p:spPr>
          <a:xfrm>
            <a:off x="625365" y="2207205"/>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smtClean="0"/>
              <a:t>Định</a:t>
            </a:r>
            <a:r>
              <a:rPr lang="en-US" b="1" dirty="0" smtClean="0"/>
              <a:t> </a:t>
            </a:r>
            <a:r>
              <a:rPr lang="en-US" b="1" dirty="0" err="1" smtClean="0"/>
              <a:t>dạng</a:t>
            </a:r>
            <a:r>
              <a:rPr lang="en-US" b="1" dirty="0" smtClean="0"/>
              <a:t> (</a:t>
            </a:r>
            <a:r>
              <a:rPr lang="en-US" b="1" dirty="0" err="1" smtClean="0"/>
              <a:t>đóng</a:t>
            </a:r>
            <a:r>
              <a:rPr lang="en-US" b="1" dirty="0" smtClean="0"/>
              <a:t> </a:t>
            </a:r>
            <a:r>
              <a:rPr lang="en-US" b="1" dirty="0" err="1" smtClean="0"/>
              <a:t>khuôn</a:t>
            </a:r>
            <a:r>
              <a:rPr lang="en-US" b="1" smtClean="0"/>
              <a:t>) </a:t>
            </a:r>
            <a:r>
              <a:rPr lang="en-US" b="1" dirty="0" err="1" smtClean="0"/>
              <a:t>chuỗi</a:t>
            </a:r>
            <a:endParaRPr lang="en-US" b="1" dirty="0">
              <a:solidFill>
                <a:srgbClr val="FF0000"/>
              </a:solidFill>
            </a:endParaRPr>
          </a:p>
        </p:txBody>
      </p:sp>
      <p:sp>
        <p:nvSpPr>
          <p:cNvPr id="28" name="TextBox 27"/>
          <p:cNvSpPr txBox="1"/>
          <p:nvPr/>
        </p:nvSpPr>
        <p:spPr>
          <a:xfrm>
            <a:off x="625365" y="4739613"/>
            <a:ext cx="7834152" cy="1200329"/>
          </a:xfrm>
          <a:prstGeom prst="rect">
            <a:avLst/>
          </a:prstGeom>
          <a:noFill/>
        </p:spPr>
        <p:txBody>
          <a:bodyPr wrap="square" rtlCol="0">
            <a:spAutoFit/>
          </a:bodyPr>
          <a:lstStyle/>
          <a:p>
            <a:r>
              <a:rPr lang="en-US" dirty="0" smtClean="0"/>
              <a:t>- </a:t>
            </a:r>
            <a:r>
              <a:rPr lang="en-US" dirty="0" err="1" smtClean="0"/>
              <a:t>Khi</a:t>
            </a:r>
            <a:r>
              <a:rPr lang="en-US" dirty="0" smtClean="0"/>
              <a:t> </a:t>
            </a:r>
            <a:r>
              <a:rPr lang="en-US" dirty="0" err="1" smtClean="0"/>
              <a:t>đó</a:t>
            </a:r>
            <a:r>
              <a:rPr lang="en-US" dirty="0" smtClean="0"/>
              <a:t> </a:t>
            </a:r>
            <a:r>
              <a:rPr lang="en-US" dirty="0" err="1" smtClean="0"/>
              <a:t>biến</a:t>
            </a:r>
            <a:r>
              <a:rPr lang="en-US" dirty="0" smtClean="0"/>
              <a:t> </a:t>
            </a:r>
            <a:r>
              <a:rPr lang="en-US" b="1" dirty="0" smtClean="0"/>
              <a:t>name</a:t>
            </a:r>
            <a:r>
              <a:rPr lang="en-US" dirty="0" smtClean="0"/>
              <a:t> </a:t>
            </a:r>
            <a:r>
              <a:rPr lang="en-US" dirty="0" err="1" smtClean="0"/>
              <a:t>sẽ</a:t>
            </a:r>
            <a:r>
              <a:rPr lang="en-US" dirty="0" smtClean="0"/>
              <a:t> </a:t>
            </a:r>
            <a:r>
              <a:rPr lang="en-US" dirty="0" err="1" smtClean="0"/>
              <a:t>thay</a:t>
            </a:r>
            <a:r>
              <a:rPr lang="en-US" dirty="0" smtClean="0"/>
              <a:t> </a:t>
            </a:r>
            <a:r>
              <a:rPr lang="en-US" dirty="0" err="1" smtClean="0"/>
              <a:t>thế</a:t>
            </a:r>
            <a:r>
              <a:rPr lang="en-US" dirty="0" smtClean="0"/>
              <a:t> </a:t>
            </a:r>
            <a:r>
              <a:rPr lang="en-US" dirty="0" err="1" smtClean="0"/>
              <a:t>vào</a:t>
            </a:r>
            <a:r>
              <a:rPr lang="en-US" dirty="0" smtClean="0"/>
              <a:t> </a:t>
            </a:r>
            <a:r>
              <a:rPr lang="en-US" dirty="0" err="1" smtClean="0"/>
              <a:t>kí</a:t>
            </a:r>
            <a:r>
              <a:rPr lang="en-US" dirty="0" smtClean="0"/>
              <a:t> </a:t>
            </a:r>
            <a:r>
              <a:rPr lang="en-US" dirty="0" err="1" smtClean="0"/>
              <a:t>tự</a:t>
            </a:r>
            <a:r>
              <a:rPr lang="en-US" dirty="0" smtClean="0"/>
              <a:t> </a:t>
            </a:r>
            <a:r>
              <a:rPr lang="en-US" b="1" dirty="0" smtClean="0"/>
              <a:t>{}</a:t>
            </a:r>
            <a:r>
              <a:rPr lang="en-US" dirty="0" smtClean="0"/>
              <a:t> </a:t>
            </a:r>
            <a:r>
              <a:rPr lang="en-US" dirty="0" err="1" smtClean="0"/>
              <a:t>đầu</a:t>
            </a:r>
            <a:r>
              <a:rPr lang="en-US" dirty="0" smtClean="0"/>
              <a:t> </a:t>
            </a:r>
            <a:r>
              <a:rPr lang="en-US" dirty="0" err="1" smtClean="0"/>
              <a:t>tiên</a:t>
            </a:r>
            <a:r>
              <a:rPr lang="en-US" dirty="0" smtClean="0"/>
              <a:t> </a:t>
            </a:r>
            <a:r>
              <a:rPr lang="en-US" dirty="0" err="1" smtClean="0"/>
              <a:t>trong</a:t>
            </a:r>
            <a:r>
              <a:rPr lang="en-US" dirty="0" smtClean="0"/>
              <a:t> </a:t>
            </a:r>
            <a:r>
              <a:rPr lang="en-US" dirty="0" err="1" smtClean="0"/>
              <a:t>chuỗi</a:t>
            </a:r>
            <a:r>
              <a:rPr lang="en-US" dirty="0" smtClean="0"/>
              <a:t> txt</a:t>
            </a:r>
          </a:p>
          <a:p>
            <a:r>
              <a:rPr lang="en-US" dirty="0" smtClean="0"/>
              <a:t>- </a:t>
            </a:r>
            <a:r>
              <a:rPr lang="en-US" dirty="0" err="1" smtClean="0"/>
              <a:t>Và</a:t>
            </a:r>
            <a:r>
              <a:rPr lang="en-US" dirty="0" smtClean="0"/>
              <a:t> </a:t>
            </a:r>
            <a:r>
              <a:rPr lang="en-US" dirty="0" err="1" smtClean="0"/>
              <a:t>biến</a:t>
            </a:r>
            <a:r>
              <a:rPr lang="en-US" dirty="0" smtClean="0"/>
              <a:t> </a:t>
            </a:r>
            <a:r>
              <a:rPr lang="en-US" b="1" dirty="0" smtClean="0"/>
              <a:t>age</a:t>
            </a:r>
            <a:r>
              <a:rPr lang="en-US" dirty="0" smtClean="0"/>
              <a:t> </a:t>
            </a:r>
            <a:r>
              <a:rPr lang="en-US" dirty="0" err="1" smtClean="0"/>
              <a:t>sẽ</a:t>
            </a:r>
            <a:r>
              <a:rPr lang="en-US" dirty="0" smtClean="0"/>
              <a:t> </a:t>
            </a:r>
            <a:r>
              <a:rPr lang="en-US" dirty="0" err="1" smtClean="0"/>
              <a:t>thay</a:t>
            </a:r>
            <a:r>
              <a:rPr lang="en-US" dirty="0" smtClean="0"/>
              <a:t> </a:t>
            </a:r>
            <a:r>
              <a:rPr lang="en-US" dirty="0" err="1" smtClean="0"/>
              <a:t>thế</a:t>
            </a:r>
            <a:r>
              <a:rPr lang="en-US" dirty="0" smtClean="0"/>
              <a:t> </a:t>
            </a:r>
            <a:r>
              <a:rPr lang="en-US" dirty="0" err="1" smtClean="0"/>
              <a:t>vào</a:t>
            </a:r>
            <a:r>
              <a:rPr lang="en-US" dirty="0" smtClean="0"/>
              <a:t> </a:t>
            </a:r>
            <a:r>
              <a:rPr lang="en-US" dirty="0" err="1" smtClean="0"/>
              <a:t>vị</a:t>
            </a:r>
            <a:r>
              <a:rPr lang="en-US" dirty="0" smtClean="0"/>
              <a:t> </a:t>
            </a:r>
            <a:r>
              <a:rPr lang="en-US" dirty="0" err="1" smtClean="0"/>
              <a:t>trí</a:t>
            </a:r>
            <a:r>
              <a:rPr lang="en-US" dirty="0" smtClean="0"/>
              <a:t> </a:t>
            </a:r>
            <a:r>
              <a:rPr lang="en-US" b="1" dirty="0" smtClean="0"/>
              <a:t>{}</a:t>
            </a:r>
            <a:r>
              <a:rPr lang="en-US" dirty="0" smtClean="0"/>
              <a:t> </a:t>
            </a:r>
            <a:r>
              <a:rPr lang="en-US" dirty="0" err="1" smtClean="0"/>
              <a:t>thứ</a:t>
            </a:r>
            <a:r>
              <a:rPr lang="en-US" dirty="0" smtClean="0"/>
              <a:t> 2 </a:t>
            </a:r>
            <a:r>
              <a:rPr lang="en-US" dirty="0" err="1" smtClean="0"/>
              <a:t>trong</a:t>
            </a:r>
            <a:r>
              <a:rPr lang="en-US" dirty="0" smtClean="0"/>
              <a:t> </a:t>
            </a:r>
            <a:r>
              <a:rPr lang="en-US" dirty="0" err="1" smtClean="0"/>
              <a:t>chuỗi</a:t>
            </a:r>
            <a:r>
              <a:rPr lang="en-US" dirty="0" smtClean="0"/>
              <a:t> txt</a:t>
            </a:r>
          </a:p>
          <a:p>
            <a:r>
              <a:rPr lang="en-US" dirty="0" smtClean="0"/>
              <a:t>- </a:t>
            </a:r>
            <a:r>
              <a:rPr lang="en-US" dirty="0" err="1" smtClean="0"/>
              <a:t>Nếu</a:t>
            </a:r>
            <a:r>
              <a:rPr lang="en-US" dirty="0" smtClean="0"/>
              <a:t> </a:t>
            </a:r>
            <a:r>
              <a:rPr lang="en-US" dirty="0" err="1" smtClean="0"/>
              <a:t>có</a:t>
            </a:r>
            <a:r>
              <a:rPr lang="en-US" dirty="0" smtClean="0"/>
              <a:t> </a:t>
            </a:r>
            <a:r>
              <a:rPr lang="en-US" dirty="0" err="1" smtClean="0"/>
              <a:t>một</a:t>
            </a:r>
            <a:r>
              <a:rPr lang="en-US" dirty="0" smtClean="0"/>
              <a:t> </a:t>
            </a:r>
            <a:r>
              <a:rPr lang="en-US" dirty="0" err="1" smtClean="0"/>
              <a:t>biến</a:t>
            </a:r>
            <a:r>
              <a:rPr lang="en-US" dirty="0" smtClean="0"/>
              <a:t> </a:t>
            </a:r>
            <a:r>
              <a:rPr lang="en-US" dirty="0" err="1" smtClean="0"/>
              <a:t>khác</a:t>
            </a:r>
            <a:r>
              <a:rPr lang="en-US" dirty="0" smtClean="0"/>
              <a:t> </a:t>
            </a:r>
            <a:r>
              <a:rPr lang="en-US" dirty="0" err="1" smtClean="0"/>
              <a:t>thì</a:t>
            </a:r>
            <a:r>
              <a:rPr lang="en-US" dirty="0" smtClean="0"/>
              <a:t> </a:t>
            </a:r>
            <a:r>
              <a:rPr lang="en-US" dirty="0" err="1" smtClean="0"/>
              <a:t>biến</a:t>
            </a:r>
            <a:r>
              <a:rPr lang="en-US" dirty="0" smtClean="0"/>
              <a:t> </a:t>
            </a:r>
            <a:r>
              <a:rPr lang="en-US" dirty="0" err="1" smtClean="0"/>
              <a:t>và</a:t>
            </a:r>
            <a:r>
              <a:rPr lang="en-US" dirty="0" smtClean="0"/>
              <a:t> {} </a:t>
            </a:r>
            <a:r>
              <a:rPr lang="en-US" dirty="0" err="1" smtClean="0"/>
              <a:t>được</a:t>
            </a:r>
            <a:r>
              <a:rPr lang="en-US" dirty="0" smtClean="0"/>
              <a:t> </a:t>
            </a:r>
            <a:r>
              <a:rPr lang="en-US" dirty="0" err="1" smtClean="0"/>
              <a:t>tham</a:t>
            </a:r>
            <a:r>
              <a:rPr lang="en-US" dirty="0" smtClean="0"/>
              <a:t> </a:t>
            </a:r>
            <a:r>
              <a:rPr lang="en-US" dirty="0" err="1" smtClean="0"/>
              <a:t>chiếu</a:t>
            </a:r>
            <a:r>
              <a:rPr lang="en-US" dirty="0" smtClean="0"/>
              <a:t> </a:t>
            </a:r>
            <a:r>
              <a:rPr lang="en-US" dirty="0" err="1" smtClean="0"/>
              <a:t>một</a:t>
            </a:r>
            <a:r>
              <a:rPr lang="en-US" dirty="0" smtClean="0"/>
              <a:t> </a:t>
            </a:r>
            <a:r>
              <a:rPr lang="en-US" dirty="0" err="1" smtClean="0"/>
              <a:t>cách</a:t>
            </a:r>
            <a:r>
              <a:rPr lang="en-US" dirty="0" smtClean="0"/>
              <a:t> </a:t>
            </a:r>
            <a:r>
              <a:rPr lang="en-US" dirty="0" err="1" smtClean="0"/>
              <a:t>tuần</a:t>
            </a:r>
            <a:r>
              <a:rPr lang="en-US" dirty="0" smtClean="0"/>
              <a:t> </a:t>
            </a:r>
            <a:r>
              <a:rPr lang="en-US" dirty="0" err="1" smtClean="0"/>
              <a:t>tự</a:t>
            </a:r>
            <a:r>
              <a:rPr lang="en-US" dirty="0" smtClean="0"/>
              <a:t> </a:t>
            </a:r>
            <a:r>
              <a:rPr lang="en-US" dirty="0" err="1" smtClean="0"/>
              <a:t>như</a:t>
            </a:r>
            <a:r>
              <a:rPr lang="en-US" dirty="0" smtClean="0"/>
              <a:t> </a:t>
            </a:r>
            <a:r>
              <a:rPr lang="en-US" dirty="0" err="1" smtClean="0"/>
              <a:t>vậy</a:t>
            </a:r>
            <a:r>
              <a:rPr lang="en-US" dirty="0" smtClean="0"/>
              <a:t> </a:t>
            </a:r>
            <a:r>
              <a:rPr lang="en-US" dirty="0" err="1" smtClean="0"/>
              <a:t>khi</a:t>
            </a:r>
            <a:r>
              <a:rPr lang="en-US" dirty="0" smtClean="0"/>
              <a:t> </a:t>
            </a:r>
            <a:r>
              <a:rPr lang="en-US" dirty="0" err="1" smtClean="0"/>
              <a:t>bạn</a:t>
            </a:r>
            <a:r>
              <a:rPr lang="en-US" dirty="0" smtClean="0"/>
              <a:t> </a:t>
            </a:r>
            <a:r>
              <a:rPr lang="en-US" dirty="0" err="1" smtClean="0"/>
              <a:t>thêm</a:t>
            </a:r>
            <a:r>
              <a:rPr lang="en-US" dirty="0" smtClean="0"/>
              <a:t> </a:t>
            </a:r>
            <a:r>
              <a:rPr lang="en-US" dirty="0" err="1" smtClean="0"/>
              <a:t>vào</a:t>
            </a:r>
            <a:r>
              <a:rPr lang="en-US" dirty="0" smtClean="0"/>
              <a:t> </a:t>
            </a:r>
            <a:r>
              <a:rPr lang="en-US" dirty="0" err="1" smtClean="0"/>
              <a:t>hàm</a:t>
            </a:r>
            <a:r>
              <a:rPr lang="en-US" dirty="0" smtClean="0"/>
              <a:t> </a:t>
            </a:r>
            <a:r>
              <a:rPr lang="en-US" b="1" dirty="0" smtClean="0"/>
              <a:t>format()</a:t>
            </a:r>
            <a:endParaRPr lang="en-US" b="1" dirty="0"/>
          </a:p>
        </p:txBody>
      </p:sp>
      <p:sp>
        <p:nvSpPr>
          <p:cNvPr id="11" name="TextBox 10"/>
          <p:cNvSpPr txBox="1"/>
          <p:nvPr/>
        </p:nvSpPr>
        <p:spPr>
          <a:xfrm>
            <a:off x="604100" y="5989447"/>
            <a:ext cx="7834152" cy="369332"/>
          </a:xfrm>
          <a:prstGeom prst="rect">
            <a:avLst/>
          </a:prstGeom>
          <a:noFill/>
        </p:spPr>
        <p:txBody>
          <a:bodyPr wrap="square" rtlCol="0">
            <a:spAutoFit/>
          </a:bodyPr>
          <a:lstStyle/>
          <a:p>
            <a:r>
              <a:rPr lang="en-US" i="1" dirty="0" err="1" smtClean="0">
                <a:solidFill>
                  <a:schemeClr val="accent2">
                    <a:lumMod val="75000"/>
                  </a:schemeClr>
                </a:solidFill>
              </a:rPr>
              <a:t>Lưu</a:t>
            </a:r>
            <a:r>
              <a:rPr lang="en-US" i="1" dirty="0" smtClean="0">
                <a:solidFill>
                  <a:schemeClr val="accent2">
                    <a:lumMod val="75000"/>
                  </a:schemeClr>
                </a:solidFill>
              </a:rPr>
              <a:t> ý: </a:t>
            </a:r>
            <a:r>
              <a:rPr lang="en-US" i="1" dirty="0" err="1" smtClean="0">
                <a:solidFill>
                  <a:schemeClr val="accent2">
                    <a:lumMod val="75000"/>
                  </a:schemeClr>
                </a:solidFill>
              </a:rPr>
              <a:t>bạn</a:t>
            </a:r>
            <a:r>
              <a:rPr lang="en-US" i="1" dirty="0" smtClean="0">
                <a:solidFill>
                  <a:schemeClr val="accent2">
                    <a:lumMod val="75000"/>
                  </a:schemeClr>
                </a:solidFill>
              </a:rPr>
              <a:t> </a:t>
            </a:r>
            <a:r>
              <a:rPr lang="en-US" i="1" dirty="0" err="1" smtClean="0">
                <a:solidFill>
                  <a:schemeClr val="accent2">
                    <a:lumMod val="75000"/>
                  </a:schemeClr>
                </a:solidFill>
              </a:rPr>
              <a:t>có</a:t>
            </a:r>
            <a:r>
              <a:rPr lang="en-US" i="1" dirty="0" smtClean="0">
                <a:solidFill>
                  <a:schemeClr val="accent2">
                    <a:lumMod val="75000"/>
                  </a:schemeClr>
                </a:solidFill>
              </a:rPr>
              <a:t> </a:t>
            </a:r>
            <a:r>
              <a:rPr lang="en-US" i="1" dirty="0" err="1" smtClean="0">
                <a:solidFill>
                  <a:schemeClr val="accent2">
                    <a:lumMod val="75000"/>
                  </a:schemeClr>
                </a:solidFill>
              </a:rPr>
              <a:t>thể</a:t>
            </a:r>
            <a:r>
              <a:rPr lang="en-US" i="1" dirty="0" smtClean="0">
                <a:solidFill>
                  <a:schemeClr val="accent2">
                    <a:lumMod val="75000"/>
                  </a:schemeClr>
                </a:solidFill>
              </a:rPr>
              <a:t> </a:t>
            </a:r>
            <a:r>
              <a:rPr lang="en-US" i="1" dirty="0" err="1" smtClean="0">
                <a:solidFill>
                  <a:schemeClr val="accent2">
                    <a:lumMod val="75000"/>
                  </a:schemeClr>
                </a:solidFill>
              </a:rPr>
              <a:t>đưa</a:t>
            </a:r>
            <a:r>
              <a:rPr lang="en-US" i="1" dirty="0" smtClean="0">
                <a:solidFill>
                  <a:schemeClr val="accent2">
                    <a:lumMod val="75000"/>
                  </a:schemeClr>
                </a:solidFill>
              </a:rPr>
              <a:t> </a:t>
            </a:r>
            <a:r>
              <a:rPr lang="en-US" i="1" dirty="0" err="1" smtClean="0">
                <a:solidFill>
                  <a:schemeClr val="accent2">
                    <a:lumMod val="75000"/>
                  </a:schemeClr>
                </a:solidFill>
              </a:rPr>
              <a:t>nhiều</a:t>
            </a:r>
            <a:r>
              <a:rPr lang="en-US" i="1" dirty="0" smtClean="0">
                <a:solidFill>
                  <a:schemeClr val="accent2">
                    <a:lumMod val="75000"/>
                  </a:schemeClr>
                </a:solidFill>
              </a:rPr>
              <a:t> </a:t>
            </a:r>
            <a:r>
              <a:rPr lang="en-US" i="1" dirty="0" err="1" smtClean="0">
                <a:solidFill>
                  <a:schemeClr val="accent2">
                    <a:lumMod val="75000"/>
                  </a:schemeClr>
                </a:solidFill>
              </a:rPr>
              <a:t>tham</a:t>
            </a:r>
            <a:r>
              <a:rPr lang="en-US" i="1" dirty="0" smtClean="0">
                <a:solidFill>
                  <a:schemeClr val="accent2">
                    <a:lumMod val="75000"/>
                  </a:schemeClr>
                </a:solidFill>
              </a:rPr>
              <a:t> </a:t>
            </a:r>
            <a:r>
              <a:rPr lang="en-US" i="1" dirty="0" err="1" smtClean="0">
                <a:solidFill>
                  <a:schemeClr val="accent2">
                    <a:lumMod val="75000"/>
                  </a:schemeClr>
                </a:solidFill>
              </a:rPr>
              <a:t>số</a:t>
            </a:r>
            <a:r>
              <a:rPr lang="en-US" i="1" dirty="0" smtClean="0">
                <a:solidFill>
                  <a:schemeClr val="accent2">
                    <a:lumMod val="75000"/>
                  </a:schemeClr>
                </a:solidFill>
              </a:rPr>
              <a:t> </a:t>
            </a:r>
            <a:r>
              <a:rPr lang="en-US" i="1" dirty="0" err="1" smtClean="0">
                <a:solidFill>
                  <a:schemeClr val="accent2">
                    <a:lumMod val="75000"/>
                  </a:schemeClr>
                </a:solidFill>
              </a:rPr>
              <a:t>biến</a:t>
            </a:r>
            <a:r>
              <a:rPr lang="en-US" i="1" dirty="0" smtClean="0">
                <a:solidFill>
                  <a:schemeClr val="accent2">
                    <a:lumMod val="75000"/>
                  </a:schemeClr>
                </a:solidFill>
              </a:rPr>
              <a:t> </a:t>
            </a:r>
            <a:r>
              <a:rPr lang="en-US" i="1" dirty="0" err="1" smtClean="0">
                <a:solidFill>
                  <a:schemeClr val="accent2">
                    <a:lumMod val="75000"/>
                  </a:schemeClr>
                </a:solidFill>
              </a:rPr>
              <a:t>hơn</a:t>
            </a:r>
            <a:r>
              <a:rPr lang="en-US" i="1" dirty="0" smtClean="0">
                <a:solidFill>
                  <a:schemeClr val="accent2">
                    <a:lumMod val="75000"/>
                  </a:schemeClr>
                </a:solidFill>
              </a:rPr>
              <a:t> </a:t>
            </a:r>
            <a:r>
              <a:rPr lang="en-US" i="1" dirty="0" err="1" smtClean="0">
                <a:solidFill>
                  <a:schemeClr val="accent2">
                    <a:lumMod val="75000"/>
                  </a:schemeClr>
                </a:solidFill>
              </a:rPr>
              <a:t>số</a:t>
            </a:r>
            <a:r>
              <a:rPr lang="en-US" i="1" dirty="0" smtClean="0">
                <a:solidFill>
                  <a:schemeClr val="accent2">
                    <a:lumMod val="75000"/>
                  </a:schemeClr>
                </a:solidFill>
              </a:rPr>
              <a:t> </a:t>
            </a:r>
            <a:r>
              <a:rPr lang="en-US" i="1" dirty="0" err="1" smtClean="0">
                <a:solidFill>
                  <a:schemeClr val="accent2">
                    <a:lumMod val="75000"/>
                  </a:schemeClr>
                </a:solidFill>
              </a:rPr>
              <a:t>lượng</a:t>
            </a:r>
            <a:r>
              <a:rPr lang="en-US" i="1" dirty="0" smtClean="0">
                <a:solidFill>
                  <a:schemeClr val="accent2">
                    <a:lumMod val="75000"/>
                  </a:schemeClr>
                </a:solidFill>
              </a:rPr>
              <a:t> {} </a:t>
            </a:r>
            <a:r>
              <a:rPr lang="en-US" i="1" dirty="0" err="1" smtClean="0">
                <a:solidFill>
                  <a:schemeClr val="accent2">
                    <a:lumMod val="75000"/>
                  </a:schemeClr>
                </a:solidFill>
              </a:rPr>
              <a:t>cần</a:t>
            </a:r>
            <a:r>
              <a:rPr lang="en-US" i="1" dirty="0" smtClean="0">
                <a:solidFill>
                  <a:schemeClr val="accent2">
                    <a:lumMod val="75000"/>
                  </a:schemeClr>
                </a:solidFill>
              </a:rPr>
              <a:t> </a:t>
            </a:r>
            <a:r>
              <a:rPr lang="en-US" i="1" dirty="0" err="1" smtClean="0">
                <a:solidFill>
                  <a:schemeClr val="accent2">
                    <a:lumMod val="75000"/>
                  </a:schemeClr>
                </a:solidFill>
              </a:rPr>
              <a:t>thay</a:t>
            </a:r>
            <a:r>
              <a:rPr lang="en-US" i="1" dirty="0" smtClean="0">
                <a:solidFill>
                  <a:schemeClr val="accent2">
                    <a:lumMod val="75000"/>
                  </a:schemeClr>
                </a:solidFill>
              </a:rPr>
              <a:t> </a:t>
            </a:r>
            <a:r>
              <a:rPr lang="en-US" i="1" dirty="0" err="1" smtClean="0">
                <a:solidFill>
                  <a:schemeClr val="accent2">
                    <a:lumMod val="75000"/>
                  </a:schemeClr>
                </a:solidFill>
              </a:rPr>
              <a:t>thế</a:t>
            </a:r>
            <a:endParaRPr lang="en-US" b="1" i="1" dirty="0">
              <a:solidFill>
                <a:schemeClr val="accent2">
                  <a:lumMod val="75000"/>
                </a:schemeClr>
              </a:solidFill>
            </a:endParaRPr>
          </a:p>
        </p:txBody>
      </p:sp>
    </p:spTree>
    <p:extLst>
      <p:ext uri="{BB962C8B-B14F-4D97-AF65-F5344CB8AC3E}">
        <p14:creationId xmlns:p14="http://schemas.microsoft.com/office/powerpoint/2010/main" val="201186676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35</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2.9 </a:t>
            </a:r>
            <a:r>
              <a:rPr lang="en-US" dirty="0" err="1"/>
              <a:t>Định</a:t>
            </a:r>
            <a:r>
              <a:rPr lang="en-US" dirty="0"/>
              <a:t> </a:t>
            </a:r>
            <a:r>
              <a:rPr lang="en-US" dirty="0" err="1"/>
              <a:t>dạng</a:t>
            </a:r>
            <a:r>
              <a:rPr lang="en-US" dirty="0"/>
              <a:t> </a:t>
            </a:r>
            <a:r>
              <a:rPr lang="en-US" dirty="0" err="1"/>
              <a:t>Chuỗi</a:t>
            </a:r>
            <a:endParaRPr lang="en-US" dirty="0"/>
          </a:p>
        </p:txBody>
      </p:sp>
      <p:sp>
        <p:nvSpPr>
          <p:cNvPr id="29" name="Rectangle 28"/>
          <p:cNvSpPr/>
          <p:nvPr/>
        </p:nvSpPr>
        <p:spPr>
          <a:xfrm>
            <a:off x="699793" y="2590402"/>
            <a:ext cx="7774356" cy="184360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880547" y="2740561"/>
            <a:ext cx="7402216" cy="1477328"/>
          </a:xfrm>
          <a:prstGeom prst="rect">
            <a:avLst/>
          </a:prstGeom>
          <a:noFill/>
        </p:spPr>
        <p:txBody>
          <a:bodyPr wrap="square" rtlCol="0">
            <a:spAutoFit/>
          </a:bodyPr>
          <a:lstStyle/>
          <a:p>
            <a:r>
              <a:rPr lang="en-US" dirty="0">
                <a:solidFill>
                  <a:schemeClr val="bg1"/>
                </a:solidFill>
              </a:rPr>
              <a:t>quantity</a:t>
            </a:r>
            <a:r>
              <a:rPr lang="en-US" dirty="0"/>
              <a:t> </a:t>
            </a:r>
            <a:r>
              <a:rPr lang="en-US" dirty="0" smtClean="0">
                <a:solidFill>
                  <a:schemeClr val="bg1"/>
                </a:solidFill>
              </a:rPr>
              <a:t> </a:t>
            </a:r>
            <a:r>
              <a:rPr lang="en-US" dirty="0">
                <a:solidFill>
                  <a:schemeClr val="bg1"/>
                </a:solidFill>
              </a:rPr>
              <a:t>= </a:t>
            </a:r>
            <a:r>
              <a:rPr lang="en-US" dirty="0" smtClean="0">
                <a:solidFill>
                  <a:schemeClr val="accent6">
                    <a:lumMod val="60000"/>
                    <a:lumOff val="40000"/>
                  </a:schemeClr>
                </a:solidFill>
              </a:rPr>
              <a:t>2</a:t>
            </a:r>
          </a:p>
          <a:p>
            <a:r>
              <a:rPr lang="en-US" dirty="0">
                <a:solidFill>
                  <a:schemeClr val="bg1"/>
                </a:solidFill>
              </a:rPr>
              <a:t>price</a:t>
            </a:r>
            <a:r>
              <a:rPr lang="en-US" dirty="0"/>
              <a:t> </a:t>
            </a:r>
            <a:r>
              <a:rPr lang="en-US" dirty="0" smtClean="0">
                <a:solidFill>
                  <a:schemeClr val="bg1"/>
                </a:solidFill>
              </a:rPr>
              <a:t> = </a:t>
            </a:r>
            <a:r>
              <a:rPr lang="en-US" dirty="0" smtClean="0">
                <a:solidFill>
                  <a:schemeClr val="accent6">
                    <a:lumMod val="60000"/>
                    <a:lumOff val="40000"/>
                  </a:schemeClr>
                </a:solidFill>
              </a:rPr>
              <a:t>49.95</a:t>
            </a:r>
          </a:p>
          <a:p>
            <a:r>
              <a:rPr lang="en-US" dirty="0" smtClean="0">
                <a:solidFill>
                  <a:schemeClr val="bg1"/>
                </a:solidFill>
              </a:rPr>
              <a:t>txt </a:t>
            </a:r>
            <a:r>
              <a:rPr lang="en-US" dirty="0">
                <a:solidFill>
                  <a:schemeClr val="bg1"/>
                </a:solidFill>
              </a:rPr>
              <a:t>= </a:t>
            </a:r>
            <a:r>
              <a:rPr lang="en-US" dirty="0" smtClean="0">
                <a:solidFill>
                  <a:schemeClr val="accent2">
                    <a:lumMod val="75000"/>
                  </a:schemeClr>
                </a:solidFill>
              </a:rPr>
              <a:t>“</a:t>
            </a:r>
            <a:r>
              <a:rPr lang="en-US" dirty="0" err="1" smtClean="0">
                <a:solidFill>
                  <a:schemeClr val="accent2">
                    <a:lumMod val="75000"/>
                  </a:schemeClr>
                </a:solidFill>
              </a:rPr>
              <a:t>Mua</a:t>
            </a:r>
            <a:r>
              <a:rPr lang="en-US" dirty="0" smtClean="0">
                <a:solidFill>
                  <a:schemeClr val="accent2">
                    <a:lumMod val="75000"/>
                  </a:schemeClr>
                </a:solidFill>
              </a:rPr>
              <a:t> {0} </a:t>
            </a:r>
            <a:r>
              <a:rPr lang="en-US" dirty="0" err="1" smtClean="0">
                <a:solidFill>
                  <a:schemeClr val="accent2">
                    <a:lumMod val="75000"/>
                  </a:schemeClr>
                </a:solidFill>
              </a:rPr>
              <a:t>cái</a:t>
            </a:r>
            <a:r>
              <a:rPr lang="en-US" dirty="0" smtClean="0">
                <a:solidFill>
                  <a:schemeClr val="accent2">
                    <a:lumMod val="75000"/>
                  </a:schemeClr>
                </a:solidFill>
              </a:rPr>
              <a:t> </a:t>
            </a:r>
            <a:r>
              <a:rPr lang="en-US" dirty="0" err="1" smtClean="0">
                <a:solidFill>
                  <a:schemeClr val="accent2">
                    <a:lumMod val="75000"/>
                  </a:schemeClr>
                </a:solidFill>
              </a:rPr>
              <a:t>bánh</a:t>
            </a:r>
            <a:r>
              <a:rPr lang="en-US" dirty="0" smtClean="0">
                <a:solidFill>
                  <a:schemeClr val="accent2">
                    <a:lumMod val="75000"/>
                  </a:schemeClr>
                </a:solidFill>
              </a:rPr>
              <a:t> </a:t>
            </a:r>
            <a:r>
              <a:rPr lang="en-US" dirty="0" err="1" smtClean="0">
                <a:solidFill>
                  <a:schemeClr val="accent2">
                    <a:lumMod val="75000"/>
                  </a:schemeClr>
                </a:solidFill>
              </a:rPr>
              <a:t>hết</a:t>
            </a:r>
            <a:r>
              <a:rPr lang="en-US" dirty="0" smtClean="0">
                <a:solidFill>
                  <a:schemeClr val="accent2">
                    <a:lumMod val="75000"/>
                  </a:schemeClr>
                </a:solidFill>
              </a:rPr>
              <a:t> {1} </a:t>
            </a:r>
            <a:r>
              <a:rPr lang="en-US" dirty="0" err="1" smtClean="0">
                <a:solidFill>
                  <a:schemeClr val="accent2">
                    <a:lumMod val="75000"/>
                  </a:schemeClr>
                </a:solidFill>
              </a:rPr>
              <a:t>đô</a:t>
            </a:r>
            <a:r>
              <a:rPr lang="en-US" dirty="0" smtClean="0">
                <a:solidFill>
                  <a:schemeClr val="accent2">
                    <a:lumMod val="75000"/>
                  </a:schemeClr>
                </a:solidFill>
              </a:rPr>
              <a:t> la. </a:t>
            </a:r>
            <a:r>
              <a:rPr lang="en-US" dirty="0" err="1" smtClean="0">
                <a:solidFill>
                  <a:schemeClr val="accent2">
                    <a:lumMod val="75000"/>
                  </a:schemeClr>
                </a:solidFill>
              </a:rPr>
              <a:t>Em</a:t>
            </a:r>
            <a:r>
              <a:rPr lang="en-US" dirty="0" smtClean="0">
                <a:solidFill>
                  <a:schemeClr val="accent2">
                    <a:lumMod val="75000"/>
                  </a:schemeClr>
                </a:solidFill>
              </a:rPr>
              <a:t> </a:t>
            </a:r>
            <a:r>
              <a:rPr lang="en-US" dirty="0" err="1" smtClean="0">
                <a:solidFill>
                  <a:schemeClr val="accent2">
                    <a:lumMod val="75000"/>
                  </a:schemeClr>
                </a:solidFill>
              </a:rPr>
              <a:t>tôi</a:t>
            </a:r>
            <a:r>
              <a:rPr lang="en-US" dirty="0" smtClean="0">
                <a:solidFill>
                  <a:schemeClr val="accent2">
                    <a:lumMod val="75000"/>
                  </a:schemeClr>
                </a:solidFill>
              </a:rPr>
              <a:t> </a:t>
            </a:r>
            <a:r>
              <a:rPr lang="en-US" dirty="0" err="1" smtClean="0">
                <a:solidFill>
                  <a:schemeClr val="accent2">
                    <a:lumMod val="75000"/>
                  </a:schemeClr>
                </a:solidFill>
              </a:rPr>
              <a:t>ăn</a:t>
            </a:r>
            <a:r>
              <a:rPr lang="en-US" dirty="0" smtClean="0">
                <a:solidFill>
                  <a:schemeClr val="accent2">
                    <a:lumMod val="75000"/>
                  </a:schemeClr>
                </a:solidFill>
              </a:rPr>
              <a:t> </a:t>
            </a:r>
            <a:r>
              <a:rPr lang="en-US" dirty="0" err="1" smtClean="0">
                <a:solidFill>
                  <a:schemeClr val="accent2">
                    <a:lumMod val="75000"/>
                  </a:schemeClr>
                </a:solidFill>
              </a:rPr>
              <a:t>hết</a:t>
            </a:r>
            <a:r>
              <a:rPr lang="en-US" dirty="0" smtClean="0">
                <a:solidFill>
                  <a:schemeClr val="accent2">
                    <a:lumMod val="75000"/>
                  </a:schemeClr>
                </a:solidFill>
              </a:rPr>
              <a:t> {0} </a:t>
            </a:r>
            <a:r>
              <a:rPr lang="en-US" dirty="0" err="1" smtClean="0">
                <a:solidFill>
                  <a:schemeClr val="accent2">
                    <a:lumMod val="75000"/>
                  </a:schemeClr>
                </a:solidFill>
              </a:rPr>
              <a:t>cái</a:t>
            </a:r>
            <a:r>
              <a:rPr lang="en-US" dirty="0" smtClean="0">
                <a:solidFill>
                  <a:schemeClr val="accent2">
                    <a:lumMod val="75000"/>
                  </a:schemeClr>
                </a:solidFill>
              </a:rPr>
              <a:t> </a:t>
            </a:r>
            <a:r>
              <a:rPr lang="en-US" dirty="0" err="1" smtClean="0">
                <a:solidFill>
                  <a:schemeClr val="accent2">
                    <a:lumMod val="75000"/>
                  </a:schemeClr>
                </a:solidFill>
              </a:rPr>
              <a:t>bánh</a:t>
            </a:r>
            <a:r>
              <a:rPr lang="en-US" dirty="0" smtClean="0">
                <a:solidFill>
                  <a:schemeClr val="accent2">
                    <a:lumMod val="75000"/>
                  </a:schemeClr>
                </a:solidFill>
              </a:rPr>
              <a:t>"</a:t>
            </a:r>
            <a:r>
              <a:rPr lang="en-US" dirty="0">
                <a:solidFill>
                  <a:schemeClr val="bg1"/>
                </a:solidFill>
              </a:rPr>
              <a:t/>
            </a:r>
            <a:br>
              <a:rPr lang="en-US" dirty="0">
                <a:solidFill>
                  <a:schemeClr val="bg1"/>
                </a:solidFill>
              </a:rPr>
            </a:br>
            <a:r>
              <a:rPr lang="en-US" dirty="0" smtClean="0">
                <a:solidFill>
                  <a:schemeClr val="bg1"/>
                </a:solidFill>
              </a:rPr>
              <a:t>print</a:t>
            </a:r>
            <a:r>
              <a:rPr lang="en-US" dirty="0" smtClean="0">
                <a:solidFill>
                  <a:schemeClr val="accent4">
                    <a:lumMod val="60000"/>
                    <a:lumOff val="40000"/>
                  </a:schemeClr>
                </a:solidFill>
              </a:rPr>
              <a:t>(</a:t>
            </a:r>
            <a:r>
              <a:rPr lang="en-US" dirty="0" err="1" smtClean="0">
                <a:solidFill>
                  <a:schemeClr val="bg1"/>
                </a:solidFill>
              </a:rPr>
              <a:t>txt.format</a:t>
            </a:r>
            <a:r>
              <a:rPr lang="en-US" dirty="0" smtClean="0">
                <a:solidFill>
                  <a:srgbClr val="FF66CC"/>
                </a:solidFill>
              </a:rPr>
              <a:t>(</a:t>
            </a:r>
            <a:r>
              <a:rPr lang="en-US" dirty="0">
                <a:solidFill>
                  <a:schemeClr val="bg1"/>
                </a:solidFill>
              </a:rPr>
              <a:t>quantity</a:t>
            </a:r>
            <a:r>
              <a:rPr lang="en-US" dirty="0" smtClean="0">
                <a:solidFill>
                  <a:schemeClr val="bg1"/>
                </a:solidFill>
              </a:rPr>
              <a:t>, </a:t>
            </a:r>
            <a:r>
              <a:rPr lang="en-US" dirty="0">
                <a:solidFill>
                  <a:schemeClr val="bg1"/>
                </a:solidFill>
              </a:rPr>
              <a:t>price</a:t>
            </a:r>
            <a:r>
              <a:rPr lang="en-US" dirty="0" smtClean="0">
                <a:solidFill>
                  <a:srgbClr val="FF66CC"/>
                </a:solidFill>
              </a:rPr>
              <a:t>)</a:t>
            </a:r>
            <a:r>
              <a:rPr lang="en-US" dirty="0" smtClean="0">
                <a:solidFill>
                  <a:schemeClr val="accent4">
                    <a:lumMod val="60000"/>
                    <a:lumOff val="40000"/>
                  </a:schemeClr>
                </a:solidFill>
              </a:rPr>
              <a:t>)</a:t>
            </a:r>
          </a:p>
          <a:p>
            <a:r>
              <a:rPr lang="en-US" sz="1600" dirty="0" smtClean="0">
                <a:solidFill>
                  <a:schemeClr val="accent4">
                    <a:lumMod val="60000"/>
                    <a:lumOff val="40000"/>
                  </a:schemeClr>
                </a:solidFill>
              </a:rPr>
              <a:t>#</a:t>
            </a:r>
            <a:r>
              <a:rPr lang="en-US" sz="1600" dirty="0" err="1" smtClean="0">
                <a:solidFill>
                  <a:schemeClr val="accent4">
                    <a:lumMod val="60000"/>
                    <a:lumOff val="40000"/>
                  </a:schemeClr>
                </a:solidFill>
              </a:rPr>
              <a:t>Kết</a:t>
            </a:r>
            <a:r>
              <a:rPr lang="en-US" sz="1600" dirty="0" smtClean="0">
                <a:solidFill>
                  <a:schemeClr val="accent4">
                    <a:lumMod val="60000"/>
                    <a:lumOff val="40000"/>
                  </a:schemeClr>
                </a:solidFill>
              </a:rPr>
              <a:t> </a:t>
            </a:r>
            <a:r>
              <a:rPr lang="en-US" sz="1600" dirty="0" err="1" smtClean="0">
                <a:solidFill>
                  <a:schemeClr val="accent4">
                    <a:lumMod val="60000"/>
                    <a:lumOff val="40000"/>
                  </a:schemeClr>
                </a:solidFill>
              </a:rPr>
              <a:t>quả</a:t>
            </a:r>
            <a:r>
              <a:rPr lang="en-US" sz="1600" dirty="0" smtClean="0">
                <a:solidFill>
                  <a:schemeClr val="accent4">
                    <a:lumMod val="60000"/>
                    <a:lumOff val="40000"/>
                  </a:schemeClr>
                </a:solidFill>
              </a:rPr>
              <a:t> in </a:t>
            </a:r>
            <a:r>
              <a:rPr lang="en-US" sz="1600" dirty="0" err="1" smtClean="0">
                <a:solidFill>
                  <a:schemeClr val="accent4">
                    <a:lumMod val="60000"/>
                    <a:lumOff val="40000"/>
                  </a:schemeClr>
                </a:solidFill>
              </a:rPr>
              <a:t>ra</a:t>
            </a:r>
            <a:r>
              <a:rPr lang="en-US" sz="1600" dirty="0" smtClean="0">
                <a:solidFill>
                  <a:schemeClr val="accent4">
                    <a:lumMod val="60000"/>
                    <a:lumOff val="40000"/>
                  </a:schemeClr>
                </a:solidFill>
              </a:rPr>
              <a:t>: </a:t>
            </a:r>
            <a:r>
              <a:rPr lang="en-US" dirty="0" err="1" smtClean="0">
                <a:solidFill>
                  <a:schemeClr val="accent4">
                    <a:lumMod val="60000"/>
                    <a:lumOff val="40000"/>
                  </a:schemeClr>
                </a:solidFill>
              </a:rPr>
              <a:t>Mua</a:t>
            </a:r>
            <a:r>
              <a:rPr lang="en-US" dirty="0" smtClean="0">
                <a:solidFill>
                  <a:schemeClr val="accent4">
                    <a:lumMod val="60000"/>
                    <a:lumOff val="40000"/>
                  </a:schemeClr>
                </a:solidFill>
              </a:rPr>
              <a:t> 2 </a:t>
            </a:r>
            <a:r>
              <a:rPr lang="en-US" dirty="0" err="1" smtClean="0">
                <a:solidFill>
                  <a:schemeClr val="accent4">
                    <a:lumMod val="60000"/>
                    <a:lumOff val="40000"/>
                  </a:schemeClr>
                </a:solidFill>
              </a:rPr>
              <a:t>cái</a:t>
            </a:r>
            <a:r>
              <a:rPr lang="en-US" dirty="0" smtClean="0">
                <a:solidFill>
                  <a:schemeClr val="accent4">
                    <a:lumMod val="60000"/>
                    <a:lumOff val="40000"/>
                  </a:schemeClr>
                </a:solidFill>
              </a:rPr>
              <a:t> </a:t>
            </a:r>
            <a:r>
              <a:rPr lang="en-US" dirty="0" err="1" smtClean="0">
                <a:solidFill>
                  <a:schemeClr val="accent4">
                    <a:lumMod val="60000"/>
                    <a:lumOff val="40000"/>
                  </a:schemeClr>
                </a:solidFill>
              </a:rPr>
              <a:t>bánh</a:t>
            </a:r>
            <a:r>
              <a:rPr lang="en-US" dirty="0" smtClean="0">
                <a:solidFill>
                  <a:schemeClr val="accent4">
                    <a:lumMod val="60000"/>
                    <a:lumOff val="40000"/>
                  </a:schemeClr>
                </a:solidFill>
              </a:rPr>
              <a:t> </a:t>
            </a:r>
            <a:r>
              <a:rPr lang="en-US" dirty="0" err="1" smtClean="0">
                <a:solidFill>
                  <a:schemeClr val="accent4">
                    <a:lumMod val="60000"/>
                    <a:lumOff val="40000"/>
                  </a:schemeClr>
                </a:solidFill>
              </a:rPr>
              <a:t>hết</a:t>
            </a:r>
            <a:r>
              <a:rPr lang="en-US" dirty="0" smtClean="0">
                <a:solidFill>
                  <a:schemeClr val="accent4">
                    <a:lumMod val="60000"/>
                    <a:lumOff val="40000"/>
                  </a:schemeClr>
                </a:solidFill>
              </a:rPr>
              <a:t> 49.95 </a:t>
            </a:r>
            <a:r>
              <a:rPr lang="en-US" dirty="0" err="1" smtClean="0">
                <a:solidFill>
                  <a:schemeClr val="accent4">
                    <a:lumMod val="60000"/>
                    <a:lumOff val="40000"/>
                  </a:schemeClr>
                </a:solidFill>
              </a:rPr>
              <a:t>đô</a:t>
            </a:r>
            <a:r>
              <a:rPr lang="en-US" dirty="0" smtClean="0">
                <a:solidFill>
                  <a:schemeClr val="accent4">
                    <a:lumMod val="60000"/>
                    <a:lumOff val="40000"/>
                  </a:schemeClr>
                </a:solidFill>
              </a:rPr>
              <a:t> la. </a:t>
            </a:r>
            <a:r>
              <a:rPr lang="en-US" dirty="0" err="1" smtClean="0">
                <a:solidFill>
                  <a:schemeClr val="accent4">
                    <a:lumMod val="60000"/>
                    <a:lumOff val="40000"/>
                  </a:schemeClr>
                </a:solidFill>
              </a:rPr>
              <a:t>Em</a:t>
            </a:r>
            <a:r>
              <a:rPr lang="en-US" dirty="0" smtClean="0">
                <a:solidFill>
                  <a:schemeClr val="accent4">
                    <a:lumMod val="60000"/>
                    <a:lumOff val="40000"/>
                  </a:schemeClr>
                </a:solidFill>
              </a:rPr>
              <a:t> </a:t>
            </a:r>
            <a:r>
              <a:rPr lang="en-US" dirty="0" err="1" smtClean="0">
                <a:solidFill>
                  <a:schemeClr val="accent4">
                    <a:lumMod val="60000"/>
                    <a:lumOff val="40000"/>
                  </a:schemeClr>
                </a:solidFill>
              </a:rPr>
              <a:t>tôi</a:t>
            </a:r>
            <a:r>
              <a:rPr lang="en-US" dirty="0" smtClean="0">
                <a:solidFill>
                  <a:schemeClr val="accent4">
                    <a:lumMod val="60000"/>
                    <a:lumOff val="40000"/>
                  </a:schemeClr>
                </a:solidFill>
              </a:rPr>
              <a:t> </a:t>
            </a:r>
            <a:r>
              <a:rPr lang="en-US" dirty="0" err="1" smtClean="0">
                <a:solidFill>
                  <a:schemeClr val="accent4">
                    <a:lumMod val="60000"/>
                    <a:lumOff val="40000"/>
                  </a:schemeClr>
                </a:solidFill>
              </a:rPr>
              <a:t>ăn</a:t>
            </a:r>
            <a:r>
              <a:rPr lang="en-US" dirty="0" smtClean="0">
                <a:solidFill>
                  <a:schemeClr val="accent4">
                    <a:lumMod val="60000"/>
                    <a:lumOff val="40000"/>
                  </a:schemeClr>
                </a:solidFill>
              </a:rPr>
              <a:t> </a:t>
            </a:r>
            <a:r>
              <a:rPr lang="en-US" dirty="0" err="1" smtClean="0">
                <a:solidFill>
                  <a:schemeClr val="accent4">
                    <a:lumMod val="60000"/>
                    <a:lumOff val="40000"/>
                  </a:schemeClr>
                </a:solidFill>
              </a:rPr>
              <a:t>hết</a:t>
            </a:r>
            <a:r>
              <a:rPr lang="en-US" dirty="0" smtClean="0">
                <a:solidFill>
                  <a:schemeClr val="accent4">
                    <a:lumMod val="60000"/>
                    <a:lumOff val="40000"/>
                  </a:schemeClr>
                </a:solidFill>
              </a:rPr>
              <a:t> 2 </a:t>
            </a:r>
            <a:r>
              <a:rPr lang="en-US" dirty="0" err="1" smtClean="0">
                <a:solidFill>
                  <a:schemeClr val="accent4">
                    <a:lumMod val="60000"/>
                    <a:lumOff val="40000"/>
                  </a:schemeClr>
                </a:solidFill>
              </a:rPr>
              <a:t>cái</a:t>
            </a:r>
            <a:r>
              <a:rPr lang="en-US" dirty="0" smtClean="0">
                <a:solidFill>
                  <a:schemeClr val="accent4">
                    <a:lumMod val="60000"/>
                    <a:lumOff val="40000"/>
                  </a:schemeClr>
                </a:solidFill>
              </a:rPr>
              <a:t> </a:t>
            </a:r>
            <a:r>
              <a:rPr lang="en-US" dirty="0" err="1" smtClean="0">
                <a:solidFill>
                  <a:schemeClr val="accent4">
                    <a:lumMod val="60000"/>
                    <a:lumOff val="40000"/>
                  </a:schemeClr>
                </a:solidFill>
              </a:rPr>
              <a:t>bánh</a:t>
            </a:r>
            <a:endParaRPr lang="en-US" sz="1600" dirty="0">
              <a:solidFill>
                <a:schemeClr val="accent4">
                  <a:lumMod val="60000"/>
                  <a:lumOff val="40000"/>
                </a:schemeClr>
              </a:solidFill>
            </a:endParaRPr>
          </a:p>
        </p:txBody>
      </p:sp>
      <p:sp>
        <p:nvSpPr>
          <p:cNvPr id="14" name="TextBox 13"/>
          <p:cNvSpPr txBox="1"/>
          <p:nvPr/>
        </p:nvSpPr>
        <p:spPr>
          <a:xfrm>
            <a:off x="774221" y="2098011"/>
            <a:ext cx="7834152" cy="369332"/>
          </a:xfrm>
          <a:prstGeom prst="rect">
            <a:avLst/>
          </a:prstGeom>
          <a:noFill/>
        </p:spPr>
        <p:txBody>
          <a:bodyPr wrap="square" rtlCol="0">
            <a:spAutoFit/>
          </a:bodyPr>
          <a:lstStyle/>
          <a:p>
            <a:r>
              <a:rPr lang="en-US" b="1" dirty="0" err="1" smtClean="0"/>
              <a:t>Thay</a:t>
            </a:r>
            <a:r>
              <a:rPr lang="en-US" b="1" dirty="0" smtClean="0"/>
              <a:t> </a:t>
            </a:r>
            <a:r>
              <a:rPr lang="en-US" b="1" dirty="0" err="1" smtClean="0"/>
              <a:t>thế</a:t>
            </a:r>
            <a:r>
              <a:rPr lang="en-US" b="1" dirty="0" smtClean="0"/>
              <a:t>  </a:t>
            </a:r>
            <a:r>
              <a:rPr lang="en-US" b="1" dirty="0" err="1" smtClean="0"/>
              <a:t>có</a:t>
            </a:r>
            <a:r>
              <a:rPr lang="en-US" b="1" dirty="0" smtClean="0"/>
              <a:t> </a:t>
            </a:r>
            <a:r>
              <a:rPr lang="en-US" b="1" dirty="0" err="1" smtClean="0"/>
              <a:t>chỉ</a:t>
            </a:r>
            <a:r>
              <a:rPr lang="en-US" b="1" dirty="0" smtClean="0"/>
              <a:t> </a:t>
            </a:r>
            <a:r>
              <a:rPr lang="en-US" b="1" dirty="0" err="1" smtClean="0"/>
              <a:t>số</a:t>
            </a:r>
            <a:endParaRPr lang="en-US" b="1" dirty="0">
              <a:solidFill>
                <a:srgbClr val="FF0000"/>
              </a:solidFill>
            </a:endParaRPr>
          </a:p>
        </p:txBody>
      </p:sp>
      <p:sp>
        <p:nvSpPr>
          <p:cNvPr id="25" name="Flowchart: Decision 24"/>
          <p:cNvSpPr/>
          <p:nvPr/>
        </p:nvSpPr>
        <p:spPr>
          <a:xfrm>
            <a:off x="625365" y="2207205"/>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smtClean="0"/>
              <a:t>Định</a:t>
            </a:r>
            <a:r>
              <a:rPr lang="en-US" b="1" dirty="0" smtClean="0"/>
              <a:t> </a:t>
            </a:r>
            <a:r>
              <a:rPr lang="en-US" b="1" dirty="0" err="1" smtClean="0"/>
              <a:t>dạng</a:t>
            </a:r>
            <a:r>
              <a:rPr lang="en-US" b="1" dirty="0" smtClean="0"/>
              <a:t> (</a:t>
            </a:r>
            <a:r>
              <a:rPr lang="en-US" b="1" dirty="0" err="1" smtClean="0"/>
              <a:t>đóng</a:t>
            </a:r>
            <a:r>
              <a:rPr lang="en-US" b="1" dirty="0" smtClean="0"/>
              <a:t> </a:t>
            </a:r>
            <a:r>
              <a:rPr lang="en-US" b="1" dirty="0" err="1" smtClean="0"/>
              <a:t>khuôn</a:t>
            </a:r>
            <a:r>
              <a:rPr lang="en-US" b="1" smtClean="0"/>
              <a:t>) </a:t>
            </a:r>
            <a:r>
              <a:rPr lang="en-US" b="1" dirty="0" err="1" smtClean="0"/>
              <a:t>chuỗi</a:t>
            </a:r>
            <a:endParaRPr lang="en-US" b="1" dirty="0">
              <a:solidFill>
                <a:srgbClr val="FF0000"/>
              </a:solidFill>
            </a:endParaRPr>
          </a:p>
        </p:txBody>
      </p:sp>
      <p:sp>
        <p:nvSpPr>
          <p:cNvPr id="28" name="TextBox 27"/>
          <p:cNvSpPr txBox="1"/>
          <p:nvPr/>
        </p:nvSpPr>
        <p:spPr>
          <a:xfrm>
            <a:off x="625365" y="4569947"/>
            <a:ext cx="7834152" cy="1200329"/>
          </a:xfrm>
          <a:prstGeom prst="rect">
            <a:avLst/>
          </a:prstGeom>
          <a:noFill/>
        </p:spPr>
        <p:txBody>
          <a:bodyPr wrap="square" rtlCol="0">
            <a:spAutoFit/>
          </a:bodyPr>
          <a:lstStyle/>
          <a:p>
            <a:r>
              <a:rPr lang="en-US" dirty="0" err="1" smtClean="0"/>
              <a:t>Với</a:t>
            </a:r>
            <a:r>
              <a:rPr lang="en-US" dirty="0" smtClean="0"/>
              <a:t> </a:t>
            </a:r>
            <a:r>
              <a:rPr lang="en-US" dirty="0" err="1" smtClean="0"/>
              <a:t>cách</a:t>
            </a:r>
            <a:r>
              <a:rPr lang="en-US" dirty="0" smtClean="0"/>
              <a:t> </a:t>
            </a:r>
            <a:r>
              <a:rPr lang="en-US" dirty="0" err="1" smtClean="0"/>
              <a:t>dùng</a:t>
            </a:r>
            <a:r>
              <a:rPr lang="en-US" dirty="0" smtClean="0"/>
              <a:t> </a:t>
            </a:r>
            <a:r>
              <a:rPr lang="en-US" dirty="0" err="1" smtClean="0"/>
              <a:t>chỉ</a:t>
            </a:r>
            <a:r>
              <a:rPr lang="en-US" dirty="0" smtClean="0"/>
              <a:t> </a:t>
            </a:r>
            <a:r>
              <a:rPr lang="en-US" dirty="0" err="1" smtClean="0"/>
              <a:t>số</a:t>
            </a:r>
            <a:r>
              <a:rPr lang="en-US" dirty="0" smtClean="0"/>
              <a:t> </a:t>
            </a:r>
            <a:r>
              <a:rPr lang="en-US" dirty="0" err="1" smtClean="0"/>
              <a:t>này</a:t>
            </a:r>
            <a:r>
              <a:rPr lang="en-US" dirty="0" smtClean="0"/>
              <a:t> </a:t>
            </a:r>
            <a:r>
              <a:rPr lang="en-US" dirty="0" err="1" smtClean="0"/>
              <a:t>thì</a:t>
            </a:r>
            <a:r>
              <a:rPr lang="en-US" dirty="0" smtClean="0"/>
              <a:t> </a:t>
            </a:r>
            <a:r>
              <a:rPr lang="en-US" dirty="0" err="1" smtClean="0"/>
              <a:t>nhìn</a:t>
            </a:r>
            <a:r>
              <a:rPr lang="en-US" dirty="0" smtClean="0"/>
              <a:t> </a:t>
            </a:r>
            <a:r>
              <a:rPr lang="en-US" dirty="0" err="1" smtClean="0"/>
              <a:t>vào</a:t>
            </a:r>
            <a:r>
              <a:rPr lang="en-US" dirty="0" smtClean="0"/>
              <a:t> </a:t>
            </a:r>
            <a:r>
              <a:rPr lang="en-US" dirty="0" err="1" smtClean="0"/>
              <a:t>dễ</a:t>
            </a:r>
            <a:r>
              <a:rPr lang="en-US" dirty="0" smtClean="0"/>
              <a:t> </a:t>
            </a:r>
            <a:r>
              <a:rPr lang="en-US" dirty="0" err="1" smtClean="0"/>
              <a:t>hiểu</a:t>
            </a:r>
            <a:r>
              <a:rPr lang="en-US" dirty="0" smtClean="0"/>
              <a:t> </a:t>
            </a:r>
            <a:r>
              <a:rPr lang="en-US" dirty="0" err="1" smtClean="0"/>
              <a:t>hơn</a:t>
            </a:r>
            <a:r>
              <a:rPr lang="en-US" dirty="0" smtClean="0"/>
              <a:t>:</a:t>
            </a:r>
          </a:p>
          <a:p>
            <a:r>
              <a:rPr lang="en-US" b="1" dirty="0" smtClean="0"/>
              <a:t>- </a:t>
            </a:r>
            <a:r>
              <a:rPr lang="en-US" b="1" dirty="0" err="1" smtClean="0"/>
              <a:t>quanlity</a:t>
            </a:r>
            <a:r>
              <a:rPr lang="en-US" b="1" dirty="0" smtClean="0"/>
              <a:t>: </a:t>
            </a:r>
            <a:r>
              <a:rPr lang="en-US" dirty="0" err="1" smtClean="0"/>
              <a:t>sẽ</a:t>
            </a:r>
            <a:r>
              <a:rPr lang="en-US" dirty="0" smtClean="0"/>
              <a:t> </a:t>
            </a:r>
            <a:r>
              <a:rPr lang="en-US" dirty="0" err="1" smtClean="0"/>
              <a:t>tương</a:t>
            </a:r>
            <a:r>
              <a:rPr lang="en-US" dirty="0" smtClean="0"/>
              <a:t> </a:t>
            </a:r>
            <a:r>
              <a:rPr lang="en-US" dirty="0" err="1" smtClean="0"/>
              <a:t>ứng</a:t>
            </a:r>
            <a:r>
              <a:rPr lang="en-US" dirty="0" smtClean="0"/>
              <a:t> </a:t>
            </a:r>
            <a:r>
              <a:rPr lang="en-US" dirty="0" err="1" smtClean="0"/>
              <a:t>với</a:t>
            </a:r>
            <a:r>
              <a:rPr lang="en-US" dirty="0" smtClean="0"/>
              <a:t> field </a:t>
            </a:r>
            <a:r>
              <a:rPr lang="en-US" dirty="0" err="1" smtClean="0"/>
              <a:t>số</a:t>
            </a:r>
            <a:r>
              <a:rPr lang="en-US" dirty="0" smtClean="0"/>
              <a:t> {0}</a:t>
            </a:r>
          </a:p>
          <a:p>
            <a:r>
              <a:rPr lang="en-US" b="1" dirty="0" smtClean="0"/>
              <a:t>- price: </a:t>
            </a:r>
            <a:r>
              <a:rPr lang="en-US" dirty="0" err="1"/>
              <a:t>sẽ</a:t>
            </a:r>
            <a:r>
              <a:rPr lang="en-US" dirty="0"/>
              <a:t> </a:t>
            </a:r>
            <a:r>
              <a:rPr lang="en-US" dirty="0" err="1"/>
              <a:t>tương</a:t>
            </a:r>
            <a:r>
              <a:rPr lang="en-US" dirty="0"/>
              <a:t> </a:t>
            </a:r>
            <a:r>
              <a:rPr lang="en-US" dirty="0" err="1"/>
              <a:t>ứng</a:t>
            </a:r>
            <a:r>
              <a:rPr lang="en-US" dirty="0"/>
              <a:t> </a:t>
            </a:r>
            <a:r>
              <a:rPr lang="en-US" dirty="0" err="1"/>
              <a:t>với</a:t>
            </a:r>
            <a:r>
              <a:rPr lang="en-US" dirty="0"/>
              <a:t> field </a:t>
            </a:r>
            <a:r>
              <a:rPr lang="en-US" dirty="0" err="1"/>
              <a:t>số</a:t>
            </a:r>
            <a:r>
              <a:rPr lang="en-US" dirty="0"/>
              <a:t> </a:t>
            </a:r>
            <a:r>
              <a:rPr lang="en-US" dirty="0" smtClean="0"/>
              <a:t>{1}</a:t>
            </a:r>
          </a:p>
          <a:p>
            <a:r>
              <a:rPr lang="en-US" dirty="0" err="1" smtClean="0"/>
              <a:t>Và</a:t>
            </a:r>
            <a:r>
              <a:rPr lang="en-US" dirty="0" smtClean="0"/>
              <a:t> </a:t>
            </a:r>
            <a:r>
              <a:rPr lang="en-US" dirty="0" err="1" smtClean="0"/>
              <a:t>mình</a:t>
            </a:r>
            <a:r>
              <a:rPr lang="en-US" dirty="0" smtClean="0"/>
              <a:t> </a:t>
            </a:r>
            <a:r>
              <a:rPr lang="en-US" dirty="0" err="1" smtClean="0"/>
              <a:t>có</a:t>
            </a:r>
            <a:r>
              <a:rPr lang="en-US" dirty="0" smtClean="0"/>
              <a:t> </a:t>
            </a:r>
            <a:r>
              <a:rPr lang="en-US" dirty="0" err="1" smtClean="0"/>
              <a:t>thể</a:t>
            </a:r>
            <a:r>
              <a:rPr lang="en-US" dirty="0" smtClean="0"/>
              <a:t> </a:t>
            </a:r>
            <a:r>
              <a:rPr lang="en-US" dirty="0" err="1" smtClean="0"/>
              <a:t>đặt</a:t>
            </a:r>
            <a:r>
              <a:rPr lang="en-US" dirty="0" smtClean="0"/>
              <a:t> </a:t>
            </a:r>
            <a:r>
              <a:rPr lang="en-US" dirty="0" err="1" smtClean="0"/>
              <a:t>các</a:t>
            </a:r>
            <a:r>
              <a:rPr lang="en-US" dirty="0" smtClean="0"/>
              <a:t> </a:t>
            </a:r>
            <a:r>
              <a:rPr lang="en-US" smtClean="0"/>
              <a:t>field bất kỳ </a:t>
            </a:r>
            <a:r>
              <a:rPr lang="en-US" dirty="0" smtClean="0"/>
              <a:t>ở </a:t>
            </a:r>
            <a:r>
              <a:rPr lang="en-US" dirty="0" err="1" smtClean="0"/>
              <a:t>đâu</a:t>
            </a:r>
            <a:r>
              <a:rPr lang="en-US" dirty="0" smtClean="0"/>
              <a:t> </a:t>
            </a:r>
            <a:r>
              <a:rPr lang="en-US" dirty="0" err="1" smtClean="0"/>
              <a:t>chỉ</a:t>
            </a:r>
            <a:r>
              <a:rPr lang="en-US" dirty="0" smtClean="0"/>
              <a:t> </a:t>
            </a:r>
            <a:r>
              <a:rPr lang="en-US" dirty="0" err="1" smtClean="0"/>
              <a:t>cần</a:t>
            </a:r>
            <a:r>
              <a:rPr lang="en-US" dirty="0" smtClean="0"/>
              <a:t> </a:t>
            </a:r>
            <a:r>
              <a:rPr lang="en-US" dirty="0" err="1" smtClean="0"/>
              <a:t>ghi</a:t>
            </a:r>
            <a:r>
              <a:rPr lang="en-US" dirty="0" smtClean="0"/>
              <a:t> </a:t>
            </a:r>
            <a:r>
              <a:rPr lang="en-US" dirty="0" err="1" smtClean="0"/>
              <a:t>số</a:t>
            </a:r>
            <a:r>
              <a:rPr lang="en-US" dirty="0" smtClean="0"/>
              <a:t> </a:t>
            </a:r>
            <a:r>
              <a:rPr lang="en-US" dirty="0" err="1" smtClean="0"/>
              <a:t>vào</a:t>
            </a:r>
            <a:r>
              <a:rPr lang="en-US" dirty="0" smtClean="0"/>
              <a:t> </a:t>
            </a:r>
            <a:r>
              <a:rPr lang="en-US" dirty="0" err="1" smtClean="0"/>
              <a:t>là</a:t>
            </a:r>
            <a:r>
              <a:rPr lang="en-US" dirty="0" smtClean="0"/>
              <a:t> </a:t>
            </a:r>
            <a:r>
              <a:rPr lang="en-US" dirty="0" err="1" smtClean="0"/>
              <a:t>được</a:t>
            </a:r>
            <a:r>
              <a:rPr lang="en-US" dirty="0" smtClean="0"/>
              <a:t>.</a:t>
            </a:r>
            <a:endParaRPr lang="en-US" dirty="0"/>
          </a:p>
        </p:txBody>
      </p:sp>
      <p:sp>
        <p:nvSpPr>
          <p:cNvPr id="12" name="TextBox 11"/>
          <p:cNvSpPr txBox="1"/>
          <p:nvPr/>
        </p:nvSpPr>
        <p:spPr>
          <a:xfrm>
            <a:off x="604100" y="5886198"/>
            <a:ext cx="7834152" cy="646331"/>
          </a:xfrm>
          <a:prstGeom prst="rect">
            <a:avLst/>
          </a:prstGeom>
          <a:noFill/>
        </p:spPr>
        <p:txBody>
          <a:bodyPr wrap="square" rtlCol="0">
            <a:spAutoFit/>
          </a:bodyPr>
          <a:lstStyle/>
          <a:p>
            <a:r>
              <a:rPr lang="en-US" i="1" dirty="0" err="1" smtClean="0">
                <a:solidFill>
                  <a:schemeClr val="accent2">
                    <a:lumMod val="75000"/>
                  </a:schemeClr>
                </a:solidFill>
              </a:rPr>
              <a:t>Lưu</a:t>
            </a:r>
            <a:r>
              <a:rPr lang="en-US" i="1" dirty="0" smtClean="0">
                <a:solidFill>
                  <a:schemeClr val="accent2">
                    <a:lumMod val="75000"/>
                  </a:schemeClr>
                </a:solidFill>
              </a:rPr>
              <a:t> ý: </a:t>
            </a:r>
            <a:r>
              <a:rPr lang="en-US" i="1" dirty="0" err="1" smtClean="0">
                <a:solidFill>
                  <a:schemeClr val="accent2">
                    <a:lumMod val="75000"/>
                  </a:schemeClr>
                </a:solidFill>
              </a:rPr>
              <a:t>nếu</a:t>
            </a:r>
            <a:r>
              <a:rPr lang="en-US" i="1" dirty="0" smtClean="0">
                <a:solidFill>
                  <a:schemeClr val="accent2">
                    <a:lumMod val="75000"/>
                  </a:schemeClr>
                </a:solidFill>
              </a:rPr>
              <a:t> </a:t>
            </a:r>
            <a:r>
              <a:rPr lang="en-US" i="1" dirty="0" err="1" smtClean="0">
                <a:solidFill>
                  <a:schemeClr val="accent2">
                    <a:lumMod val="75000"/>
                  </a:schemeClr>
                </a:solidFill>
              </a:rPr>
              <a:t>đã</a:t>
            </a:r>
            <a:r>
              <a:rPr lang="en-US" i="1" dirty="0" smtClean="0">
                <a:solidFill>
                  <a:schemeClr val="accent2">
                    <a:lumMod val="75000"/>
                  </a:schemeClr>
                </a:solidFill>
              </a:rPr>
              <a:t> </a:t>
            </a:r>
            <a:r>
              <a:rPr lang="en-US" i="1" dirty="0" err="1" smtClean="0">
                <a:solidFill>
                  <a:schemeClr val="accent2">
                    <a:lumMod val="75000"/>
                  </a:schemeClr>
                </a:solidFill>
              </a:rPr>
              <a:t>đánh</a:t>
            </a:r>
            <a:r>
              <a:rPr lang="en-US" i="1" dirty="0" smtClean="0">
                <a:solidFill>
                  <a:schemeClr val="accent2">
                    <a:lumMod val="75000"/>
                  </a:schemeClr>
                </a:solidFill>
              </a:rPr>
              <a:t> </a:t>
            </a:r>
            <a:r>
              <a:rPr lang="en-US" i="1" dirty="0" err="1" smtClean="0">
                <a:solidFill>
                  <a:schemeClr val="accent2">
                    <a:lumMod val="75000"/>
                  </a:schemeClr>
                </a:solidFill>
              </a:rPr>
              <a:t>số</a:t>
            </a:r>
            <a:r>
              <a:rPr lang="en-US" i="1" dirty="0" smtClean="0">
                <a:solidFill>
                  <a:schemeClr val="accent2">
                    <a:lumMod val="75000"/>
                  </a:schemeClr>
                </a:solidFill>
              </a:rPr>
              <a:t> </a:t>
            </a:r>
            <a:r>
              <a:rPr lang="en-US" i="1" dirty="0" err="1" smtClean="0">
                <a:solidFill>
                  <a:schemeClr val="accent2">
                    <a:lumMod val="75000"/>
                  </a:schemeClr>
                </a:solidFill>
              </a:rPr>
              <a:t>thì</a:t>
            </a:r>
            <a:r>
              <a:rPr lang="en-US" i="1" dirty="0" smtClean="0">
                <a:solidFill>
                  <a:schemeClr val="accent2">
                    <a:lumMod val="75000"/>
                  </a:schemeClr>
                </a:solidFill>
              </a:rPr>
              <a:t> </a:t>
            </a:r>
            <a:r>
              <a:rPr lang="en-US" i="1" dirty="0" err="1" smtClean="0">
                <a:solidFill>
                  <a:schemeClr val="accent2">
                    <a:lumMod val="75000"/>
                  </a:schemeClr>
                </a:solidFill>
              </a:rPr>
              <a:t>tất</a:t>
            </a:r>
            <a:r>
              <a:rPr lang="en-US" i="1" dirty="0" smtClean="0">
                <a:solidFill>
                  <a:schemeClr val="accent2">
                    <a:lumMod val="75000"/>
                  </a:schemeClr>
                </a:solidFill>
              </a:rPr>
              <a:t> </a:t>
            </a:r>
            <a:r>
              <a:rPr lang="en-US" i="1" dirty="0" err="1" smtClean="0">
                <a:solidFill>
                  <a:schemeClr val="accent2">
                    <a:lumMod val="75000"/>
                  </a:schemeClr>
                </a:solidFill>
              </a:rPr>
              <a:t>cả</a:t>
            </a:r>
            <a:r>
              <a:rPr lang="en-US" i="1" dirty="0" smtClean="0">
                <a:solidFill>
                  <a:schemeClr val="accent2">
                    <a:lumMod val="75000"/>
                  </a:schemeClr>
                </a:solidFill>
              </a:rPr>
              <a:t> </a:t>
            </a:r>
            <a:r>
              <a:rPr lang="en-US" i="1" dirty="0" err="1" smtClean="0">
                <a:solidFill>
                  <a:schemeClr val="accent2">
                    <a:lumMod val="75000"/>
                  </a:schemeClr>
                </a:solidFill>
              </a:rPr>
              <a:t>các</a:t>
            </a:r>
            <a:r>
              <a:rPr lang="en-US" i="1" dirty="0" smtClean="0">
                <a:solidFill>
                  <a:schemeClr val="accent2">
                    <a:lumMod val="75000"/>
                  </a:schemeClr>
                </a:solidFill>
              </a:rPr>
              <a:t> field </a:t>
            </a:r>
            <a:r>
              <a:rPr lang="en-US" i="1" dirty="0" err="1" smtClean="0">
                <a:solidFill>
                  <a:schemeClr val="accent2">
                    <a:lumMod val="75000"/>
                  </a:schemeClr>
                </a:solidFill>
              </a:rPr>
              <a:t>đều</a:t>
            </a:r>
            <a:r>
              <a:rPr lang="en-US" i="1" dirty="0" smtClean="0">
                <a:solidFill>
                  <a:schemeClr val="accent2">
                    <a:lumMod val="75000"/>
                  </a:schemeClr>
                </a:solidFill>
              </a:rPr>
              <a:t> </a:t>
            </a:r>
            <a:r>
              <a:rPr lang="en-US" i="1" dirty="0" err="1" smtClean="0">
                <a:solidFill>
                  <a:schemeClr val="accent2">
                    <a:lumMod val="75000"/>
                  </a:schemeClr>
                </a:solidFill>
              </a:rPr>
              <a:t>đánh</a:t>
            </a:r>
            <a:r>
              <a:rPr lang="en-US" i="1" dirty="0" smtClean="0">
                <a:solidFill>
                  <a:schemeClr val="accent2">
                    <a:lumMod val="75000"/>
                  </a:schemeClr>
                </a:solidFill>
              </a:rPr>
              <a:t> </a:t>
            </a:r>
            <a:r>
              <a:rPr lang="en-US" i="1" dirty="0" err="1" smtClean="0">
                <a:solidFill>
                  <a:schemeClr val="accent2">
                    <a:lumMod val="75000"/>
                  </a:schemeClr>
                </a:solidFill>
              </a:rPr>
              <a:t>số</a:t>
            </a:r>
            <a:r>
              <a:rPr lang="en-US" i="1" dirty="0" smtClean="0">
                <a:solidFill>
                  <a:schemeClr val="accent2">
                    <a:lumMod val="75000"/>
                  </a:schemeClr>
                </a:solidFill>
              </a:rPr>
              <a:t>, </a:t>
            </a:r>
            <a:r>
              <a:rPr lang="en-US" i="1" dirty="0" err="1" smtClean="0">
                <a:solidFill>
                  <a:schemeClr val="accent2">
                    <a:lumMod val="75000"/>
                  </a:schemeClr>
                </a:solidFill>
              </a:rPr>
              <a:t>chứ</a:t>
            </a:r>
            <a:r>
              <a:rPr lang="en-US" i="1" dirty="0" smtClean="0">
                <a:solidFill>
                  <a:schemeClr val="accent2">
                    <a:lumMod val="75000"/>
                  </a:schemeClr>
                </a:solidFill>
              </a:rPr>
              <a:t> </a:t>
            </a:r>
            <a:r>
              <a:rPr lang="en-US" i="1" dirty="0" err="1" smtClean="0">
                <a:solidFill>
                  <a:schemeClr val="accent2">
                    <a:lumMod val="75000"/>
                  </a:schemeClr>
                </a:solidFill>
              </a:rPr>
              <a:t>không</a:t>
            </a:r>
            <a:r>
              <a:rPr lang="en-US" i="1" dirty="0" smtClean="0">
                <a:solidFill>
                  <a:schemeClr val="accent2">
                    <a:lumMod val="75000"/>
                  </a:schemeClr>
                </a:solidFill>
              </a:rPr>
              <a:t> </a:t>
            </a:r>
            <a:r>
              <a:rPr lang="en-US" i="1" dirty="0" err="1" smtClean="0">
                <a:solidFill>
                  <a:schemeClr val="accent2">
                    <a:lumMod val="75000"/>
                  </a:schemeClr>
                </a:solidFill>
              </a:rPr>
              <a:t>được</a:t>
            </a:r>
            <a:r>
              <a:rPr lang="en-US" i="1" dirty="0" smtClean="0">
                <a:solidFill>
                  <a:schemeClr val="accent2">
                    <a:lumMod val="75000"/>
                  </a:schemeClr>
                </a:solidFill>
              </a:rPr>
              <a:t> </a:t>
            </a:r>
            <a:r>
              <a:rPr lang="en-US" i="1" dirty="0" err="1" smtClean="0">
                <a:solidFill>
                  <a:schemeClr val="accent2">
                    <a:lumMod val="75000"/>
                  </a:schemeClr>
                </a:solidFill>
              </a:rPr>
              <a:t>cái</a:t>
            </a:r>
            <a:r>
              <a:rPr lang="en-US" i="1" dirty="0" smtClean="0">
                <a:solidFill>
                  <a:schemeClr val="accent2">
                    <a:lumMod val="75000"/>
                  </a:schemeClr>
                </a:solidFill>
              </a:rPr>
              <a:t> </a:t>
            </a:r>
            <a:r>
              <a:rPr lang="en-US" i="1" dirty="0" err="1" smtClean="0">
                <a:solidFill>
                  <a:schemeClr val="accent2">
                    <a:lumMod val="75000"/>
                  </a:schemeClr>
                </a:solidFill>
              </a:rPr>
              <a:t>thì</a:t>
            </a:r>
            <a:r>
              <a:rPr lang="en-US" i="1" dirty="0" smtClean="0">
                <a:solidFill>
                  <a:schemeClr val="accent2">
                    <a:lumMod val="75000"/>
                  </a:schemeClr>
                </a:solidFill>
              </a:rPr>
              <a:t> {}, </a:t>
            </a:r>
            <a:r>
              <a:rPr lang="en-US" i="1" dirty="0" err="1" smtClean="0">
                <a:solidFill>
                  <a:schemeClr val="accent2">
                    <a:lumMod val="75000"/>
                  </a:schemeClr>
                </a:solidFill>
              </a:rPr>
              <a:t>cái</a:t>
            </a:r>
            <a:r>
              <a:rPr lang="en-US" i="1" dirty="0" smtClean="0">
                <a:solidFill>
                  <a:schemeClr val="accent2">
                    <a:lumMod val="75000"/>
                  </a:schemeClr>
                </a:solidFill>
              </a:rPr>
              <a:t> </a:t>
            </a:r>
            <a:r>
              <a:rPr lang="en-US" i="1" dirty="0" err="1" smtClean="0">
                <a:solidFill>
                  <a:schemeClr val="accent2">
                    <a:lumMod val="75000"/>
                  </a:schemeClr>
                </a:solidFill>
              </a:rPr>
              <a:t>thì</a:t>
            </a:r>
            <a:r>
              <a:rPr lang="en-US" i="1" dirty="0" smtClean="0">
                <a:solidFill>
                  <a:schemeClr val="accent2">
                    <a:lumMod val="75000"/>
                  </a:schemeClr>
                </a:solidFill>
              </a:rPr>
              <a:t> {0}. Python </a:t>
            </a:r>
            <a:r>
              <a:rPr lang="en-US" i="1" dirty="0" err="1" smtClean="0">
                <a:solidFill>
                  <a:schemeClr val="accent2">
                    <a:lumMod val="75000"/>
                  </a:schemeClr>
                </a:solidFill>
              </a:rPr>
              <a:t>sẽ</a:t>
            </a:r>
            <a:r>
              <a:rPr lang="en-US" i="1" dirty="0" smtClean="0">
                <a:solidFill>
                  <a:schemeClr val="accent2">
                    <a:lumMod val="75000"/>
                  </a:schemeClr>
                </a:solidFill>
              </a:rPr>
              <a:t> </a:t>
            </a:r>
            <a:r>
              <a:rPr lang="en-US" i="1" dirty="0" err="1" smtClean="0">
                <a:solidFill>
                  <a:schemeClr val="accent2">
                    <a:lumMod val="75000"/>
                  </a:schemeClr>
                </a:solidFill>
              </a:rPr>
              <a:t>không</a:t>
            </a:r>
            <a:r>
              <a:rPr lang="en-US" i="1" dirty="0" smtClean="0">
                <a:solidFill>
                  <a:schemeClr val="accent2">
                    <a:lumMod val="75000"/>
                  </a:schemeClr>
                </a:solidFill>
              </a:rPr>
              <a:t> </a:t>
            </a:r>
            <a:r>
              <a:rPr lang="en-US" i="1" dirty="0" err="1" smtClean="0">
                <a:solidFill>
                  <a:schemeClr val="accent2">
                    <a:lumMod val="75000"/>
                  </a:schemeClr>
                </a:solidFill>
              </a:rPr>
              <a:t>xử</a:t>
            </a:r>
            <a:r>
              <a:rPr lang="en-US" i="1" dirty="0" smtClean="0">
                <a:solidFill>
                  <a:schemeClr val="accent2">
                    <a:lumMod val="75000"/>
                  </a:schemeClr>
                </a:solidFill>
              </a:rPr>
              <a:t> </a:t>
            </a:r>
            <a:r>
              <a:rPr lang="en-US" i="1" dirty="0" err="1" smtClean="0">
                <a:solidFill>
                  <a:schemeClr val="accent2">
                    <a:lumMod val="75000"/>
                  </a:schemeClr>
                </a:solidFill>
              </a:rPr>
              <a:t>lý</a:t>
            </a:r>
            <a:r>
              <a:rPr lang="en-US" i="1" dirty="0" smtClean="0">
                <a:solidFill>
                  <a:schemeClr val="accent2">
                    <a:lumMod val="75000"/>
                  </a:schemeClr>
                </a:solidFill>
              </a:rPr>
              <a:t> </a:t>
            </a:r>
            <a:r>
              <a:rPr lang="en-US" i="1" dirty="0" err="1" smtClean="0">
                <a:solidFill>
                  <a:schemeClr val="accent2">
                    <a:lumMod val="75000"/>
                  </a:schemeClr>
                </a:solidFill>
              </a:rPr>
              <a:t>đúng</a:t>
            </a:r>
            <a:r>
              <a:rPr lang="en-US" i="1" dirty="0" smtClean="0">
                <a:solidFill>
                  <a:schemeClr val="accent2">
                    <a:lumMod val="75000"/>
                  </a:schemeClr>
                </a:solidFill>
              </a:rPr>
              <a:t>.</a:t>
            </a:r>
            <a:endParaRPr lang="en-US" b="1" i="1" dirty="0">
              <a:solidFill>
                <a:schemeClr val="accent2">
                  <a:lumMod val="75000"/>
                </a:schemeClr>
              </a:solidFill>
            </a:endParaRPr>
          </a:p>
        </p:txBody>
      </p:sp>
    </p:spTree>
    <p:extLst>
      <p:ext uri="{BB962C8B-B14F-4D97-AF65-F5344CB8AC3E}">
        <p14:creationId xmlns:p14="http://schemas.microsoft.com/office/powerpoint/2010/main" val="47423124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36</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2.9 </a:t>
            </a:r>
            <a:r>
              <a:rPr lang="en-US" dirty="0" err="1"/>
              <a:t>Định</a:t>
            </a:r>
            <a:r>
              <a:rPr lang="en-US" dirty="0"/>
              <a:t> </a:t>
            </a:r>
            <a:r>
              <a:rPr lang="en-US" dirty="0" err="1"/>
              <a:t>dạng</a:t>
            </a:r>
            <a:r>
              <a:rPr lang="en-US" dirty="0"/>
              <a:t> </a:t>
            </a:r>
            <a:r>
              <a:rPr lang="en-US" dirty="0" err="1"/>
              <a:t>Chuỗi</a:t>
            </a:r>
            <a:endParaRPr lang="en-US" dirty="0"/>
          </a:p>
        </p:txBody>
      </p:sp>
      <p:sp>
        <p:nvSpPr>
          <p:cNvPr id="29" name="Rectangle 28"/>
          <p:cNvSpPr/>
          <p:nvPr/>
        </p:nvSpPr>
        <p:spPr>
          <a:xfrm>
            <a:off x="428488" y="3434422"/>
            <a:ext cx="3279354" cy="193139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502916" y="3525563"/>
            <a:ext cx="3003959" cy="1754326"/>
          </a:xfrm>
          <a:prstGeom prst="rect">
            <a:avLst/>
          </a:prstGeom>
          <a:noFill/>
        </p:spPr>
        <p:txBody>
          <a:bodyPr wrap="square" rtlCol="0">
            <a:spAutoFit/>
          </a:bodyPr>
          <a:lstStyle/>
          <a:p>
            <a:r>
              <a:rPr lang="vi-VN" dirty="0">
                <a:solidFill>
                  <a:schemeClr val="bg1"/>
                </a:solidFill>
              </a:rPr>
              <a:t>mark = </a:t>
            </a:r>
            <a:r>
              <a:rPr lang="vi-VN" dirty="0">
                <a:solidFill>
                  <a:schemeClr val="accent6">
                    <a:lumMod val="60000"/>
                    <a:lumOff val="40000"/>
                  </a:schemeClr>
                </a:solidFill>
              </a:rPr>
              <a:t>8</a:t>
            </a:r>
          </a:p>
          <a:p>
            <a:r>
              <a:rPr lang="vi-VN" dirty="0">
                <a:solidFill>
                  <a:schemeClr val="bg1"/>
                </a:solidFill>
              </a:rPr>
              <a:t>name = </a:t>
            </a:r>
            <a:r>
              <a:rPr lang="vi-VN" dirty="0">
                <a:solidFill>
                  <a:schemeClr val="accent2"/>
                </a:solidFill>
              </a:rPr>
              <a:t>‘Toán’</a:t>
            </a:r>
          </a:p>
          <a:p>
            <a:r>
              <a:rPr lang="vi-VN" dirty="0">
                <a:solidFill>
                  <a:schemeClr val="bg1"/>
                </a:solidFill>
              </a:rPr>
              <a:t>txt = </a:t>
            </a:r>
            <a:r>
              <a:rPr lang="vi-VN" dirty="0">
                <a:solidFill>
                  <a:schemeClr val="accent2"/>
                </a:solidFill>
              </a:rPr>
              <a:t>“Môn {} được {} điểm"</a:t>
            </a:r>
          </a:p>
          <a:p>
            <a:r>
              <a:rPr lang="vi-VN" dirty="0">
                <a:solidFill>
                  <a:schemeClr val="bg1"/>
                </a:solidFill>
              </a:rPr>
              <a:t>print(txt.format(name, age))</a:t>
            </a:r>
          </a:p>
          <a:p>
            <a:r>
              <a:rPr lang="vi-VN" dirty="0">
                <a:solidFill>
                  <a:schemeClr val="accent6">
                    <a:lumMod val="75000"/>
                  </a:schemeClr>
                </a:solidFill>
              </a:rPr>
              <a:t>#Kết quả in ra:</a:t>
            </a:r>
          </a:p>
          <a:p>
            <a:r>
              <a:rPr lang="vi-VN" dirty="0">
                <a:solidFill>
                  <a:schemeClr val="accent6">
                    <a:lumMod val="75000"/>
                  </a:schemeClr>
                </a:solidFill>
              </a:rPr>
              <a:t>Môn Toán được 8 điểm</a:t>
            </a:r>
            <a:endParaRPr lang="en-US" sz="1600" dirty="0">
              <a:solidFill>
                <a:schemeClr val="accent6">
                  <a:lumMod val="75000"/>
                </a:schemeClr>
              </a:solidFill>
            </a:endParaRPr>
          </a:p>
        </p:txBody>
      </p:sp>
      <p:sp>
        <p:nvSpPr>
          <p:cNvPr id="14" name="TextBox 13"/>
          <p:cNvSpPr txBox="1"/>
          <p:nvPr/>
        </p:nvSpPr>
        <p:spPr>
          <a:xfrm>
            <a:off x="774221" y="1448673"/>
            <a:ext cx="7834152" cy="369332"/>
          </a:xfrm>
          <a:prstGeom prst="rect">
            <a:avLst/>
          </a:prstGeom>
          <a:noFill/>
        </p:spPr>
        <p:txBody>
          <a:bodyPr wrap="square" rtlCol="0">
            <a:spAutoFit/>
          </a:bodyPr>
          <a:lstStyle/>
          <a:p>
            <a:r>
              <a:rPr lang="en-US" b="1" dirty="0"/>
              <a:t>Tạo khuôn bằng </a:t>
            </a:r>
            <a:r>
              <a:rPr lang="en-US" b="1" dirty="0">
                <a:solidFill>
                  <a:srgbClr val="FF0000"/>
                </a:solidFill>
              </a:rPr>
              <a:t>f&lt;string&gt;</a:t>
            </a:r>
          </a:p>
        </p:txBody>
      </p:sp>
      <p:sp>
        <p:nvSpPr>
          <p:cNvPr id="25" name="Flowchart: Decision 24"/>
          <p:cNvSpPr/>
          <p:nvPr/>
        </p:nvSpPr>
        <p:spPr>
          <a:xfrm>
            <a:off x="625365" y="1557867"/>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699793" y="1988103"/>
            <a:ext cx="7908580" cy="477054"/>
          </a:xfrm>
          <a:prstGeom prst="rect">
            <a:avLst/>
          </a:prstGeom>
          <a:noFill/>
        </p:spPr>
        <p:txBody>
          <a:bodyPr wrap="square" rtlCol="0">
            <a:spAutoFit/>
          </a:bodyPr>
          <a:lstStyle/>
          <a:p>
            <a:pPr algn="ctr"/>
            <a:r>
              <a:rPr lang="en-US" sz="2500" b="1" dirty="0">
                <a:solidFill>
                  <a:srgbClr val="FF0000"/>
                </a:solidFill>
              </a:rPr>
              <a:t>s = f“{&lt;var1&gt; : &lt;Chỉ lệnh&gt;} {&lt;var2&gt; : &lt;Chỉ lệnh&gt;}”</a:t>
            </a:r>
          </a:p>
        </p:txBody>
      </p:sp>
      <p:sp>
        <p:nvSpPr>
          <p:cNvPr id="11" name="TextBox 10"/>
          <p:cNvSpPr txBox="1"/>
          <p:nvPr/>
        </p:nvSpPr>
        <p:spPr>
          <a:xfrm>
            <a:off x="880547" y="2615315"/>
            <a:ext cx="7908580" cy="369332"/>
          </a:xfrm>
          <a:prstGeom prst="rect">
            <a:avLst/>
          </a:prstGeom>
          <a:noFill/>
        </p:spPr>
        <p:txBody>
          <a:bodyPr wrap="square" rtlCol="0">
            <a:spAutoFit/>
          </a:bodyPr>
          <a:lstStyle/>
          <a:p>
            <a:r>
              <a:rPr lang="vi-VN" dirty="0"/>
              <a:t>Đây là một cách đơn giản hơn để có thể trộn biến vào trong chuỗi</a:t>
            </a:r>
          </a:p>
        </p:txBody>
      </p:sp>
      <p:sp>
        <p:nvSpPr>
          <p:cNvPr id="12" name="Rectangle 11"/>
          <p:cNvSpPr/>
          <p:nvPr/>
        </p:nvSpPr>
        <p:spPr>
          <a:xfrm>
            <a:off x="3804733" y="3434422"/>
            <a:ext cx="4952155" cy="193139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3879162" y="3525563"/>
            <a:ext cx="4729211" cy="1754326"/>
          </a:xfrm>
          <a:prstGeom prst="rect">
            <a:avLst/>
          </a:prstGeom>
          <a:noFill/>
        </p:spPr>
        <p:txBody>
          <a:bodyPr wrap="square" rtlCol="0">
            <a:spAutoFit/>
          </a:bodyPr>
          <a:lstStyle/>
          <a:p>
            <a:r>
              <a:rPr lang="vi-VN" dirty="0">
                <a:solidFill>
                  <a:schemeClr val="bg1"/>
                </a:solidFill>
              </a:rPr>
              <a:t>mark = </a:t>
            </a:r>
            <a:r>
              <a:rPr lang="vi-VN" dirty="0">
                <a:solidFill>
                  <a:schemeClr val="accent6">
                    <a:lumMod val="60000"/>
                    <a:lumOff val="40000"/>
                  </a:schemeClr>
                </a:solidFill>
              </a:rPr>
              <a:t>8</a:t>
            </a:r>
          </a:p>
          <a:p>
            <a:r>
              <a:rPr lang="vi-VN" dirty="0">
                <a:solidFill>
                  <a:schemeClr val="bg1"/>
                </a:solidFill>
              </a:rPr>
              <a:t>name = </a:t>
            </a:r>
            <a:r>
              <a:rPr lang="vi-VN" dirty="0">
                <a:solidFill>
                  <a:schemeClr val="accent2"/>
                </a:solidFill>
              </a:rPr>
              <a:t>‘Toán’</a:t>
            </a:r>
          </a:p>
          <a:p>
            <a:r>
              <a:rPr lang="vi-VN" dirty="0">
                <a:solidFill>
                  <a:schemeClr val="bg1"/>
                </a:solidFill>
              </a:rPr>
              <a:t>txt = </a:t>
            </a:r>
            <a:r>
              <a:rPr lang="vi-VN" dirty="0">
                <a:solidFill>
                  <a:schemeClr val="accent2"/>
                </a:solidFill>
              </a:rPr>
              <a:t>f“Môn {name} được {mark:*&gt;5.2f} điểm"</a:t>
            </a:r>
          </a:p>
          <a:p>
            <a:r>
              <a:rPr lang="vi-VN" dirty="0">
                <a:solidFill>
                  <a:schemeClr val="bg1"/>
                </a:solidFill>
              </a:rPr>
              <a:t>print(txt)</a:t>
            </a:r>
          </a:p>
          <a:p>
            <a:r>
              <a:rPr lang="vi-VN" dirty="0">
                <a:solidFill>
                  <a:schemeClr val="accent6">
                    <a:lumMod val="75000"/>
                  </a:schemeClr>
                </a:solidFill>
              </a:rPr>
              <a:t>#Kết quả in ra:</a:t>
            </a:r>
          </a:p>
          <a:p>
            <a:r>
              <a:rPr lang="vi-VN" dirty="0">
                <a:solidFill>
                  <a:schemeClr val="accent6">
                    <a:lumMod val="75000"/>
                  </a:schemeClr>
                </a:solidFill>
              </a:rPr>
              <a:t>Môn Toán được *8.00 điểm</a:t>
            </a:r>
            <a:endParaRPr lang="en-US" sz="1600" dirty="0">
              <a:solidFill>
                <a:schemeClr val="accent6">
                  <a:lumMod val="75000"/>
                </a:schemeClr>
              </a:solidFill>
            </a:endParaRPr>
          </a:p>
        </p:txBody>
      </p:sp>
      <p:sp>
        <p:nvSpPr>
          <p:cNvPr id="15" name="TextBox 14"/>
          <p:cNvSpPr txBox="1"/>
          <p:nvPr/>
        </p:nvSpPr>
        <p:spPr>
          <a:xfrm>
            <a:off x="3804734" y="5481809"/>
            <a:ext cx="4893958" cy="369332"/>
          </a:xfrm>
          <a:prstGeom prst="rect">
            <a:avLst/>
          </a:prstGeom>
          <a:noFill/>
        </p:spPr>
        <p:txBody>
          <a:bodyPr wrap="square" rtlCol="0">
            <a:spAutoFit/>
          </a:bodyPr>
          <a:lstStyle/>
          <a:p>
            <a:pPr algn="r"/>
            <a:r>
              <a:rPr lang="vi-VN" dirty="0"/>
              <a:t>Chỉ lệnh vẫn được áp dụng với f&lt;string&gt;</a:t>
            </a:r>
          </a:p>
        </p:txBody>
      </p:sp>
      <p:sp>
        <p:nvSpPr>
          <p:cNvPr id="16" name="TextBox 15"/>
          <p:cNvSpPr txBox="1"/>
          <p:nvPr/>
        </p:nvSpPr>
        <p:spPr>
          <a:xfrm>
            <a:off x="5667270" y="5893791"/>
            <a:ext cx="3031422" cy="369332"/>
          </a:xfrm>
          <a:prstGeom prst="rect">
            <a:avLst/>
          </a:prstGeom>
          <a:noFill/>
        </p:spPr>
        <p:txBody>
          <a:bodyPr wrap="square" rtlCol="0">
            <a:spAutoFit/>
          </a:bodyPr>
          <a:lstStyle/>
          <a:p>
            <a:pPr algn="r"/>
            <a:r>
              <a:rPr lang="vi-VN" dirty="0"/>
              <a:t>Giúp code trở nên gọn hơn</a:t>
            </a:r>
          </a:p>
        </p:txBody>
      </p:sp>
      <p:sp>
        <p:nvSpPr>
          <p:cNvPr id="17" name="TextBox 16"/>
          <p:cNvSpPr txBox="1"/>
          <p:nvPr/>
        </p:nvSpPr>
        <p:spPr>
          <a:xfrm>
            <a:off x="502916" y="5481809"/>
            <a:ext cx="2977903" cy="369332"/>
          </a:xfrm>
          <a:prstGeom prst="rect">
            <a:avLst/>
          </a:prstGeom>
          <a:noFill/>
        </p:spPr>
        <p:txBody>
          <a:bodyPr wrap="square" rtlCol="0">
            <a:spAutoFit/>
          </a:bodyPr>
          <a:lstStyle/>
          <a:p>
            <a:r>
              <a:rPr lang="vi-VN" dirty="0" smtClean="0"/>
              <a:t>Cách không tường minh</a:t>
            </a:r>
            <a:endParaRPr lang="vi-VN" dirty="0"/>
          </a:p>
        </p:txBody>
      </p:sp>
      <p:cxnSp>
        <p:nvCxnSpPr>
          <p:cNvPr id="5" name="Straight Arrow Connector 4"/>
          <p:cNvCxnSpPr/>
          <p:nvPr/>
        </p:nvCxnSpPr>
        <p:spPr>
          <a:xfrm flipH="1">
            <a:off x="7182981" y="4400120"/>
            <a:ext cx="333186" cy="1081689"/>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850116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37</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3 </a:t>
            </a:r>
            <a:r>
              <a:rPr lang="en-US" dirty="0"/>
              <a:t>Escape </a:t>
            </a:r>
            <a:r>
              <a:rPr lang="en-US" dirty="0" smtClean="0"/>
              <a:t>Character</a:t>
            </a:r>
            <a:endParaRPr lang="en-US" dirty="0">
              <a:solidFill>
                <a:srgbClr val="FF0000"/>
              </a:solidFill>
            </a:endParaRPr>
          </a:p>
        </p:txBody>
      </p:sp>
      <p:sp>
        <p:nvSpPr>
          <p:cNvPr id="14" name="TextBox 13"/>
          <p:cNvSpPr txBox="1"/>
          <p:nvPr/>
        </p:nvSpPr>
        <p:spPr>
          <a:xfrm>
            <a:off x="774221" y="2098011"/>
            <a:ext cx="7834152" cy="2862322"/>
          </a:xfrm>
          <a:prstGeom prst="rect">
            <a:avLst/>
          </a:prstGeom>
          <a:noFill/>
        </p:spPr>
        <p:txBody>
          <a:bodyPr wrap="square" rtlCol="0">
            <a:spAutoFit/>
          </a:bodyPr>
          <a:lstStyle/>
          <a:p>
            <a:r>
              <a:rPr lang="vi-VN" dirty="0"/>
              <a:t>Trong Python, ký tự escape (escape character) là một ký tự đặc biệt được sử dụng để thể hiện các ký tự không thể hiện hoặc có ý nghĩa đặc biệt trong chuỗi. Khi bạn sử dụng ký tự escape, nó cho phép bạn đưa vào chuỗi những ký tự đặc biệt như dấu nháy kép, dấu nháy đơn, dấu gạch chéo ngược, và các ký tự khác mà không bị xem là kết thúc của chuỗi hoặc gây ra sự hiểu lầm về cú pháp.</a:t>
            </a:r>
          </a:p>
          <a:p>
            <a:endParaRPr lang="vi-VN" dirty="0"/>
          </a:p>
          <a:p>
            <a:r>
              <a:rPr lang="vi-VN" dirty="0"/>
              <a:t>Ký tự escape được ký hiệu bằng một dấu gạch chéo ngược ("") theo sau là ký tự đại diện cho ý nghĩa cụ thể. Dưới đây là một số ví dụ về ký tự escape phổ biến trong Python:</a:t>
            </a:r>
            <a:endParaRPr lang="en-US" dirty="0">
              <a:solidFill>
                <a:srgbClr val="FF0000"/>
              </a:solidFill>
            </a:endParaRPr>
          </a:p>
        </p:txBody>
      </p:sp>
      <p:sp>
        <p:nvSpPr>
          <p:cNvPr id="25" name="Flowchart: Decision 24"/>
          <p:cNvSpPr/>
          <p:nvPr/>
        </p:nvSpPr>
        <p:spPr>
          <a:xfrm>
            <a:off x="625365" y="2207205"/>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smtClean="0"/>
              <a:t>Giới</a:t>
            </a:r>
            <a:r>
              <a:rPr lang="en-US" b="1" dirty="0" smtClean="0"/>
              <a:t> </a:t>
            </a:r>
            <a:r>
              <a:rPr lang="en-US" b="1" dirty="0" err="1" smtClean="0"/>
              <a:t>thiệu</a:t>
            </a:r>
            <a:r>
              <a:rPr lang="en-US" b="1" dirty="0" smtClean="0"/>
              <a:t> </a:t>
            </a:r>
            <a:r>
              <a:rPr lang="en-US" b="1" dirty="0" err="1" smtClean="0"/>
              <a:t>về</a:t>
            </a:r>
            <a:r>
              <a:rPr lang="en-US" b="1" dirty="0" smtClean="0"/>
              <a:t> </a:t>
            </a:r>
            <a:r>
              <a:rPr lang="en-US" b="1" dirty="0" err="1" smtClean="0"/>
              <a:t>khái</a:t>
            </a:r>
            <a:r>
              <a:rPr lang="en-US" b="1" dirty="0" smtClean="0"/>
              <a:t> </a:t>
            </a:r>
            <a:r>
              <a:rPr lang="en-US" b="1" dirty="0" err="1" smtClean="0"/>
              <a:t>niệm</a:t>
            </a:r>
            <a:r>
              <a:rPr lang="en-US" b="1" dirty="0" smtClean="0"/>
              <a:t> Escape</a:t>
            </a:r>
            <a:endParaRPr lang="en-US" b="1" dirty="0">
              <a:solidFill>
                <a:srgbClr val="FF0000"/>
              </a:solidFill>
            </a:endParaRPr>
          </a:p>
        </p:txBody>
      </p:sp>
      <p:sp>
        <p:nvSpPr>
          <p:cNvPr id="13" name="TextBox 12"/>
          <p:cNvSpPr txBox="1"/>
          <p:nvPr/>
        </p:nvSpPr>
        <p:spPr>
          <a:xfrm>
            <a:off x="774221" y="5128290"/>
            <a:ext cx="7834152" cy="1200329"/>
          </a:xfrm>
          <a:prstGeom prst="rect">
            <a:avLst/>
          </a:prstGeom>
          <a:noFill/>
        </p:spPr>
        <p:txBody>
          <a:bodyPr wrap="square" rtlCol="0">
            <a:spAutoFit/>
          </a:bodyPr>
          <a:lstStyle/>
          <a:p>
            <a:r>
              <a:rPr lang="en-US" dirty="0"/>
              <a:t>\n: </a:t>
            </a:r>
            <a:r>
              <a:rPr lang="en-US" dirty="0" err="1"/>
              <a:t>Ký</a:t>
            </a:r>
            <a:r>
              <a:rPr lang="en-US" dirty="0"/>
              <a:t> </a:t>
            </a:r>
            <a:r>
              <a:rPr lang="en-US" dirty="0" err="1"/>
              <a:t>tự</a:t>
            </a:r>
            <a:r>
              <a:rPr lang="en-US" dirty="0"/>
              <a:t> </a:t>
            </a:r>
            <a:r>
              <a:rPr lang="en-US" dirty="0" err="1"/>
              <a:t>xuống</a:t>
            </a:r>
            <a:r>
              <a:rPr lang="en-US" dirty="0"/>
              <a:t> </a:t>
            </a:r>
            <a:r>
              <a:rPr lang="en-US" dirty="0" err="1"/>
              <a:t>dòng</a:t>
            </a:r>
            <a:r>
              <a:rPr lang="en-US" dirty="0"/>
              <a:t> (newline</a:t>
            </a:r>
            <a:r>
              <a:rPr lang="en-US" dirty="0" smtClean="0"/>
              <a:t>)</a:t>
            </a:r>
          </a:p>
          <a:p>
            <a:r>
              <a:rPr lang="en-US" dirty="0"/>
              <a:t>\t: </a:t>
            </a:r>
            <a:r>
              <a:rPr lang="en-US" dirty="0" err="1"/>
              <a:t>Ký</a:t>
            </a:r>
            <a:r>
              <a:rPr lang="en-US" dirty="0"/>
              <a:t> </a:t>
            </a:r>
            <a:r>
              <a:rPr lang="en-US" dirty="0" err="1"/>
              <a:t>tự</a:t>
            </a:r>
            <a:r>
              <a:rPr lang="en-US" dirty="0"/>
              <a:t> tab </a:t>
            </a:r>
            <a:r>
              <a:rPr lang="en-US" dirty="0" err="1"/>
              <a:t>ngang</a:t>
            </a:r>
            <a:r>
              <a:rPr lang="en-US" dirty="0"/>
              <a:t> (tab</a:t>
            </a:r>
            <a:r>
              <a:rPr lang="en-US" dirty="0" smtClean="0"/>
              <a:t>)</a:t>
            </a:r>
          </a:p>
          <a:p>
            <a:r>
              <a:rPr lang="en-US" dirty="0"/>
              <a:t>": </a:t>
            </a:r>
            <a:r>
              <a:rPr lang="en-US" dirty="0" err="1"/>
              <a:t>Dấu</a:t>
            </a:r>
            <a:r>
              <a:rPr lang="en-US" dirty="0"/>
              <a:t> </a:t>
            </a:r>
            <a:r>
              <a:rPr lang="en-US" dirty="0" err="1"/>
              <a:t>nháy</a:t>
            </a:r>
            <a:r>
              <a:rPr lang="en-US" dirty="0"/>
              <a:t> </a:t>
            </a:r>
            <a:r>
              <a:rPr lang="en-US" dirty="0" err="1" smtClean="0"/>
              <a:t>kép</a:t>
            </a:r>
            <a:endParaRPr lang="en-US" dirty="0" smtClean="0"/>
          </a:p>
          <a:p>
            <a:r>
              <a:rPr lang="vi-VN" dirty="0"/>
              <a:t>': Dấu nháy </a:t>
            </a:r>
            <a:r>
              <a:rPr lang="vi-VN" dirty="0" smtClean="0"/>
              <a:t>đơn</a:t>
            </a:r>
            <a:endParaRPr lang="en-US" dirty="0">
              <a:solidFill>
                <a:srgbClr val="FF0000"/>
              </a:solidFill>
            </a:endParaRPr>
          </a:p>
        </p:txBody>
      </p:sp>
    </p:spTree>
    <p:extLst>
      <p:ext uri="{BB962C8B-B14F-4D97-AF65-F5344CB8AC3E}">
        <p14:creationId xmlns:p14="http://schemas.microsoft.com/office/powerpoint/2010/main" val="369215887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38</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3 </a:t>
            </a:r>
            <a:r>
              <a:rPr lang="en-US" dirty="0"/>
              <a:t>Escape Character</a:t>
            </a:r>
            <a:endParaRPr lang="en-US" dirty="0">
              <a:solidFill>
                <a:srgbClr val="FF0000"/>
              </a:solidFill>
            </a:endParaRPr>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smtClean="0"/>
              <a:t>Ví</a:t>
            </a:r>
            <a:r>
              <a:rPr lang="en-US" b="1" dirty="0" smtClean="0"/>
              <a:t> </a:t>
            </a:r>
            <a:r>
              <a:rPr lang="en-US" b="1" dirty="0" err="1" smtClean="0"/>
              <a:t>dụ</a:t>
            </a:r>
            <a:r>
              <a:rPr lang="en-US" b="1" dirty="0" smtClean="0"/>
              <a:t> </a:t>
            </a:r>
            <a:r>
              <a:rPr lang="en-US" b="1" dirty="0" err="1" smtClean="0"/>
              <a:t>về</a:t>
            </a:r>
            <a:r>
              <a:rPr lang="en-US" b="1" dirty="0" smtClean="0"/>
              <a:t> </a:t>
            </a:r>
            <a:r>
              <a:rPr lang="en-US" b="1" dirty="0" err="1" smtClean="0"/>
              <a:t>cách</a:t>
            </a:r>
            <a:r>
              <a:rPr lang="en-US" b="1" dirty="0" smtClean="0"/>
              <a:t> </a:t>
            </a:r>
            <a:r>
              <a:rPr lang="en-US" b="1" dirty="0" err="1" smtClean="0"/>
              <a:t>sử</a:t>
            </a:r>
            <a:r>
              <a:rPr lang="en-US" b="1" dirty="0" smtClean="0"/>
              <a:t> </a:t>
            </a:r>
            <a:r>
              <a:rPr lang="en-US" b="1" dirty="0" err="1" smtClean="0"/>
              <a:t>dụng</a:t>
            </a:r>
            <a:r>
              <a:rPr lang="en-US" b="1" dirty="0" smtClean="0"/>
              <a:t> Escape</a:t>
            </a:r>
            <a:endParaRPr lang="en-US" b="1" dirty="0">
              <a:solidFill>
                <a:srgbClr val="FF0000"/>
              </a:solidFill>
            </a:endParaRPr>
          </a:p>
        </p:txBody>
      </p:sp>
      <p:sp>
        <p:nvSpPr>
          <p:cNvPr id="9" name="Rectangle 8"/>
          <p:cNvSpPr/>
          <p:nvPr/>
        </p:nvSpPr>
        <p:spPr>
          <a:xfrm>
            <a:off x="699793" y="2522669"/>
            <a:ext cx="8057096" cy="322954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p:cNvSpPr txBox="1"/>
          <p:nvPr/>
        </p:nvSpPr>
        <p:spPr>
          <a:xfrm>
            <a:off x="880546" y="2672828"/>
            <a:ext cx="7721193" cy="2800767"/>
          </a:xfrm>
          <a:prstGeom prst="rect">
            <a:avLst/>
          </a:prstGeom>
          <a:noFill/>
        </p:spPr>
        <p:txBody>
          <a:bodyPr wrap="square" rtlCol="0">
            <a:spAutoFit/>
          </a:bodyPr>
          <a:lstStyle/>
          <a:p>
            <a:r>
              <a:rPr lang="vi-VN" dirty="0" smtClean="0">
                <a:solidFill>
                  <a:schemeClr val="bg1"/>
                </a:solidFill>
              </a:rPr>
              <a:t>print</a:t>
            </a:r>
            <a:r>
              <a:rPr lang="vi-VN" dirty="0">
                <a:solidFill>
                  <a:schemeClr val="bg1"/>
                </a:solidFill>
              </a:rPr>
              <a:t>("Dòng 1\nDòng 2") </a:t>
            </a:r>
            <a:endParaRPr lang="en-US" dirty="0" smtClean="0">
              <a:solidFill>
                <a:schemeClr val="bg1"/>
              </a:solidFill>
            </a:endParaRPr>
          </a:p>
          <a:p>
            <a:r>
              <a:rPr lang="vi-VN" sz="1600" dirty="0" smtClean="0">
                <a:solidFill>
                  <a:schemeClr val="accent6">
                    <a:lumMod val="75000"/>
                  </a:schemeClr>
                </a:solidFill>
              </a:rPr>
              <a:t># </a:t>
            </a:r>
            <a:r>
              <a:rPr lang="vi-VN" sz="1600" dirty="0">
                <a:solidFill>
                  <a:schemeClr val="accent6">
                    <a:lumMod val="75000"/>
                  </a:schemeClr>
                </a:solidFill>
              </a:rPr>
              <a:t>In ra hai dòng cách nhau bởi dấu xuống dòng (\n) </a:t>
            </a:r>
            <a:endParaRPr lang="en-US" sz="1600" dirty="0" smtClean="0">
              <a:solidFill>
                <a:schemeClr val="accent6">
                  <a:lumMod val="75000"/>
                </a:schemeClr>
              </a:solidFill>
            </a:endParaRPr>
          </a:p>
          <a:p>
            <a:r>
              <a:rPr lang="vi-VN" dirty="0" smtClean="0">
                <a:solidFill>
                  <a:schemeClr val="bg1"/>
                </a:solidFill>
              </a:rPr>
              <a:t>print</a:t>
            </a:r>
            <a:r>
              <a:rPr lang="vi-VN" dirty="0">
                <a:solidFill>
                  <a:schemeClr val="bg1"/>
                </a:solidFill>
              </a:rPr>
              <a:t>("Tab:\t\tKý tự tiếp theo sau tab") </a:t>
            </a:r>
            <a:endParaRPr lang="en-US" dirty="0" smtClean="0">
              <a:solidFill>
                <a:schemeClr val="bg1"/>
              </a:solidFill>
            </a:endParaRPr>
          </a:p>
          <a:p>
            <a:r>
              <a:rPr lang="vi-VN" sz="1600" dirty="0" smtClean="0">
                <a:solidFill>
                  <a:schemeClr val="accent6">
                    <a:lumMod val="75000"/>
                  </a:schemeClr>
                </a:solidFill>
              </a:rPr>
              <a:t># </a:t>
            </a:r>
            <a:r>
              <a:rPr lang="vi-VN" sz="1600" dirty="0">
                <a:solidFill>
                  <a:schemeClr val="accent6">
                    <a:lumMod val="75000"/>
                  </a:schemeClr>
                </a:solidFill>
              </a:rPr>
              <a:t>In ra ký tự tab (\t) để tạo khoảng cách</a:t>
            </a:r>
            <a:r>
              <a:rPr lang="vi-VN" dirty="0">
                <a:solidFill>
                  <a:schemeClr val="bg1"/>
                </a:solidFill>
              </a:rPr>
              <a:t> </a:t>
            </a:r>
            <a:endParaRPr lang="en-US" dirty="0" smtClean="0">
              <a:solidFill>
                <a:schemeClr val="bg1"/>
              </a:solidFill>
            </a:endParaRPr>
          </a:p>
          <a:p>
            <a:r>
              <a:rPr lang="vi-VN" dirty="0" smtClean="0">
                <a:solidFill>
                  <a:schemeClr val="bg1"/>
                </a:solidFill>
              </a:rPr>
              <a:t>print</a:t>
            </a:r>
            <a:r>
              <a:rPr lang="vi-VN" dirty="0">
                <a:solidFill>
                  <a:schemeClr val="bg1"/>
                </a:solidFill>
              </a:rPr>
              <a:t>("Dấu nháy kép: \"Ví dụ</a:t>
            </a:r>
            <a:r>
              <a:rPr lang="vi-VN" dirty="0" smtClean="0">
                <a:solidFill>
                  <a:schemeClr val="bg1"/>
                </a:solidFill>
              </a:rPr>
              <a:t>\"</a:t>
            </a:r>
            <a:r>
              <a:rPr lang="en-US" dirty="0" smtClean="0">
                <a:solidFill>
                  <a:schemeClr val="bg1"/>
                </a:solidFill>
              </a:rPr>
              <a:t>  </a:t>
            </a:r>
            <a:r>
              <a:rPr lang="vi-VN" dirty="0" smtClean="0">
                <a:solidFill>
                  <a:schemeClr val="bg1"/>
                </a:solidFill>
              </a:rPr>
              <a:t>") </a:t>
            </a:r>
            <a:endParaRPr lang="en-US" dirty="0" smtClean="0">
              <a:solidFill>
                <a:schemeClr val="bg1"/>
              </a:solidFill>
            </a:endParaRPr>
          </a:p>
          <a:p>
            <a:r>
              <a:rPr lang="vi-VN" dirty="0" smtClean="0">
                <a:solidFill>
                  <a:schemeClr val="accent6">
                    <a:lumMod val="75000"/>
                  </a:schemeClr>
                </a:solidFill>
              </a:rPr>
              <a:t># </a:t>
            </a:r>
            <a:r>
              <a:rPr lang="vi-VN" dirty="0">
                <a:solidFill>
                  <a:schemeClr val="accent6">
                    <a:lumMod val="75000"/>
                  </a:schemeClr>
                </a:solidFill>
              </a:rPr>
              <a:t>In ra dấu nháy kép (") trong chuỗi </a:t>
            </a:r>
            <a:endParaRPr lang="en-US" dirty="0" smtClean="0">
              <a:solidFill>
                <a:schemeClr val="accent6">
                  <a:lumMod val="75000"/>
                </a:schemeClr>
              </a:solidFill>
            </a:endParaRPr>
          </a:p>
          <a:p>
            <a:r>
              <a:rPr lang="vi-VN" dirty="0" smtClean="0">
                <a:solidFill>
                  <a:schemeClr val="bg1"/>
                </a:solidFill>
              </a:rPr>
              <a:t>print</a:t>
            </a:r>
            <a:r>
              <a:rPr lang="vi-VN" dirty="0">
                <a:solidFill>
                  <a:schemeClr val="bg1"/>
                </a:solidFill>
              </a:rPr>
              <a:t>('Dấu nháy đơn: </a:t>
            </a:r>
            <a:r>
              <a:rPr lang="en-US" dirty="0" smtClean="0">
                <a:solidFill>
                  <a:schemeClr val="bg1"/>
                </a:solidFill>
              </a:rPr>
              <a:t>I</a:t>
            </a:r>
            <a:r>
              <a:rPr lang="vi-VN" dirty="0" smtClean="0">
                <a:solidFill>
                  <a:schemeClr val="bg1"/>
                </a:solidFill>
              </a:rPr>
              <a:t>\</a:t>
            </a:r>
            <a:r>
              <a:rPr lang="vi-VN" dirty="0">
                <a:solidFill>
                  <a:schemeClr val="bg1"/>
                </a:solidFill>
              </a:rPr>
              <a:t>'</a:t>
            </a:r>
            <a:r>
              <a:rPr lang="en-US" dirty="0" smtClean="0">
                <a:solidFill>
                  <a:schemeClr val="bg1"/>
                </a:solidFill>
              </a:rPr>
              <a:t>m a student </a:t>
            </a:r>
            <a:r>
              <a:rPr lang="vi-VN" dirty="0" smtClean="0">
                <a:solidFill>
                  <a:schemeClr val="bg1"/>
                </a:solidFill>
              </a:rPr>
              <a:t>') </a:t>
            </a:r>
            <a:endParaRPr lang="en-US" dirty="0" smtClean="0">
              <a:solidFill>
                <a:schemeClr val="bg1"/>
              </a:solidFill>
            </a:endParaRPr>
          </a:p>
          <a:p>
            <a:r>
              <a:rPr lang="vi-VN" dirty="0" smtClean="0">
                <a:solidFill>
                  <a:schemeClr val="accent6">
                    <a:lumMod val="75000"/>
                  </a:schemeClr>
                </a:solidFill>
              </a:rPr>
              <a:t># </a:t>
            </a:r>
            <a:r>
              <a:rPr lang="vi-VN" dirty="0">
                <a:solidFill>
                  <a:schemeClr val="accent6">
                    <a:lumMod val="75000"/>
                  </a:schemeClr>
                </a:solidFill>
              </a:rPr>
              <a:t>In ra dấu nháy đơn (') trong chuỗi </a:t>
            </a:r>
            <a:endParaRPr lang="en-US" dirty="0" smtClean="0">
              <a:solidFill>
                <a:schemeClr val="accent6">
                  <a:lumMod val="75000"/>
                </a:schemeClr>
              </a:solidFill>
            </a:endParaRPr>
          </a:p>
          <a:p>
            <a:r>
              <a:rPr lang="vi-VN" dirty="0" smtClean="0">
                <a:solidFill>
                  <a:schemeClr val="bg1"/>
                </a:solidFill>
              </a:rPr>
              <a:t>print</a:t>
            </a:r>
            <a:r>
              <a:rPr lang="vi-VN" dirty="0">
                <a:solidFill>
                  <a:schemeClr val="bg1"/>
                </a:solidFill>
              </a:rPr>
              <a:t>("Dấu gạch chéo ngược: \\") </a:t>
            </a:r>
            <a:endParaRPr lang="en-US" dirty="0" smtClean="0">
              <a:solidFill>
                <a:schemeClr val="bg1"/>
              </a:solidFill>
            </a:endParaRPr>
          </a:p>
          <a:p>
            <a:r>
              <a:rPr lang="vi-VN" sz="1600" dirty="0" smtClean="0">
                <a:solidFill>
                  <a:schemeClr val="accent6">
                    <a:lumMod val="75000"/>
                  </a:schemeClr>
                </a:solidFill>
              </a:rPr>
              <a:t># </a:t>
            </a:r>
            <a:r>
              <a:rPr lang="vi-VN" sz="1600" dirty="0">
                <a:solidFill>
                  <a:schemeClr val="accent6">
                    <a:lumMod val="75000"/>
                  </a:schemeClr>
                </a:solidFill>
              </a:rPr>
              <a:t>In ra dấu gạch chéo ngược (\) trong chuỗi</a:t>
            </a:r>
            <a:endParaRPr lang="en-US" sz="1600" dirty="0">
              <a:solidFill>
                <a:schemeClr val="accent6">
                  <a:lumMod val="75000"/>
                </a:schemeClr>
              </a:solidFill>
            </a:endParaRPr>
          </a:p>
        </p:txBody>
      </p:sp>
      <p:sp>
        <p:nvSpPr>
          <p:cNvPr id="4" name="TextBox 3"/>
          <p:cNvSpPr txBox="1"/>
          <p:nvPr/>
        </p:nvSpPr>
        <p:spPr>
          <a:xfrm>
            <a:off x="699793" y="2064117"/>
            <a:ext cx="7582970" cy="369332"/>
          </a:xfrm>
          <a:prstGeom prst="rect">
            <a:avLst/>
          </a:prstGeom>
          <a:noFill/>
        </p:spPr>
        <p:txBody>
          <a:bodyPr wrap="square" rtlCol="0">
            <a:spAutoFit/>
          </a:bodyPr>
          <a:lstStyle/>
          <a:p>
            <a:r>
              <a:rPr lang="vi-VN" dirty="0"/>
              <a:t>Sử dụng ký tự escape để in ra các ký tự đặc biệt trong </a:t>
            </a:r>
            <a:r>
              <a:rPr lang="vi-VN" dirty="0" smtClean="0"/>
              <a:t>chuỗi</a:t>
            </a:r>
            <a:endParaRPr lang="en-US" dirty="0"/>
          </a:p>
        </p:txBody>
      </p:sp>
      <p:sp>
        <p:nvSpPr>
          <p:cNvPr id="12" name="TextBox 11"/>
          <p:cNvSpPr txBox="1"/>
          <p:nvPr/>
        </p:nvSpPr>
        <p:spPr>
          <a:xfrm>
            <a:off x="621026" y="5841434"/>
            <a:ext cx="8135863" cy="646331"/>
          </a:xfrm>
          <a:prstGeom prst="rect">
            <a:avLst/>
          </a:prstGeom>
          <a:noFill/>
        </p:spPr>
        <p:txBody>
          <a:bodyPr wrap="square" rtlCol="0">
            <a:spAutoFit/>
          </a:bodyPr>
          <a:lstStyle/>
          <a:p>
            <a:r>
              <a:rPr lang="en-US" dirty="0" err="1" smtClean="0"/>
              <a:t>Tham</a:t>
            </a:r>
            <a:r>
              <a:rPr lang="en-US" dirty="0" smtClean="0"/>
              <a:t> </a:t>
            </a:r>
            <a:r>
              <a:rPr lang="en-US" dirty="0" err="1" smtClean="0"/>
              <a:t>khảo</a:t>
            </a:r>
            <a:r>
              <a:rPr lang="en-US" dirty="0" smtClean="0"/>
              <a:t> link </a:t>
            </a:r>
            <a:r>
              <a:rPr lang="en-US" dirty="0" err="1" smtClean="0"/>
              <a:t>sau</a:t>
            </a:r>
            <a:r>
              <a:rPr lang="en-US" dirty="0" smtClean="0"/>
              <a:t> </a:t>
            </a:r>
            <a:r>
              <a:rPr lang="en-US" dirty="0" err="1" smtClean="0"/>
              <a:t>để</a:t>
            </a:r>
            <a:r>
              <a:rPr lang="en-US" dirty="0" smtClean="0"/>
              <a:t> </a:t>
            </a:r>
            <a:r>
              <a:rPr lang="en-US" dirty="0" err="1" smtClean="0"/>
              <a:t>tìm</a:t>
            </a:r>
            <a:r>
              <a:rPr lang="en-US" dirty="0" smtClean="0"/>
              <a:t> </a:t>
            </a:r>
            <a:r>
              <a:rPr lang="en-US" dirty="0" err="1" smtClean="0"/>
              <a:t>hiểu</a:t>
            </a:r>
            <a:r>
              <a:rPr lang="en-US" dirty="0" smtClean="0"/>
              <a:t> </a:t>
            </a:r>
            <a:r>
              <a:rPr lang="en-US" dirty="0" err="1" smtClean="0"/>
              <a:t>tất</a:t>
            </a:r>
            <a:r>
              <a:rPr lang="en-US" dirty="0" smtClean="0"/>
              <a:t> </a:t>
            </a:r>
            <a:r>
              <a:rPr lang="en-US" dirty="0" err="1" smtClean="0"/>
              <a:t>cả</a:t>
            </a:r>
            <a:r>
              <a:rPr lang="en-US" dirty="0" smtClean="0"/>
              <a:t> </a:t>
            </a:r>
            <a:r>
              <a:rPr lang="en-US" dirty="0" err="1" smtClean="0"/>
              <a:t>phương</a:t>
            </a:r>
            <a:r>
              <a:rPr lang="en-US" dirty="0" smtClean="0"/>
              <a:t> </a:t>
            </a:r>
            <a:r>
              <a:rPr lang="en-US" dirty="0" err="1" smtClean="0"/>
              <a:t>thức</a:t>
            </a:r>
            <a:r>
              <a:rPr lang="en-US" dirty="0" smtClean="0"/>
              <a:t> </a:t>
            </a:r>
            <a:r>
              <a:rPr lang="en-US" dirty="0" err="1" smtClean="0"/>
              <a:t>xử</a:t>
            </a:r>
            <a:r>
              <a:rPr lang="en-US" dirty="0" smtClean="0"/>
              <a:t> </a:t>
            </a:r>
            <a:r>
              <a:rPr lang="en-US" dirty="0" err="1" smtClean="0"/>
              <a:t>lý</a:t>
            </a:r>
            <a:r>
              <a:rPr lang="en-US" dirty="0" smtClean="0"/>
              <a:t> </a:t>
            </a:r>
            <a:r>
              <a:rPr lang="en-US" dirty="0" err="1" smtClean="0"/>
              <a:t>chuỗi</a:t>
            </a:r>
            <a:r>
              <a:rPr lang="en-US" dirty="0" smtClean="0"/>
              <a:t>:  </a:t>
            </a:r>
            <a:r>
              <a:rPr lang="en-US" dirty="0" smtClean="0">
                <a:hlinkClick r:id="rId3"/>
              </a:rPr>
              <a:t>https</a:t>
            </a:r>
            <a:r>
              <a:rPr lang="en-US" dirty="0">
                <a:hlinkClick r:id="rId3"/>
              </a:rPr>
              <a:t>://www.w3schools.com/python/python_strings_methods.asp</a:t>
            </a:r>
            <a:endParaRPr lang="en-US" dirty="0"/>
          </a:p>
        </p:txBody>
      </p:sp>
    </p:spTree>
    <p:extLst>
      <p:ext uri="{BB962C8B-B14F-4D97-AF65-F5344CB8AC3E}">
        <p14:creationId xmlns:p14="http://schemas.microsoft.com/office/powerpoint/2010/main" val="391222892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39</a:t>
            </a:fld>
            <a:endParaRPr lang="en-US"/>
          </a:p>
        </p:txBody>
      </p:sp>
      <p:sp>
        <p:nvSpPr>
          <p:cNvPr id="3" name="Text Placeholder 2"/>
          <p:cNvSpPr>
            <a:spLocks noGrp="1"/>
          </p:cNvSpPr>
          <p:nvPr>
            <p:ph type="body" sz="quarter" idx="13"/>
          </p:nvPr>
        </p:nvSpPr>
        <p:spPr/>
        <p:txBody>
          <a:bodyPr/>
          <a:lstStyle/>
          <a:p>
            <a:r>
              <a:rPr lang="en-US" smtClean="0"/>
              <a:t>3.1 </a:t>
            </a:r>
            <a:r>
              <a:rPr lang="en-US" dirty="0" err="1" smtClean="0"/>
              <a:t>Dữ</a:t>
            </a:r>
            <a:r>
              <a:rPr lang="en-US" dirty="0" smtClean="0"/>
              <a:t> </a:t>
            </a:r>
            <a:r>
              <a:rPr lang="en-US" dirty="0" err="1" smtClean="0"/>
              <a:t>liệu</a:t>
            </a:r>
            <a:r>
              <a:rPr lang="en-US" dirty="0" smtClean="0"/>
              <a:t> </a:t>
            </a:r>
            <a:r>
              <a:rPr lang="en-US" dirty="0" err="1" smtClean="0"/>
              <a:t>kiểu</a:t>
            </a:r>
            <a:r>
              <a:rPr lang="en-US" dirty="0" smtClean="0"/>
              <a:t> </a:t>
            </a:r>
            <a:r>
              <a:rPr lang="en-US" dirty="0" err="1" smtClean="0"/>
              <a:t>Số</a:t>
            </a:r>
            <a:r>
              <a:rPr lang="en-US" dirty="0" smtClean="0"/>
              <a:t> </a:t>
            </a:r>
            <a:r>
              <a:rPr lang="en-US" dirty="0" err="1" smtClean="0"/>
              <a:t>và</a:t>
            </a:r>
            <a:r>
              <a:rPr lang="en-US" dirty="0" smtClean="0"/>
              <a:t> </a:t>
            </a:r>
            <a:r>
              <a:rPr lang="en-US" dirty="0" err="1" smtClean="0"/>
              <a:t>toán</a:t>
            </a:r>
            <a:r>
              <a:rPr lang="en-US" dirty="0" smtClean="0"/>
              <a:t> </a:t>
            </a:r>
            <a:r>
              <a:rPr lang="en-US" dirty="0" err="1" smtClean="0"/>
              <a:t>tử</a:t>
            </a:r>
            <a:r>
              <a:rPr lang="en-US" dirty="0" smtClean="0"/>
              <a:t> </a:t>
            </a:r>
            <a:r>
              <a:rPr lang="en-US" dirty="0" err="1" smtClean="0"/>
              <a:t>số</a:t>
            </a:r>
            <a:r>
              <a:rPr lang="en-US" dirty="0" smtClean="0"/>
              <a:t> </a:t>
            </a:r>
            <a:r>
              <a:rPr lang="en-US" dirty="0" err="1" smtClean="0"/>
              <a:t>học</a:t>
            </a:r>
            <a:r>
              <a:rPr lang="en-US" dirty="0" smtClean="0"/>
              <a:t> </a:t>
            </a:r>
            <a:r>
              <a:rPr lang="en-US" dirty="0" err="1" smtClean="0"/>
              <a:t>trong</a:t>
            </a:r>
            <a:r>
              <a:rPr lang="en-US" dirty="0" smtClean="0"/>
              <a:t> Python</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656" y="1548772"/>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935668" y="1589346"/>
            <a:ext cx="6804834" cy="369332"/>
          </a:xfrm>
          <a:prstGeom prst="rect">
            <a:avLst/>
          </a:prstGeom>
          <a:noFill/>
        </p:spPr>
        <p:txBody>
          <a:bodyPr wrap="square" rtlCol="0">
            <a:spAutoFit/>
          </a:bodyPr>
          <a:lstStyle/>
          <a:p>
            <a:r>
              <a:rPr lang="en-US" b="1" dirty="0" err="1" smtClean="0"/>
              <a:t>Nguồn</a:t>
            </a:r>
            <a:r>
              <a:rPr lang="en-US" b="1" dirty="0" smtClean="0"/>
              <a:t> </a:t>
            </a:r>
            <a:r>
              <a:rPr lang="en-US" b="1" dirty="0" err="1" smtClean="0"/>
              <a:t>tham</a:t>
            </a:r>
            <a:r>
              <a:rPr lang="en-US" b="1" dirty="0" smtClean="0"/>
              <a:t> </a:t>
            </a:r>
            <a:r>
              <a:rPr lang="en-US" b="1" dirty="0" err="1" smtClean="0"/>
              <a:t>chiếu</a:t>
            </a:r>
            <a:endParaRPr lang="en-US" b="1" dirty="0">
              <a:solidFill>
                <a:srgbClr val="FF0000"/>
              </a:solidFill>
            </a:endParaRPr>
          </a:p>
        </p:txBody>
      </p:sp>
      <p:sp>
        <p:nvSpPr>
          <p:cNvPr id="15" name="TextBox 14"/>
          <p:cNvSpPr txBox="1"/>
          <p:nvPr/>
        </p:nvSpPr>
        <p:spPr>
          <a:xfrm>
            <a:off x="935668" y="2168822"/>
            <a:ext cx="7657131" cy="369332"/>
          </a:xfrm>
          <a:prstGeom prst="rect">
            <a:avLst/>
          </a:prstGeom>
          <a:noFill/>
        </p:spPr>
        <p:txBody>
          <a:bodyPr wrap="square" rtlCol="0">
            <a:spAutoFit/>
          </a:bodyPr>
          <a:lstStyle/>
          <a:p>
            <a:r>
              <a:rPr lang="en-US" dirty="0" err="1" smtClean="0"/>
              <a:t>Biến</a:t>
            </a:r>
            <a:r>
              <a:rPr lang="en-US" dirty="0" smtClean="0"/>
              <a:t> </a:t>
            </a:r>
            <a:r>
              <a:rPr lang="en-US" dirty="0" err="1" smtClean="0"/>
              <a:t>trong</a:t>
            </a:r>
            <a:r>
              <a:rPr lang="en-US" dirty="0" smtClean="0"/>
              <a:t> Python</a:t>
            </a:r>
            <a:endParaRPr lang="en-US" dirty="0"/>
          </a:p>
        </p:txBody>
      </p:sp>
      <p:sp>
        <p:nvSpPr>
          <p:cNvPr id="18" name="Diamond 17"/>
          <p:cNvSpPr/>
          <p:nvPr/>
        </p:nvSpPr>
        <p:spPr>
          <a:xfrm>
            <a:off x="765544" y="2260436"/>
            <a:ext cx="151862" cy="151862"/>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935668" y="2514404"/>
            <a:ext cx="7657131" cy="369332"/>
          </a:xfrm>
          <a:prstGeom prst="rect">
            <a:avLst/>
          </a:prstGeom>
          <a:noFill/>
        </p:spPr>
        <p:txBody>
          <a:bodyPr wrap="square" rtlCol="0">
            <a:spAutoFit/>
          </a:bodyPr>
          <a:lstStyle/>
          <a:p>
            <a:r>
              <a:rPr lang="en-US" dirty="0">
                <a:hlinkClick r:id="rId3"/>
              </a:rPr>
              <a:t>https://www.w3schools.com/python/python_variables.asp</a:t>
            </a:r>
            <a:endParaRPr lang="en-US" dirty="0"/>
          </a:p>
        </p:txBody>
      </p:sp>
      <p:sp>
        <p:nvSpPr>
          <p:cNvPr id="25" name="TextBox 24"/>
          <p:cNvSpPr txBox="1"/>
          <p:nvPr/>
        </p:nvSpPr>
        <p:spPr>
          <a:xfrm>
            <a:off x="935668" y="2926517"/>
            <a:ext cx="7657131" cy="369332"/>
          </a:xfrm>
          <a:prstGeom prst="rect">
            <a:avLst/>
          </a:prstGeom>
          <a:noFill/>
        </p:spPr>
        <p:txBody>
          <a:bodyPr wrap="square" rtlCol="0">
            <a:spAutoFit/>
          </a:bodyPr>
          <a:lstStyle/>
          <a:p>
            <a:r>
              <a:rPr lang="en-US" dirty="0" err="1" smtClean="0"/>
              <a:t>Kiểu</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của</a:t>
            </a:r>
            <a:r>
              <a:rPr lang="en-US" dirty="0" smtClean="0"/>
              <a:t> </a:t>
            </a:r>
            <a:r>
              <a:rPr lang="en-US" dirty="0" err="1" smtClean="0"/>
              <a:t>biến</a:t>
            </a:r>
            <a:endParaRPr lang="en-US" dirty="0"/>
          </a:p>
        </p:txBody>
      </p:sp>
      <p:sp>
        <p:nvSpPr>
          <p:cNvPr id="26" name="Diamond 25"/>
          <p:cNvSpPr/>
          <p:nvPr/>
        </p:nvSpPr>
        <p:spPr>
          <a:xfrm>
            <a:off x="765544" y="3018131"/>
            <a:ext cx="151862" cy="151862"/>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935668" y="3331635"/>
            <a:ext cx="7657131" cy="369332"/>
          </a:xfrm>
          <a:prstGeom prst="rect">
            <a:avLst/>
          </a:prstGeom>
          <a:noFill/>
        </p:spPr>
        <p:txBody>
          <a:bodyPr wrap="square" rtlCol="0">
            <a:spAutoFit/>
          </a:bodyPr>
          <a:lstStyle/>
          <a:p>
            <a:r>
              <a:rPr lang="en-US" dirty="0">
                <a:hlinkClick r:id="rId4"/>
              </a:rPr>
              <a:t>https://www.w3schools.com/python/python_datatypes.asp</a:t>
            </a:r>
            <a:endParaRPr lang="en-US" dirty="0"/>
          </a:p>
        </p:txBody>
      </p:sp>
      <p:sp>
        <p:nvSpPr>
          <p:cNvPr id="28" name="TextBox 27"/>
          <p:cNvSpPr txBox="1"/>
          <p:nvPr/>
        </p:nvSpPr>
        <p:spPr>
          <a:xfrm>
            <a:off x="935668" y="3790309"/>
            <a:ext cx="7657131" cy="369332"/>
          </a:xfrm>
          <a:prstGeom prst="rect">
            <a:avLst/>
          </a:prstGeom>
          <a:noFill/>
        </p:spPr>
        <p:txBody>
          <a:bodyPr wrap="square" rtlCol="0">
            <a:spAutoFit/>
          </a:bodyPr>
          <a:lstStyle/>
          <a:p>
            <a:r>
              <a:rPr lang="en-US" dirty="0" err="1" smtClean="0"/>
              <a:t>Toán</a:t>
            </a:r>
            <a:r>
              <a:rPr lang="en-US" dirty="0" smtClean="0"/>
              <a:t> </a:t>
            </a:r>
            <a:r>
              <a:rPr lang="en-US" dirty="0" err="1" smtClean="0"/>
              <a:t>tử</a:t>
            </a:r>
            <a:r>
              <a:rPr lang="en-US" dirty="0" smtClean="0"/>
              <a:t> </a:t>
            </a:r>
            <a:r>
              <a:rPr lang="en-US" dirty="0" err="1" smtClean="0"/>
              <a:t>trong</a:t>
            </a:r>
            <a:r>
              <a:rPr lang="en-US" dirty="0" smtClean="0"/>
              <a:t> Python</a:t>
            </a:r>
            <a:endParaRPr lang="en-US" dirty="0"/>
          </a:p>
        </p:txBody>
      </p:sp>
      <p:sp>
        <p:nvSpPr>
          <p:cNvPr id="29" name="Diamond 28"/>
          <p:cNvSpPr/>
          <p:nvPr/>
        </p:nvSpPr>
        <p:spPr>
          <a:xfrm>
            <a:off x="765544" y="3881923"/>
            <a:ext cx="151862" cy="151862"/>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935668" y="4187719"/>
            <a:ext cx="7657131" cy="369332"/>
          </a:xfrm>
          <a:prstGeom prst="rect">
            <a:avLst/>
          </a:prstGeom>
          <a:noFill/>
        </p:spPr>
        <p:txBody>
          <a:bodyPr wrap="square" rtlCol="0">
            <a:spAutoFit/>
          </a:bodyPr>
          <a:lstStyle/>
          <a:p>
            <a:r>
              <a:rPr lang="en-US" dirty="0">
                <a:hlinkClick r:id="rId5"/>
              </a:rPr>
              <a:t>https://www.w3schools.com/python/python_operators.asp</a:t>
            </a:r>
            <a:endParaRPr lang="en-US" dirty="0"/>
          </a:p>
        </p:txBody>
      </p:sp>
      <p:sp>
        <p:nvSpPr>
          <p:cNvPr id="16" name="TextBox 15"/>
          <p:cNvSpPr txBox="1"/>
          <p:nvPr/>
        </p:nvSpPr>
        <p:spPr>
          <a:xfrm>
            <a:off x="864550" y="4670849"/>
            <a:ext cx="7582970" cy="369332"/>
          </a:xfrm>
          <a:prstGeom prst="rect">
            <a:avLst/>
          </a:prstGeom>
          <a:noFill/>
        </p:spPr>
        <p:txBody>
          <a:bodyPr wrap="square" rtlCol="0">
            <a:spAutoFit/>
          </a:bodyPr>
          <a:lstStyle/>
          <a:p>
            <a:r>
              <a:rPr lang="en-US" dirty="0" err="1" smtClean="0"/>
              <a:t>Chuỗi</a:t>
            </a:r>
            <a:r>
              <a:rPr lang="en-US" dirty="0" smtClean="0"/>
              <a:t> </a:t>
            </a:r>
            <a:r>
              <a:rPr lang="en-US" dirty="0" err="1" smtClean="0"/>
              <a:t>trong</a:t>
            </a:r>
            <a:r>
              <a:rPr lang="en-US" dirty="0" smtClean="0"/>
              <a:t> Python</a:t>
            </a:r>
            <a:endParaRPr lang="en-US" dirty="0"/>
          </a:p>
        </p:txBody>
      </p:sp>
      <p:sp>
        <p:nvSpPr>
          <p:cNvPr id="17" name="Flowchart: Decision 16"/>
          <p:cNvSpPr/>
          <p:nvPr/>
        </p:nvSpPr>
        <p:spPr>
          <a:xfrm>
            <a:off x="625365" y="4798648"/>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864550" y="5165119"/>
            <a:ext cx="7582970" cy="369332"/>
          </a:xfrm>
          <a:prstGeom prst="rect">
            <a:avLst/>
          </a:prstGeom>
          <a:noFill/>
        </p:spPr>
        <p:txBody>
          <a:bodyPr wrap="square" rtlCol="0">
            <a:spAutoFit/>
          </a:bodyPr>
          <a:lstStyle/>
          <a:p>
            <a:r>
              <a:rPr lang="en-US" dirty="0">
                <a:hlinkClick r:id="rId6"/>
              </a:rPr>
              <a:t>https://www.w3schools.com/python/python_strings.asp</a:t>
            </a:r>
            <a:endParaRPr lang="en-US" dirty="0"/>
          </a:p>
        </p:txBody>
      </p:sp>
      <p:sp>
        <p:nvSpPr>
          <p:cNvPr id="20" name="TextBox 19"/>
          <p:cNvSpPr txBox="1"/>
          <p:nvPr/>
        </p:nvSpPr>
        <p:spPr>
          <a:xfrm>
            <a:off x="864550" y="5590186"/>
            <a:ext cx="7582970" cy="369332"/>
          </a:xfrm>
          <a:prstGeom prst="rect">
            <a:avLst/>
          </a:prstGeom>
          <a:noFill/>
        </p:spPr>
        <p:txBody>
          <a:bodyPr wrap="square" rtlCol="0">
            <a:spAutoFit/>
          </a:bodyPr>
          <a:lstStyle/>
          <a:p>
            <a:r>
              <a:rPr lang="en-US" dirty="0" err="1" smtClean="0"/>
              <a:t>Các</a:t>
            </a:r>
            <a:r>
              <a:rPr lang="en-US" dirty="0" smtClean="0"/>
              <a:t> </a:t>
            </a:r>
            <a:r>
              <a:rPr lang="en-US" dirty="0" err="1" smtClean="0"/>
              <a:t>phương</a:t>
            </a:r>
            <a:r>
              <a:rPr lang="en-US" dirty="0" smtClean="0"/>
              <a:t> </a:t>
            </a:r>
            <a:r>
              <a:rPr lang="en-US" dirty="0" err="1" smtClean="0"/>
              <a:t>thức</a:t>
            </a:r>
            <a:r>
              <a:rPr lang="en-US" dirty="0" smtClean="0"/>
              <a:t> </a:t>
            </a:r>
            <a:r>
              <a:rPr lang="en-US" dirty="0" err="1" smtClean="0"/>
              <a:t>Xử</a:t>
            </a:r>
            <a:r>
              <a:rPr lang="en-US" dirty="0" smtClean="0"/>
              <a:t> </a:t>
            </a:r>
            <a:r>
              <a:rPr lang="en-US" dirty="0" err="1" smtClean="0"/>
              <a:t>lý</a:t>
            </a:r>
            <a:r>
              <a:rPr lang="en-US" dirty="0" smtClean="0"/>
              <a:t> </a:t>
            </a:r>
            <a:r>
              <a:rPr lang="en-US" dirty="0" err="1" smtClean="0"/>
              <a:t>chuỗi</a:t>
            </a:r>
            <a:r>
              <a:rPr lang="en-US" dirty="0" smtClean="0"/>
              <a:t> </a:t>
            </a:r>
            <a:r>
              <a:rPr lang="en-US" dirty="0" err="1" smtClean="0"/>
              <a:t>trong</a:t>
            </a:r>
            <a:r>
              <a:rPr lang="en-US" dirty="0" smtClean="0"/>
              <a:t> Python</a:t>
            </a:r>
            <a:endParaRPr lang="en-US" dirty="0"/>
          </a:p>
        </p:txBody>
      </p:sp>
      <p:sp>
        <p:nvSpPr>
          <p:cNvPr id="21" name="Flowchart: Decision 20"/>
          <p:cNvSpPr/>
          <p:nvPr/>
        </p:nvSpPr>
        <p:spPr>
          <a:xfrm>
            <a:off x="625365" y="5689792"/>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864550" y="6051672"/>
            <a:ext cx="7582970" cy="369332"/>
          </a:xfrm>
          <a:prstGeom prst="rect">
            <a:avLst/>
          </a:prstGeom>
          <a:noFill/>
        </p:spPr>
        <p:txBody>
          <a:bodyPr wrap="square" rtlCol="0">
            <a:spAutoFit/>
          </a:bodyPr>
          <a:lstStyle/>
          <a:p>
            <a:r>
              <a:rPr lang="en-US" dirty="0">
                <a:hlinkClick r:id="rId7"/>
              </a:rPr>
              <a:t>https://www.w3schools.com/python/python_strings_methods.asp</a:t>
            </a:r>
            <a:endParaRPr lang="en-US" dirty="0"/>
          </a:p>
        </p:txBody>
      </p:sp>
    </p:spTree>
    <p:extLst>
      <p:ext uri="{BB962C8B-B14F-4D97-AF65-F5344CB8AC3E}">
        <p14:creationId xmlns:p14="http://schemas.microsoft.com/office/powerpoint/2010/main" val="96026038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p:cNvSpPr txBox="1">
            <a:spLocks/>
          </p:cNvSpPr>
          <p:nvPr/>
        </p:nvSpPr>
        <p:spPr>
          <a:xfrm>
            <a:off x="1571538" y="986929"/>
            <a:ext cx="3840434" cy="4247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err="1" smtClean="0">
                <a:solidFill>
                  <a:schemeClr val="bg1"/>
                </a:solidFill>
              </a:rPr>
              <a:t>Tổng</a:t>
            </a:r>
            <a:r>
              <a:rPr lang="en-US" b="1" dirty="0" smtClean="0">
                <a:solidFill>
                  <a:schemeClr val="bg1"/>
                </a:solidFill>
              </a:rPr>
              <a:t> </a:t>
            </a:r>
            <a:r>
              <a:rPr lang="en-US" b="1" dirty="0" err="1" smtClean="0">
                <a:solidFill>
                  <a:schemeClr val="bg1"/>
                </a:solidFill>
              </a:rPr>
              <a:t>kết</a:t>
            </a:r>
            <a:r>
              <a:rPr lang="en-US" b="1" dirty="0" smtClean="0">
                <a:solidFill>
                  <a:schemeClr val="bg1"/>
                </a:solidFill>
              </a:rPr>
              <a:t> </a:t>
            </a:r>
            <a:r>
              <a:rPr lang="en-US" b="1" dirty="0" err="1" smtClean="0">
                <a:solidFill>
                  <a:schemeClr val="bg1"/>
                </a:solidFill>
              </a:rPr>
              <a:t>lại</a:t>
            </a:r>
            <a:r>
              <a:rPr lang="en-US" b="1" dirty="0" smtClean="0">
                <a:solidFill>
                  <a:schemeClr val="bg1"/>
                </a:solidFill>
              </a:rPr>
              <a:t> </a:t>
            </a:r>
            <a:r>
              <a:rPr lang="en-US" b="1" dirty="0" err="1" smtClean="0">
                <a:solidFill>
                  <a:schemeClr val="bg1"/>
                </a:solidFill>
              </a:rPr>
              <a:t>bài</a:t>
            </a:r>
            <a:r>
              <a:rPr lang="en-US" b="1" dirty="0" smtClean="0">
                <a:solidFill>
                  <a:schemeClr val="bg1"/>
                </a:solidFill>
              </a:rPr>
              <a:t> 2</a:t>
            </a:r>
            <a:endParaRPr lang="en-US" b="1" dirty="0">
              <a:solidFill>
                <a:schemeClr val="bg1"/>
              </a:solidFill>
            </a:endParaRPr>
          </a:p>
        </p:txBody>
      </p:sp>
      <p:sp>
        <p:nvSpPr>
          <p:cNvPr id="5" name="Oval 4"/>
          <p:cNvSpPr/>
          <p:nvPr/>
        </p:nvSpPr>
        <p:spPr>
          <a:xfrm>
            <a:off x="1731027" y="1822655"/>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60B659"/>
                </a:solidFill>
              </a:rPr>
              <a:t>1</a:t>
            </a:r>
            <a:endParaRPr lang="en-US" b="1" dirty="0">
              <a:solidFill>
                <a:srgbClr val="60B659"/>
              </a:solidFill>
            </a:endParaRPr>
          </a:p>
        </p:txBody>
      </p:sp>
      <p:sp>
        <p:nvSpPr>
          <p:cNvPr id="6" name="Oval 5"/>
          <p:cNvSpPr/>
          <p:nvPr/>
        </p:nvSpPr>
        <p:spPr>
          <a:xfrm>
            <a:off x="1731027" y="2659759"/>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60B659"/>
                </a:solidFill>
              </a:rPr>
              <a:t>2</a:t>
            </a:r>
          </a:p>
        </p:txBody>
      </p:sp>
      <p:sp>
        <p:nvSpPr>
          <p:cNvPr id="7" name="Oval 6"/>
          <p:cNvSpPr/>
          <p:nvPr/>
        </p:nvSpPr>
        <p:spPr>
          <a:xfrm>
            <a:off x="1731027" y="3455142"/>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60B659"/>
                </a:solidFill>
              </a:rPr>
              <a:t>3</a:t>
            </a:r>
          </a:p>
        </p:txBody>
      </p:sp>
      <p:sp>
        <p:nvSpPr>
          <p:cNvPr id="8" name="Oval 7"/>
          <p:cNvSpPr/>
          <p:nvPr/>
        </p:nvSpPr>
        <p:spPr>
          <a:xfrm>
            <a:off x="1731027" y="4274161"/>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60B659"/>
                </a:solidFill>
              </a:rPr>
              <a:t>4</a:t>
            </a:r>
          </a:p>
        </p:txBody>
      </p:sp>
      <p:sp>
        <p:nvSpPr>
          <p:cNvPr id="13" name="Oval 12"/>
          <p:cNvSpPr/>
          <p:nvPr/>
        </p:nvSpPr>
        <p:spPr>
          <a:xfrm>
            <a:off x="1731027" y="5103801"/>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60B659"/>
                </a:solidFill>
              </a:rPr>
              <a:t>5</a:t>
            </a:r>
            <a:endParaRPr lang="en-US" b="1" dirty="0">
              <a:solidFill>
                <a:srgbClr val="60B659"/>
              </a:solidFill>
            </a:endParaRPr>
          </a:p>
        </p:txBody>
      </p:sp>
      <p:cxnSp>
        <p:nvCxnSpPr>
          <p:cNvPr id="16" name="Straight Connector 15"/>
          <p:cNvCxnSpPr/>
          <p:nvPr/>
        </p:nvCxnSpPr>
        <p:spPr>
          <a:xfrm>
            <a:off x="1731027" y="1528857"/>
            <a:ext cx="614769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254102" y="1822655"/>
            <a:ext cx="5178056" cy="369332"/>
          </a:xfrm>
          <a:prstGeom prst="rect">
            <a:avLst/>
          </a:prstGeom>
          <a:noFill/>
        </p:spPr>
        <p:txBody>
          <a:bodyPr wrap="square" rtlCol="0">
            <a:spAutoFit/>
          </a:bodyPr>
          <a:lstStyle/>
          <a:p>
            <a:r>
              <a:rPr lang="en-US" dirty="0" err="1" smtClean="0">
                <a:solidFill>
                  <a:schemeClr val="bg1"/>
                </a:solidFill>
              </a:rPr>
              <a:t>Biết</a:t>
            </a:r>
            <a:r>
              <a:rPr lang="en-US" dirty="0" smtClean="0">
                <a:solidFill>
                  <a:schemeClr val="bg1"/>
                </a:solidFill>
              </a:rPr>
              <a:t> </a:t>
            </a:r>
            <a:r>
              <a:rPr lang="en-US" dirty="0" err="1" smtClean="0">
                <a:solidFill>
                  <a:schemeClr val="bg1"/>
                </a:solidFill>
              </a:rPr>
              <a:t>cách</a:t>
            </a:r>
            <a:r>
              <a:rPr lang="en-US" dirty="0" smtClean="0">
                <a:solidFill>
                  <a:schemeClr val="bg1"/>
                </a:solidFill>
              </a:rPr>
              <a:t> </a:t>
            </a:r>
            <a:r>
              <a:rPr lang="en-US" dirty="0" err="1" smtClean="0">
                <a:solidFill>
                  <a:schemeClr val="bg1"/>
                </a:solidFill>
              </a:rPr>
              <a:t>khai</a:t>
            </a:r>
            <a:r>
              <a:rPr lang="en-US" dirty="0" smtClean="0">
                <a:solidFill>
                  <a:schemeClr val="bg1"/>
                </a:solidFill>
              </a:rPr>
              <a:t> </a:t>
            </a:r>
            <a:r>
              <a:rPr lang="en-US" dirty="0" err="1" smtClean="0">
                <a:solidFill>
                  <a:schemeClr val="bg1"/>
                </a:solidFill>
              </a:rPr>
              <a:t>báo</a:t>
            </a:r>
            <a:r>
              <a:rPr lang="en-US" dirty="0" smtClean="0">
                <a:solidFill>
                  <a:schemeClr val="bg1"/>
                </a:solidFill>
              </a:rPr>
              <a:t> BIẾN </a:t>
            </a:r>
            <a:r>
              <a:rPr lang="en-US" dirty="0" err="1" smtClean="0">
                <a:solidFill>
                  <a:schemeClr val="bg1"/>
                </a:solidFill>
              </a:rPr>
              <a:t>trong</a:t>
            </a:r>
            <a:r>
              <a:rPr lang="en-US" dirty="0" smtClean="0">
                <a:solidFill>
                  <a:schemeClr val="bg1"/>
                </a:solidFill>
              </a:rPr>
              <a:t> Python</a:t>
            </a:r>
            <a:endParaRPr lang="en-US" dirty="0">
              <a:solidFill>
                <a:schemeClr val="bg1"/>
              </a:solidFill>
            </a:endParaRPr>
          </a:p>
        </p:txBody>
      </p:sp>
      <p:sp>
        <p:nvSpPr>
          <p:cNvPr id="18" name="TextBox 17"/>
          <p:cNvSpPr txBox="1"/>
          <p:nvPr/>
        </p:nvSpPr>
        <p:spPr>
          <a:xfrm>
            <a:off x="2254102" y="2659759"/>
            <a:ext cx="5178056" cy="369332"/>
          </a:xfrm>
          <a:prstGeom prst="rect">
            <a:avLst/>
          </a:prstGeom>
          <a:noFill/>
        </p:spPr>
        <p:txBody>
          <a:bodyPr wrap="square" rtlCol="0">
            <a:spAutoFit/>
          </a:bodyPr>
          <a:lstStyle/>
          <a:p>
            <a:r>
              <a:rPr lang="en-US" dirty="0" err="1" smtClean="0">
                <a:solidFill>
                  <a:schemeClr val="bg1"/>
                </a:solidFill>
              </a:rPr>
              <a:t>Nắm</a:t>
            </a:r>
            <a:r>
              <a:rPr lang="en-US" dirty="0" smtClean="0">
                <a:solidFill>
                  <a:schemeClr val="bg1"/>
                </a:solidFill>
              </a:rPr>
              <a:t> </a:t>
            </a:r>
            <a:r>
              <a:rPr lang="en-US" dirty="0" err="1" smtClean="0">
                <a:solidFill>
                  <a:schemeClr val="bg1"/>
                </a:solidFill>
              </a:rPr>
              <a:t>được</a:t>
            </a:r>
            <a:r>
              <a:rPr lang="en-US" dirty="0" smtClean="0">
                <a:solidFill>
                  <a:schemeClr val="bg1"/>
                </a:solidFill>
              </a:rPr>
              <a:t> </a:t>
            </a:r>
            <a:r>
              <a:rPr lang="en-US" dirty="0" err="1" smtClean="0">
                <a:solidFill>
                  <a:schemeClr val="bg1"/>
                </a:solidFill>
              </a:rPr>
              <a:t>nguyên</a:t>
            </a:r>
            <a:r>
              <a:rPr lang="en-US" dirty="0" smtClean="0">
                <a:solidFill>
                  <a:schemeClr val="bg1"/>
                </a:solidFill>
              </a:rPr>
              <a:t> </a:t>
            </a:r>
            <a:r>
              <a:rPr lang="en-US" dirty="0" err="1" smtClean="0">
                <a:solidFill>
                  <a:schemeClr val="bg1"/>
                </a:solidFill>
              </a:rPr>
              <a:t>tắc</a:t>
            </a:r>
            <a:r>
              <a:rPr lang="en-US" dirty="0" smtClean="0">
                <a:solidFill>
                  <a:schemeClr val="bg1"/>
                </a:solidFill>
              </a:rPr>
              <a:t> </a:t>
            </a:r>
            <a:r>
              <a:rPr lang="en-US" dirty="0" err="1" smtClean="0">
                <a:solidFill>
                  <a:schemeClr val="bg1"/>
                </a:solidFill>
              </a:rPr>
              <a:t>đặt</a:t>
            </a:r>
            <a:r>
              <a:rPr lang="en-US" dirty="0" smtClean="0">
                <a:solidFill>
                  <a:schemeClr val="bg1"/>
                </a:solidFill>
              </a:rPr>
              <a:t> </a:t>
            </a:r>
            <a:r>
              <a:rPr lang="en-US" dirty="0" err="1" smtClean="0">
                <a:solidFill>
                  <a:schemeClr val="bg1"/>
                </a:solidFill>
              </a:rPr>
              <a:t>tên</a:t>
            </a:r>
            <a:r>
              <a:rPr lang="en-US" dirty="0" smtClean="0">
                <a:solidFill>
                  <a:schemeClr val="bg1"/>
                </a:solidFill>
              </a:rPr>
              <a:t> BIẾN</a:t>
            </a:r>
            <a:endParaRPr lang="en-US" dirty="0">
              <a:solidFill>
                <a:schemeClr val="bg1"/>
              </a:solidFill>
            </a:endParaRPr>
          </a:p>
        </p:txBody>
      </p:sp>
      <p:sp>
        <p:nvSpPr>
          <p:cNvPr id="19" name="TextBox 18"/>
          <p:cNvSpPr txBox="1"/>
          <p:nvPr/>
        </p:nvSpPr>
        <p:spPr>
          <a:xfrm>
            <a:off x="2254102" y="3460069"/>
            <a:ext cx="5178056" cy="369332"/>
          </a:xfrm>
          <a:prstGeom prst="rect">
            <a:avLst/>
          </a:prstGeom>
          <a:noFill/>
        </p:spPr>
        <p:txBody>
          <a:bodyPr wrap="square" rtlCol="0">
            <a:spAutoFit/>
          </a:bodyPr>
          <a:lstStyle/>
          <a:p>
            <a:r>
              <a:rPr lang="en-US" dirty="0" err="1" smtClean="0">
                <a:solidFill>
                  <a:schemeClr val="bg1"/>
                </a:solidFill>
              </a:rPr>
              <a:t>Nắm</a:t>
            </a:r>
            <a:r>
              <a:rPr lang="en-US" dirty="0" smtClean="0">
                <a:solidFill>
                  <a:schemeClr val="bg1"/>
                </a:solidFill>
              </a:rPr>
              <a:t> </a:t>
            </a:r>
            <a:r>
              <a:rPr lang="en-US" dirty="0" err="1" smtClean="0">
                <a:solidFill>
                  <a:schemeClr val="bg1"/>
                </a:solidFill>
              </a:rPr>
              <a:t>được</a:t>
            </a:r>
            <a:r>
              <a:rPr lang="en-US" dirty="0" smtClean="0">
                <a:solidFill>
                  <a:schemeClr val="bg1"/>
                </a:solidFill>
              </a:rPr>
              <a:t> </a:t>
            </a:r>
            <a:r>
              <a:rPr lang="en-US" dirty="0" err="1" smtClean="0">
                <a:solidFill>
                  <a:schemeClr val="bg1"/>
                </a:solidFill>
              </a:rPr>
              <a:t>phạm</a:t>
            </a:r>
            <a:r>
              <a:rPr lang="en-US" dirty="0" smtClean="0">
                <a:solidFill>
                  <a:schemeClr val="bg1"/>
                </a:solidFill>
              </a:rPr>
              <a:t> vi </a:t>
            </a:r>
            <a:r>
              <a:rPr lang="en-US" dirty="0" err="1" smtClean="0">
                <a:solidFill>
                  <a:schemeClr val="bg1"/>
                </a:solidFill>
              </a:rPr>
              <a:t>sử</a:t>
            </a:r>
            <a:r>
              <a:rPr lang="en-US" dirty="0" smtClean="0">
                <a:solidFill>
                  <a:schemeClr val="bg1"/>
                </a:solidFill>
              </a:rPr>
              <a:t> </a:t>
            </a:r>
            <a:r>
              <a:rPr lang="en-US" dirty="0" err="1" smtClean="0">
                <a:solidFill>
                  <a:schemeClr val="bg1"/>
                </a:solidFill>
              </a:rPr>
              <a:t>dụng</a:t>
            </a:r>
            <a:r>
              <a:rPr lang="en-US" dirty="0" smtClean="0">
                <a:solidFill>
                  <a:schemeClr val="bg1"/>
                </a:solidFill>
              </a:rPr>
              <a:t> </a:t>
            </a:r>
            <a:r>
              <a:rPr lang="en-US" dirty="0" err="1" smtClean="0">
                <a:solidFill>
                  <a:schemeClr val="bg1"/>
                </a:solidFill>
              </a:rPr>
              <a:t>biến</a:t>
            </a:r>
            <a:r>
              <a:rPr lang="en-US" dirty="0" smtClean="0">
                <a:solidFill>
                  <a:schemeClr val="bg1"/>
                </a:solidFill>
              </a:rPr>
              <a:t> (Scope)</a:t>
            </a:r>
            <a:endParaRPr lang="en-US" dirty="0">
              <a:solidFill>
                <a:schemeClr val="bg1"/>
              </a:solidFill>
            </a:endParaRPr>
          </a:p>
        </p:txBody>
      </p:sp>
      <p:sp>
        <p:nvSpPr>
          <p:cNvPr id="20" name="TextBox 19"/>
          <p:cNvSpPr txBox="1"/>
          <p:nvPr/>
        </p:nvSpPr>
        <p:spPr>
          <a:xfrm>
            <a:off x="2254102" y="4205961"/>
            <a:ext cx="5178056" cy="646331"/>
          </a:xfrm>
          <a:prstGeom prst="rect">
            <a:avLst/>
          </a:prstGeom>
          <a:noFill/>
        </p:spPr>
        <p:txBody>
          <a:bodyPr wrap="square" rtlCol="0">
            <a:spAutoFit/>
          </a:bodyPr>
          <a:lstStyle/>
          <a:p>
            <a:r>
              <a:rPr lang="en-US" dirty="0" err="1" smtClean="0">
                <a:solidFill>
                  <a:schemeClr val="bg1"/>
                </a:solidFill>
              </a:rPr>
              <a:t>Nắm</a:t>
            </a:r>
            <a:r>
              <a:rPr lang="en-US" dirty="0" smtClean="0">
                <a:solidFill>
                  <a:schemeClr val="bg1"/>
                </a:solidFill>
              </a:rPr>
              <a:t> </a:t>
            </a:r>
            <a:r>
              <a:rPr lang="en-US" dirty="0" err="1" smtClean="0">
                <a:solidFill>
                  <a:schemeClr val="bg1"/>
                </a:solidFill>
              </a:rPr>
              <a:t>được</a:t>
            </a:r>
            <a:r>
              <a:rPr lang="en-US" dirty="0" smtClean="0">
                <a:solidFill>
                  <a:schemeClr val="bg1"/>
                </a:solidFill>
              </a:rPr>
              <a:t> </a:t>
            </a:r>
            <a:r>
              <a:rPr lang="en-US" dirty="0" err="1">
                <a:solidFill>
                  <a:schemeClr val="bg1"/>
                </a:solidFill>
              </a:rPr>
              <a:t>c</a:t>
            </a:r>
            <a:r>
              <a:rPr lang="en-US" dirty="0" err="1" smtClean="0">
                <a:solidFill>
                  <a:schemeClr val="bg1"/>
                </a:solidFill>
              </a:rPr>
              <a:t>ác</a:t>
            </a:r>
            <a:r>
              <a:rPr lang="en-US" dirty="0" smtClean="0">
                <a:solidFill>
                  <a:schemeClr val="bg1"/>
                </a:solidFill>
              </a:rPr>
              <a:t> </a:t>
            </a:r>
            <a:r>
              <a:rPr lang="en-US" dirty="0" err="1" smtClean="0">
                <a:solidFill>
                  <a:schemeClr val="bg1"/>
                </a:solidFill>
              </a:rPr>
              <a:t>kiểu</a:t>
            </a:r>
            <a:r>
              <a:rPr lang="en-US" dirty="0" smtClean="0">
                <a:solidFill>
                  <a:schemeClr val="bg1"/>
                </a:solidFill>
              </a:rPr>
              <a:t> </a:t>
            </a:r>
            <a:r>
              <a:rPr lang="en-US" dirty="0" err="1" smtClean="0">
                <a:solidFill>
                  <a:schemeClr val="bg1"/>
                </a:solidFill>
              </a:rPr>
              <a:t>dữ</a:t>
            </a:r>
            <a:r>
              <a:rPr lang="en-US" dirty="0" smtClean="0">
                <a:solidFill>
                  <a:schemeClr val="bg1"/>
                </a:solidFill>
              </a:rPr>
              <a:t> </a:t>
            </a:r>
            <a:r>
              <a:rPr lang="en-US" dirty="0" err="1" smtClean="0">
                <a:solidFill>
                  <a:schemeClr val="bg1"/>
                </a:solidFill>
              </a:rPr>
              <a:t>liệu</a:t>
            </a:r>
            <a:r>
              <a:rPr lang="en-US" dirty="0" smtClean="0">
                <a:solidFill>
                  <a:schemeClr val="bg1"/>
                </a:solidFill>
              </a:rPr>
              <a:t> </a:t>
            </a:r>
            <a:r>
              <a:rPr lang="en-US" dirty="0" err="1" smtClean="0">
                <a:solidFill>
                  <a:schemeClr val="bg1"/>
                </a:solidFill>
              </a:rPr>
              <a:t>của</a:t>
            </a:r>
            <a:r>
              <a:rPr lang="en-US" dirty="0" smtClean="0">
                <a:solidFill>
                  <a:schemeClr val="bg1"/>
                </a:solidFill>
              </a:rPr>
              <a:t> BIẾN, </a:t>
            </a:r>
            <a:r>
              <a:rPr lang="en-US" dirty="0" err="1" smtClean="0">
                <a:solidFill>
                  <a:schemeClr val="bg1"/>
                </a:solidFill>
              </a:rPr>
              <a:t>ép</a:t>
            </a:r>
            <a:r>
              <a:rPr lang="en-US" dirty="0" smtClean="0">
                <a:solidFill>
                  <a:schemeClr val="bg1"/>
                </a:solidFill>
              </a:rPr>
              <a:t> </a:t>
            </a:r>
            <a:r>
              <a:rPr lang="en-US" dirty="0" err="1" smtClean="0">
                <a:solidFill>
                  <a:schemeClr val="bg1"/>
                </a:solidFill>
              </a:rPr>
              <a:t>kiểu</a:t>
            </a:r>
            <a:r>
              <a:rPr lang="en-US" dirty="0" smtClean="0">
                <a:solidFill>
                  <a:schemeClr val="bg1"/>
                </a:solidFill>
              </a:rPr>
              <a:t> </a:t>
            </a:r>
            <a:r>
              <a:rPr lang="en-US" dirty="0" err="1" smtClean="0">
                <a:solidFill>
                  <a:schemeClr val="bg1"/>
                </a:solidFill>
              </a:rPr>
              <a:t>dữ</a:t>
            </a:r>
            <a:endParaRPr lang="en-US" dirty="0" smtClean="0">
              <a:solidFill>
                <a:schemeClr val="bg1"/>
              </a:solidFill>
            </a:endParaRPr>
          </a:p>
          <a:p>
            <a:r>
              <a:rPr lang="en-US" dirty="0" err="1">
                <a:solidFill>
                  <a:schemeClr val="bg1"/>
                </a:solidFill>
              </a:rPr>
              <a:t>l</a:t>
            </a:r>
            <a:r>
              <a:rPr lang="en-US" dirty="0" err="1" smtClean="0">
                <a:solidFill>
                  <a:schemeClr val="bg1"/>
                </a:solidFill>
              </a:rPr>
              <a:t>iệu</a:t>
            </a:r>
            <a:endParaRPr lang="en-US" dirty="0">
              <a:solidFill>
                <a:schemeClr val="bg1"/>
              </a:solidFill>
            </a:endParaRPr>
          </a:p>
        </p:txBody>
      </p:sp>
      <p:sp>
        <p:nvSpPr>
          <p:cNvPr id="21" name="TextBox 20"/>
          <p:cNvSpPr txBox="1"/>
          <p:nvPr/>
        </p:nvSpPr>
        <p:spPr>
          <a:xfrm>
            <a:off x="2238946" y="5097674"/>
            <a:ext cx="6617187" cy="369332"/>
          </a:xfrm>
          <a:prstGeom prst="rect">
            <a:avLst/>
          </a:prstGeom>
          <a:noFill/>
        </p:spPr>
        <p:txBody>
          <a:bodyPr wrap="square" rtlCol="0">
            <a:spAutoFit/>
          </a:bodyPr>
          <a:lstStyle/>
          <a:p>
            <a:r>
              <a:rPr lang="en-US" dirty="0" err="1" smtClean="0">
                <a:solidFill>
                  <a:schemeClr val="bg1"/>
                </a:solidFill>
              </a:rPr>
              <a:t>Nắm</a:t>
            </a:r>
            <a:r>
              <a:rPr lang="en-US" dirty="0" smtClean="0">
                <a:solidFill>
                  <a:schemeClr val="bg1"/>
                </a:solidFill>
              </a:rPr>
              <a:t> </a:t>
            </a:r>
            <a:r>
              <a:rPr lang="en-US" dirty="0" err="1" smtClean="0">
                <a:solidFill>
                  <a:schemeClr val="bg1"/>
                </a:solidFill>
              </a:rPr>
              <a:t>được</a:t>
            </a:r>
            <a:r>
              <a:rPr lang="en-US" dirty="0" smtClean="0">
                <a:solidFill>
                  <a:schemeClr val="bg1"/>
                </a:solidFill>
              </a:rPr>
              <a:t> </a:t>
            </a:r>
            <a:r>
              <a:rPr lang="en-US" dirty="0" err="1" smtClean="0">
                <a:solidFill>
                  <a:schemeClr val="bg1"/>
                </a:solidFill>
              </a:rPr>
              <a:t>cách</a:t>
            </a:r>
            <a:r>
              <a:rPr lang="en-US" dirty="0" smtClean="0">
                <a:solidFill>
                  <a:schemeClr val="bg1"/>
                </a:solidFill>
              </a:rPr>
              <a:t> </a:t>
            </a:r>
            <a:r>
              <a:rPr lang="en-US" dirty="0" err="1" smtClean="0">
                <a:solidFill>
                  <a:schemeClr val="bg1"/>
                </a:solidFill>
              </a:rPr>
              <a:t>thực</a:t>
            </a:r>
            <a:r>
              <a:rPr lang="en-US" dirty="0" smtClean="0">
                <a:solidFill>
                  <a:schemeClr val="bg1"/>
                </a:solidFill>
              </a:rPr>
              <a:t> </a:t>
            </a:r>
            <a:r>
              <a:rPr lang="en-US" dirty="0" err="1" smtClean="0">
                <a:solidFill>
                  <a:schemeClr val="bg1"/>
                </a:solidFill>
              </a:rPr>
              <a:t>hiện</a:t>
            </a:r>
            <a:r>
              <a:rPr lang="en-US" dirty="0" smtClean="0">
                <a:solidFill>
                  <a:schemeClr val="bg1"/>
                </a:solidFill>
              </a:rPr>
              <a:t> </a:t>
            </a:r>
            <a:r>
              <a:rPr lang="en-US" dirty="0" err="1" smtClean="0">
                <a:solidFill>
                  <a:schemeClr val="bg1"/>
                </a:solidFill>
              </a:rPr>
              <a:t>các</a:t>
            </a:r>
            <a:r>
              <a:rPr lang="en-US" dirty="0" smtClean="0">
                <a:solidFill>
                  <a:schemeClr val="bg1"/>
                </a:solidFill>
              </a:rPr>
              <a:t> </a:t>
            </a:r>
            <a:r>
              <a:rPr lang="en-US" dirty="0" err="1" smtClean="0">
                <a:solidFill>
                  <a:schemeClr val="bg1"/>
                </a:solidFill>
              </a:rPr>
              <a:t>phép</a:t>
            </a:r>
            <a:r>
              <a:rPr lang="en-US" dirty="0" smtClean="0">
                <a:solidFill>
                  <a:schemeClr val="bg1"/>
                </a:solidFill>
              </a:rPr>
              <a:t> </a:t>
            </a:r>
            <a:r>
              <a:rPr lang="en-US" err="1" smtClean="0">
                <a:solidFill>
                  <a:schemeClr val="bg1"/>
                </a:solidFill>
              </a:rPr>
              <a:t>tính</a:t>
            </a:r>
            <a:r>
              <a:rPr lang="en-US" smtClean="0">
                <a:solidFill>
                  <a:schemeClr val="bg1"/>
                </a:solidFill>
              </a:rPr>
              <a:t> trong toán </a:t>
            </a:r>
            <a:r>
              <a:rPr lang="en-US" dirty="0" err="1" smtClean="0">
                <a:solidFill>
                  <a:schemeClr val="bg1"/>
                </a:solidFill>
              </a:rPr>
              <a:t>tử</a:t>
            </a:r>
            <a:r>
              <a:rPr lang="en-US" dirty="0">
                <a:solidFill>
                  <a:schemeClr val="bg1"/>
                </a:solidFill>
              </a:rPr>
              <a:t> </a:t>
            </a:r>
            <a:r>
              <a:rPr lang="en-US" dirty="0" err="1" smtClean="0">
                <a:solidFill>
                  <a:schemeClr val="bg1"/>
                </a:solidFill>
              </a:rPr>
              <a:t>số</a:t>
            </a:r>
            <a:r>
              <a:rPr lang="en-US" dirty="0" smtClean="0">
                <a:solidFill>
                  <a:schemeClr val="bg1"/>
                </a:solidFill>
              </a:rPr>
              <a:t> </a:t>
            </a:r>
            <a:r>
              <a:rPr lang="en-US" dirty="0" err="1" smtClean="0">
                <a:solidFill>
                  <a:schemeClr val="bg1"/>
                </a:solidFill>
              </a:rPr>
              <a:t>học</a:t>
            </a:r>
            <a:endParaRPr lang="en-US" dirty="0">
              <a:solidFill>
                <a:schemeClr val="bg1"/>
              </a:solidFill>
            </a:endParaRPr>
          </a:p>
        </p:txBody>
      </p:sp>
      <p:sp>
        <p:nvSpPr>
          <p:cNvPr id="14" name="Oval 13"/>
          <p:cNvSpPr/>
          <p:nvPr/>
        </p:nvSpPr>
        <p:spPr>
          <a:xfrm>
            <a:off x="1731027" y="5747268"/>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60B659"/>
                </a:solidFill>
              </a:rPr>
              <a:t>6</a:t>
            </a:r>
          </a:p>
        </p:txBody>
      </p:sp>
      <p:sp>
        <p:nvSpPr>
          <p:cNvPr id="17" name="TextBox 16"/>
          <p:cNvSpPr txBox="1"/>
          <p:nvPr/>
        </p:nvSpPr>
        <p:spPr>
          <a:xfrm>
            <a:off x="2238946" y="5741141"/>
            <a:ext cx="6617187" cy="369332"/>
          </a:xfrm>
          <a:prstGeom prst="rect">
            <a:avLst/>
          </a:prstGeom>
          <a:noFill/>
        </p:spPr>
        <p:txBody>
          <a:bodyPr wrap="square" rtlCol="0">
            <a:spAutoFit/>
          </a:bodyPr>
          <a:lstStyle/>
          <a:p>
            <a:r>
              <a:rPr lang="en-US" err="1" smtClean="0">
                <a:solidFill>
                  <a:schemeClr val="bg1"/>
                </a:solidFill>
              </a:rPr>
              <a:t>Nắm</a:t>
            </a:r>
            <a:r>
              <a:rPr lang="en-US" smtClean="0">
                <a:solidFill>
                  <a:schemeClr val="bg1"/>
                </a:solidFill>
              </a:rPr>
              <a:t> được dữ liệu chuỗi và cách xử lý chuỗi</a:t>
            </a:r>
            <a:endParaRPr lang="en-US" dirty="0">
              <a:solidFill>
                <a:schemeClr val="bg1"/>
              </a:solidFill>
            </a:endParaRPr>
          </a:p>
        </p:txBody>
      </p:sp>
    </p:spTree>
    <p:extLst>
      <p:ext uri="{BB962C8B-B14F-4D97-AF65-F5344CB8AC3E}">
        <p14:creationId xmlns:p14="http://schemas.microsoft.com/office/powerpoint/2010/main" val="267199271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830</TotalTime>
  <Words>3441</Words>
  <Application>Microsoft Office PowerPoint</Application>
  <PresentationFormat>On-screen Show (4:3)</PresentationFormat>
  <Paragraphs>494</Paragraphs>
  <Slides>40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Calibri</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Nobj</dc:creator>
  <cp:lastModifiedBy>Microsoft account</cp:lastModifiedBy>
  <cp:revision>347</cp:revision>
  <dcterms:created xsi:type="dcterms:W3CDTF">2023-04-21T02:43:36Z</dcterms:created>
  <dcterms:modified xsi:type="dcterms:W3CDTF">2025-10-30T02:07:54Z</dcterms:modified>
</cp:coreProperties>
</file>