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97" r:id="rId3"/>
    <p:sldId id="298" r:id="rId4"/>
    <p:sldId id="317" r:id="rId5"/>
    <p:sldId id="311" r:id="rId6"/>
    <p:sldId id="312" r:id="rId7"/>
    <p:sldId id="313" r:id="rId8"/>
    <p:sldId id="314" r:id="rId9"/>
    <p:sldId id="315" r:id="rId10"/>
    <p:sldId id="316" r:id="rId11"/>
    <p:sldId id="318" r:id="rId12"/>
    <p:sldId id="299" r:id="rId13"/>
    <p:sldId id="300" r:id="rId14"/>
    <p:sldId id="301" r:id="rId15"/>
    <p:sldId id="302" r:id="rId16"/>
    <p:sldId id="309" r:id="rId17"/>
    <p:sldId id="319" r:id="rId18"/>
    <p:sldId id="320" r:id="rId19"/>
    <p:sldId id="310"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3A75A6"/>
    <a:srgbClr val="FFC500"/>
    <a:srgbClr val="FECC36"/>
    <a:srgbClr val="64C0A7"/>
    <a:srgbClr val="67C7DF"/>
    <a:srgbClr val="5EB130"/>
    <a:srgbClr val="346E9E"/>
    <a:srgbClr val="60B659"/>
    <a:srgbClr val="377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85" autoAdjust="0"/>
    <p:restoredTop sz="94280" autoAdjust="0"/>
  </p:normalViewPr>
  <p:slideViewPr>
    <p:cSldViewPr snapToGrid="0">
      <p:cViewPr varScale="1">
        <p:scale>
          <a:sx n="113" d="100"/>
          <a:sy n="113" d="100"/>
        </p:scale>
        <p:origin x="15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w3schools.com/python/python_modules.asp" TargetMode="External"/><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hyperlink" Target="https://www.w3schools.com/python/module_random.asp" TargetMode="External"/><Relationship Id="rId5" Type="http://schemas.openxmlformats.org/officeDocument/2006/relationships/hyperlink" Target="https://www.w3schools.com/python/python_math.asp" TargetMode="External"/><Relationship Id="rId4" Type="http://schemas.openxmlformats.org/officeDocument/2006/relationships/hyperlink" Target="https://www.w3schools.com/python/python_datetime.asp"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398810"/>
            <a:ext cx="3079630" cy="646331"/>
          </a:xfrm>
          <a:prstGeom prst="rect">
            <a:avLst/>
          </a:prstGeom>
          <a:noFill/>
        </p:spPr>
        <p:txBody>
          <a:bodyPr wrap="square" rtlCol="0">
            <a:spAutoFit/>
          </a:bodyPr>
          <a:lstStyle/>
          <a:p>
            <a:pPr algn="ctr"/>
            <a:r>
              <a:rPr lang="en-US" sz="3600" b="1">
                <a:solidFill>
                  <a:schemeClr val="bg1"/>
                </a:solidFill>
              </a:rPr>
              <a:t>BÀI </a:t>
            </a:r>
            <a:r>
              <a:rPr lang="en-US" sz="3600" b="1" smtClean="0">
                <a:solidFill>
                  <a:schemeClr val="bg1"/>
                </a:solidFill>
              </a:rPr>
              <a:t>8</a:t>
            </a:r>
            <a:endParaRPr lang="en-US" sz="3600" b="1" dirty="0">
              <a:solidFill>
                <a:schemeClr val="bg1"/>
              </a:solidFill>
            </a:endParaRPr>
          </a:p>
        </p:txBody>
      </p:sp>
      <p:sp>
        <p:nvSpPr>
          <p:cNvPr id="7" name="TextBox 6"/>
          <p:cNvSpPr txBox="1"/>
          <p:nvPr/>
        </p:nvSpPr>
        <p:spPr>
          <a:xfrm>
            <a:off x="1137019" y="4179138"/>
            <a:ext cx="6869962" cy="1323439"/>
          </a:xfrm>
          <a:prstGeom prst="rect">
            <a:avLst/>
          </a:prstGeom>
          <a:noFill/>
        </p:spPr>
        <p:txBody>
          <a:bodyPr wrap="square" rtlCol="0">
            <a:spAutoFit/>
          </a:bodyPr>
          <a:lstStyle/>
          <a:p>
            <a:pPr algn="ctr"/>
            <a:r>
              <a:rPr lang="en-US" sz="4000" b="1" smtClean="0">
                <a:solidFill>
                  <a:schemeClr val="bg1"/>
                </a:solidFill>
                <a:ea typeface="Roboto" pitchFamily="2" charset="0"/>
              </a:rPr>
              <a:t>Packages và </a:t>
            </a:r>
            <a:r>
              <a:rPr lang="en-US" sz="4000" b="1" dirty="0" smtClean="0">
                <a:solidFill>
                  <a:schemeClr val="bg1"/>
                </a:solidFill>
                <a:ea typeface="Roboto" pitchFamily="2" charset="0"/>
              </a:rPr>
              <a:t>Module Python</a:t>
            </a:r>
            <a:endParaRPr lang="en-US" sz="4000" b="1" dirty="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1</a:t>
            </a:r>
            <a:endParaRPr lang="en-US" b="1" dirty="0"/>
          </a:p>
        </p:txBody>
      </p:sp>
      <p:sp>
        <p:nvSpPr>
          <p:cNvPr id="6" name="TextBox 5"/>
          <p:cNvSpPr txBox="1"/>
          <p:nvPr/>
        </p:nvSpPr>
        <p:spPr>
          <a:xfrm>
            <a:off x="1201478" y="2373866"/>
            <a:ext cx="6485861" cy="369332"/>
          </a:xfrm>
          <a:prstGeom prst="rect">
            <a:avLst/>
          </a:prstGeom>
          <a:noFill/>
        </p:spPr>
        <p:txBody>
          <a:bodyPr wrap="square" rtlCol="0">
            <a:spAutoFit/>
          </a:bodyPr>
          <a:lstStyle/>
          <a:p>
            <a:r>
              <a:rPr lang="en-US" dirty="0" err="1" smtClean="0"/>
              <a:t>Khái</a:t>
            </a:r>
            <a:r>
              <a:rPr lang="en-US" dirty="0" smtClean="0"/>
              <a:t> </a:t>
            </a:r>
            <a:r>
              <a:rPr lang="en-US" dirty="0" err="1" smtClean="0"/>
              <a:t>niệm</a:t>
            </a:r>
            <a:r>
              <a:rPr lang="en-US" dirty="0" smtClean="0"/>
              <a:t> </a:t>
            </a:r>
            <a:r>
              <a:rPr lang="en-US" dirty="0" err="1" smtClean="0"/>
              <a:t>về</a:t>
            </a:r>
            <a:r>
              <a:rPr lang="en-US" dirty="0" smtClean="0"/>
              <a:t> Module </a:t>
            </a:r>
            <a:r>
              <a:rPr lang="en-US" dirty="0" err="1" smtClean="0"/>
              <a:t>trong</a:t>
            </a:r>
            <a:r>
              <a:rPr lang="en-US" dirty="0" smtClean="0"/>
              <a:t> Python</a:t>
            </a:r>
          </a:p>
        </p:txBody>
      </p:sp>
      <p:sp>
        <p:nvSpPr>
          <p:cNvPr id="7" name="Oval 6"/>
          <p:cNvSpPr/>
          <p:nvPr/>
        </p:nvSpPr>
        <p:spPr>
          <a:xfrm>
            <a:off x="602143" y="310079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2</a:t>
            </a:r>
            <a:endParaRPr lang="en-US" b="1" dirty="0"/>
          </a:p>
        </p:txBody>
      </p:sp>
      <p:sp>
        <p:nvSpPr>
          <p:cNvPr id="11" name="Oval 10"/>
          <p:cNvSpPr/>
          <p:nvPr/>
        </p:nvSpPr>
        <p:spPr>
          <a:xfrm>
            <a:off x="602143" y="382380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3</a:t>
            </a:r>
            <a:endParaRPr lang="en-US" b="1" dirty="0"/>
          </a:p>
        </p:txBody>
      </p:sp>
      <p:sp>
        <p:nvSpPr>
          <p:cNvPr id="12" name="TextBox 11"/>
          <p:cNvSpPr txBox="1"/>
          <p:nvPr/>
        </p:nvSpPr>
        <p:spPr>
          <a:xfrm>
            <a:off x="1201479" y="3171309"/>
            <a:ext cx="5178056" cy="369332"/>
          </a:xfrm>
          <a:prstGeom prst="rect">
            <a:avLst/>
          </a:prstGeom>
          <a:noFill/>
        </p:spPr>
        <p:txBody>
          <a:bodyPr wrap="square" rtlCol="0">
            <a:spAutoFit/>
          </a:bodyPr>
          <a:lstStyle/>
          <a:p>
            <a:r>
              <a:rPr lang="en-US" dirty="0" err="1" smtClean="0"/>
              <a:t>Tự</a:t>
            </a:r>
            <a:r>
              <a:rPr lang="en-US" dirty="0" smtClean="0"/>
              <a:t> </a:t>
            </a:r>
            <a:r>
              <a:rPr lang="en-US" dirty="0" err="1" smtClean="0"/>
              <a:t>tạo</a:t>
            </a:r>
            <a:r>
              <a:rPr lang="en-US" dirty="0" smtClean="0"/>
              <a:t> </a:t>
            </a:r>
            <a:r>
              <a:rPr lang="en-US" dirty="0" err="1" smtClean="0"/>
              <a:t>một</a:t>
            </a:r>
            <a:r>
              <a:rPr lang="en-US" dirty="0"/>
              <a:t> Module, </a:t>
            </a:r>
            <a:r>
              <a:rPr lang="en-US" dirty="0" err="1" smtClean="0"/>
              <a:t>quy</a:t>
            </a:r>
            <a:r>
              <a:rPr lang="en-US" dirty="0" smtClean="0"/>
              <a:t> </a:t>
            </a:r>
            <a:r>
              <a:rPr lang="en-US" dirty="0" err="1" smtClean="0"/>
              <a:t>tắc</a:t>
            </a:r>
            <a:r>
              <a:rPr lang="en-US" dirty="0" smtClean="0"/>
              <a:t> </a:t>
            </a:r>
            <a:r>
              <a:rPr lang="en-US" dirty="0" err="1" smtClean="0"/>
              <a:t>đặt</a:t>
            </a:r>
            <a:r>
              <a:rPr lang="en-US" dirty="0" smtClean="0"/>
              <a:t> </a:t>
            </a:r>
            <a:r>
              <a:rPr lang="en-US" dirty="0" err="1" smtClean="0"/>
              <a:t>tên</a:t>
            </a:r>
            <a:r>
              <a:rPr lang="en-US" dirty="0" smtClean="0"/>
              <a:t> Module</a:t>
            </a:r>
            <a:endParaRPr lang="en-US" dirty="0"/>
          </a:p>
        </p:txBody>
      </p:sp>
      <p:sp>
        <p:nvSpPr>
          <p:cNvPr id="15" name="Oval 14"/>
          <p:cNvSpPr/>
          <p:nvPr/>
        </p:nvSpPr>
        <p:spPr>
          <a:xfrm>
            <a:off x="602143" y="4589351"/>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4</a:t>
            </a:r>
            <a:endParaRPr lang="en-US" b="1" dirty="0"/>
          </a:p>
        </p:txBody>
      </p:sp>
      <p:sp>
        <p:nvSpPr>
          <p:cNvPr id="16" name="TextBox 15"/>
          <p:cNvSpPr txBox="1"/>
          <p:nvPr/>
        </p:nvSpPr>
        <p:spPr>
          <a:xfrm>
            <a:off x="1201479" y="4589351"/>
            <a:ext cx="5178056" cy="369332"/>
          </a:xfrm>
          <a:prstGeom prst="rect">
            <a:avLst/>
          </a:prstGeom>
          <a:noFill/>
        </p:spPr>
        <p:txBody>
          <a:bodyPr wrap="square" rtlCol="0">
            <a:spAutoFit/>
          </a:bodyPr>
          <a:lstStyle/>
          <a:p>
            <a:r>
              <a:rPr lang="en-US" dirty="0" err="1" smtClean="0"/>
              <a:t>Làm</a:t>
            </a:r>
            <a:r>
              <a:rPr lang="en-US" dirty="0" smtClean="0"/>
              <a:t> </a:t>
            </a:r>
            <a:r>
              <a:rPr lang="en-US" dirty="0" err="1" smtClean="0"/>
              <a:t>quen</a:t>
            </a:r>
            <a:r>
              <a:rPr lang="en-US" dirty="0" smtClean="0"/>
              <a:t> </a:t>
            </a:r>
            <a:r>
              <a:rPr lang="en-US" dirty="0" err="1" smtClean="0"/>
              <a:t>một</a:t>
            </a:r>
            <a:r>
              <a:rPr lang="en-US" dirty="0" smtClean="0"/>
              <a:t> </a:t>
            </a:r>
            <a:r>
              <a:rPr lang="en-US" dirty="0" err="1" smtClean="0"/>
              <a:t>số</a:t>
            </a:r>
            <a:r>
              <a:rPr lang="en-US" dirty="0" smtClean="0"/>
              <a:t> Built-in Module </a:t>
            </a:r>
            <a:r>
              <a:rPr lang="en-US" dirty="0" err="1" smtClean="0"/>
              <a:t>trong</a:t>
            </a:r>
            <a:r>
              <a:rPr lang="en-US" dirty="0" smtClean="0"/>
              <a:t> Python</a:t>
            </a:r>
            <a:endParaRPr lang="en-US"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
        <p:nvSpPr>
          <p:cNvPr id="13" name="TextBox 12"/>
          <p:cNvSpPr txBox="1"/>
          <p:nvPr/>
        </p:nvSpPr>
        <p:spPr>
          <a:xfrm>
            <a:off x="1201479" y="3851793"/>
            <a:ext cx="5178056" cy="369332"/>
          </a:xfrm>
          <a:prstGeom prst="rect">
            <a:avLst/>
          </a:prstGeom>
          <a:noFill/>
        </p:spPr>
        <p:txBody>
          <a:bodyPr wrap="square" rtlCol="0">
            <a:spAutoFit/>
          </a:bodyPr>
          <a:lstStyle/>
          <a:p>
            <a:r>
              <a:rPr lang="en-US" dirty="0" err="1" smtClean="0"/>
              <a:t>Cách</a:t>
            </a:r>
            <a:r>
              <a:rPr lang="en-US" dirty="0" smtClean="0"/>
              <a:t> </a:t>
            </a:r>
            <a:r>
              <a:rPr lang="en-US" dirty="0" err="1" smtClean="0"/>
              <a:t>sử</a:t>
            </a:r>
            <a:r>
              <a:rPr lang="en-US" dirty="0" smtClean="0"/>
              <a:t> </a:t>
            </a:r>
            <a:r>
              <a:rPr lang="en-US" dirty="0" err="1" smtClean="0"/>
              <a:t>dụng</a:t>
            </a:r>
            <a:r>
              <a:rPr lang="en-US" dirty="0" smtClean="0"/>
              <a:t> Module</a:t>
            </a:r>
            <a:endParaRPr lang="en-US" dirty="0"/>
          </a:p>
        </p:txBody>
      </p:sp>
      <p:sp>
        <p:nvSpPr>
          <p:cNvPr id="17" name="Oval 16"/>
          <p:cNvSpPr/>
          <p:nvPr/>
        </p:nvSpPr>
        <p:spPr>
          <a:xfrm>
            <a:off x="602143" y="541061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5</a:t>
            </a:r>
            <a:endParaRPr lang="en-US" b="1" dirty="0"/>
          </a:p>
        </p:txBody>
      </p:sp>
      <p:sp>
        <p:nvSpPr>
          <p:cNvPr id="18" name="TextBox 17"/>
          <p:cNvSpPr txBox="1"/>
          <p:nvPr/>
        </p:nvSpPr>
        <p:spPr>
          <a:xfrm>
            <a:off x="1201479" y="5410617"/>
            <a:ext cx="5178056" cy="369332"/>
          </a:xfrm>
          <a:prstGeom prst="rect">
            <a:avLst/>
          </a:prstGeom>
          <a:noFill/>
        </p:spPr>
        <p:txBody>
          <a:bodyPr wrap="square" rtlCol="0">
            <a:spAutoFit/>
          </a:bodyPr>
          <a:lstStyle/>
          <a:p>
            <a:r>
              <a:rPr lang="en-US" smtClean="0"/>
              <a:t>Tổng qua về Package trong Python</a:t>
            </a:r>
            <a:endParaRPr lang="en-US" dirty="0"/>
          </a:p>
        </p:txBody>
      </p:sp>
    </p:spTree>
    <p:extLst>
      <p:ext uri="{BB962C8B-B14F-4D97-AF65-F5344CB8AC3E}">
        <p14:creationId xmlns:p14="http://schemas.microsoft.com/office/powerpoint/2010/main" val="26359250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8.1 </a:t>
            </a:r>
            <a:r>
              <a:rPr lang="en-US" dirty="0" err="1"/>
              <a:t>Tổng</a:t>
            </a:r>
            <a:r>
              <a:rPr lang="en-US" dirty="0"/>
              <a:t> </a:t>
            </a:r>
            <a:r>
              <a:rPr lang="en-US" dirty="0" err="1"/>
              <a:t>quan</a:t>
            </a:r>
            <a:r>
              <a:rPr lang="en-US" dirty="0"/>
              <a:t> </a:t>
            </a:r>
            <a:r>
              <a:rPr lang="en-US" dirty="0" err="1"/>
              <a:t>về</a:t>
            </a:r>
            <a:r>
              <a:rPr lang="en-US" dirty="0"/>
              <a:t> Module</a:t>
            </a:r>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Giới</a:t>
            </a:r>
            <a:r>
              <a:rPr lang="en-US" b="1" dirty="0" smtClean="0"/>
              <a:t> </a:t>
            </a:r>
            <a:r>
              <a:rPr lang="en-US" b="1" dirty="0" err="1" smtClean="0"/>
              <a:t>thiệu</a:t>
            </a:r>
            <a:r>
              <a:rPr lang="en-US" b="1" dirty="0" smtClean="0"/>
              <a:t> </a:t>
            </a:r>
            <a:r>
              <a:rPr lang="en-US" b="1" dirty="0" err="1" smtClean="0"/>
              <a:t>về</a:t>
            </a:r>
            <a:r>
              <a:rPr lang="en-US" b="1" dirty="0" smtClean="0"/>
              <a:t> Module</a:t>
            </a:r>
            <a:endParaRPr lang="en-US" b="1" dirty="0">
              <a:solidFill>
                <a:srgbClr val="FF0000"/>
              </a:solidFill>
            </a:endParaRPr>
          </a:p>
        </p:txBody>
      </p:sp>
      <p:sp>
        <p:nvSpPr>
          <p:cNvPr id="8" name="TextBox 7"/>
          <p:cNvSpPr txBox="1"/>
          <p:nvPr/>
        </p:nvSpPr>
        <p:spPr>
          <a:xfrm>
            <a:off x="925034" y="1903017"/>
            <a:ext cx="7831856" cy="646331"/>
          </a:xfrm>
          <a:prstGeom prst="rect">
            <a:avLst/>
          </a:prstGeom>
          <a:noFill/>
        </p:spPr>
        <p:txBody>
          <a:bodyPr wrap="square" rtlCol="0">
            <a:spAutoFit/>
          </a:bodyPr>
          <a:lstStyle/>
          <a:p>
            <a:r>
              <a:rPr lang="en-US" dirty="0" smtClean="0"/>
              <a:t>Python </a:t>
            </a:r>
            <a:r>
              <a:rPr lang="en-US" dirty="0" err="1" smtClean="0"/>
              <a:t>được</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với</a:t>
            </a:r>
            <a:r>
              <a:rPr lang="en-US" dirty="0" smtClean="0"/>
              <a:t> </a:t>
            </a:r>
            <a:r>
              <a:rPr lang="en-US" dirty="0" err="1" smtClean="0"/>
              <a:t>một</a:t>
            </a:r>
            <a:r>
              <a:rPr lang="en-US" dirty="0" smtClean="0"/>
              <a:t> Core (</a:t>
            </a:r>
            <a:r>
              <a:rPr lang="en-US" dirty="0" err="1" smtClean="0"/>
              <a:t>nhân</a:t>
            </a:r>
            <a:r>
              <a:rPr lang="en-US" dirty="0" smtClean="0"/>
              <a:t>/</a:t>
            </a:r>
            <a:r>
              <a:rPr lang="en-US" dirty="0" err="1" smtClean="0"/>
              <a:t>Lõi</a:t>
            </a:r>
            <a:r>
              <a:rPr lang="en-US" dirty="0" smtClean="0"/>
              <a:t>) </a:t>
            </a:r>
            <a:r>
              <a:rPr lang="en-US" dirty="0" err="1"/>
              <a:t>bao</a:t>
            </a:r>
            <a:r>
              <a:rPr lang="en-US" dirty="0"/>
              <a:t> </a:t>
            </a:r>
            <a:r>
              <a:rPr lang="en-US" dirty="0" err="1"/>
              <a:t>gồm</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và</a:t>
            </a:r>
            <a:r>
              <a:rPr lang="en-US" dirty="0"/>
              <a:t> </a:t>
            </a:r>
            <a:r>
              <a:rPr lang="en-US" dirty="0" err="1"/>
              <a:t>tính</a:t>
            </a:r>
            <a:r>
              <a:rPr lang="en-US" dirty="0"/>
              <a:t> </a:t>
            </a:r>
            <a:r>
              <a:rPr lang="en-US" dirty="0" err="1"/>
              <a:t>năng</a:t>
            </a:r>
            <a:r>
              <a:rPr lang="en-US" dirty="0"/>
              <a:t> </a:t>
            </a:r>
            <a:r>
              <a:rPr lang="en-US" dirty="0" err="1"/>
              <a:t>mà</a:t>
            </a:r>
            <a:r>
              <a:rPr lang="en-US" dirty="0"/>
              <a:t> </a:t>
            </a:r>
            <a:r>
              <a:rPr lang="en-US" dirty="0" err="1"/>
              <a:t>ngôn</a:t>
            </a:r>
            <a:r>
              <a:rPr lang="en-US" dirty="0"/>
              <a:t> </a:t>
            </a:r>
            <a:r>
              <a:rPr lang="en-US" dirty="0" err="1"/>
              <a:t>ngữ</a:t>
            </a:r>
            <a:r>
              <a:rPr lang="en-US" dirty="0"/>
              <a:t> Python </a:t>
            </a:r>
            <a:r>
              <a:rPr lang="en-US" dirty="0" err="1"/>
              <a:t>cung</a:t>
            </a:r>
            <a:r>
              <a:rPr lang="en-US" dirty="0"/>
              <a:t> </a:t>
            </a:r>
            <a:r>
              <a:rPr lang="en-US" dirty="0" err="1"/>
              <a:t>cấp</a:t>
            </a:r>
            <a:r>
              <a:rPr lang="en-US" dirty="0"/>
              <a:t> </a:t>
            </a:r>
            <a:r>
              <a:rPr lang="en-US" dirty="0" err="1" smtClean="0"/>
              <a:t>sẵn</a:t>
            </a:r>
            <a:r>
              <a:rPr lang="en-US" dirty="0" smtClean="0"/>
              <a:t>.</a:t>
            </a:r>
            <a:endParaRPr lang="en-US" dirty="0"/>
          </a:p>
        </p:txBody>
      </p:sp>
      <p:sp>
        <p:nvSpPr>
          <p:cNvPr id="14" name="TextBox 13"/>
          <p:cNvSpPr txBox="1"/>
          <p:nvPr/>
        </p:nvSpPr>
        <p:spPr>
          <a:xfrm>
            <a:off x="925033" y="2708821"/>
            <a:ext cx="7697972" cy="1477328"/>
          </a:xfrm>
          <a:prstGeom prst="rect">
            <a:avLst/>
          </a:prstGeom>
          <a:noFill/>
        </p:spPr>
        <p:txBody>
          <a:bodyPr wrap="square" rtlCol="0">
            <a:spAutoFit/>
          </a:bodyPr>
          <a:lstStyle/>
          <a:p>
            <a:r>
              <a:rPr lang="vi-VN" dirty="0"/>
              <a:t>Các thành phần cốt lõi này là những yếu tố căn bản và cần thiết để xây dựng các ứng dụng Python. Ngoài ra, Python cũng có một hệ sinh thái phong phú của các module và thư viện bên thứ ba, cho phép mở rộng và mở rộng thêm tính năng cho ngôn ngữ. </a:t>
            </a:r>
            <a:endParaRPr lang="en-US" dirty="0" smtClean="0"/>
          </a:p>
          <a:p>
            <a:r>
              <a:rPr lang="en-US" dirty="0" err="1" smtClean="0"/>
              <a:t>Các</a:t>
            </a:r>
            <a:r>
              <a:rPr lang="en-US" dirty="0" smtClean="0"/>
              <a:t> </a:t>
            </a:r>
            <a:r>
              <a:rPr lang="en-US" dirty="0" err="1" smtClean="0"/>
              <a:t>thư</a:t>
            </a:r>
            <a:r>
              <a:rPr lang="en-US" dirty="0" smtClean="0"/>
              <a:t> </a:t>
            </a:r>
            <a:r>
              <a:rPr lang="en-US" dirty="0" err="1" smtClean="0"/>
              <a:t>viện</a:t>
            </a:r>
            <a:r>
              <a:rPr lang="en-US" dirty="0" smtClean="0"/>
              <a:t> </a:t>
            </a:r>
            <a:r>
              <a:rPr lang="en-US" dirty="0" err="1" smtClean="0"/>
              <a:t>này</a:t>
            </a:r>
            <a:r>
              <a:rPr lang="en-US" dirty="0" smtClean="0"/>
              <a:t> </a:t>
            </a:r>
            <a:r>
              <a:rPr lang="en-US" dirty="0" err="1" smtClean="0"/>
              <a:t>được</a:t>
            </a:r>
            <a:r>
              <a:rPr lang="en-US" dirty="0" smtClean="0"/>
              <a:t> </a:t>
            </a:r>
            <a:r>
              <a:rPr lang="en-US" dirty="0" err="1" smtClean="0"/>
              <a:t>gọi</a:t>
            </a:r>
            <a:r>
              <a:rPr lang="en-US" dirty="0" smtClean="0"/>
              <a:t> </a:t>
            </a:r>
            <a:r>
              <a:rPr lang="en-US" dirty="0" err="1" smtClean="0"/>
              <a:t>chung</a:t>
            </a:r>
            <a:r>
              <a:rPr lang="en-US" dirty="0" smtClean="0"/>
              <a:t> </a:t>
            </a:r>
            <a:r>
              <a:rPr lang="en-US" dirty="0" err="1" smtClean="0"/>
              <a:t>là</a:t>
            </a:r>
            <a:r>
              <a:rPr lang="en-US" dirty="0" smtClean="0"/>
              <a:t> </a:t>
            </a:r>
            <a:r>
              <a:rPr lang="en-US" b="1" dirty="0" smtClean="0"/>
              <a:t>module.</a:t>
            </a:r>
            <a:endParaRPr lang="en-US" dirty="0"/>
          </a:p>
        </p:txBody>
      </p:sp>
      <p:sp>
        <p:nvSpPr>
          <p:cNvPr id="15" name="Flowchart: Decision 14"/>
          <p:cNvSpPr/>
          <p:nvPr/>
        </p:nvSpPr>
        <p:spPr>
          <a:xfrm>
            <a:off x="710426" y="19985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25033" y="4409340"/>
            <a:ext cx="7697972" cy="646331"/>
          </a:xfrm>
          <a:prstGeom prst="rect">
            <a:avLst/>
          </a:prstGeom>
          <a:noFill/>
        </p:spPr>
        <p:txBody>
          <a:bodyPr wrap="square" rtlCol="0">
            <a:spAutoFit/>
          </a:bodyPr>
          <a:lstStyle/>
          <a:p>
            <a:r>
              <a:rPr lang="en-US" dirty="0" err="1" smtClean="0"/>
              <a:t>Chúng</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hàm</a:t>
            </a:r>
            <a:r>
              <a:rPr lang="en-US" dirty="0" smtClean="0"/>
              <a:t> </a:t>
            </a:r>
            <a:r>
              <a:rPr lang="en-US" dirty="0" err="1" smtClean="0"/>
              <a:t>dir</a:t>
            </a:r>
            <a:r>
              <a:rPr lang="en-US" dirty="0" smtClean="0"/>
              <a:t>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__</a:t>
            </a:r>
            <a:r>
              <a:rPr lang="en-US" dirty="0" err="1" smtClean="0"/>
              <a:t>builtins</a:t>
            </a:r>
            <a:r>
              <a:rPr lang="en-US" dirty="0" smtClean="0"/>
              <a:t>__ </a:t>
            </a:r>
            <a:r>
              <a:rPr lang="en-US" dirty="0" err="1" smtClean="0"/>
              <a:t>để</a:t>
            </a:r>
            <a:r>
              <a:rPr lang="en-US" dirty="0" smtClean="0"/>
              <a:t> </a:t>
            </a:r>
            <a:r>
              <a:rPr lang="en-US" dirty="0" err="1" smtClean="0"/>
              <a:t>liệt</a:t>
            </a:r>
            <a:r>
              <a:rPr lang="en-US" dirty="0" smtClean="0"/>
              <a:t> </a:t>
            </a:r>
            <a:r>
              <a:rPr lang="en-US" dirty="0" err="1" smtClean="0"/>
              <a:t>kê</a:t>
            </a:r>
            <a:r>
              <a:rPr lang="en-US" dirty="0" smtClean="0"/>
              <a:t> </a:t>
            </a:r>
            <a:r>
              <a:rPr lang="en-US" dirty="0" err="1" smtClean="0"/>
              <a:t>tất</a:t>
            </a:r>
            <a:r>
              <a:rPr lang="en-US" dirty="0" smtClean="0"/>
              <a:t> </a:t>
            </a:r>
            <a:r>
              <a:rPr lang="en-US" dirty="0" err="1" smtClean="0"/>
              <a:t>cả</a:t>
            </a:r>
            <a:r>
              <a:rPr lang="en-US" dirty="0" smtClean="0"/>
              <a:t> </a:t>
            </a:r>
            <a:r>
              <a:rPr lang="en-US" dirty="0" err="1" smtClean="0"/>
              <a:t>các</a:t>
            </a:r>
            <a:r>
              <a:rPr lang="en-US" dirty="0" smtClean="0"/>
              <a:t> </a:t>
            </a:r>
            <a:r>
              <a:rPr lang="en-US" dirty="0" err="1" smtClean="0"/>
              <a:t>hàm</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có</a:t>
            </a:r>
            <a:r>
              <a:rPr lang="en-US" dirty="0" smtClean="0"/>
              <a:t> </a:t>
            </a:r>
            <a:r>
              <a:rPr lang="en-US" dirty="0" err="1" smtClean="0"/>
              <a:t>sẵn</a:t>
            </a:r>
            <a:r>
              <a:rPr lang="en-US" dirty="0" smtClean="0"/>
              <a:t> </a:t>
            </a:r>
            <a:r>
              <a:rPr lang="en-US" dirty="0" err="1" smtClean="0"/>
              <a:t>trong</a:t>
            </a:r>
            <a:r>
              <a:rPr lang="en-US" dirty="0" smtClean="0"/>
              <a:t> </a:t>
            </a:r>
            <a:r>
              <a:rPr lang="en-US" dirty="0" err="1" smtClean="0"/>
              <a:t>phần</a:t>
            </a:r>
            <a:r>
              <a:rPr lang="en-US" dirty="0" smtClean="0"/>
              <a:t> Core </a:t>
            </a:r>
            <a:r>
              <a:rPr lang="en-US" dirty="0" err="1" smtClean="0"/>
              <a:t>của</a:t>
            </a:r>
            <a:r>
              <a:rPr lang="en-US" dirty="0" smtClean="0"/>
              <a:t> Python</a:t>
            </a:r>
            <a:endParaRPr lang="en-US" b="1" dirty="0"/>
          </a:p>
        </p:txBody>
      </p:sp>
      <p:sp>
        <p:nvSpPr>
          <p:cNvPr id="17" name="Flowchart: Decision 16"/>
          <p:cNvSpPr/>
          <p:nvPr/>
        </p:nvSpPr>
        <p:spPr>
          <a:xfrm>
            <a:off x="710426" y="281724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cision 25"/>
          <p:cNvSpPr/>
          <p:nvPr/>
        </p:nvSpPr>
        <p:spPr>
          <a:xfrm>
            <a:off x="710426" y="452815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99793" y="5321682"/>
            <a:ext cx="7774356" cy="63795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80547" y="5444975"/>
            <a:ext cx="7402216" cy="369332"/>
          </a:xfrm>
          <a:prstGeom prst="rect">
            <a:avLst/>
          </a:prstGeom>
          <a:noFill/>
        </p:spPr>
        <p:txBody>
          <a:bodyPr wrap="square" rtlCol="0">
            <a:spAutoFit/>
          </a:bodyPr>
          <a:lstStyle/>
          <a:p>
            <a:r>
              <a:rPr lang="fr-FR" dirty="0" err="1">
                <a:solidFill>
                  <a:schemeClr val="bg1"/>
                </a:solidFill>
              </a:rPr>
              <a:t>d</a:t>
            </a:r>
            <a:r>
              <a:rPr lang="fr-FR" dirty="0" err="1" smtClean="0">
                <a:solidFill>
                  <a:schemeClr val="bg1"/>
                </a:solidFill>
              </a:rPr>
              <a:t>ir</a:t>
            </a:r>
            <a:r>
              <a:rPr lang="fr-FR" dirty="0" smtClean="0">
                <a:solidFill>
                  <a:schemeClr val="bg1"/>
                </a:solidFill>
              </a:rPr>
              <a:t>(</a:t>
            </a:r>
            <a:r>
              <a:rPr lang="en-US" dirty="0">
                <a:solidFill>
                  <a:schemeClr val="bg1"/>
                </a:solidFill>
              </a:rPr>
              <a:t>__</a:t>
            </a:r>
            <a:r>
              <a:rPr lang="en-US" dirty="0" err="1">
                <a:solidFill>
                  <a:schemeClr val="bg1"/>
                </a:solidFill>
              </a:rPr>
              <a:t>builtins</a:t>
            </a:r>
            <a:r>
              <a:rPr lang="en-US" dirty="0" smtClean="0">
                <a:solidFill>
                  <a:schemeClr val="bg1"/>
                </a:solidFill>
              </a:rPr>
              <a:t>__)</a:t>
            </a:r>
            <a:endParaRPr lang="en-US" sz="1600" dirty="0">
              <a:solidFill>
                <a:schemeClr val="bg1"/>
              </a:solidFill>
            </a:endParaRPr>
          </a:p>
        </p:txBody>
      </p:sp>
    </p:spTree>
    <p:extLst>
      <p:ext uri="{BB962C8B-B14F-4D97-AF65-F5344CB8AC3E}">
        <p14:creationId xmlns:p14="http://schemas.microsoft.com/office/powerpoint/2010/main" val="5581998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8.1 </a:t>
            </a:r>
            <a:r>
              <a:rPr lang="en-US" dirty="0" err="1"/>
              <a:t>Tổng</a:t>
            </a:r>
            <a:r>
              <a:rPr lang="en-US" dirty="0"/>
              <a:t> </a:t>
            </a:r>
            <a:r>
              <a:rPr lang="en-US" dirty="0" err="1"/>
              <a:t>quan</a:t>
            </a:r>
            <a:r>
              <a:rPr lang="en-US" dirty="0"/>
              <a:t> </a:t>
            </a:r>
            <a:r>
              <a:rPr lang="en-US" dirty="0" err="1"/>
              <a:t>về</a:t>
            </a:r>
            <a:r>
              <a:rPr lang="en-US" dirty="0"/>
              <a:t> Module</a:t>
            </a:r>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smtClean="0"/>
              <a:t>Cách import Module</a:t>
            </a:r>
            <a:endParaRPr lang="en-US" b="1" dirty="0">
              <a:solidFill>
                <a:srgbClr val="FF0000"/>
              </a:solidFill>
            </a:endParaRPr>
          </a:p>
        </p:txBody>
      </p:sp>
      <p:sp>
        <p:nvSpPr>
          <p:cNvPr id="8" name="TextBox 7"/>
          <p:cNvSpPr txBox="1"/>
          <p:nvPr/>
        </p:nvSpPr>
        <p:spPr>
          <a:xfrm>
            <a:off x="925034" y="1903017"/>
            <a:ext cx="7831856" cy="369332"/>
          </a:xfrm>
          <a:prstGeom prst="rect">
            <a:avLst/>
          </a:prstGeom>
          <a:noFill/>
        </p:spPr>
        <p:txBody>
          <a:bodyPr wrap="square" rtlCol="0">
            <a:spAutoFit/>
          </a:bodyPr>
          <a:lstStyle/>
          <a:p>
            <a:r>
              <a:rPr lang="en-US" smtClean="0"/>
              <a:t>Cú pháp cơ bản:</a:t>
            </a:r>
            <a:endParaRPr lang="en-US" dirty="0"/>
          </a:p>
        </p:txBody>
      </p:sp>
      <p:sp>
        <p:nvSpPr>
          <p:cNvPr id="27" name="Rectangle 26"/>
          <p:cNvSpPr/>
          <p:nvPr/>
        </p:nvSpPr>
        <p:spPr>
          <a:xfrm>
            <a:off x="699793" y="2446952"/>
            <a:ext cx="7774356" cy="63795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80547" y="2570245"/>
            <a:ext cx="7402216" cy="369332"/>
          </a:xfrm>
          <a:prstGeom prst="rect">
            <a:avLst/>
          </a:prstGeom>
          <a:noFill/>
        </p:spPr>
        <p:txBody>
          <a:bodyPr wrap="square" rtlCol="0">
            <a:spAutoFit/>
          </a:bodyPr>
          <a:lstStyle/>
          <a:p>
            <a:r>
              <a:rPr lang="en-US">
                <a:solidFill>
                  <a:srgbClr val="00B0F0"/>
                </a:solidFill>
              </a:rPr>
              <a:t>import</a:t>
            </a:r>
            <a:r>
              <a:rPr lang="en-US">
                <a:solidFill>
                  <a:schemeClr val="bg1"/>
                </a:solidFill>
              </a:rPr>
              <a:t> module_name</a:t>
            </a:r>
          </a:p>
        </p:txBody>
      </p:sp>
      <p:sp>
        <p:nvSpPr>
          <p:cNvPr id="18" name="Flowchart: Decision 17"/>
          <p:cNvSpPr/>
          <p:nvPr/>
        </p:nvSpPr>
        <p:spPr>
          <a:xfrm>
            <a:off x="612777" y="199456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25034" y="3367750"/>
            <a:ext cx="7831856" cy="369332"/>
          </a:xfrm>
          <a:prstGeom prst="rect">
            <a:avLst/>
          </a:prstGeom>
          <a:noFill/>
        </p:spPr>
        <p:txBody>
          <a:bodyPr wrap="square" rtlCol="0">
            <a:spAutoFit/>
          </a:bodyPr>
          <a:lstStyle/>
          <a:p>
            <a:r>
              <a:rPr lang="pt-BR"/>
              <a:t>Import với tên rút gọn (alias)</a:t>
            </a:r>
            <a:endParaRPr lang="en-US" dirty="0"/>
          </a:p>
        </p:txBody>
      </p:sp>
      <p:sp>
        <p:nvSpPr>
          <p:cNvPr id="20" name="Rectangle 19"/>
          <p:cNvSpPr/>
          <p:nvPr/>
        </p:nvSpPr>
        <p:spPr>
          <a:xfrm>
            <a:off x="699793" y="3911685"/>
            <a:ext cx="7774356" cy="92079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880547" y="4034978"/>
            <a:ext cx="7402216" cy="646331"/>
          </a:xfrm>
          <a:prstGeom prst="rect">
            <a:avLst/>
          </a:prstGeom>
          <a:noFill/>
        </p:spPr>
        <p:txBody>
          <a:bodyPr wrap="square" rtlCol="0">
            <a:spAutoFit/>
          </a:bodyPr>
          <a:lstStyle/>
          <a:p>
            <a:r>
              <a:rPr lang="en-US">
                <a:solidFill>
                  <a:srgbClr val="00B0F0"/>
                </a:solidFill>
              </a:rPr>
              <a:t>import</a:t>
            </a:r>
            <a:r>
              <a:rPr lang="en-US">
                <a:solidFill>
                  <a:schemeClr val="bg1"/>
                </a:solidFill>
              </a:rPr>
              <a:t> math </a:t>
            </a:r>
            <a:r>
              <a:rPr lang="en-US">
                <a:solidFill>
                  <a:srgbClr val="00B0F0"/>
                </a:solidFill>
              </a:rPr>
              <a:t>as</a:t>
            </a:r>
            <a:r>
              <a:rPr lang="en-US">
                <a:solidFill>
                  <a:schemeClr val="bg1"/>
                </a:solidFill>
              </a:rPr>
              <a:t> m</a:t>
            </a:r>
          </a:p>
          <a:p>
            <a:r>
              <a:rPr lang="en-US">
                <a:solidFill>
                  <a:schemeClr val="bg1"/>
                </a:solidFill>
              </a:rPr>
              <a:t>print</a:t>
            </a:r>
            <a:r>
              <a:rPr lang="en-US">
                <a:solidFill>
                  <a:srgbClr val="FFC000"/>
                </a:solidFill>
              </a:rPr>
              <a:t>(</a:t>
            </a:r>
            <a:r>
              <a:rPr lang="en-US">
                <a:solidFill>
                  <a:schemeClr val="bg1"/>
                </a:solidFill>
              </a:rPr>
              <a:t>m.sqrt</a:t>
            </a:r>
            <a:r>
              <a:rPr lang="en-US">
                <a:solidFill>
                  <a:srgbClr val="FF66CC"/>
                </a:solidFill>
              </a:rPr>
              <a:t>(</a:t>
            </a:r>
            <a:r>
              <a:rPr lang="en-US">
                <a:solidFill>
                  <a:schemeClr val="bg1"/>
                </a:solidFill>
              </a:rPr>
              <a:t>25</a:t>
            </a:r>
            <a:r>
              <a:rPr lang="en-US">
                <a:solidFill>
                  <a:srgbClr val="FF66CC"/>
                </a:solidFill>
              </a:rPr>
              <a:t>)</a:t>
            </a:r>
            <a:r>
              <a:rPr lang="en-US">
                <a:solidFill>
                  <a:srgbClr val="FFC000"/>
                </a:solidFill>
              </a:rPr>
              <a:t>)</a:t>
            </a:r>
          </a:p>
        </p:txBody>
      </p:sp>
      <p:sp>
        <p:nvSpPr>
          <p:cNvPr id="22" name="Flowchart: Decision 21"/>
          <p:cNvSpPr/>
          <p:nvPr/>
        </p:nvSpPr>
        <p:spPr>
          <a:xfrm>
            <a:off x="612777" y="345929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8295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a:t>Built-in Modules</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smtClean="0"/>
              <a:t>Module Math</a:t>
            </a:r>
            <a:endParaRPr lang="en-US" b="1" dirty="0">
              <a:solidFill>
                <a:srgbClr val="FF0000"/>
              </a:solidFill>
            </a:endParaRPr>
          </a:p>
        </p:txBody>
      </p:sp>
      <p:sp>
        <p:nvSpPr>
          <p:cNvPr id="21" name="TextBox 20"/>
          <p:cNvSpPr txBox="1"/>
          <p:nvPr/>
        </p:nvSpPr>
        <p:spPr>
          <a:xfrm>
            <a:off x="880547" y="2023067"/>
            <a:ext cx="7697972" cy="923330"/>
          </a:xfrm>
          <a:prstGeom prst="rect">
            <a:avLst/>
          </a:prstGeom>
          <a:noFill/>
        </p:spPr>
        <p:txBody>
          <a:bodyPr wrap="square" rtlCol="0">
            <a:spAutoFit/>
          </a:bodyPr>
          <a:lstStyle/>
          <a:p>
            <a:r>
              <a:rPr lang="vi-VN" dirty="0"/>
              <a:t>Module </a:t>
            </a:r>
            <a:r>
              <a:rPr lang="vi-VN" b="1" dirty="0"/>
              <a:t>math</a:t>
            </a:r>
            <a:r>
              <a:rPr lang="vi-VN" dirty="0"/>
              <a:t> cung cấp một loạt các hàm và hằng số toán </a:t>
            </a:r>
            <a:r>
              <a:rPr lang="vi-VN" dirty="0" smtClean="0"/>
              <a:t>học</a:t>
            </a:r>
            <a:r>
              <a:rPr lang="en-US" dirty="0" smtClean="0"/>
              <a:t> </a:t>
            </a:r>
            <a:r>
              <a:rPr lang="en-US" dirty="0" err="1"/>
              <a:t>trên</a:t>
            </a:r>
            <a:r>
              <a:rPr lang="en-US" dirty="0"/>
              <a:t> </a:t>
            </a:r>
            <a:r>
              <a:rPr lang="en-US" dirty="0" err="1"/>
              <a:t>các</a:t>
            </a:r>
            <a:r>
              <a:rPr lang="en-US" dirty="0"/>
              <a:t> </a:t>
            </a:r>
            <a:r>
              <a:rPr lang="en-US" dirty="0" err="1"/>
              <a:t>số</a:t>
            </a:r>
            <a:r>
              <a:rPr lang="en-US" dirty="0"/>
              <a:t> </a:t>
            </a:r>
            <a:r>
              <a:rPr lang="en-US" dirty="0" err="1"/>
              <a:t>thực</a:t>
            </a:r>
            <a:r>
              <a:rPr lang="en-US" dirty="0"/>
              <a:t> (float) </a:t>
            </a:r>
            <a:r>
              <a:rPr lang="en-US" dirty="0" err="1"/>
              <a:t>và</a:t>
            </a:r>
            <a:r>
              <a:rPr lang="en-US" dirty="0"/>
              <a:t> </a:t>
            </a:r>
            <a:r>
              <a:rPr lang="en-US" dirty="0" err="1"/>
              <a:t>số</a:t>
            </a:r>
            <a:r>
              <a:rPr lang="en-US" dirty="0"/>
              <a:t> </a:t>
            </a:r>
            <a:r>
              <a:rPr lang="en-US" dirty="0" err="1"/>
              <a:t>nguyên</a:t>
            </a:r>
            <a:r>
              <a:rPr lang="en-US" dirty="0"/>
              <a:t> (integer)</a:t>
            </a:r>
            <a:r>
              <a:rPr lang="vi-VN" dirty="0" smtClean="0"/>
              <a:t>, </a:t>
            </a:r>
            <a:r>
              <a:rPr lang="vi-VN" dirty="0"/>
              <a:t>bao gồm các phép tính như căn bậc hai, lượng giác, lôgarit, số mũ, làm tròn, v.v</a:t>
            </a:r>
            <a:endParaRPr lang="en-US" dirty="0"/>
          </a:p>
        </p:txBody>
      </p:sp>
      <p:sp>
        <p:nvSpPr>
          <p:cNvPr id="22" name="Rectangle 21"/>
          <p:cNvSpPr/>
          <p:nvPr/>
        </p:nvSpPr>
        <p:spPr>
          <a:xfrm>
            <a:off x="699793" y="3844410"/>
            <a:ext cx="7774356" cy="259891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80547" y="3994810"/>
            <a:ext cx="7402216" cy="2308324"/>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math</a:t>
            </a:r>
            <a:br>
              <a:rPr lang="en-US" dirty="0">
                <a:solidFill>
                  <a:schemeClr val="bg1"/>
                </a:solidFill>
              </a:rPr>
            </a:br>
            <a:r>
              <a:rPr lang="en-US" dirty="0" smtClean="0">
                <a:solidFill>
                  <a:schemeClr val="bg1"/>
                </a:solidFill>
              </a:rPr>
              <a:t>x </a:t>
            </a:r>
            <a:r>
              <a:rPr lang="en-US" dirty="0">
                <a:solidFill>
                  <a:schemeClr val="bg1"/>
                </a:solidFill>
              </a:rPr>
              <a:t>= </a:t>
            </a:r>
            <a:r>
              <a:rPr lang="en-US" dirty="0" err="1">
                <a:solidFill>
                  <a:schemeClr val="bg1"/>
                </a:solidFill>
              </a:rPr>
              <a:t>math.sqrt</a:t>
            </a:r>
            <a:r>
              <a:rPr lang="en-US" dirty="0">
                <a:solidFill>
                  <a:schemeClr val="accent4">
                    <a:lumMod val="60000"/>
                    <a:lumOff val="40000"/>
                  </a:schemeClr>
                </a:solidFill>
              </a:rPr>
              <a:t>(</a:t>
            </a:r>
            <a:r>
              <a:rPr lang="en-US" dirty="0">
                <a:solidFill>
                  <a:schemeClr val="accent6">
                    <a:lumMod val="60000"/>
                    <a:lumOff val="40000"/>
                  </a:schemeClr>
                </a:solidFill>
              </a:rPr>
              <a:t>64</a:t>
            </a:r>
            <a:r>
              <a:rPr lang="en-US" dirty="0" smtClean="0">
                <a:solidFill>
                  <a:schemeClr val="accent4">
                    <a:lumMod val="60000"/>
                    <a:lumOff val="40000"/>
                  </a:schemeClr>
                </a:solidFill>
              </a:rPr>
              <a:t>)</a:t>
            </a:r>
          </a:p>
          <a:p>
            <a:r>
              <a:rPr lang="en-US" dirty="0">
                <a:solidFill>
                  <a:schemeClr val="bg1"/>
                </a:solidFill>
              </a:rPr>
              <a:t>x = </a:t>
            </a:r>
            <a:r>
              <a:rPr lang="en-US" dirty="0" err="1">
                <a:solidFill>
                  <a:schemeClr val="bg1"/>
                </a:solidFill>
              </a:rPr>
              <a:t>math.ceil</a:t>
            </a:r>
            <a:r>
              <a:rPr lang="en-US" dirty="0">
                <a:solidFill>
                  <a:schemeClr val="accent4">
                    <a:lumMod val="60000"/>
                    <a:lumOff val="40000"/>
                  </a:schemeClr>
                </a:solidFill>
              </a:rPr>
              <a:t>(</a:t>
            </a:r>
            <a:r>
              <a:rPr lang="en-US" dirty="0">
                <a:solidFill>
                  <a:schemeClr val="accent6">
                    <a:lumMod val="60000"/>
                    <a:lumOff val="40000"/>
                  </a:schemeClr>
                </a:solidFill>
              </a:rPr>
              <a:t>1.4</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chemeClr val="bg1"/>
                </a:solidFill>
              </a:rPr>
              <a:t>y = </a:t>
            </a:r>
            <a:r>
              <a:rPr lang="en-US" dirty="0" err="1">
                <a:solidFill>
                  <a:schemeClr val="bg1"/>
                </a:solidFill>
              </a:rPr>
              <a:t>math.floor</a:t>
            </a:r>
            <a:r>
              <a:rPr lang="en-US" dirty="0">
                <a:solidFill>
                  <a:schemeClr val="accent4">
                    <a:lumMod val="60000"/>
                    <a:lumOff val="40000"/>
                  </a:schemeClr>
                </a:solidFill>
              </a:rPr>
              <a:t>(</a:t>
            </a:r>
            <a:r>
              <a:rPr lang="en-US" dirty="0">
                <a:solidFill>
                  <a:schemeClr val="accent6">
                    <a:lumMod val="60000"/>
                    <a:lumOff val="40000"/>
                  </a:schemeClr>
                </a:solidFill>
              </a:rPr>
              <a:t>1.4</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x</a:t>
            </a:r>
            <a:r>
              <a:rPr lang="en-US" dirty="0" smtClean="0">
                <a:solidFill>
                  <a:schemeClr val="accent4">
                    <a:lumMod val="60000"/>
                    <a:lumOff val="40000"/>
                  </a:schemeClr>
                </a:solidFill>
              </a:rPr>
              <a:t>)</a:t>
            </a:r>
          </a:p>
          <a:p>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x</a:t>
            </a:r>
            <a:r>
              <a:rPr lang="en-US" dirty="0">
                <a:solidFill>
                  <a:schemeClr val="accent4">
                    <a:lumMod val="60000"/>
                    <a:lumOff val="40000"/>
                  </a:schemeClr>
                </a:solidFill>
              </a:rPr>
              <a:t>)</a:t>
            </a:r>
            <a:r>
              <a:rPr lang="en-US" dirty="0">
                <a:solidFill>
                  <a:schemeClr val="bg1"/>
                </a:solidFill>
              </a:rPr>
              <a:t> </a:t>
            </a:r>
            <a:r>
              <a:rPr lang="en-US" dirty="0">
                <a:solidFill>
                  <a:schemeClr val="accent6">
                    <a:lumMod val="75000"/>
                  </a:schemeClr>
                </a:solidFill>
              </a:rPr>
              <a:t># returns 2</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y</a:t>
            </a:r>
            <a:r>
              <a:rPr lang="en-US" dirty="0">
                <a:solidFill>
                  <a:schemeClr val="accent4">
                    <a:lumMod val="60000"/>
                    <a:lumOff val="40000"/>
                  </a:schemeClr>
                </a:solidFill>
              </a:rPr>
              <a:t>)</a:t>
            </a:r>
            <a:r>
              <a:rPr lang="en-US" dirty="0">
                <a:solidFill>
                  <a:schemeClr val="bg1"/>
                </a:solidFill>
              </a:rPr>
              <a:t> </a:t>
            </a:r>
            <a:r>
              <a:rPr lang="en-US" dirty="0">
                <a:solidFill>
                  <a:schemeClr val="accent6">
                    <a:lumMod val="75000"/>
                  </a:schemeClr>
                </a:solidFill>
              </a:rPr>
              <a:t># returns 1</a:t>
            </a:r>
            <a:endParaRPr lang="en-US" sz="1600" dirty="0">
              <a:solidFill>
                <a:schemeClr val="accent6">
                  <a:lumMod val="75000"/>
                </a:schemeClr>
              </a:solidFill>
            </a:endParaRPr>
          </a:p>
        </p:txBody>
      </p:sp>
      <p:sp>
        <p:nvSpPr>
          <p:cNvPr id="17" name="Flowchart: Decision 16"/>
          <p:cNvSpPr/>
          <p:nvPr/>
        </p:nvSpPr>
        <p:spPr>
          <a:xfrm>
            <a:off x="612777" y="212314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Decision 17"/>
          <p:cNvSpPr/>
          <p:nvPr/>
        </p:nvSpPr>
        <p:spPr>
          <a:xfrm>
            <a:off x="612777" y="305966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880547" y="3002108"/>
            <a:ext cx="7697972" cy="646331"/>
          </a:xfrm>
          <a:prstGeom prst="rect">
            <a:avLst/>
          </a:prstGeom>
          <a:noFill/>
        </p:spPr>
        <p:txBody>
          <a:bodyPr wrap="square" rtlCol="0">
            <a:spAutoFit/>
          </a:bodyPr>
          <a:lstStyle/>
          <a:p>
            <a:r>
              <a:rPr lang="en-US" dirty="0"/>
              <a:t>m</a:t>
            </a:r>
            <a:r>
              <a:rPr lang="en-US" dirty="0" smtClean="0"/>
              <a:t>in(), max(), abs() </a:t>
            </a:r>
            <a:r>
              <a:rPr lang="en-US" dirty="0" err="1" smtClean="0"/>
              <a:t>là</a:t>
            </a:r>
            <a:r>
              <a:rPr lang="en-US" dirty="0" smtClean="0"/>
              <a:t> </a:t>
            </a:r>
            <a:r>
              <a:rPr lang="en-US" dirty="0" err="1" smtClean="0"/>
              <a:t>các</a:t>
            </a:r>
            <a:r>
              <a:rPr lang="en-US" dirty="0" smtClean="0"/>
              <a:t> </a:t>
            </a:r>
            <a:r>
              <a:rPr lang="en-US" dirty="0"/>
              <a:t>built-in math </a:t>
            </a:r>
            <a:r>
              <a:rPr lang="en-US" dirty="0" smtClean="0"/>
              <a:t>functions </a:t>
            </a:r>
            <a:r>
              <a:rPr lang="en-US" dirty="0" err="1" smtClean="0"/>
              <a:t>không</a:t>
            </a:r>
            <a:r>
              <a:rPr lang="en-US" dirty="0" smtClean="0"/>
              <a:t> </a:t>
            </a:r>
            <a:r>
              <a:rPr lang="en-US" dirty="0" err="1" smtClean="0"/>
              <a:t>nằm</a:t>
            </a:r>
            <a:r>
              <a:rPr lang="en-US" dirty="0" smtClean="0"/>
              <a:t> </a:t>
            </a:r>
            <a:r>
              <a:rPr lang="en-US" dirty="0" err="1" smtClean="0"/>
              <a:t>trong</a:t>
            </a:r>
            <a:r>
              <a:rPr lang="en-US" dirty="0" smtClean="0"/>
              <a:t> module Math</a:t>
            </a:r>
            <a:endParaRPr lang="en-US" dirty="0"/>
          </a:p>
        </p:txBody>
      </p:sp>
    </p:spTree>
    <p:extLst>
      <p:ext uri="{BB962C8B-B14F-4D97-AF65-F5344CB8AC3E}">
        <p14:creationId xmlns:p14="http://schemas.microsoft.com/office/powerpoint/2010/main" val="18594111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a:t>Built-in Modules</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smtClean="0"/>
              <a:t>Module </a:t>
            </a:r>
            <a:r>
              <a:rPr lang="en-US" b="1" dirty="0" err="1" smtClean="0"/>
              <a:t>cMath</a:t>
            </a:r>
            <a:endParaRPr lang="en-US" b="1" dirty="0">
              <a:solidFill>
                <a:srgbClr val="FF0000"/>
              </a:solidFill>
            </a:endParaRPr>
          </a:p>
        </p:txBody>
      </p:sp>
      <p:sp>
        <p:nvSpPr>
          <p:cNvPr id="21" name="TextBox 20"/>
          <p:cNvSpPr txBox="1"/>
          <p:nvPr/>
        </p:nvSpPr>
        <p:spPr>
          <a:xfrm>
            <a:off x="880547" y="2023067"/>
            <a:ext cx="7697972" cy="1477328"/>
          </a:xfrm>
          <a:prstGeom prst="rect">
            <a:avLst/>
          </a:prstGeom>
          <a:noFill/>
        </p:spPr>
        <p:txBody>
          <a:bodyPr wrap="square" rtlCol="0">
            <a:spAutoFit/>
          </a:bodyPr>
          <a:lstStyle/>
          <a:p>
            <a:r>
              <a:rPr lang="en-US" dirty="0" smtClean="0"/>
              <a:t>C</a:t>
            </a:r>
            <a:r>
              <a:rPr lang="vi-VN" dirty="0" smtClean="0"/>
              <a:t>ung </a:t>
            </a:r>
            <a:r>
              <a:rPr lang="vi-VN" dirty="0"/>
              <a:t>cấp các hàm và hằng số để thực hiện các phép toán số học trên các số phức. Nó cung cấp các hàm và phép toán như căn bậc hai phức, lượng giác phức, logarit phức, v.v. </a:t>
            </a:r>
            <a:endParaRPr lang="en-US" dirty="0" smtClean="0"/>
          </a:p>
          <a:p>
            <a:r>
              <a:rPr lang="vi-VN" dirty="0" smtClean="0"/>
              <a:t>Module </a:t>
            </a:r>
            <a:r>
              <a:rPr lang="vi-VN" dirty="0"/>
              <a:t>cmath làm việc với số phức, cho phép thực hiện các phép toán phức tạp</a:t>
            </a:r>
            <a:endParaRPr lang="en-US" dirty="0"/>
          </a:p>
        </p:txBody>
      </p:sp>
      <p:sp>
        <p:nvSpPr>
          <p:cNvPr id="22" name="Rectangle 21"/>
          <p:cNvSpPr/>
          <p:nvPr/>
        </p:nvSpPr>
        <p:spPr>
          <a:xfrm>
            <a:off x="699793" y="3844410"/>
            <a:ext cx="7774356" cy="249259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80547" y="3994810"/>
            <a:ext cx="7402216" cy="2031325"/>
          </a:xfrm>
          <a:prstGeom prst="rect">
            <a:avLst/>
          </a:prstGeom>
          <a:noFill/>
        </p:spPr>
        <p:txBody>
          <a:bodyPr wrap="square" rtlCol="0">
            <a:spAutoFit/>
          </a:bodyPr>
          <a:lstStyle/>
          <a:p>
            <a:r>
              <a:rPr lang="en-US" dirty="0">
                <a:solidFill>
                  <a:srgbClr val="00B0F0"/>
                </a:solidFill>
              </a:rPr>
              <a:t>import</a:t>
            </a:r>
            <a:r>
              <a:rPr lang="en-US" dirty="0">
                <a:solidFill>
                  <a:schemeClr val="bg1"/>
                </a:solidFill>
              </a:rPr>
              <a:t> </a:t>
            </a:r>
            <a:r>
              <a:rPr lang="en-US" dirty="0" err="1" smtClean="0">
                <a:solidFill>
                  <a:schemeClr val="bg1"/>
                </a:solidFill>
              </a:rPr>
              <a:t>cmath</a:t>
            </a:r>
            <a:r>
              <a:rPr lang="en-US" dirty="0">
                <a:solidFill>
                  <a:schemeClr val="bg1"/>
                </a:solidFill>
              </a:rPr>
              <a:t/>
            </a:r>
            <a:br>
              <a:rPr lang="en-US" dirty="0">
                <a:solidFill>
                  <a:schemeClr val="bg1"/>
                </a:solidFill>
              </a:rPr>
            </a:br>
            <a:r>
              <a:rPr lang="en-US" dirty="0">
                <a:solidFill>
                  <a:schemeClr val="bg1"/>
                </a:solidFill>
              </a:rPr>
              <a:t>x = </a:t>
            </a:r>
            <a:r>
              <a:rPr lang="en-US" dirty="0" err="1">
                <a:solidFill>
                  <a:schemeClr val="bg1"/>
                </a:solidFill>
              </a:rPr>
              <a:t>cmath.sqrt</a:t>
            </a:r>
            <a:r>
              <a:rPr lang="en-US" dirty="0">
                <a:solidFill>
                  <a:schemeClr val="bg1"/>
                </a:solidFill>
              </a:rPr>
              <a:t>(-1) </a:t>
            </a:r>
            <a:r>
              <a:rPr lang="en-US" dirty="0">
                <a:solidFill>
                  <a:schemeClr val="accent6">
                    <a:lumMod val="75000"/>
                  </a:schemeClr>
                </a:solidFill>
              </a:rPr>
              <a:t># </a:t>
            </a:r>
            <a:r>
              <a:rPr lang="en-US" dirty="0" err="1">
                <a:solidFill>
                  <a:schemeClr val="accent6">
                    <a:lumMod val="75000"/>
                  </a:schemeClr>
                </a:solidFill>
              </a:rPr>
              <a:t>Căn</a:t>
            </a:r>
            <a:r>
              <a:rPr lang="en-US" dirty="0">
                <a:solidFill>
                  <a:schemeClr val="accent6">
                    <a:lumMod val="75000"/>
                  </a:schemeClr>
                </a:solidFill>
              </a:rPr>
              <a:t> </a:t>
            </a:r>
            <a:r>
              <a:rPr lang="en-US" dirty="0" err="1">
                <a:solidFill>
                  <a:schemeClr val="accent6">
                    <a:lumMod val="75000"/>
                  </a:schemeClr>
                </a:solidFill>
              </a:rPr>
              <a:t>bậc</a:t>
            </a:r>
            <a:r>
              <a:rPr lang="en-US" dirty="0">
                <a:solidFill>
                  <a:schemeClr val="accent6">
                    <a:lumMod val="75000"/>
                  </a:schemeClr>
                </a:solidFill>
              </a:rPr>
              <a:t> </a:t>
            </a:r>
            <a:r>
              <a:rPr lang="en-US" dirty="0" err="1">
                <a:solidFill>
                  <a:schemeClr val="accent6">
                    <a:lumMod val="75000"/>
                  </a:schemeClr>
                </a:solidFill>
              </a:rPr>
              <a:t>hai</a:t>
            </a:r>
            <a:r>
              <a:rPr lang="en-US" dirty="0">
                <a:solidFill>
                  <a:schemeClr val="accent6">
                    <a:lumMod val="75000"/>
                  </a:schemeClr>
                </a:solidFill>
              </a:rPr>
              <a:t> </a:t>
            </a:r>
            <a:r>
              <a:rPr lang="en-US" dirty="0" err="1">
                <a:solidFill>
                  <a:schemeClr val="accent6">
                    <a:lumMod val="75000"/>
                  </a:schemeClr>
                </a:solidFill>
              </a:rPr>
              <a:t>phức</a:t>
            </a:r>
            <a:r>
              <a:rPr lang="en-US" dirty="0">
                <a:solidFill>
                  <a:schemeClr val="accent6">
                    <a:lumMod val="75000"/>
                  </a:schemeClr>
                </a:solidFill>
              </a:rPr>
              <a:t> </a:t>
            </a:r>
            <a:r>
              <a:rPr lang="en-US" dirty="0" err="1">
                <a:solidFill>
                  <a:schemeClr val="accent6">
                    <a:lumMod val="75000"/>
                  </a:schemeClr>
                </a:solidFill>
              </a:rPr>
              <a:t>của</a:t>
            </a:r>
            <a:r>
              <a:rPr lang="en-US" dirty="0">
                <a:solidFill>
                  <a:schemeClr val="accent6">
                    <a:lumMod val="75000"/>
                  </a:schemeClr>
                </a:solidFill>
              </a:rPr>
              <a:t> -1 </a:t>
            </a:r>
            <a:endParaRPr lang="en-US" dirty="0" smtClean="0">
              <a:solidFill>
                <a:schemeClr val="accent6">
                  <a:lumMod val="75000"/>
                </a:schemeClr>
              </a:solidFill>
            </a:endParaRPr>
          </a:p>
          <a:p>
            <a:r>
              <a:rPr lang="en-US" dirty="0" smtClean="0">
                <a:solidFill>
                  <a:schemeClr val="bg1"/>
                </a:solidFill>
              </a:rPr>
              <a:t>print(x</a:t>
            </a:r>
            <a:r>
              <a:rPr lang="en-US" dirty="0">
                <a:solidFill>
                  <a:schemeClr val="bg1"/>
                </a:solidFill>
              </a:rPr>
              <a:t>) </a:t>
            </a:r>
            <a:r>
              <a:rPr lang="en-US" dirty="0">
                <a:solidFill>
                  <a:schemeClr val="accent6">
                    <a:lumMod val="75000"/>
                  </a:schemeClr>
                </a:solidFill>
              </a:rPr>
              <a:t># Output: 1j</a:t>
            </a:r>
            <a:r>
              <a:rPr lang="en-US" dirty="0">
                <a:solidFill>
                  <a:schemeClr val="bg1"/>
                </a:solidFill>
              </a:rPr>
              <a:t> </a:t>
            </a:r>
            <a:endParaRPr lang="en-US" dirty="0" smtClean="0">
              <a:solidFill>
                <a:schemeClr val="bg1"/>
              </a:solidFill>
            </a:endParaRPr>
          </a:p>
          <a:p>
            <a:r>
              <a:rPr lang="en-US" dirty="0" smtClean="0">
                <a:solidFill>
                  <a:schemeClr val="bg1"/>
                </a:solidFill>
              </a:rPr>
              <a:t>y </a:t>
            </a:r>
            <a:r>
              <a:rPr lang="en-US" dirty="0">
                <a:solidFill>
                  <a:schemeClr val="bg1"/>
                </a:solidFill>
              </a:rPr>
              <a:t>= </a:t>
            </a:r>
            <a:r>
              <a:rPr lang="en-US" dirty="0" err="1">
                <a:solidFill>
                  <a:schemeClr val="bg1"/>
                </a:solidFill>
              </a:rPr>
              <a:t>cmath.exp</a:t>
            </a:r>
            <a:r>
              <a:rPr lang="en-US" dirty="0">
                <a:solidFill>
                  <a:schemeClr val="bg1"/>
                </a:solidFill>
              </a:rPr>
              <a:t>(</a:t>
            </a:r>
            <a:r>
              <a:rPr lang="en-US" dirty="0" err="1">
                <a:solidFill>
                  <a:schemeClr val="bg1"/>
                </a:solidFill>
              </a:rPr>
              <a:t>cmath.pi</a:t>
            </a:r>
            <a:r>
              <a:rPr lang="en-US" dirty="0">
                <a:solidFill>
                  <a:schemeClr val="bg1"/>
                </a:solidFill>
              </a:rPr>
              <a:t> * 1j) </a:t>
            </a:r>
            <a:r>
              <a:rPr lang="en-US" dirty="0">
                <a:solidFill>
                  <a:schemeClr val="accent6">
                    <a:lumMod val="75000"/>
                  </a:schemeClr>
                </a:solidFill>
              </a:rPr>
              <a:t># </a:t>
            </a:r>
            <a:r>
              <a:rPr lang="en-US" dirty="0" err="1">
                <a:solidFill>
                  <a:schemeClr val="accent6">
                    <a:lumMod val="75000"/>
                  </a:schemeClr>
                </a:solidFill>
              </a:rPr>
              <a:t>Exp</a:t>
            </a:r>
            <a:r>
              <a:rPr lang="en-US" dirty="0">
                <a:solidFill>
                  <a:schemeClr val="accent6">
                    <a:lumMod val="75000"/>
                  </a:schemeClr>
                </a:solidFill>
              </a:rPr>
              <a:t> </a:t>
            </a:r>
            <a:r>
              <a:rPr lang="en-US" dirty="0" err="1">
                <a:solidFill>
                  <a:schemeClr val="accent6">
                    <a:lumMod val="75000"/>
                  </a:schemeClr>
                </a:solidFill>
              </a:rPr>
              <a:t>phức</a:t>
            </a:r>
            <a:r>
              <a:rPr lang="en-US" dirty="0">
                <a:solidFill>
                  <a:schemeClr val="accent6">
                    <a:lumMod val="75000"/>
                  </a:schemeClr>
                </a:solidFill>
              </a:rPr>
              <a:t> </a:t>
            </a:r>
            <a:r>
              <a:rPr lang="en-US" dirty="0" err="1">
                <a:solidFill>
                  <a:schemeClr val="accent6">
                    <a:lumMod val="75000"/>
                  </a:schemeClr>
                </a:solidFill>
              </a:rPr>
              <a:t>của</a:t>
            </a:r>
            <a:r>
              <a:rPr lang="en-US" dirty="0">
                <a:solidFill>
                  <a:schemeClr val="accent6">
                    <a:lumMod val="75000"/>
                  </a:schemeClr>
                </a:solidFill>
              </a:rPr>
              <a:t> </a:t>
            </a:r>
            <a:r>
              <a:rPr lang="el-GR" dirty="0">
                <a:solidFill>
                  <a:schemeClr val="accent6">
                    <a:lumMod val="75000"/>
                  </a:schemeClr>
                </a:solidFill>
              </a:rPr>
              <a:t>π</a:t>
            </a:r>
            <a:r>
              <a:rPr lang="en-US" dirty="0" err="1">
                <a:solidFill>
                  <a:schemeClr val="accent6">
                    <a:lumMod val="75000"/>
                  </a:schemeClr>
                </a:solidFill>
              </a:rPr>
              <a:t>i</a:t>
            </a:r>
            <a:r>
              <a:rPr lang="en-US" dirty="0">
                <a:solidFill>
                  <a:schemeClr val="bg1"/>
                </a:solidFill>
              </a:rPr>
              <a:t> </a:t>
            </a:r>
            <a:endParaRPr lang="en-US" dirty="0" smtClean="0">
              <a:solidFill>
                <a:schemeClr val="bg1"/>
              </a:solidFill>
            </a:endParaRPr>
          </a:p>
          <a:p>
            <a:r>
              <a:rPr lang="en-US" dirty="0" smtClean="0">
                <a:solidFill>
                  <a:schemeClr val="bg1"/>
                </a:solidFill>
              </a:rPr>
              <a:t>print(y</a:t>
            </a:r>
            <a:r>
              <a:rPr lang="en-US" dirty="0">
                <a:solidFill>
                  <a:schemeClr val="bg1"/>
                </a:solidFill>
              </a:rPr>
              <a:t>) </a:t>
            </a:r>
            <a:r>
              <a:rPr lang="en-US" dirty="0">
                <a:solidFill>
                  <a:schemeClr val="accent6">
                    <a:lumMod val="75000"/>
                  </a:schemeClr>
                </a:solidFill>
              </a:rPr>
              <a:t># Output: (-1+1.2246467991473532e-16j</a:t>
            </a:r>
            <a:r>
              <a:rPr lang="en-US" dirty="0" smtClean="0">
                <a:solidFill>
                  <a:schemeClr val="accent6">
                    <a:lumMod val="75000"/>
                  </a:schemeClr>
                </a:solidFill>
              </a:rPr>
              <a:t>)</a:t>
            </a:r>
          </a:p>
          <a:p>
            <a:r>
              <a:rPr lang="vi-VN" dirty="0">
                <a:solidFill>
                  <a:schemeClr val="bg1"/>
                </a:solidFill>
              </a:rPr>
              <a:t>z = cmath.log10(100 + 100j) </a:t>
            </a:r>
            <a:r>
              <a:rPr lang="vi-VN" dirty="0">
                <a:solidFill>
                  <a:schemeClr val="accent6">
                    <a:lumMod val="75000"/>
                  </a:schemeClr>
                </a:solidFill>
              </a:rPr>
              <a:t># Logarit phức cơ số 10 của 100 + </a:t>
            </a:r>
            <a:r>
              <a:rPr lang="vi-VN" dirty="0" smtClean="0">
                <a:solidFill>
                  <a:schemeClr val="accent6">
                    <a:lumMod val="75000"/>
                  </a:schemeClr>
                </a:solidFill>
              </a:rPr>
              <a:t>100j</a:t>
            </a:r>
            <a:endParaRPr lang="en-US" dirty="0" smtClean="0">
              <a:solidFill>
                <a:schemeClr val="accent6">
                  <a:lumMod val="75000"/>
                </a:schemeClr>
              </a:solidFill>
            </a:endParaRPr>
          </a:p>
          <a:p>
            <a:r>
              <a:rPr lang="en-US" dirty="0">
                <a:solidFill>
                  <a:schemeClr val="bg1"/>
                </a:solidFill>
              </a:rPr>
              <a:t>print(z) </a:t>
            </a:r>
            <a:r>
              <a:rPr lang="en-US" dirty="0">
                <a:solidFill>
                  <a:schemeClr val="accent6">
                    <a:lumMod val="75000"/>
                  </a:schemeClr>
                </a:solidFill>
              </a:rPr>
              <a:t># Output: (2+0.7853981633974483j)</a:t>
            </a:r>
            <a:endParaRPr lang="en-US" sz="1600" dirty="0">
              <a:solidFill>
                <a:schemeClr val="accent6">
                  <a:lumMod val="75000"/>
                </a:schemeClr>
              </a:solidFill>
            </a:endParaRPr>
          </a:p>
        </p:txBody>
      </p:sp>
      <p:sp>
        <p:nvSpPr>
          <p:cNvPr id="17" name="Flowchart: Decision 16"/>
          <p:cNvSpPr/>
          <p:nvPr/>
        </p:nvSpPr>
        <p:spPr>
          <a:xfrm>
            <a:off x="612777" y="212314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53776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err="1" smtClean="0"/>
              <a:t>Builtin</a:t>
            </a:r>
            <a:r>
              <a:rPr lang="en-US" dirty="0" smtClean="0"/>
              <a:t> Modules</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smtClean="0"/>
              <a:t>Module </a:t>
            </a:r>
            <a:r>
              <a:rPr lang="en-US" b="1" dirty="0" err="1" smtClean="0"/>
              <a:t>datetime</a:t>
            </a:r>
            <a:endParaRPr lang="en-US" b="1" dirty="0">
              <a:solidFill>
                <a:srgbClr val="FF0000"/>
              </a:solidFill>
            </a:endParaRPr>
          </a:p>
        </p:txBody>
      </p:sp>
      <p:sp>
        <p:nvSpPr>
          <p:cNvPr id="21" name="TextBox 20"/>
          <p:cNvSpPr txBox="1"/>
          <p:nvPr/>
        </p:nvSpPr>
        <p:spPr>
          <a:xfrm>
            <a:off x="548981" y="1982965"/>
            <a:ext cx="7697972" cy="369332"/>
          </a:xfrm>
          <a:prstGeom prst="rect">
            <a:avLst/>
          </a:prstGeom>
          <a:noFill/>
        </p:spPr>
        <p:txBody>
          <a:bodyPr wrap="square" rtlCol="0">
            <a:spAutoFit/>
          </a:bodyPr>
          <a:lstStyle/>
          <a:p>
            <a:r>
              <a:rPr lang="en-US" dirty="0" err="1"/>
              <a:t>C</a:t>
            </a:r>
            <a:r>
              <a:rPr lang="en-US" dirty="0" err="1" smtClean="0"/>
              <a:t>ung</a:t>
            </a:r>
            <a:r>
              <a:rPr lang="en-US" dirty="0" smtClean="0"/>
              <a:t> </a:t>
            </a:r>
            <a:r>
              <a:rPr lang="en-US" dirty="0" err="1"/>
              <a:t>cấp</a:t>
            </a:r>
            <a:r>
              <a:rPr lang="en-US" dirty="0"/>
              <a:t> </a:t>
            </a:r>
            <a:r>
              <a:rPr lang="en-US" dirty="0" err="1"/>
              <a:t>các</a:t>
            </a:r>
            <a:r>
              <a:rPr lang="en-US" dirty="0"/>
              <a:t> </a:t>
            </a:r>
            <a:r>
              <a:rPr lang="en-US" dirty="0" err="1"/>
              <a:t>lớp</a:t>
            </a:r>
            <a:r>
              <a:rPr lang="en-US" dirty="0"/>
              <a:t> </a:t>
            </a:r>
            <a:r>
              <a:rPr lang="en-US" dirty="0" err="1"/>
              <a:t>và</a:t>
            </a:r>
            <a:r>
              <a:rPr lang="en-US" dirty="0"/>
              <a:t> </a:t>
            </a:r>
            <a:r>
              <a:rPr lang="en-US" dirty="0" err="1"/>
              <a:t>hàm</a:t>
            </a:r>
            <a:r>
              <a:rPr lang="en-US" dirty="0"/>
              <a:t> </a:t>
            </a:r>
            <a:r>
              <a:rPr lang="en-US" dirty="0" err="1"/>
              <a:t>để</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thời</a:t>
            </a:r>
            <a:r>
              <a:rPr lang="en-US" dirty="0"/>
              <a:t> </a:t>
            </a:r>
            <a:r>
              <a:rPr lang="en-US" dirty="0" err="1"/>
              <a:t>gian</a:t>
            </a:r>
            <a:r>
              <a:rPr lang="en-US" dirty="0"/>
              <a:t> </a:t>
            </a:r>
            <a:r>
              <a:rPr lang="en-US" dirty="0" err="1"/>
              <a:t>và</a:t>
            </a:r>
            <a:r>
              <a:rPr lang="en-US" dirty="0"/>
              <a:t> </a:t>
            </a:r>
            <a:r>
              <a:rPr lang="en-US" dirty="0" err="1"/>
              <a:t>ngày</a:t>
            </a:r>
            <a:r>
              <a:rPr lang="en-US" dirty="0"/>
              <a:t> </a:t>
            </a:r>
            <a:r>
              <a:rPr lang="en-US" dirty="0" err="1"/>
              <a:t>tháng</a:t>
            </a:r>
            <a:endParaRPr lang="en-US" dirty="0"/>
          </a:p>
        </p:txBody>
      </p:sp>
      <p:sp>
        <p:nvSpPr>
          <p:cNvPr id="17" name="Flowchart: Decision 16"/>
          <p:cNvSpPr/>
          <p:nvPr/>
        </p:nvSpPr>
        <p:spPr>
          <a:xfrm>
            <a:off x="582835" y="250978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31691" y="2440524"/>
            <a:ext cx="7697972" cy="646331"/>
          </a:xfrm>
          <a:prstGeom prst="rect">
            <a:avLst/>
          </a:prstGeom>
          <a:noFill/>
        </p:spPr>
        <p:txBody>
          <a:bodyPr wrap="square" rtlCol="0">
            <a:spAutoFit/>
          </a:bodyPr>
          <a:lstStyle/>
          <a:p>
            <a:r>
              <a:rPr lang="en-US" b="1" dirty="0" err="1"/>
              <a:t>datetime</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một</a:t>
            </a:r>
            <a:r>
              <a:rPr lang="en-US" dirty="0"/>
              <a:t> </a:t>
            </a:r>
            <a:r>
              <a:rPr lang="en-US" dirty="0" err="1"/>
              <a:t>điểm</a:t>
            </a:r>
            <a:r>
              <a:rPr lang="en-US" dirty="0"/>
              <a:t> </a:t>
            </a:r>
            <a:r>
              <a:rPr lang="en-US" dirty="0" err="1"/>
              <a:t>thời</a:t>
            </a:r>
            <a:r>
              <a:rPr lang="en-US" dirty="0"/>
              <a:t> </a:t>
            </a:r>
            <a:r>
              <a:rPr lang="en-US" dirty="0" err="1"/>
              <a:t>gian</a:t>
            </a:r>
            <a:r>
              <a:rPr lang="en-US" dirty="0"/>
              <a:t> </a:t>
            </a:r>
            <a:r>
              <a:rPr lang="en-US" dirty="0" err="1"/>
              <a:t>cụ</a:t>
            </a:r>
            <a:r>
              <a:rPr lang="en-US" dirty="0"/>
              <a:t> </a:t>
            </a:r>
            <a:r>
              <a:rPr lang="en-US" dirty="0" err="1"/>
              <a:t>thể</a:t>
            </a:r>
            <a:r>
              <a:rPr lang="en-US" dirty="0"/>
              <a:t>, </a:t>
            </a:r>
            <a:r>
              <a:rPr lang="en-US" dirty="0" err="1"/>
              <a:t>bao</a:t>
            </a:r>
            <a:r>
              <a:rPr lang="en-US" dirty="0"/>
              <a:t> </a:t>
            </a:r>
            <a:r>
              <a:rPr lang="en-US" dirty="0" err="1"/>
              <a:t>gồm</a:t>
            </a:r>
            <a:r>
              <a:rPr lang="en-US" dirty="0"/>
              <a:t> </a:t>
            </a:r>
            <a:r>
              <a:rPr lang="en-US" dirty="0" err="1"/>
              <a:t>cả</a:t>
            </a:r>
            <a:r>
              <a:rPr lang="en-US" dirty="0"/>
              <a:t> </a:t>
            </a:r>
            <a:r>
              <a:rPr lang="en-US" dirty="0" err="1"/>
              <a:t>ngày</a:t>
            </a:r>
            <a:r>
              <a:rPr lang="en-US" dirty="0"/>
              <a:t>, </a:t>
            </a:r>
            <a:r>
              <a:rPr lang="en-US" dirty="0" err="1"/>
              <a:t>tháng</a:t>
            </a:r>
            <a:r>
              <a:rPr lang="en-US" dirty="0"/>
              <a:t>, </a:t>
            </a:r>
            <a:r>
              <a:rPr lang="en-US" dirty="0" err="1"/>
              <a:t>năm</a:t>
            </a:r>
            <a:r>
              <a:rPr lang="en-US" dirty="0"/>
              <a:t> </a:t>
            </a:r>
            <a:r>
              <a:rPr lang="en-US" dirty="0" err="1"/>
              <a:t>và</a:t>
            </a:r>
            <a:r>
              <a:rPr lang="en-US" dirty="0"/>
              <a:t> </a:t>
            </a:r>
            <a:r>
              <a:rPr lang="en-US" dirty="0" err="1"/>
              <a:t>thời</a:t>
            </a:r>
            <a:r>
              <a:rPr lang="en-US" dirty="0"/>
              <a:t> </a:t>
            </a:r>
            <a:r>
              <a:rPr lang="en-US" dirty="0" err="1"/>
              <a:t>gian</a:t>
            </a:r>
            <a:r>
              <a:rPr lang="en-US" dirty="0"/>
              <a:t> (</a:t>
            </a:r>
            <a:r>
              <a:rPr lang="en-US" dirty="0" err="1"/>
              <a:t>giờ</a:t>
            </a:r>
            <a:r>
              <a:rPr lang="en-US" dirty="0"/>
              <a:t>, </a:t>
            </a:r>
            <a:r>
              <a:rPr lang="en-US" dirty="0" err="1"/>
              <a:t>phút</a:t>
            </a:r>
            <a:r>
              <a:rPr lang="en-US" dirty="0"/>
              <a:t>, </a:t>
            </a:r>
            <a:r>
              <a:rPr lang="en-US" dirty="0" err="1"/>
              <a:t>giây</a:t>
            </a:r>
            <a:r>
              <a:rPr lang="en-US" dirty="0"/>
              <a:t>, </a:t>
            </a:r>
            <a:r>
              <a:rPr lang="en-US" dirty="0" err="1"/>
              <a:t>microgiây</a:t>
            </a:r>
            <a:r>
              <a:rPr lang="en-US" dirty="0"/>
              <a:t>)</a:t>
            </a:r>
          </a:p>
        </p:txBody>
      </p:sp>
      <p:sp>
        <p:nvSpPr>
          <p:cNvPr id="12" name="Flowchart: Decision 11"/>
          <p:cNvSpPr/>
          <p:nvPr/>
        </p:nvSpPr>
        <p:spPr>
          <a:xfrm>
            <a:off x="582835" y="322216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31691" y="3152905"/>
            <a:ext cx="7774356" cy="646331"/>
          </a:xfrm>
          <a:prstGeom prst="rect">
            <a:avLst/>
          </a:prstGeom>
          <a:noFill/>
        </p:spPr>
        <p:txBody>
          <a:bodyPr wrap="square" rtlCol="0">
            <a:spAutoFit/>
          </a:bodyPr>
          <a:lstStyle/>
          <a:p>
            <a:r>
              <a:rPr lang="en-US" b="1" dirty="0"/>
              <a:t>date</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một</a:t>
            </a:r>
            <a:r>
              <a:rPr lang="en-US" dirty="0"/>
              <a:t> </a:t>
            </a:r>
            <a:r>
              <a:rPr lang="en-US" dirty="0" err="1"/>
              <a:t>ngày</a:t>
            </a:r>
            <a:r>
              <a:rPr lang="en-US" dirty="0"/>
              <a:t> </a:t>
            </a:r>
            <a:r>
              <a:rPr lang="en-US" dirty="0" err="1"/>
              <a:t>duy</a:t>
            </a:r>
            <a:r>
              <a:rPr lang="en-US" dirty="0"/>
              <a:t> </a:t>
            </a:r>
            <a:r>
              <a:rPr lang="en-US" dirty="0" err="1"/>
              <a:t>nhất</a:t>
            </a:r>
            <a:r>
              <a:rPr lang="en-US" dirty="0"/>
              <a:t> </a:t>
            </a:r>
            <a:r>
              <a:rPr lang="en-US" dirty="0" err="1"/>
              <a:t>trong</a:t>
            </a:r>
            <a:r>
              <a:rPr lang="en-US" dirty="0"/>
              <a:t> </a:t>
            </a:r>
            <a:r>
              <a:rPr lang="en-US" dirty="0" err="1"/>
              <a:t>lịch</a:t>
            </a:r>
            <a:r>
              <a:rPr lang="en-US" dirty="0"/>
              <a:t>, </a:t>
            </a:r>
            <a:r>
              <a:rPr lang="en-US" dirty="0" err="1"/>
              <a:t>bao</a:t>
            </a:r>
            <a:r>
              <a:rPr lang="en-US" dirty="0"/>
              <a:t> </a:t>
            </a:r>
            <a:r>
              <a:rPr lang="en-US" dirty="0" err="1"/>
              <a:t>gồm</a:t>
            </a:r>
            <a:r>
              <a:rPr lang="en-US" dirty="0"/>
              <a:t> </a:t>
            </a:r>
            <a:r>
              <a:rPr lang="en-US" dirty="0" err="1"/>
              <a:t>năm</a:t>
            </a:r>
            <a:r>
              <a:rPr lang="en-US" dirty="0"/>
              <a:t>, </a:t>
            </a:r>
            <a:r>
              <a:rPr lang="en-US" dirty="0" err="1"/>
              <a:t>tháng</a:t>
            </a:r>
            <a:r>
              <a:rPr lang="en-US" dirty="0"/>
              <a:t> </a:t>
            </a:r>
            <a:r>
              <a:rPr lang="en-US" dirty="0" err="1"/>
              <a:t>và</a:t>
            </a:r>
            <a:r>
              <a:rPr lang="en-US" dirty="0"/>
              <a:t> </a:t>
            </a:r>
            <a:r>
              <a:rPr lang="en-US" dirty="0" err="1"/>
              <a:t>ngày</a:t>
            </a:r>
            <a:endParaRPr lang="en-US" dirty="0"/>
          </a:p>
        </p:txBody>
      </p:sp>
      <p:sp>
        <p:nvSpPr>
          <p:cNvPr id="15" name="Flowchart: Decision 14"/>
          <p:cNvSpPr/>
          <p:nvPr/>
        </p:nvSpPr>
        <p:spPr>
          <a:xfrm>
            <a:off x="582835" y="390265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31691" y="3833389"/>
            <a:ext cx="7774356" cy="646331"/>
          </a:xfrm>
          <a:prstGeom prst="rect">
            <a:avLst/>
          </a:prstGeom>
          <a:noFill/>
        </p:spPr>
        <p:txBody>
          <a:bodyPr wrap="square" rtlCol="0">
            <a:spAutoFit/>
          </a:bodyPr>
          <a:lstStyle/>
          <a:p>
            <a:r>
              <a:rPr lang="en-US" b="1" dirty="0"/>
              <a:t>time</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một</a:t>
            </a:r>
            <a:r>
              <a:rPr lang="en-US" dirty="0"/>
              <a:t> </a:t>
            </a:r>
            <a:r>
              <a:rPr lang="en-US" dirty="0" err="1"/>
              <a:t>thời</a:t>
            </a:r>
            <a:r>
              <a:rPr lang="en-US" dirty="0"/>
              <a:t> </a:t>
            </a:r>
            <a:r>
              <a:rPr lang="en-US" dirty="0" err="1"/>
              <a:t>gian</a:t>
            </a:r>
            <a:r>
              <a:rPr lang="en-US" dirty="0"/>
              <a:t> </a:t>
            </a:r>
            <a:r>
              <a:rPr lang="en-US" dirty="0" err="1"/>
              <a:t>cụ</a:t>
            </a:r>
            <a:r>
              <a:rPr lang="en-US" dirty="0"/>
              <a:t> </a:t>
            </a:r>
            <a:r>
              <a:rPr lang="en-US" dirty="0" err="1"/>
              <a:t>thể</a:t>
            </a:r>
            <a:r>
              <a:rPr lang="en-US" dirty="0"/>
              <a:t> </a:t>
            </a:r>
            <a:r>
              <a:rPr lang="en-US" dirty="0" err="1"/>
              <a:t>trong</a:t>
            </a:r>
            <a:r>
              <a:rPr lang="en-US" dirty="0"/>
              <a:t> </a:t>
            </a:r>
            <a:r>
              <a:rPr lang="en-US" dirty="0" err="1"/>
              <a:t>ngày</a:t>
            </a:r>
            <a:r>
              <a:rPr lang="en-US" dirty="0"/>
              <a:t>, </a:t>
            </a:r>
            <a:r>
              <a:rPr lang="en-US" dirty="0" err="1"/>
              <a:t>bao</a:t>
            </a:r>
            <a:r>
              <a:rPr lang="en-US" dirty="0"/>
              <a:t> </a:t>
            </a:r>
            <a:r>
              <a:rPr lang="en-US" dirty="0" err="1"/>
              <a:t>gồm</a:t>
            </a:r>
            <a:r>
              <a:rPr lang="en-US" dirty="0"/>
              <a:t> </a:t>
            </a:r>
            <a:r>
              <a:rPr lang="en-US" dirty="0" err="1"/>
              <a:t>giờ</a:t>
            </a:r>
            <a:r>
              <a:rPr lang="en-US" dirty="0"/>
              <a:t>, </a:t>
            </a:r>
            <a:r>
              <a:rPr lang="en-US" dirty="0" err="1"/>
              <a:t>phút</a:t>
            </a:r>
            <a:r>
              <a:rPr lang="en-US" dirty="0"/>
              <a:t>, </a:t>
            </a:r>
            <a:r>
              <a:rPr lang="en-US" dirty="0" err="1"/>
              <a:t>giây</a:t>
            </a:r>
            <a:r>
              <a:rPr lang="en-US" dirty="0"/>
              <a:t> </a:t>
            </a:r>
            <a:r>
              <a:rPr lang="en-US" dirty="0" err="1"/>
              <a:t>và</a:t>
            </a:r>
            <a:r>
              <a:rPr lang="en-US" dirty="0"/>
              <a:t> </a:t>
            </a:r>
            <a:r>
              <a:rPr lang="en-US" dirty="0" err="1"/>
              <a:t>microgiây</a:t>
            </a:r>
            <a:endParaRPr lang="en-US" dirty="0"/>
          </a:p>
        </p:txBody>
      </p:sp>
      <p:sp>
        <p:nvSpPr>
          <p:cNvPr id="19" name="Flowchart: Decision 18"/>
          <p:cNvSpPr/>
          <p:nvPr/>
        </p:nvSpPr>
        <p:spPr>
          <a:xfrm>
            <a:off x="582835" y="467883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731691" y="4609566"/>
            <a:ext cx="7774356" cy="646331"/>
          </a:xfrm>
          <a:prstGeom prst="rect">
            <a:avLst/>
          </a:prstGeom>
          <a:noFill/>
        </p:spPr>
        <p:txBody>
          <a:bodyPr wrap="square" rtlCol="0">
            <a:spAutoFit/>
          </a:bodyPr>
          <a:lstStyle/>
          <a:p>
            <a:r>
              <a:rPr lang="en-US" b="1" dirty="0" err="1"/>
              <a:t>timedelta</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một</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hoặc</a:t>
            </a:r>
            <a:r>
              <a:rPr lang="en-US" dirty="0"/>
              <a:t> </a:t>
            </a:r>
            <a:r>
              <a:rPr lang="en-US" dirty="0" err="1"/>
              <a:t>một</a:t>
            </a:r>
            <a:r>
              <a:rPr lang="en-US" dirty="0"/>
              <a:t> </a:t>
            </a:r>
            <a:r>
              <a:rPr lang="en-US" dirty="0" err="1"/>
              <a:t>sự</a:t>
            </a:r>
            <a:r>
              <a:rPr lang="en-US" dirty="0"/>
              <a:t> </a:t>
            </a:r>
            <a:r>
              <a:rPr lang="en-US" dirty="0" err="1"/>
              <a:t>chênh</a:t>
            </a:r>
            <a:r>
              <a:rPr lang="en-US" dirty="0"/>
              <a:t> </a:t>
            </a:r>
            <a:r>
              <a:rPr lang="en-US" dirty="0" err="1"/>
              <a:t>lệch</a:t>
            </a:r>
            <a:r>
              <a:rPr lang="en-US" dirty="0"/>
              <a:t> </a:t>
            </a:r>
            <a:r>
              <a:rPr lang="en-US" dirty="0" err="1"/>
              <a:t>giữa</a:t>
            </a:r>
            <a:r>
              <a:rPr lang="en-US" dirty="0"/>
              <a:t> </a:t>
            </a:r>
            <a:r>
              <a:rPr lang="en-US" dirty="0" err="1"/>
              <a:t>hai</a:t>
            </a:r>
            <a:r>
              <a:rPr lang="en-US" dirty="0"/>
              <a:t> </a:t>
            </a:r>
            <a:r>
              <a:rPr lang="en-US" dirty="0" err="1"/>
              <a:t>điểm</a:t>
            </a:r>
            <a:r>
              <a:rPr lang="en-US" dirty="0"/>
              <a:t> </a:t>
            </a:r>
            <a:r>
              <a:rPr lang="en-US" dirty="0" err="1"/>
              <a:t>thời</a:t>
            </a:r>
            <a:r>
              <a:rPr lang="en-US" dirty="0"/>
              <a:t> </a:t>
            </a:r>
            <a:r>
              <a:rPr lang="en-US" dirty="0" err="1"/>
              <a:t>gian</a:t>
            </a:r>
            <a:endParaRPr lang="en-US" dirty="0"/>
          </a:p>
        </p:txBody>
      </p:sp>
      <p:sp>
        <p:nvSpPr>
          <p:cNvPr id="24" name="TextBox 23"/>
          <p:cNvSpPr txBox="1"/>
          <p:nvPr/>
        </p:nvSpPr>
        <p:spPr>
          <a:xfrm>
            <a:off x="548981" y="5491709"/>
            <a:ext cx="7697972" cy="646331"/>
          </a:xfrm>
          <a:prstGeom prst="rect">
            <a:avLst/>
          </a:prstGeom>
          <a:noFill/>
        </p:spPr>
        <p:txBody>
          <a:bodyPr wrap="square" rtlCol="0">
            <a:spAutoFit/>
          </a:bodyPr>
          <a:lstStyle/>
          <a:p>
            <a:r>
              <a:rPr lang="en-US" dirty="0" err="1"/>
              <a:t>Ngoài</a:t>
            </a:r>
            <a:r>
              <a:rPr lang="en-US" dirty="0"/>
              <a:t> </a:t>
            </a:r>
            <a:r>
              <a:rPr lang="en-US" dirty="0" err="1"/>
              <a:t>ra</a:t>
            </a:r>
            <a:r>
              <a:rPr lang="en-US" dirty="0"/>
              <a:t>, </a:t>
            </a:r>
            <a:r>
              <a:rPr lang="en-US" dirty="0" smtClean="0"/>
              <a:t>module </a:t>
            </a:r>
            <a:r>
              <a:rPr lang="en-US" dirty="0" err="1" smtClean="0"/>
              <a:t>datetime</a:t>
            </a:r>
            <a:r>
              <a:rPr lang="en-US" dirty="0" smtClean="0"/>
              <a:t> </a:t>
            </a:r>
            <a:r>
              <a:rPr lang="en-US" dirty="0" err="1" smtClean="0"/>
              <a:t>cho</a:t>
            </a:r>
            <a:r>
              <a:rPr lang="en-US" dirty="0" smtClean="0"/>
              <a:t> </a:t>
            </a:r>
            <a:r>
              <a:rPr lang="en-US" dirty="0" err="1" smtClean="0"/>
              <a:t>phép</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định</a:t>
            </a:r>
            <a:r>
              <a:rPr lang="en-US" dirty="0" smtClean="0"/>
              <a:t> </a:t>
            </a:r>
            <a:r>
              <a:rPr lang="en-US" dirty="0" err="1" smtClean="0"/>
              <a:t>dạng</a:t>
            </a:r>
            <a:r>
              <a:rPr lang="en-US" dirty="0"/>
              <a:t> </a:t>
            </a:r>
            <a:r>
              <a:rPr lang="en-US" dirty="0" err="1" smtClean="0"/>
              <a:t>hiển</a:t>
            </a:r>
            <a:r>
              <a:rPr lang="en-US" dirty="0" smtClean="0"/>
              <a:t> </a:t>
            </a:r>
            <a:r>
              <a:rPr lang="en-US" dirty="0" err="1" smtClean="0"/>
              <a:t>thị</a:t>
            </a:r>
            <a:r>
              <a:rPr lang="en-US" dirty="0" smtClean="0"/>
              <a:t> </a:t>
            </a:r>
            <a:r>
              <a:rPr lang="en-US" dirty="0" err="1" smtClean="0"/>
              <a:t>thời</a:t>
            </a:r>
            <a:r>
              <a:rPr lang="en-US" dirty="0" smtClean="0"/>
              <a:t> </a:t>
            </a:r>
            <a:r>
              <a:rPr lang="en-US" dirty="0" err="1" smtClean="0"/>
              <a:t>gian</a:t>
            </a:r>
            <a:r>
              <a:rPr lang="en-US" dirty="0" smtClean="0"/>
              <a:t> </a:t>
            </a:r>
            <a:r>
              <a:rPr lang="en-US" dirty="0" err="1" smtClean="0"/>
              <a:t>theo</a:t>
            </a:r>
            <a:r>
              <a:rPr lang="en-US" dirty="0" smtClean="0"/>
              <a:t> </a:t>
            </a:r>
            <a:r>
              <a:rPr lang="en-US" dirty="0" err="1" smtClean="0"/>
              <a:t>chuẩn</a:t>
            </a:r>
            <a:r>
              <a:rPr lang="en-US" dirty="0" smtClean="0"/>
              <a:t>, </a:t>
            </a:r>
            <a:r>
              <a:rPr lang="en-US" dirty="0" err="1" smtClean="0"/>
              <a:t>chuyển</a:t>
            </a:r>
            <a:r>
              <a:rPr lang="en-US" dirty="0" smtClean="0"/>
              <a:t> </a:t>
            </a:r>
            <a:r>
              <a:rPr lang="en-US" dirty="0" err="1" smtClean="0"/>
              <a:t>đổi</a:t>
            </a:r>
            <a:r>
              <a:rPr lang="en-US" dirty="0" smtClean="0"/>
              <a:t> </a:t>
            </a:r>
            <a:r>
              <a:rPr lang="en-US" dirty="0" err="1" smtClean="0"/>
              <a:t>múi</a:t>
            </a:r>
            <a:r>
              <a:rPr lang="en-US" dirty="0" smtClean="0"/>
              <a:t> </a:t>
            </a:r>
            <a:r>
              <a:rPr lang="en-US" dirty="0" err="1" smtClean="0"/>
              <a:t>giờ</a:t>
            </a:r>
            <a:r>
              <a:rPr lang="en-US" dirty="0" smtClean="0"/>
              <a:t>…</a:t>
            </a:r>
            <a:endParaRPr lang="en-US" dirty="0"/>
          </a:p>
        </p:txBody>
      </p:sp>
    </p:spTree>
    <p:extLst>
      <p:ext uri="{BB962C8B-B14F-4D97-AF65-F5344CB8AC3E}">
        <p14:creationId xmlns:p14="http://schemas.microsoft.com/office/powerpoint/2010/main" val="27148520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smtClean="0"/>
              <a:t>Built-in Modules</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smtClean="0"/>
              <a:t>Module </a:t>
            </a:r>
            <a:r>
              <a:rPr lang="en-US" b="1" dirty="0" err="1" smtClean="0"/>
              <a:t>datetime</a:t>
            </a:r>
            <a:endParaRPr lang="en-US" b="1" dirty="0">
              <a:solidFill>
                <a:srgbClr val="FF0000"/>
              </a:solidFill>
            </a:endParaRPr>
          </a:p>
        </p:txBody>
      </p:sp>
      <p:sp>
        <p:nvSpPr>
          <p:cNvPr id="22" name="Rectangle 21"/>
          <p:cNvSpPr/>
          <p:nvPr/>
        </p:nvSpPr>
        <p:spPr>
          <a:xfrm>
            <a:off x="657263" y="2082726"/>
            <a:ext cx="7774356" cy="443503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38017" y="2233126"/>
            <a:ext cx="7402216" cy="4247317"/>
          </a:xfrm>
          <a:prstGeom prst="rect">
            <a:avLst/>
          </a:prstGeom>
          <a:noFill/>
        </p:spPr>
        <p:txBody>
          <a:bodyPr wrap="square" rtlCol="0">
            <a:spAutoFit/>
          </a:bodyPr>
          <a:lstStyle/>
          <a:p>
            <a:r>
              <a:rPr lang="en-US" dirty="0" smtClean="0">
                <a:solidFill>
                  <a:srgbClr val="00B0F0"/>
                </a:solidFill>
              </a:rPr>
              <a:t>import</a:t>
            </a:r>
            <a:r>
              <a:rPr lang="en-US" dirty="0" smtClean="0">
                <a:solidFill>
                  <a:schemeClr val="bg1"/>
                </a:solidFill>
              </a:rPr>
              <a:t> </a:t>
            </a:r>
            <a:r>
              <a:rPr lang="en-US" dirty="0" err="1">
                <a:solidFill>
                  <a:schemeClr val="bg1"/>
                </a:solidFill>
              </a:rPr>
              <a:t>datetime</a:t>
            </a:r>
            <a:r>
              <a:rPr lang="en-US" dirty="0">
                <a:solidFill>
                  <a:schemeClr val="bg1"/>
                </a:solidFill>
              </a:rPr>
              <a:t> </a:t>
            </a:r>
            <a:endParaRPr lang="en-US" dirty="0" smtClean="0">
              <a:solidFill>
                <a:schemeClr val="bg1"/>
              </a:solidFill>
            </a:endParaRPr>
          </a:p>
          <a:p>
            <a:endParaRPr lang="en-US" dirty="0" smtClean="0">
              <a:solidFill>
                <a:schemeClr val="bg1"/>
              </a:solidFill>
            </a:endParaRPr>
          </a:p>
          <a:p>
            <a:r>
              <a:rPr lang="en-US" dirty="0" smtClean="0">
                <a:solidFill>
                  <a:schemeClr val="accent6">
                    <a:lumMod val="75000"/>
                  </a:schemeClr>
                </a:solidFill>
              </a:rPr>
              <a:t># </a:t>
            </a:r>
            <a:r>
              <a:rPr lang="en-US" dirty="0" err="1">
                <a:solidFill>
                  <a:schemeClr val="accent6">
                    <a:lumMod val="75000"/>
                  </a:schemeClr>
                </a:solidFill>
              </a:rPr>
              <a:t>Lấy</a:t>
            </a:r>
            <a:r>
              <a:rPr lang="en-US" dirty="0">
                <a:solidFill>
                  <a:schemeClr val="accent6">
                    <a:lumMod val="75000"/>
                  </a:schemeClr>
                </a:solidFill>
              </a:rPr>
              <a:t> </a:t>
            </a:r>
            <a:r>
              <a:rPr lang="en-US" dirty="0" err="1">
                <a:solidFill>
                  <a:schemeClr val="accent6">
                    <a:lumMod val="75000"/>
                  </a:schemeClr>
                </a:solidFill>
              </a:rPr>
              <a:t>thời</a:t>
            </a:r>
            <a:r>
              <a:rPr lang="en-US" dirty="0">
                <a:solidFill>
                  <a:schemeClr val="accent6">
                    <a:lumMod val="75000"/>
                  </a:schemeClr>
                </a:solidFill>
              </a:rPr>
              <a:t> </a:t>
            </a:r>
            <a:r>
              <a:rPr lang="en-US" dirty="0" err="1">
                <a:solidFill>
                  <a:schemeClr val="accent6">
                    <a:lumMod val="75000"/>
                  </a:schemeClr>
                </a:solidFill>
              </a:rPr>
              <a:t>gian</a:t>
            </a:r>
            <a:r>
              <a:rPr lang="en-US" dirty="0">
                <a:solidFill>
                  <a:schemeClr val="accent6">
                    <a:lumMod val="75000"/>
                  </a:schemeClr>
                </a:solidFill>
              </a:rPr>
              <a:t> </a:t>
            </a:r>
            <a:r>
              <a:rPr lang="en-US" dirty="0" err="1">
                <a:solidFill>
                  <a:schemeClr val="accent6">
                    <a:lumMod val="75000"/>
                  </a:schemeClr>
                </a:solidFill>
              </a:rPr>
              <a:t>hiện</a:t>
            </a:r>
            <a:r>
              <a:rPr lang="en-US" dirty="0">
                <a:solidFill>
                  <a:schemeClr val="accent6">
                    <a:lumMod val="75000"/>
                  </a:schemeClr>
                </a:solidFill>
              </a:rPr>
              <a:t> </a:t>
            </a:r>
            <a:r>
              <a:rPr lang="en-US" dirty="0" err="1">
                <a:solidFill>
                  <a:schemeClr val="accent6">
                    <a:lumMod val="75000"/>
                  </a:schemeClr>
                </a:solidFill>
              </a:rPr>
              <a:t>tại</a:t>
            </a:r>
            <a:r>
              <a:rPr lang="en-US" dirty="0">
                <a:solidFill>
                  <a:schemeClr val="bg1"/>
                </a:solidFill>
              </a:rPr>
              <a:t> </a:t>
            </a:r>
            <a:endParaRPr lang="en-US" dirty="0" smtClean="0">
              <a:solidFill>
                <a:schemeClr val="bg1"/>
              </a:solidFill>
            </a:endParaRPr>
          </a:p>
          <a:p>
            <a:r>
              <a:rPr lang="en-US" dirty="0" err="1" smtClean="0">
                <a:solidFill>
                  <a:schemeClr val="bg1"/>
                </a:solidFill>
              </a:rPr>
              <a:t>current_time</a:t>
            </a:r>
            <a:r>
              <a:rPr lang="en-US" dirty="0" smtClean="0">
                <a:solidFill>
                  <a:schemeClr val="bg1"/>
                </a:solidFill>
              </a:rPr>
              <a:t> </a:t>
            </a:r>
            <a:r>
              <a:rPr lang="en-US" dirty="0">
                <a:solidFill>
                  <a:schemeClr val="bg1"/>
                </a:solidFill>
              </a:rPr>
              <a:t>= </a:t>
            </a:r>
            <a:r>
              <a:rPr lang="en-US" dirty="0" err="1">
                <a:solidFill>
                  <a:schemeClr val="bg1"/>
                </a:solidFill>
              </a:rPr>
              <a:t>datetime.datetime.now</a:t>
            </a:r>
            <a:r>
              <a:rPr lang="en-US" dirty="0">
                <a:solidFill>
                  <a:schemeClr val="bg1"/>
                </a:solidFill>
              </a:rPr>
              <a:t>() </a:t>
            </a:r>
            <a:endParaRPr lang="en-US" dirty="0" smtClean="0">
              <a:solidFill>
                <a:schemeClr val="bg1"/>
              </a:solidFill>
            </a:endParaRPr>
          </a:p>
          <a:p>
            <a:r>
              <a:rPr lang="en-US" dirty="0" smtClean="0">
                <a:solidFill>
                  <a:schemeClr val="bg1"/>
                </a:solidFill>
              </a:rPr>
              <a:t>print</a:t>
            </a:r>
            <a:r>
              <a:rPr lang="en-US" dirty="0">
                <a:solidFill>
                  <a:schemeClr val="bg1"/>
                </a:solidFill>
              </a:rPr>
              <a:t>("</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tại</a:t>
            </a:r>
            <a:r>
              <a:rPr lang="en-US" dirty="0">
                <a:solidFill>
                  <a:schemeClr val="bg1"/>
                </a:solidFill>
              </a:rPr>
              <a:t>:", </a:t>
            </a:r>
            <a:r>
              <a:rPr lang="en-US" dirty="0" err="1">
                <a:solidFill>
                  <a:schemeClr val="bg1"/>
                </a:solidFill>
              </a:rPr>
              <a:t>current_time</a:t>
            </a:r>
            <a:r>
              <a:rPr lang="en-US" dirty="0" smtClean="0">
                <a:solidFill>
                  <a:schemeClr val="bg1"/>
                </a:solidFill>
              </a:rPr>
              <a:t>)</a:t>
            </a:r>
          </a:p>
          <a:p>
            <a:r>
              <a:rPr lang="en-US" dirty="0" smtClean="0">
                <a:solidFill>
                  <a:schemeClr val="bg1"/>
                </a:solidFill>
              </a:rPr>
              <a:t> </a:t>
            </a:r>
          </a:p>
          <a:p>
            <a:r>
              <a:rPr lang="en-US" dirty="0">
                <a:solidFill>
                  <a:schemeClr val="accent6">
                    <a:lumMod val="75000"/>
                  </a:schemeClr>
                </a:solidFill>
              </a:rPr>
              <a:t># </a:t>
            </a:r>
            <a:r>
              <a:rPr lang="en-US" dirty="0" err="1">
                <a:solidFill>
                  <a:schemeClr val="accent6">
                    <a:lumMod val="75000"/>
                  </a:schemeClr>
                </a:solidFill>
              </a:rPr>
              <a:t>Truy</a:t>
            </a:r>
            <a:r>
              <a:rPr lang="en-US" dirty="0">
                <a:solidFill>
                  <a:schemeClr val="accent6">
                    <a:lumMod val="75000"/>
                  </a:schemeClr>
                </a:solidFill>
              </a:rPr>
              <a:t> </a:t>
            </a:r>
            <a:r>
              <a:rPr lang="en-US" dirty="0" err="1">
                <a:solidFill>
                  <a:schemeClr val="accent6">
                    <a:lumMod val="75000"/>
                  </a:schemeClr>
                </a:solidFill>
              </a:rPr>
              <a:t>xuất</a:t>
            </a:r>
            <a:r>
              <a:rPr lang="en-US" dirty="0">
                <a:solidFill>
                  <a:schemeClr val="accent6">
                    <a:lumMod val="75000"/>
                  </a:schemeClr>
                </a:solidFill>
              </a:rPr>
              <a:t> </a:t>
            </a:r>
            <a:r>
              <a:rPr lang="en-US" dirty="0" err="1">
                <a:solidFill>
                  <a:schemeClr val="accent6">
                    <a:lumMod val="75000"/>
                  </a:schemeClr>
                </a:solidFill>
              </a:rPr>
              <a:t>các</a:t>
            </a:r>
            <a:r>
              <a:rPr lang="en-US" dirty="0">
                <a:solidFill>
                  <a:schemeClr val="accent6">
                    <a:lumMod val="75000"/>
                  </a:schemeClr>
                </a:solidFill>
              </a:rPr>
              <a:t> </a:t>
            </a:r>
            <a:r>
              <a:rPr lang="en-US" dirty="0" err="1">
                <a:solidFill>
                  <a:schemeClr val="accent6">
                    <a:lumMod val="75000"/>
                  </a:schemeClr>
                </a:solidFill>
              </a:rPr>
              <a:t>thành</a:t>
            </a:r>
            <a:r>
              <a:rPr lang="en-US" dirty="0">
                <a:solidFill>
                  <a:schemeClr val="accent6">
                    <a:lumMod val="75000"/>
                  </a:schemeClr>
                </a:solidFill>
              </a:rPr>
              <a:t> </a:t>
            </a:r>
            <a:r>
              <a:rPr lang="en-US" dirty="0" err="1">
                <a:solidFill>
                  <a:schemeClr val="accent6">
                    <a:lumMod val="75000"/>
                  </a:schemeClr>
                </a:solidFill>
              </a:rPr>
              <a:t>phần</a:t>
            </a:r>
            <a:r>
              <a:rPr lang="en-US" dirty="0">
                <a:solidFill>
                  <a:schemeClr val="accent6">
                    <a:lumMod val="75000"/>
                  </a:schemeClr>
                </a:solidFill>
              </a:rPr>
              <a:t> </a:t>
            </a:r>
            <a:r>
              <a:rPr lang="en-US" dirty="0" err="1">
                <a:solidFill>
                  <a:schemeClr val="accent6">
                    <a:lumMod val="75000"/>
                  </a:schemeClr>
                </a:solidFill>
              </a:rPr>
              <a:t>của</a:t>
            </a:r>
            <a:r>
              <a:rPr lang="en-US" dirty="0">
                <a:solidFill>
                  <a:schemeClr val="accent6">
                    <a:lumMod val="75000"/>
                  </a:schemeClr>
                </a:solidFill>
              </a:rPr>
              <a:t> </a:t>
            </a:r>
            <a:r>
              <a:rPr lang="en-US" dirty="0" err="1">
                <a:solidFill>
                  <a:schemeClr val="accent6">
                    <a:lumMod val="75000"/>
                  </a:schemeClr>
                </a:solidFill>
              </a:rPr>
              <a:t>thời</a:t>
            </a:r>
            <a:r>
              <a:rPr lang="en-US" dirty="0">
                <a:solidFill>
                  <a:schemeClr val="accent6">
                    <a:lumMod val="75000"/>
                  </a:schemeClr>
                </a:solidFill>
              </a:rPr>
              <a:t> </a:t>
            </a:r>
            <a:r>
              <a:rPr lang="en-US" dirty="0" err="1">
                <a:solidFill>
                  <a:schemeClr val="accent6">
                    <a:lumMod val="75000"/>
                  </a:schemeClr>
                </a:solidFill>
              </a:rPr>
              <a:t>gian</a:t>
            </a:r>
            <a:endParaRPr lang="en-US" dirty="0" smtClean="0">
              <a:solidFill>
                <a:schemeClr val="accent6">
                  <a:lumMod val="75000"/>
                </a:schemeClr>
              </a:solidFill>
            </a:endParaRPr>
          </a:p>
          <a:p>
            <a:r>
              <a:rPr lang="en-US" dirty="0" smtClean="0">
                <a:solidFill>
                  <a:schemeClr val="bg1"/>
                </a:solidFill>
              </a:rPr>
              <a:t>year </a:t>
            </a:r>
            <a:r>
              <a:rPr lang="en-US" dirty="0">
                <a:solidFill>
                  <a:schemeClr val="bg1"/>
                </a:solidFill>
              </a:rPr>
              <a:t>= </a:t>
            </a:r>
            <a:r>
              <a:rPr lang="en-US" dirty="0" err="1">
                <a:solidFill>
                  <a:schemeClr val="bg1"/>
                </a:solidFill>
              </a:rPr>
              <a:t>current_time.year</a:t>
            </a:r>
            <a:r>
              <a:rPr lang="en-US" dirty="0">
                <a:solidFill>
                  <a:schemeClr val="bg1"/>
                </a:solidFill>
              </a:rPr>
              <a:t> </a:t>
            </a:r>
            <a:r>
              <a:rPr lang="en-US" dirty="0" smtClean="0">
                <a:solidFill>
                  <a:schemeClr val="bg1"/>
                </a:solidFill>
              </a:rPr>
              <a:t> </a:t>
            </a:r>
            <a:r>
              <a:rPr lang="en-US" dirty="0" smtClean="0">
                <a:solidFill>
                  <a:schemeClr val="accent6">
                    <a:lumMod val="75000"/>
                  </a:schemeClr>
                </a:solidFill>
              </a:rPr>
              <a:t>#</a:t>
            </a:r>
            <a:r>
              <a:rPr lang="en-US" dirty="0" err="1" smtClean="0">
                <a:solidFill>
                  <a:schemeClr val="accent6">
                    <a:lumMod val="75000"/>
                  </a:schemeClr>
                </a:solidFill>
              </a:rPr>
              <a:t>lấy</a:t>
            </a:r>
            <a:r>
              <a:rPr lang="en-US" dirty="0" smtClean="0">
                <a:solidFill>
                  <a:schemeClr val="accent6">
                    <a:lumMod val="75000"/>
                  </a:schemeClr>
                </a:solidFill>
              </a:rPr>
              <a:t> </a:t>
            </a:r>
            <a:r>
              <a:rPr lang="en-US" dirty="0" err="1" smtClean="0">
                <a:solidFill>
                  <a:schemeClr val="accent6">
                    <a:lumMod val="75000"/>
                  </a:schemeClr>
                </a:solidFill>
              </a:rPr>
              <a:t>được</a:t>
            </a:r>
            <a:r>
              <a:rPr lang="en-US" dirty="0" smtClean="0">
                <a:solidFill>
                  <a:schemeClr val="accent6">
                    <a:lumMod val="75000"/>
                  </a:schemeClr>
                </a:solidFill>
              </a:rPr>
              <a:t> </a:t>
            </a:r>
            <a:r>
              <a:rPr lang="en-US" dirty="0" err="1" smtClean="0">
                <a:solidFill>
                  <a:schemeClr val="accent6">
                    <a:lumMod val="75000"/>
                  </a:schemeClr>
                </a:solidFill>
              </a:rPr>
              <a:t>năm</a:t>
            </a:r>
            <a:r>
              <a:rPr lang="en-US" dirty="0" smtClean="0">
                <a:solidFill>
                  <a:schemeClr val="accent6">
                    <a:lumMod val="75000"/>
                  </a:schemeClr>
                </a:solidFill>
              </a:rPr>
              <a:t> </a:t>
            </a:r>
            <a:r>
              <a:rPr lang="en-US" dirty="0" err="1" smtClean="0">
                <a:solidFill>
                  <a:schemeClr val="accent6">
                    <a:lumMod val="75000"/>
                  </a:schemeClr>
                </a:solidFill>
              </a:rPr>
              <a:t>hiện</a:t>
            </a:r>
            <a:r>
              <a:rPr lang="en-US" dirty="0" smtClean="0">
                <a:solidFill>
                  <a:schemeClr val="accent6">
                    <a:lumMod val="75000"/>
                  </a:schemeClr>
                </a:solidFill>
              </a:rPr>
              <a:t> </a:t>
            </a:r>
            <a:r>
              <a:rPr lang="en-US" dirty="0" err="1" smtClean="0">
                <a:solidFill>
                  <a:schemeClr val="accent6">
                    <a:lumMod val="75000"/>
                  </a:schemeClr>
                </a:solidFill>
              </a:rPr>
              <a:t>tại</a:t>
            </a:r>
            <a:endParaRPr lang="en-US" dirty="0" smtClean="0">
              <a:solidFill>
                <a:schemeClr val="accent6">
                  <a:lumMod val="75000"/>
                </a:schemeClr>
              </a:solidFill>
            </a:endParaRPr>
          </a:p>
          <a:p>
            <a:r>
              <a:rPr lang="en-US" dirty="0" smtClean="0">
                <a:solidFill>
                  <a:schemeClr val="bg1"/>
                </a:solidFill>
              </a:rPr>
              <a:t>month </a:t>
            </a:r>
            <a:r>
              <a:rPr lang="en-US" dirty="0">
                <a:solidFill>
                  <a:schemeClr val="bg1"/>
                </a:solidFill>
              </a:rPr>
              <a:t>= </a:t>
            </a:r>
            <a:r>
              <a:rPr lang="en-US" dirty="0" err="1">
                <a:solidFill>
                  <a:schemeClr val="bg1"/>
                </a:solidFill>
              </a:rPr>
              <a:t>current_time.month</a:t>
            </a:r>
            <a:r>
              <a:rPr lang="en-US" dirty="0">
                <a:solidFill>
                  <a:schemeClr val="bg1"/>
                </a:solidFill>
              </a:rPr>
              <a:t> </a:t>
            </a:r>
            <a:r>
              <a:rPr lang="en-US" dirty="0">
                <a:solidFill>
                  <a:schemeClr val="accent6">
                    <a:lumMod val="75000"/>
                  </a:schemeClr>
                </a:solidFill>
              </a:rPr>
              <a:t>#</a:t>
            </a:r>
            <a:r>
              <a:rPr lang="en-US" dirty="0" err="1">
                <a:solidFill>
                  <a:schemeClr val="accent6">
                    <a:lumMod val="75000"/>
                  </a:schemeClr>
                </a:solidFill>
              </a:rPr>
              <a:t>lấy</a:t>
            </a:r>
            <a:r>
              <a:rPr lang="en-US" dirty="0">
                <a:solidFill>
                  <a:schemeClr val="accent6">
                    <a:lumMod val="75000"/>
                  </a:schemeClr>
                </a:solidFill>
              </a:rPr>
              <a:t> </a:t>
            </a:r>
            <a:r>
              <a:rPr lang="en-US" dirty="0" err="1">
                <a:solidFill>
                  <a:schemeClr val="accent6">
                    <a:lumMod val="75000"/>
                  </a:schemeClr>
                </a:solidFill>
              </a:rPr>
              <a:t>được</a:t>
            </a:r>
            <a:r>
              <a:rPr lang="en-US" dirty="0">
                <a:solidFill>
                  <a:schemeClr val="accent6">
                    <a:lumMod val="75000"/>
                  </a:schemeClr>
                </a:solidFill>
              </a:rPr>
              <a:t> </a:t>
            </a:r>
            <a:r>
              <a:rPr lang="en-US" dirty="0" err="1" smtClean="0">
                <a:solidFill>
                  <a:schemeClr val="accent6">
                    <a:lumMod val="75000"/>
                  </a:schemeClr>
                </a:solidFill>
              </a:rPr>
              <a:t>tháng</a:t>
            </a:r>
            <a:r>
              <a:rPr lang="en-US" dirty="0" smtClean="0">
                <a:solidFill>
                  <a:schemeClr val="accent6">
                    <a:lumMod val="75000"/>
                  </a:schemeClr>
                </a:solidFill>
              </a:rPr>
              <a:t> </a:t>
            </a:r>
            <a:r>
              <a:rPr lang="en-US" dirty="0" err="1">
                <a:solidFill>
                  <a:schemeClr val="accent6">
                    <a:lumMod val="75000"/>
                  </a:schemeClr>
                </a:solidFill>
              </a:rPr>
              <a:t>hiện</a:t>
            </a:r>
            <a:r>
              <a:rPr lang="en-US" dirty="0">
                <a:solidFill>
                  <a:schemeClr val="accent6">
                    <a:lumMod val="75000"/>
                  </a:schemeClr>
                </a:solidFill>
              </a:rPr>
              <a:t> </a:t>
            </a:r>
            <a:r>
              <a:rPr lang="en-US" dirty="0" err="1" smtClean="0">
                <a:solidFill>
                  <a:schemeClr val="accent6">
                    <a:lumMod val="75000"/>
                  </a:schemeClr>
                </a:solidFill>
              </a:rPr>
              <a:t>tại</a:t>
            </a:r>
            <a:r>
              <a:rPr lang="en-US" dirty="0" smtClean="0">
                <a:solidFill>
                  <a:schemeClr val="bg1"/>
                </a:solidFill>
              </a:rPr>
              <a:t> </a:t>
            </a:r>
          </a:p>
          <a:p>
            <a:r>
              <a:rPr lang="en-US" dirty="0" smtClean="0">
                <a:solidFill>
                  <a:schemeClr val="bg1"/>
                </a:solidFill>
              </a:rPr>
              <a:t>day </a:t>
            </a:r>
            <a:r>
              <a:rPr lang="en-US" dirty="0">
                <a:solidFill>
                  <a:schemeClr val="bg1"/>
                </a:solidFill>
              </a:rPr>
              <a:t>= </a:t>
            </a:r>
            <a:r>
              <a:rPr lang="en-US" dirty="0" err="1">
                <a:solidFill>
                  <a:schemeClr val="bg1"/>
                </a:solidFill>
              </a:rPr>
              <a:t>current_time.day</a:t>
            </a:r>
            <a:r>
              <a:rPr lang="en-US" dirty="0">
                <a:solidFill>
                  <a:schemeClr val="bg1"/>
                </a:solidFill>
              </a:rPr>
              <a:t> </a:t>
            </a:r>
            <a:r>
              <a:rPr lang="en-US" dirty="0">
                <a:solidFill>
                  <a:schemeClr val="accent6">
                    <a:lumMod val="75000"/>
                  </a:schemeClr>
                </a:solidFill>
              </a:rPr>
              <a:t>#</a:t>
            </a:r>
            <a:r>
              <a:rPr lang="en-US" dirty="0" err="1">
                <a:solidFill>
                  <a:schemeClr val="accent6">
                    <a:lumMod val="75000"/>
                  </a:schemeClr>
                </a:solidFill>
              </a:rPr>
              <a:t>lấy</a:t>
            </a:r>
            <a:r>
              <a:rPr lang="en-US" dirty="0">
                <a:solidFill>
                  <a:schemeClr val="accent6">
                    <a:lumMod val="75000"/>
                  </a:schemeClr>
                </a:solidFill>
              </a:rPr>
              <a:t> </a:t>
            </a:r>
            <a:r>
              <a:rPr lang="en-US" dirty="0" err="1">
                <a:solidFill>
                  <a:schemeClr val="accent6">
                    <a:lumMod val="75000"/>
                  </a:schemeClr>
                </a:solidFill>
              </a:rPr>
              <a:t>được</a:t>
            </a:r>
            <a:r>
              <a:rPr lang="en-US" dirty="0">
                <a:solidFill>
                  <a:schemeClr val="accent6">
                    <a:lumMod val="75000"/>
                  </a:schemeClr>
                </a:solidFill>
              </a:rPr>
              <a:t> </a:t>
            </a:r>
            <a:r>
              <a:rPr lang="en-US" dirty="0" err="1" smtClean="0">
                <a:solidFill>
                  <a:schemeClr val="accent6">
                    <a:lumMod val="75000"/>
                  </a:schemeClr>
                </a:solidFill>
              </a:rPr>
              <a:t>ngày</a:t>
            </a:r>
            <a:r>
              <a:rPr lang="en-US" dirty="0" smtClean="0">
                <a:solidFill>
                  <a:schemeClr val="accent6">
                    <a:lumMod val="75000"/>
                  </a:schemeClr>
                </a:solidFill>
              </a:rPr>
              <a:t> </a:t>
            </a:r>
            <a:r>
              <a:rPr lang="en-US" dirty="0" err="1">
                <a:solidFill>
                  <a:schemeClr val="accent6">
                    <a:lumMod val="75000"/>
                  </a:schemeClr>
                </a:solidFill>
              </a:rPr>
              <a:t>hiện</a:t>
            </a:r>
            <a:r>
              <a:rPr lang="en-US" dirty="0">
                <a:solidFill>
                  <a:schemeClr val="accent6">
                    <a:lumMod val="75000"/>
                  </a:schemeClr>
                </a:solidFill>
              </a:rPr>
              <a:t> </a:t>
            </a:r>
            <a:r>
              <a:rPr lang="en-US" dirty="0" err="1" smtClean="0">
                <a:solidFill>
                  <a:schemeClr val="accent6">
                    <a:lumMod val="75000"/>
                  </a:schemeClr>
                </a:solidFill>
              </a:rPr>
              <a:t>tại</a:t>
            </a:r>
            <a:endParaRPr lang="en-US" dirty="0" smtClean="0">
              <a:solidFill>
                <a:schemeClr val="bg1"/>
              </a:solidFill>
            </a:endParaRPr>
          </a:p>
          <a:p>
            <a:r>
              <a:rPr lang="en-US" dirty="0" smtClean="0">
                <a:solidFill>
                  <a:schemeClr val="bg1"/>
                </a:solidFill>
              </a:rPr>
              <a:t>hour </a:t>
            </a:r>
            <a:r>
              <a:rPr lang="en-US" dirty="0">
                <a:solidFill>
                  <a:schemeClr val="bg1"/>
                </a:solidFill>
              </a:rPr>
              <a:t>= </a:t>
            </a:r>
            <a:r>
              <a:rPr lang="en-US" dirty="0" err="1">
                <a:solidFill>
                  <a:schemeClr val="bg1"/>
                </a:solidFill>
              </a:rPr>
              <a:t>current_time.hour</a:t>
            </a:r>
            <a:r>
              <a:rPr lang="en-US" dirty="0">
                <a:solidFill>
                  <a:schemeClr val="bg1"/>
                </a:solidFill>
              </a:rPr>
              <a:t> </a:t>
            </a:r>
            <a:r>
              <a:rPr lang="en-US" dirty="0">
                <a:solidFill>
                  <a:schemeClr val="accent6">
                    <a:lumMod val="75000"/>
                  </a:schemeClr>
                </a:solidFill>
              </a:rPr>
              <a:t>#</a:t>
            </a:r>
            <a:r>
              <a:rPr lang="en-US" dirty="0" err="1">
                <a:solidFill>
                  <a:schemeClr val="accent6">
                    <a:lumMod val="75000"/>
                  </a:schemeClr>
                </a:solidFill>
              </a:rPr>
              <a:t>lấy</a:t>
            </a:r>
            <a:r>
              <a:rPr lang="en-US" dirty="0">
                <a:solidFill>
                  <a:schemeClr val="accent6">
                    <a:lumMod val="75000"/>
                  </a:schemeClr>
                </a:solidFill>
              </a:rPr>
              <a:t> </a:t>
            </a:r>
            <a:r>
              <a:rPr lang="en-US" dirty="0" err="1">
                <a:solidFill>
                  <a:schemeClr val="accent6">
                    <a:lumMod val="75000"/>
                  </a:schemeClr>
                </a:solidFill>
              </a:rPr>
              <a:t>được</a:t>
            </a:r>
            <a:r>
              <a:rPr lang="en-US" dirty="0">
                <a:solidFill>
                  <a:schemeClr val="accent6">
                    <a:lumMod val="75000"/>
                  </a:schemeClr>
                </a:solidFill>
              </a:rPr>
              <a:t> </a:t>
            </a:r>
            <a:r>
              <a:rPr lang="en-US" dirty="0" err="1" smtClean="0">
                <a:solidFill>
                  <a:schemeClr val="accent6">
                    <a:lumMod val="75000"/>
                  </a:schemeClr>
                </a:solidFill>
              </a:rPr>
              <a:t>giờ</a:t>
            </a:r>
            <a:r>
              <a:rPr lang="en-US" dirty="0" smtClean="0">
                <a:solidFill>
                  <a:schemeClr val="accent6">
                    <a:lumMod val="75000"/>
                  </a:schemeClr>
                </a:solidFill>
              </a:rPr>
              <a:t> </a:t>
            </a:r>
            <a:r>
              <a:rPr lang="en-US" dirty="0" err="1">
                <a:solidFill>
                  <a:schemeClr val="accent6">
                    <a:lumMod val="75000"/>
                  </a:schemeClr>
                </a:solidFill>
              </a:rPr>
              <a:t>hiện</a:t>
            </a:r>
            <a:r>
              <a:rPr lang="en-US" dirty="0">
                <a:solidFill>
                  <a:schemeClr val="accent6">
                    <a:lumMod val="75000"/>
                  </a:schemeClr>
                </a:solidFill>
              </a:rPr>
              <a:t> </a:t>
            </a:r>
            <a:r>
              <a:rPr lang="en-US" dirty="0" err="1">
                <a:solidFill>
                  <a:schemeClr val="accent6">
                    <a:lumMod val="75000"/>
                  </a:schemeClr>
                </a:solidFill>
              </a:rPr>
              <a:t>tại</a:t>
            </a:r>
            <a:endParaRPr lang="en-US" dirty="0" smtClean="0">
              <a:solidFill>
                <a:schemeClr val="bg1"/>
              </a:solidFill>
            </a:endParaRPr>
          </a:p>
          <a:p>
            <a:r>
              <a:rPr lang="en-US" dirty="0" smtClean="0">
                <a:solidFill>
                  <a:schemeClr val="bg1"/>
                </a:solidFill>
              </a:rPr>
              <a:t>minute </a:t>
            </a:r>
            <a:r>
              <a:rPr lang="en-US" dirty="0">
                <a:solidFill>
                  <a:schemeClr val="bg1"/>
                </a:solidFill>
              </a:rPr>
              <a:t>= </a:t>
            </a:r>
            <a:r>
              <a:rPr lang="en-US" dirty="0" err="1">
                <a:solidFill>
                  <a:schemeClr val="bg1"/>
                </a:solidFill>
              </a:rPr>
              <a:t>current_time.minute</a:t>
            </a:r>
            <a:r>
              <a:rPr lang="en-US" dirty="0">
                <a:solidFill>
                  <a:schemeClr val="bg1"/>
                </a:solidFill>
              </a:rPr>
              <a:t> </a:t>
            </a:r>
            <a:r>
              <a:rPr lang="en-US" dirty="0">
                <a:solidFill>
                  <a:schemeClr val="accent6">
                    <a:lumMod val="75000"/>
                  </a:schemeClr>
                </a:solidFill>
              </a:rPr>
              <a:t>#</a:t>
            </a:r>
            <a:r>
              <a:rPr lang="en-US" dirty="0" err="1">
                <a:solidFill>
                  <a:schemeClr val="accent6">
                    <a:lumMod val="75000"/>
                  </a:schemeClr>
                </a:solidFill>
              </a:rPr>
              <a:t>lấy</a:t>
            </a:r>
            <a:r>
              <a:rPr lang="en-US" dirty="0">
                <a:solidFill>
                  <a:schemeClr val="accent6">
                    <a:lumMod val="75000"/>
                  </a:schemeClr>
                </a:solidFill>
              </a:rPr>
              <a:t> </a:t>
            </a:r>
            <a:r>
              <a:rPr lang="en-US" dirty="0" err="1">
                <a:solidFill>
                  <a:schemeClr val="accent6">
                    <a:lumMod val="75000"/>
                  </a:schemeClr>
                </a:solidFill>
              </a:rPr>
              <a:t>được</a:t>
            </a:r>
            <a:r>
              <a:rPr lang="en-US" dirty="0">
                <a:solidFill>
                  <a:schemeClr val="accent6">
                    <a:lumMod val="75000"/>
                  </a:schemeClr>
                </a:solidFill>
              </a:rPr>
              <a:t> </a:t>
            </a:r>
            <a:r>
              <a:rPr lang="en-US" dirty="0" err="1" smtClean="0">
                <a:solidFill>
                  <a:schemeClr val="accent6">
                    <a:lumMod val="75000"/>
                  </a:schemeClr>
                </a:solidFill>
              </a:rPr>
              <a:t>phút</a:t>
            </a:r>
            <a:r>
              <a:rPr lang="en-US" dirty="0" smtClean="0">
                <a:solidFill>
                  <a:schemeClr val="accent6">
                    <a:lumMod val="75000"/>
                  </a:schemeClr>
                </a:solidFill>
              </a:rPr>
              <a:t> </a:t>
            </a:r>
            <a:r>
              <a:rPr lang="en-US" dirty="0" err="1">
                <a:solidFill>
                  <a:schemeClr val="accent6">
                    <a:lumMod val="75000"/>
                  </a:schemeClr>
                </a:solidFill>
              </a:rPr>
              <a:t>hiện</a:t>
            </a:r>
            <a:r>
              <a:rPr lang="en-US" dirty="0">
                <a:solidFill>
                  <a:schemeClr val="accent6">
                    <a:lumMod val="75000"/>
                  </a:schemeClr>
                </a:solidFill>
              </a:rPr>
              <a:t> </a:t>
            </a:r>
            <a:r>
              <a:rPr lang="en-US" dirty="0" err="1" smtClean="0">
                <a:solidFill>
                  <a:schemeClr val="accent6">
                    <a:lumMod val="75000"/>
                  </a:schemeClr>
                </a:solidFill>
              </a:rPr>
              <a:t>tại</a:t>
            </a:r>
            <a:endParaRPr lang="en-US" dirty="0" smtClean="0">
              <a:solidFill>
                <a:schemeClr val="accent6">
                  <a:lumMod val="75000"/>
                </a:schemeClr>
              </a:solidFill>
            </a:endParaRPr>
          </a:p>
          <a:p>
            <a:endParaRPr lang="en-US" dirty="0" smtClean="0">
              <a:solidFill>
                <a:schemeClr val="accent6">
                  <a:lumMod val="75000"/>
                </a:schemeClr>
              </a:solidFill>
            </a:endParaRPr>
          </a:p>
          <a:p>
            <a:r>
              <a:rPr lang="en-US" dirty="0" smtClean="0">
                <a:solidFill>
                  <a:schemeClr val="accent6">
                    <a:lumMod val="75000"/>
                  </a:schemeClr>
                </a:solidFill>
              </a:rPr>
              <a:t># </a:t>
            </a:r>
            <a:r>
              <a:rPr lang="en-US" dirty="0" err="1">
                <a:solidFill>
                  <a:schemeClr val="accent6">
                    <a:lumMod val="75000"/>
                  </a:schemeClr>
                </a:solidFill>
              </a:rPr>
              <a:t>Định</a:t>
            </a:r>
            <a:r>
              <a:rPr lang="en-US" dirty="0">
                <a:solidFill>
                  <a:schemeClr val="accent6">
                    <a:lumMod val="75000"/>
                  </a:schemeClr>
                </a:solidFill>
              </a:rPr>
              <a:t> </a:t>
            </a:r>
            <a:r>
              <a:rPr lang="en-US" dirty="0" err="1">
                <a:solidFill>
                  <a:schemeClr val="accent6">
                    <a:lumMod val="75000"/>
                  </a:schemeClr>
                </a:solidFill>
              </a:rPr>
              <a:t>dạng</a:t>
            </a:r>
            <a:r>
              <a:rPr lang="en-US" dirty="0">
                <a:solidFill>
                  <a:schemeClr val="accent6">
                    <a:lumMod val="75000"/>
                  </a:schemeClr>
                </a:solidFill>
              </a:rPr>
              <a:t> </a:t>
            </a:r>
            <a:r>
              <a:rPr lang="en-US" dirty="0" err="1">
                <a:solidFill>
                  <a:schemeClr val="accent6">
                    <a:lumMod val="75000"/>
                  </a:schemeClr>
                </a:solidFill>
              </a:rPr>
              <a:t>thời</a:t>
            </a:r>
            <a:r>
              <a:rPr lang="en-US" dirty="0">
                <a:solidFill>
                  <a:schemeClr val="accent6">
                    <a:lumMod val="75000"/>
                  </a:schemeClr>
                </a:solidFill>
              </a:rPr>
              <a:t> </a:t>
            </a:r>
            <a:r>
              <a:rPr lang="en-US" dirty="0" err="1">
                <a:solidFill>
                  <a:schemeClr val="accent6">
                    <a:lumMod val="75000"/>
                  </a:schemeClr>
                </a:solidFill>
              </a:rPr>
              <a:t>gian</a:t>
            </a:r>
            <a:r>
              <a:rPr lang="en-US" dirty="0">
                <a:solidFill>
                  <a:schemeClr val="accent6">
                    <a:lumMod val="75000"/>
                  </a:schemeClr>
                </a:solidFill>
              </a:rPr>
              <a:t> </a:t>
            </a:r>
            <a:r>
              <a:rPr lang="en-US" dirty="0" err="1">
                <a:solidFill>
                  <a:schemeClr val="accent6">
                    <a:lumMod val="75000"/>
                  </a:schemeClr>
                </a:solidFill>
              </a:rPr>
              <a:t>theo</a:t>
            </a:r>
            <a:r>
              <a:rPr lang="en-US" dirty="0">
                <a:solidFill>
                  <a:schemeClr val="accent6">
                    <a:lumMod val="75000"/>
                  </a:schemeClr>
                </a:solidFill>
              </a:rPr>
              <a:t> </a:t>
            </a:r>
            <a:r>
              <a:rPr lang="en-US" dirty="0" err="1">
                <a:solidFill>
                  <a:schemeClr val="accent6">
                    <a:lumMod val="75000"/>
                  </a:schemeClr>
                </a:solidFill>
              </a:rPr>
              <a:t>kiểu</a:t>
            </a:r>
            <a:r>
              <a:rPr lang="en-US" dirty="0">
                <a:solidFill>
                  <a:schemeClr val="accent6">
                    <a:lumMod val="75000"/>
                  </a:schemeClr>
                </a:solidFill>
              </a:rPr>
              <a:t> "</a:t>
            </a:r>
            <a:r>
              <a:rPr lang="en-US" dirty="0" err="1">
                <a:solidFill>
                  <a:schemeClr val="accent6">
                    <a:lumMod val="75000"/>
                  </a:schemeClr>
                </a:solidFill>
              </a:rPr>
              <a:t>dd</a:t>
            </a:r>
            <a:r>
              <a:rPr lang="en-US" dirty="0">
                <a:solidFill>
                  <a:schemeClr val="accent6">
                    <a:lumMod val="75000"/>
                  </a:schemeClr>
                </a:solidFill>
              </a:rPr>
              <a:t>-mm-</a:t>
            </a:r>
            <a:r>
              <a:rPr lang="en-US" dirty="0" err="1">
                <a:solidFill>
                  <a:schemeClr val="accent6">
                    <a:lumMod val="75000"/>
                  </a:schemeClr>
                </a:solidFill>
              </a:rPr>
              <a:t>yyyy</a:t>
            </a:r>
            <a:r>
              <a:rPr lang="en-US" dirty="0">
                <a:solidFill>
                  <a:schemeClr val="accent6">
                    <a:lumMod val="75000"/>
                  </a:schemeClr>
                </a:solidFill>
              </a:rPr>
              <a:t> H:i:s" </a:t>
            </a:r>
            <a:endParaRPr lang="en-US" dirty="0" smtClean="0">
              <a:solidFill>
                <a:schemeClr val="accent6">
                  <a:lumMod val="75000"/>
                </a:schemeClr>
              </a:solidFill>
            </a:endParaRPr>
          </a:p>
          <a:p>
            <a:r>
              <a:rPr lang="en-US" dirty="0" err="1" smtClean="0">
                <a:solidFill>
                  <a:schemeClr val="bg1"/>
                </a:solidFill>
              </a:rPr>
              <a:t>formatted_time</a:t>
            </a:r>
            <a:r>
              <a:rPr lang="en-US" dirty="0" smtClean="0">
                <a:solidFill>
                  <a:schemeClr val="bg1"/>
                </a:solidFill>
              </a:rPr>
              <a:t> </a:t>
            </a:r>
            <a:r>
              <a:rPr lang="en-US" dirty="0">
                <a:solidFill>
                  <a:schemeClr val="bg1"/>
                </a:solidFill>
              </a:rPr>
              <a:t>= </a:t>
            </a:r>
            <a:r>
              <a:rPr lang="en-US" dirty="0" err="1">
                <a:solidFill>
                  <a:schemeClr val="bg1"/>
                </a:solidFill>
              </a:rPr>
              <a:t>current_time.strftime</a:t>
            </a:r>
            <a:r>
              <a:rPr lang="en-US" dirty="0">
                <a:solidFill>
                  <a:schemeClr val="bg1"/>
                </a:solidFill>
              </a:rPr>
              <a:t>("%d-%m-%Y %H:%M:%S")</a:t>
            </a:r>
            <a:endParaRPr lang="en-US" dirty="0" smtClean="0">
              <a:solidFill>
                <a:schemeClr val="bg1"/>
              </a:solidFill>
            </a:endParaRPr>
          </a:p>
        </p:txBody>
      </p:sp>
    </p:spTree>
    <p:extLst>
      <p:ext uri="{BB962C8B-B14F-4D97-AF65-F5344CB8AC3E}">
        <p14:creationId xmlns:p14="http://schemas.microsoft.com/office/powerpoint/2010/main" val="39017947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a:t>Built-in Modules</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smtClean="0"/>
              <a:t>Module random</a:t>
            </a:r>
            <a:endParaRPr lang="en-US" b="1" dirty="0">
              <a:solidFill>
                <a:srgbClr val="FF0000"/>
              </a:solidFill>
            </a:endParaRPr>
          </a:p>
        </p:txBody>
      </p:sp>
      <p:sp>
        <p:nvSpPr>
          <p:cNvPr id="21" name="TextBox 20"/>
          <p:cNvSpPr txBox="1"/>
          <p:nvPr/>
        </p:nvSpPr>
        <p:spPr>
          <a:xfrm>
            <a:off x="548981" y="1982965"/>
            <a:ext cx="7697972" cy="923330"/>
          </a:xfrm>
          <a:prstGeom prst="rect">
            <a:avLst/>
          </a:prstGeom>
          <a:noFill/>
        </p:spPr>
        <p:txBody>
          <a:bodyPr wrap="square" rtlCol="0">
            <a:spAutoFit/>
          </a:bodyPr>
          <a:lstStyle/>
          <a:p>
            <a:r>
              <a:rPr lang="en-US" dirty="0"/>
              <a:t>C</a:t>
            </a:r>
            <a:r>
              <a:rPr lang="vi-VN" dirty="0" smtClean="0"/>
              <a:t>ung </a:t>
            </a:r>
            <a:r>
              <a:rPr lang="vi-VN" dirty="0"/>
              <a:t>cấp các hàm và phương thức </a:t>
            </a:r>
            <a:r>
              <a:rPr lang="vi-VN" dirty="0" smtClean="0"/>
              <a:t>để</a:t>
            </a:r>
            <a:r>
              <a:rPr lang="en-US" dirty="0" smtClean="0"/>
              <a:t> </a:t>
            </a:r>
            <a:r>
              <a:rPr lang="en-US" dirty="0" err="1"/>
              <a:t>cho</a:t>
            </a:r>
            <a:r>
              <a:rPr lang="en-US" dirty="0"/>
              <a:t> </a:t>
            </a:r>
            <a:r>
              <a:rPr lang="en-US" dirty="0" err="1"/>
              <a:t>phép</a:t>
            </a:r>
            <a:r>
              <a:rPr lang="en-US" dirty="0"/>
              <a:t> </a:t>
            </a:r>
            <a:r>
              <a:rPr lang="en-US" dirty="0" err="1"/>
              <a:t>bạn</a:t>
            </a:r>
            <a:r>
              <a:rPr lang="en-US" dirty="0"/>
              <a:t> </a:t>
            </a:r>
            <a:r>
              <a:rPr lang="en-US" dirty="0" err="1"/>
              <a:t>tạo</a:t>
            </a:r>
            <a:r>
              <a:rPr lang="en-US" dirty="0"/>
              <a:t> </a:t>
            </a:r>
            <a:r>
              <a:rPr lang="en-US" dirty="0" err="1"/>
              <a:t>số</a:t>
            </a:r>
            <a:r>
              <a:rPr lang="en-US" dirty="0"/>
              <a:t> </a:t>
            </a:r>
            <a:r>
              <a:rPr lang="en-US" dirty="0" err="1"/>
              <a:t>ngẫu</a:t>
            </a:r>
            <a:r>
              <a:rPr lang="en-US" dirty="0"/>
              <a:t> </a:t>
            </a:r>
            <a:r>
              <a:rPr lang="en-US" dirty="0" err="1"/>
              <a:t>nhiên</a:t>
            </a:r>
            <a:r>
              <a:rPr lang="en-US" dirty="0"/>
              <a:t>, </a:t>
            </a:r>
            <a:r>
              <a:rPr lang="en-US" dirty="0" err="1"/>
              <a:t>chọn</a:t>
            </a:r>
            <a:r>
              <a:rPr lang="en-US" dirty="0"/>
              <a:t> </a:t>
            </a:r>
            <a:r>
              <a:rPr lang="en-US" dirty="0" err="1"/>
              <a:t>ngẫu</a:t>
            </a:r>
            <a:r>
              <a:rPr lang="en-US" dirty="0"/>
              <a:t> </a:t>
            </a:r>
            <a:r>
              <a:rPr lang="en-US" dirty="0" err="1"/>
              <a:t>nhiên</a:t>
            </a:r>
            <a:r>
              <a:rPr lang="en-US" dirty="0"/>
              <a:t> </a:t>
            </a:r>
            <a:r>
              <a:rPr lang="en-US" dirty="0" err="1"/>
              <a:t>từ</a:t>
            </a:r>
            <a:r>
              <a:rPr lang="en-US" dirty="0"/>
              <a:t> </a:t>
            </a:r>
            <a:r>
              <a:rPr lang="en-US" dirty="0" err="1"/>
              <a:t>một</a:t>
            </a:r>
            <a:r>
              <a:rPr lang="en-US" dirty="0"/>
              <a:t> </a:t>
            </a:r>
            <a:r>
              <a:rPr lang="en-US" dirty="0" err="1"/>
              <a:t>tập</a:t>
            </a:r>
            <a:r>
              <a:rPr lang="en-US" dirty="0"/>
              <a:t> </a:t>
            </a:r>
            <a:r>
              <a:rPr lang="en-US" dirty="0" err="1"/>
              <a:t>hợp</a:t>
            </a:r>
            <a:r>
              <a:rPr lang="en-US" dirty="0"/>
              <a:t>, </a:t>
            </a:r>
            <a:r>
              <a:rPr lang="en-US" dirty="0" err="1"/>
              <a:t>và</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tác</a:t>
            </a:r>
            <a:r>
              <a:rPr lang="en-US" dirty="0"/>
              <a:t> </a:t>
            </a:r>
            <a:r>
              <a:rPr lang="en-US" dirty="0" err="1"/>
              <a:t>vụ</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số</a:t>
            </a:r>
            <a:r>
              <a:rPr lang="en-US" dirty="0"/>
              <a:t> </a:t>
            </a:r>
            <a:r>
              <a:rPr lang="en-US" dirty="0" err="1"/>
              <a:t>ngẫu</a:t>
            </a:r>
            <a:r>
              <a:rPr lang="en-US" dirty="0"/>
              <a:t> </a:t>
            </a:r>
            <a:r>
              <a:rPr lang="en-US" dirty="0" err="1"/>
              <a:t>nhiên</a:t>
            </a:r>
            <a:r>
              <a:rPr lang="en-US" dirty="0"/>
              <a:t>.</a:t>
            </a:r>
          </a:p>
        </p:txBody>
      </p:sp>
      <p:sp>
        <p:nvSpPr>
          <p:cNvPr id="24" name="TextBox 23"/>
          <p:cNvSpPr txBox="1"/>
          <p:nvPr/>
        </p:nvSpPr>
        <p:spPr>
          <a:xfrm>
            <a:off x="548981" y="2992740"/>
            <a:ext cx="8042126" cy="369332"/>
          </a:xfrm>
          <a:prstGeom prst="rect">
            <a:avLst/>
          </a:prstGeom>
          <a:noFill/>
        </p:spPr>
        <p:txBody>
          <a:bodyPr wrap="square" rtlCol="0">
            <a:spAutoFit/>
          </a:bodyPr>
          <a:lstStyle/>
          <a:p>
            <a:r>
              <a:rPr lang="vi-VN" dirty="0"/>
              <a:t>Dưới đây là một số hàm và phương thức quan trọng trong module random:</a:t>
            </a:r>
            <a:endParaRPr lang="en-US" dirty="0"/>
          </a:p>
        </p:txBody>
      </p:sp>
      <p:sp>
        <p:nvSpPr>
          <p:cNvPr id="22" name="Flowchart: Decision 21"/>
          <p:cNvSpPr/>
          <p:nvPr/>
        </p:nvSpPr>
        <p:spPr>
          <a:xfrm>
            <a:off x="582835" y="343133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731691" y="3362072"/>
            <a:ext cx="7697972" cy="369332"/>
          </a:xfrm>
          <a:prstGeom prst="rect">
            <a:avLst/>
          </a:prstGeom>
          <a:noFill/>
        </p:spPr>
        <p:txBody>
          <a:bodyPr wrap="square" rtlCol="0">
            <a:spAutoFit/>
          </a:bodyPr>
          <a:lstStyle/>
          <a:p>
            <a:r>
              <a:rPr lang="en-US" b="1" dirty="0"/>
              <a:t>r</a:t>
            </a:r>
            <a:r>
              <a:rPr lang="en-US" b="1" dirty="0" smtClean="0"/>
              <a:t>andom()</a:t>
            </a:r>
            <a:r>
              <a:rPr lang="en-US" dirty="0" smtClean="0"/>
              <a:t>: </a:t>
            </a:r>
            <a:r>
              <a:rPr lang="en-US" dirty="0" err="1"/>
              <a:t>Trả</a:t>
            </a:r>
            <a:r>
              <a:rPr lang="en-US" dirty="0"/>
              <a:t> </a:t>
            </a:r>
            <a:r>
              <a:rPr lang="en-US" dirty="0" err="1"/>
              <a:t>về</a:t>
            </a:r>
            <a:r>
              <a:rPr lang="en-US" dirty="0"/>
              <a:t> </a:t>
            </a:r>
            <a:r>
              <a:rPr lang="en-US" dirty="0" err="1"/>
              <a:t>một</a:t>
            </a:r>
            <a:r>
              <a:rPr lang="en-US" dirty="0"/>
              <a:t> </a:t>
            </a:r>
            <a:r>
              <a:rPr lang="en-US" dirty="0" err="1"/>
              <a:t>số</a:t>
            </a:r>
            <a:r>
              <a:rPr lang="en-US" dirty="0"/>
              <a:t> </a:t>
            </a:r>
            <a:r>
              <a:rPr lang="en-US" dirty="0" err="1"/>
              <a:t>ngẫu</a:t>
            </a:r>
            <a:r>
              <a:rPr lang="en-US" dirty="0"/>
              <a:t> </a:t>
            </a:r>
            <a:r>
              <a:rPr lang="en-US" dirty="0" err="1"/>
              <a:t>nhiên</a:t>
            </a:r>
            <a:r>
              <a:rPr lang="en-US" dirty="0"/>
              <a:t> </a:t>
            </a:r>
            <a:r>
              <a:rPr lang="en-US" dirty="0" err="1"/>
              <a:t>từ</a:t>
            </a:r>
            <a:r>
              <a:rPr lang="en-US" dirty="0"/>
              <a:t> </a:t>
            </a:r>
            <a:r>
              <a:rPr lang="en-US" dirty="0" err="1"/>
              <a:t>khoảng</a:t>
            </a:r>
            <a:r>
              <a:rPr lang="en-US" dirty="0"/>
              <a:t> [0.0, 1.0)</a:t>
            </a:r>
          </a:p>
        </p:txBody>
      </p:sp>
      <p:sp>
        <p:nvSpPr>
          <p:cNvPr id="25" name="Flowchart: Decision 24"/>
          <p:cNvSpPr/>
          <p:nvPr/>
        </p:nvSpPr>
        <p:spPr>
          <a:xfrm>
            <a:off x="582835" y="388853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731691" y="3776189"/>
            <a:ext cx="7697972" cy="646331"/>
          </a:xfrm>
          <a:prstGeom prst="rect">
            <a:avLst/>
          </a:prstGeom>
          <a:noFill/>
        </p:spPr>
        <p:txBody>
          <a:bodyPr wrap="square" rtlCol="0">
            <a:spAutoFit/>
          </a:bodyPr>
          <a:lstStyle/>
          <a:p>
            <a:r>
              <a:rPr lang="vi-VN" b="1" dirty="0"/>
              <a:t>randrange(start, stop, step)</a:t>
            </a:r>
            <a:r>
              <a:rPr lang="vi-VN" dirty="0"/>
              <a:t>: Trả về một số ngẫu nhiên trong khoảng từ start đến stop (không bao gồm stop) với </a:t>
            </a:r>
            <a:r>
              <a:rPr lang="vi-VN" dirty="0" smtClean="0"/>
              <a:t>bước</a:t>
            </a:r>
            <a:r>
              <a:rPr lang="en-US" dirty="0" smtClean="0"/>
              <a:t> </a:t>
            </a:r>
            <a:r>
              <a:rPr lang="en-US" dirty="0" err="1" smtClean="0"/>
              <a:t>nhảy</a:t>
            </a:r>
            <a:r>
              <a:rPr lang="vi-VN" dirty="0" smtClean="0"/>
              <a:t> </a:t>
            </a:r>
            <a:r>
              <a:rPr lang="vi-VN" dirty="0"/>
              <a:t>step.</a:t>
            </a:r>
            <a:endParaRPr lang="en-US" dirty="0"/>
          </a:p>
        </p:txBody>
      </p:sp>
      <p:sp>
        <p:nvSpPr>
          <p:cNvPr id="27" name="Flowchart: Decision 26"/>
          <p:cNvSpPr/>
          <p:nvPr/>
        </p:nvSpPr>
        <p:spPr>
          <a:xfrm>
            <a:off x="582835" y="457965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731691" y="4510388"/>
            <a:ext cx="7697972" cy="646331"/>
          </a:xfrm>
          <a:prstGeom prst="rect">
            <a:avLst/>
          </a:prstGeom>
          <a:noFill/>
        </p:spPr>
        <p:txBody>
          <a:bodyPr wrap="square" rtlCol="0">
            <a:spAutoFit/>
          </a:bodyPr>
          <a:lstStyle/>
          <a:p>
            <a:r>
              <a:rPr lang="vi-VN" b="1" dirty="0"/>
              <a:t>choice(sequence): </a:t>
            </a:r>
            <a:r>
              <a:rPr lang="vi-VN" dirty="0"/>
              <a:t>Chọn ngẫu nhiên một phần tử từ một sequence (danh sách, tuple, chuỗi).</a:t>
            </a:r>
            <a:endParaRPr lang="en-US" dirty="0"/>
          </a:p>
        </p:txBody>
      </p:sp>
      <p:sp>
        <p:nvSpPr>
          <p:cNvPr id="29" name="Flowchart: Decision 28"/>
          <p:cNvSpPr/>
          <p:nvPr/>
        </p:nvSpPr>
        <p:spPr>
          <a:xfrm>
            <a:off x="582835" y="527076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31691" y="5201504"/>
            <a:ext cx="7697972" cy="369332"/>
          </a:xfrm>
          <a:prstGeom prst="rect">
            <a:avLst/>
          </a:prstGeom>
          <a:noFill/>
        </p:spPr>
        <p:txBody>
          <a:bodyPr wrap="square" rtlCol="0">
            <a:spAutoFit/>
          </a:bodyPr>
          <a:lstStyle/>
          <a:p>
            <a:r>
              <a:rPr lang="vi-VN" b="1" dirty="0"/>
              <a:t>shuffle(sequence)</a:t>
            </a:r>
            <a:r>
              <a:rPr lang="vi-VN" dirty="0"/>
              <a:t>: Xáo trộn một sequence theo thứ tự ngẫu nhiên.</a:t>
            </a:r>
            <a:endParaRPr lang="en-US" dirty="0"/>
          </a:p>
        </p:txBody>
      </p:sp>
      <p:sp>
        <p:nvSpPr>
          <p:cNvPr id="31" name="Flowchart: Decision 30"/>
          <p:cNvSpPr/>
          <p:nvPr/>
        </p:nvSpPr>
        <p:spPr>
          <a:xfrm>
            <a:off x="582835" y="567480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731691" y="5605541"/>
            <a:ext cx="7859416" cy="369332"/>
          </a:xfrm>
          <a:prstGeom prst="rect">
            <a:avLst/>
          </a:prstGeom>
          <a:noFill/>
        </p:spPr>
        <p:txBody>
          <a:bodyPr wrap="square" rtlCol="0">
            <a:spAutoFit/>
          </a:bodyPr>
          <a:lstStyle/>
          <a:p>
            <a:r>
              <a:rPr lang="vi-VN" b="1" dirty="0"/>
              <a:t>sample(population, k)</a:t>
            </a:r>
            <a:r>
              <a:rPr lang="vi-VN" dirty="0"/>
              <a:t>: Trả về một mẫu ngẫu nhiên gồm k phần tử từ một</a:t>
            </a:r>
            <a:endParaRPr lang="en-US" dirty="0"/>
          </a:p>
        </p:txBody>
      </p:sp>
      <p:sp>
        <p:nvSpPr>
          <p:cNvPr id="33" name="Flowchart: Decision 32"/>
          <p:cNvSpPr/>
          <p:nvPr/>
        </p:nvSpPr>
        <p:spPr>
          <a:xfrm>
            <a:off x="582835" y="614263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731691" y="6073373"/>
            <a:ext cx="7859416" cy="369332"/>
          </a:xfrm>
          <a:prstGeom prst="rect">
            <a:avLst/>
          </a:prstGeom>
          <a:noFill/>
        </p:spPr>
        <p:txBody>
          <a:bodyPr wrap="square" rtlCol="0">
            <a:spAutoFit/>
          </a:bodyPr>
          <a:lstStyle/>
          <a:p>
            <a:r>
              <a:rPr lang="vi-VN" b="1" dirty="0"/>
              <a:t>population</a:t>
            </a:r>
            <a:r>
              <a:rPr lang="vi-VN" dirty="0"/>
              <a:t> (danh sách, tuple, chuỗi) mà không có sự trùng lặp.</a:t>
            </a:r>
            <a:endParaRPr lang="en-US" dirty="0"/>
          </a:p>
        </p:txBody>
      </p:sp>
    </p:spTree>
    <p:extLst>
      <p:ext uri="{BB962C8B-B14F-4D97-AF65-F5344CB8AC3E}">
        <p14:creationId xmlns:p14="http://schemas.microsoft.com/office/powerpoint/2010/main" val="22271235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smtClean="0"/>
              <a:t>Built-in Modules</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a:t>Module random</a:t>
            </a:r>
            <a:endParaRPr lang="en-US" b="1" dirty="0">
              <a:solidFill>
                <a:srgbClr val="FF0000"/>
              </a:solidFill>
            </a:endParaRPr>
          </a:p>
        </p:txBody>
      </p:sp>
      <p:sp>
        <p:nvSpPr>
          <p:cNvPr id="22" name="Rectangle 21"/>
          <p:cNvSpPr/>
          <p:nvPr/>
        </p:nvSpPr>
        <p:spPr>
          <a:xfrm>
            <a:off x="657263" y="2582456"/>
            <a:ext cx="7774356" cy="372265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38017" y="2732856"/>
            <a:ext cx="7402216" cy="3139321"/>
          </a:xfrm>
          <a:prstGeom prst="rect">
            <a:avLst/>
          </a:prstGeom>
          <a:noFill/>
        </p:spPr>
        <p:txBody>
          <a:bodyPr wrap="square" rtlCol="0">
            <a:spAutoFit/>
          </a:bodyPr>
          <a:lstStyle/>
          <a:p>
            <a:r>
              <a:rPr lang="en-US" dirty="0" smtClean="0">
                <a:solidFill>
                  <a:srgbClr val="00B0F0"/>
                </a:solidFill>
              </a:rPr>
              <a:t>import</a:t>
            </a:r>
            <a:r>
              <a:rPr lang="en-US" dirty="0" smtClean="0">
                <a:solidFill>
                  <a:schemeClr val="bg1"/>
                </a:solidFill>
              </a:rPr>
              <a:t> random </a:t>
            </a:r>
          </a:p>
          <a:p>
            <a:endParaRPr lang="en-US" dirty="0" smtClean="0">
              <a:solidFill>
                <a:schemeClr val="bg1"/>
              </a:solidFill>
            </a:endParaRPr>
          </a:p>
          <a:p>
            <a:r>
              <a:rPr lang="en-US" dirty="0">
                <a:solidFill>
                  <a:schemeClr val="accent6">
                    <a:lumMod val="75000"/>
                  </a:schemeClr>
                </a:solidFill>
              </a:rPr>
              <a:t># </a:t>
            </a:r>
            <a:r>
              <a:rPr lang="en-US" dirty="0" err="1">
                <a:solidFill>
                  <a:schemeClr val="accent6">
                    <a:lumMod val="75000"/>
                  </a:schemeClr>
                </a:solidFill>
              </a:rPr>
              <a:t>Tạo</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a:t>
            </a:r>
            <a:r>
              <a:rPr lang="en-US" dirty="0" err="1">
                <a:solidFill>
                  <a:schemeClr val="accent6">
                    <a:lumMod val="75000"/>
                  </a:schemeClr>
                </a:solidFill>
              </a:rPr>
              <a:t>ngẫu</a:t>
            </a:r>
            <a:r>
              <a:rPr lang="en-US" dirty="0">
                <a:solidFill>
                  <a:schemeClr val="accent6">
                    <a:lumMod val="75000"/>
                  </a:schemeClr>
                </a:solidFill>
              </a:rPr>
              <a:t> </a:t>
            </a:r>
            <a:r>
              <a:rPr lang="en-US" dirty="0" err="1">
                <a:solidFill>
                  <a:schemeClr val="accent6">
                    <a:lumMod val="75000"/>
                  </a:schemeClr>
                </a:solidFill>
              </a:rPr>
              <a:t>nhiên</a:t>
            </a:r>
            <a:r>
              <a:rPr lang="en-US" dirty="0">
                <a:solidFill>
                  <a:schemeClr val="accent6">
                    <a:lumMod val="75000"/>
                  </a:schemeClr>
                </a:solidFill>
              </a:rPr>
              <a:t> </a:t>
            </a:r>
            <a:r>
              <a:rPr lang="en-US" dirty="0" err="1">
                <a:solidFill>
                  <a:schemeClr val="accent6">
                    <a:lumMod val="75000"/>
                  </a:schemeClr>
                </a:solidFill>
              </a:rPr>
              <a:t>từ</a:t>
            </a:r>
            <a:r>
              <a:rPr lang="en-US" dirty="0">
                <a:solidFill>
                  <a:schemeClr val="accent6">
                    <a:lumMod val="75000"/>
                  </a:schemeClr>
                </a:solidFill>
              </a:rPr>
              <a:t> 0.0 </a:t>
            </a:r>
            <a:r>
              <a:rPr lang="en-US" dirty="0" err="1">
                <a:solidFill>
                  <a:schemeClr val="accent6">
                    <a:lumMod val="75000"/>
                  </a:schemeClr>
                </a:solidFill>
              </a:rPr>
              <a:t>đến</a:t>
            </a:r>
            <a:r>
              <a:rPr lang="en-US" dirty="0">
                <a:solidFill>
                  <a:schemeClr val="accent6">
                    <a:lumMod val="75000"/>
                  </a:schemeClr>
                </a:solidFill>
              </a:rPr>
              <a:t> 1.0 </a:t>
            </a:r>
            <a:endParaRPr lang="en-US" dirty="0" smtClean="0">
              <a:solidFill>
                <a:schemeClr val="accent6">
                  <a:lumMod val="75000"/>
                </a:schemeClr>
              </a:solidFill>
            </a:endParaRPr>
          </a:p>
          <a:p>
            <a:r>
              <a:rPr lang="en-US" dirty="0" err="1" smtClean="0">
                <a:solidFill>
                  <a:schemeClr val="bg1"/>
                </a:solidFill>
              </a:rPr>
              <a:t>random_number</a:t>
            </a:r>
            <a:r>
              <a:rPr lang="en-US" dirty="0" smtClean="0">
                <a:solidFill>
                  <a:schemeClr val="bg1"/>
                </a:solidFill>
              </a:rPr>
              <a:t> </a:t>
            </a:r>
            <a:r>
              <a:rPr lang="en-US" dirty="0">
                <a:solidFill>
                  <a:schemeClr val="bg1"/>
                </a:solidFill>
              </a:rPr>
              <a:t>= </a:t>
            </a:r>
            <a:r>
              <a:rPr lang="en-US" dirty="0" err="1">
                <a:solidFill>
                  <a:schemeClr val="bg1"/>
                </a:solidFill>
              </a:rPr>
              <a:t>random.random</a:t>
            </a:r>
            <a:r>
              <a:rPr lang="en-US" dirty="0">
                <a:solidFill>
                  <a:schemeClr val="bg1"/>
                </a:solidFill>
              </a:rPr>
              <a:t>()</a:t>
            </a:r>
            <a:r>
              <a:rPr lang="en-US" dirty="0" smtClean="0">
                <a:solidFill>
                  <a:schemeClr val="bg1"/>
                </a:solidFill>
              </a:rPr>
              <a:t> </a:t>
            </a:r>
          </a:p>
          <a:p>
            <a:endParaRPr lang="en-US" dirty="0" smtClean="0">
              <a:solidFill>
                <a:schemeClr val="bg1"/>
              </a:solidFill>
            </a:endParaRPr>
          </a:p>
          <a:p>
            <a:r>
              <a:rPr lang="en-US" dirty="0">
                <a:solidFill>
                  <a:schemeClr val="accent6">
                    <a:lumMod val="75000"/>
                  </a:schemeClr>
                </a:solidFill>
              </a:rPr>
              <a:t># </a:t>
            </a:r>
            <a:r>
              <a:rPr lang="en-US" dirty="0" err="1">
                <a:solidFill>
                  <a:schemeClr val="accent6">
                    <a:lumMod val="75000"/>
                  </a:schemeClr>
                </a:solidFill>
              </a:rPr>
              <a:t>Tạo</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a:t>
            </a:r>
            <a:r>
              <a:rPr lang="en-US" dirty="0" err="1">
                <a:solidFill>
                  <a:schemeClr val="accent6">
                    <a:lumMod val="75000"/>
                  </a:schemeClr>
                </a:solidFill>
              </a:rPr>
              <a:t>ngẫu</a:t>
            </a:r>
            <a:r>
              <a:rPr lang="en-US" dirty="0">
                <a:solidFill>
                  <a:schemeClr val="accent6">
                    <a:lumMod val="75000"/>
                  </a:schemeClr>
                </a:solidFill>
              </a:rPr>
              <a:t> </a:t>
            </a:r>
            <a:r>
              <a:rPr lang="en-US" dirty="0" err="1">
                <a:solidFill>
                  <a:schemeClr val="accent6">
                    <a:lumMod val="75000"/>
                  </a:schemeClr>
                </a:solidFill>
              </a:rPr>
              <a:t>nhiên</a:t>
            </a:r>
            <a:r>
              <a:rPr lang="en-US" dirty="0">
                <a:solidFill>
                  <a:schemeClr val="accent6">
                    <a:lumMod val="75000"/>
                  </a:schemeClr>
                </a:solidFill>
              </a:rPr>
              <a:t> </a:t>
            </a:r>
            <a:r>
              <a:rPr lang="en-US" dirty="0" err="1">
                <a:solidFill>
                  <a:schemeClr val="accent6">
                    <a:lumMod val="75000"/>
                  </a:schemeClr>
                </a:solidFill>
              </a:rPr>
              <a:t>từ</a:t>
            </a:r>
            <a:r>
              <a:rPr lang="en-US" dirty="0">
                <a:solidFill>
                  <a:schemeClr val="accent6">
                    <a:lumMod val="75000"/>
                  </a:schemeClr>
                </a:solidFill>
              </a:rPr>
              <a:t> 1 </a:t>
            </a:r>
            <a:r>
              <a:rPr lang="en-US" dirty="0" err="1">
                <a:solidFill>
                  <a:schemeClr val="accent6">
                    <a:lumMod val="75000"/>
                  </a:schemeClr>
                </a:solidFill>
              </a:rPr>
              <a:t>đến</a:t>
            </a:r>
            <a:r>
              <a:rPr lang="en-US" dirty="0">
                <a:solidFill>
                  <a:schemeClr val="accent6">
                    <a:lumMod val="75000"/>
                  </a:schemeClr>
                </a:solidFill>
              </a:rPr>
              <a:t> 10 </a:t>
            </a:r>
            <a:endParaRPr lang="en-US" dirty="0" smtClean="0">
              <a:solidFill>
                <a:schemeClr val="accent6">
                  <a:lumMod val="75000"/>
                </a:schemeClr>
              </a:solidFill>
            </a:endParaRPr>
          </a:p>
          <a:p>
            <a:r>
              <a:rPr lang="en-US" dirty="0" err="1" smtClean="0">
                <a:solidFill>
                  <a:schemeClr val="bg1"/>
                </a:solidFill>
              </a:rPr>
              <a:t>random_int</a:t>
            </a:r>
            <a:r>
              <a:rPr lang="en-US" dirty="0" smtClean="0">
                <a:solidFill>
                  <a:schemeClr val="bg1"/>
                </a:solidFill>
              </a:rPr>
              <a:t> </a:t>
            </a:r>
            <a:r>
              <a:rPr lang="en-US" dirty="0">
                <a:solidFill>
                  <a:schemeClr val="bg1"/>
                </a:solidFill>
              </a:rPr>
              <a:t>= </a:t>
            </a:r>
            <a:r>
              <a:rPr lang="en-US" dirty="0" err="1">
                <a:solidFill>
                  <a:schemeClr val="bg1"/>
                </a:solidFill>
              </a:rPr>
              <a:t>random.randint</a:t>
            </a:r>
            <a:r>
              <a:rPr lang="en-US" dirty="0">
                <a:solidFill>
                  <a:schemeClr val="bg1"/>
                </a:solidFill>
              </a:rPr>
              <a:t>(1, 10</a:t>
            </a:r>
            <a:r>
              <a:rPr lang="en-US" dirty="0" smtClean="0">
                <a:solidFill>
                  <a:schemeClr val="bg1"/>
                </a:solidFill>
              </a:rPr>
              <a:t>)</a:t>
            </a:r>
          </a:p>
          <a:p>
            <a:endParaRPr lang="en-US" dirty="0">
              <a:solidFill>
                <a:schemeClr val="bg1"/>
              </a:solidFill>
            </a:endParaRPr>
          </a:p>
          <a:p>
            <a:r>
              <a:rPr lang="en-US" dirty="0">
                <a:solidFill>
                  <a:schemeClr val="accent6">
                    <a:lumMod val="75000"/>
                  </a:schemeClr>
                </a:solidFill>
              </a:rPr>
              <a:t># </a:t>
            </a:r>
            <a:r>
              <a:rPr lang="en-US" dirty="0" err="1">
                <a:solidFill>
                  <a:schemeClr val="accent6">
                    <a:lumMod val="75000"/>
                  </a:schemeClr>
                </a:solidFill>
              </a:rPr>
              <a:t>Chọn</a:t>
            </a:r>
            <a:r>
              <a:rPr lang="en-US" dirty="0">
                <a:solidFill>
                  <a:schemeClr val="accent6">
                    <a:lumMod val="75000"/>
                  </a:schemeClr>
                </a:solidFill>
              </a:rPr>
              <a:t> </a:t>
            </a:r>
            <a:r>
              <a:rPr lang="en-US" dirty="0" err="1">
                <a:solidFill>
                  <a:schemeClr val="accent6">
                    <a:lumMod val="75000"/>
                  </a:schemeClr>
                </a:solidFill>
              </a:rPr>
              <a:t>ngẫu</a:t>
            </a:r>
            <a:r>
              <a:rPr lang="en-US" dirty="0">
                <a:solidFill>
                  <a:schemeClr val="accent6">
                    <a:lumMod val="75000"/>
                  </a:schemeClr>
                </a:solidFill>
              </a:rPr>
              <a:t> </a:t>
            </a:r>
            <a:r>
              <a:rPr lang="en-US" dirty="0" err="1">
                <a:solidFill>
                  <a:schemeClr val="accent6">
                    <a:lumMod val="75000"/>
                  </a:schemeClr>
                </a:solidFill>
              </a:rPr>
              <a:t>nhiên</a:t>
            </a:r>
            <a:r>
              <a:rPr lang="en-US" dirty="0">
                <a:solidFill>
                  <a:schemeClr val="accent6">
                    <a:lumMod val="75000"/>
                  </a:schemeClr>
                </a:solidFill>
              </a:rPr>
              <a:t> </a:t>
            </a:r>
            <a:r>
              <a:rPr lang="en-US" dirty="0" err="1">
                <a:solidFill>
                  <a:schemeClr val="accent6">
                    <a:lumMod val="75000"/>
                  </a:schemeClr>
                </a:solidFill>
              </a:rPr>
              <a:t>một</a:t>
            </a:r>
            <a:r>
              <a:rPr lang="en-US" dirty="0">
                <a:solidFill>
                  <a:schemeClr val="accent6">
                    <a:lumMod val="75000"/>
                  </a:schemeClr>
                </a:solidFill>
              </a:rPr>
              <a:t> </a:t>
            </a:r>
            <a:r>
              <a:rPr lang="en-US" dirty="0" err="1">
                <a:solidFill>
                  <a:schemeClr val="accent6">
                    <a:lumMod val="75000"/>
                  </a:schemeClr>
                </a:solidFill>
              </a:rPr>
              <a:t>phần</a:t>
            </a:r>
            <a:r>
              <a:rPr lang="en-US" dirty="0">
                <a:solidFill>
                  <a:schemeClr val="accent6">
                    <a:lumMod val="75000"/>
                  </a:schemeClr>
                </a:solidFill>
              </a:rPr>
              <a:t> </a:t>
            </a:r>
            <a:r>
              <a:rPr lang="en-US" dirty="0" err="1">
                <a:solidFill>
                  <a:schemeClr val="accent6">
                    <a:lumMod val="75000"/>
                  </a:schemeClr>
                </a:solidFill>
              </a:rPr>
              <a:t>tử</a:t>
            </a:r>
            <a:r>
              <a:rPr lang="en-US" dirty="0">
                <a:solidFill>
                  <a:schemeClr val="accent6">
                    <a:lumMod val="75000"/>
                  </a:schemeClr>
                </a:solidFill>
              </a:rPr>
              <a:t> </a:t>
            </a:r>
            <a:r>
              <a:rPr lang="en-US" dirty="0" err="1">
                <a:solidFill>
                  <a:schemeClr val="accent6">
                    <a:lumMod val="75000"/>
                  </a:schemeClr>
                </a:solidFill>
              </a:rPr>
              <a:t>từ</a:t>
            </a:r>
            <a:r>
              <a:rPr lang="en-US" dirty="0">
                <a:solidFill>
                  <a:schemeClr val="accent6">
                    <a:lumMod val="75000"/>
                  </a:schemeClr>
                </a:solidFill>
              </a:rPr>
              <a:t> </a:t>
            </a:r>
            <a:r>
              <a:rPr lang="en-US" dirty="0" err="1">
                <a:solidFill>
                  <a:schemeClr val="accent6">
                    <a:lumMod val="75000"/>
                  </a:schemeClr>
                </a:solidFill>
              </a:rPr>
              <a:t>danh</a:t>
            </a:r>
            <a:r>
              <a:rPr lang="en-US" dirty="0">
                <a:solidFill>
                  <a:schemeClr val="accent6">
                    <a:lumMod val="75000"/>
                  </a:schemeClr>
                </a:solidFill>
              </a:rPr>
              <a:t> </a:t>
            </a:r>
            <a:r>
              <a:rPr lang="en-US" dirty="0" err="1">
                <a:solidFill>
                  <a:schemeClr val="accent6">
                    <a:lumMod val="75000"/>
                  </a:schemeClr>
                </a:solidFill>
              </a:rPr>
              <a:t>sách</a:t>
            </a:r>
            <a:r>
              <a:rPr lang="en-US" dirty="0">
                <a:solidFill>
                  <a:schemeClr val="accent6">
                    <a:lumMod val="75000"/>
                  </a:schemeClr>
                </a:solidFill>
              </a:rPr>
              <a:t> </a:t>
            </a:r>
            <a:endParaRPr lang="en-US" dirty="0" smtClean="0">
              <a:solidFill>
                <a:schemeClr val="accent6">
                  <a:lumMod val="75000"/>
                </a:schemeClr>
              </a:solidFill>
            </a:endParaRPr>
          </a:p>
          <a:p>
            <a:r>
              <a:rPr lang="en-US" dirty="0" err="1" smtClean="0">
                <a:solidFill>
                  <a:schemeClr val="bg1"/>
                </a:solidFill>
              </a:rPr>
              <a:t>my_list</a:t>
            </a:r>
            <a:r>
              <a:rPr lang="en-US" dirty="0" smtClean="0">
                <a:solidFill>
                  <a:schemeClr val="bg1"/>
                </a:solidFill>
              </a:rPr>
              <a:t> </a:t>
            </a:r>
            <a:r>
              <a:rPr lang="en-US" dirty="0">
                <a:solidFill>
                  <a:schemeClr val="bg1"/>
                </a:solidFill>
              </a:rPr>
              <a:t>= [1, 2, 3, 4, 5] </a:t>
            </a:r>
            <a:endParaRPr lang="en-US" dirty="0" smtClean="0">
              <a:solidFill>
                <a:schemeClr val="bg1"/>
              </a:solidFill>
            </a:endParaRPr>
          </a:p>
          <a:p>
            <a:r>
              <a:rPr lang="en-US" dirty="0" err="1" smtClean="0">
                <a:solidFill>
                  <a:schemeClr val="bg1"/>
                </a:solidFill>
              </a:rPr>
              <a:t>random_element</a:t>
            </a:r>
            <a:r>
              <a:rPr lang="en-US" dirty="0" smtClean="0">
                <a:solidFill>
                  <a:schemeClr val="bg1"/>
                </a:solidFill>
              </a:rPr>
              <a:t> </a:t>
            </a:r>
            <a:r>
              <a:rPr lang="en-US" dirty="0">
                <a:solidFill>
                  <a:schemeClr val="bg1"/>
                </a:solidFill>
              </a:rPr>
              <a:t>= </a:t>
            </a:r>
            <a:r>
              <a:rPr lang="en-US" dirty="0" err="1">
                <a:solidFill>
                  <a:schemeClr val="bg1"/>
                </a:solidFill>
              </a:rPr>
              <a:t>random.choice</a:t>
            </a:r>
            <a:r>
              <a:rPr lang="en-US" dirty="0">
                <a:solidFill>
                  <a:schemeClr val="bg1"/>
                </a:solidFill>
              </a:rPr>
              <a:t>(</a:t>
            </a:r>
            <a:r>
              <a:rPr lang="en-US" dirty="0" err="1">
                <a:solidFill>
                  <a:schemeClr val="bg1"/>
                </a:solidFill>
              </a:rPr>
              <a:t>my_list</a:t>
            </a:r>
            <a:r>
              <a:rPr lang="en-US" dirty="0">
                <a:solidFill>
                  <a:schemeClr val="bg1"/>
                </a:solidFill>
              </a:rPr>
              <a:t>)</a:t>
            </a:r>
            <a:endParaRPr lang="en-US" dirty="0" smtClean="0">
              <a:solidFill>
                <a:schemeClr val="bg1"/>
              </a:solidFill>
            </a:endParaRPr>
          </a:p>
        </p:txBody>
      </p:sp>
      <p:sp>
        <p:nvSpPr>
          <p:cNvPr id="8" name="TextBox 7"/>
          <p:cNvSpPr txBox="1"/>
          <p:nvPr/>
        </p:nvSpPr>
        <p:spPr>
          <a:xfrm>
            <a:off x="548981" y="2118089"/>
            <a:ext cx="7697972" cy="369332"/>
          </a:xfrm>
          <a:prstGeom prst="rect">
            <a:avLst/>
          </a:prstGeom>
          <a:noFill/>
        </p:spPr>
        <p:txBody>
          <a:bodyPr wrap="square" rtlCol="0">
            <a:spAutoFit/>
          </a:bodyPr>
          <a:lstStyle/>
          <a:p>
            <a:r>
              <a:rPr lang="en-US" dirty="0" err="1" smtClean="0"/>
              <a:t>Một</a:t>
            </a:r>
            <a:r>
              <a:rPr lang="en-US" dirty="0" smtClean="0"/>
              <a:t> </a:t>
            </a:r>
            <a:r>
              <a:rPr lang="en-US" dirty="0" err="1" smtClean="0"/>
              <a:t>số</a:t>
            </a:r>
            <a:r>
              <a:rPr lang="en-US" dirty="0" smtClean="0"/>
              <a:t> </a:t>
            </a:r>
            <a:r>
              <a:rPr lang="en-US" dirty="0" err="1" smtClean="0"/>
              <a:t>ví</a:t>
            </a:r>
            <a:r>
              <a:rPr lang="en-US" dirty="0" smtClean="0"/>
              <a:t> </a:t>
            </a:r>
            <a:r>
              <a:rPr lang="en-US" dirty="0" err="1" smtClean="0"/>
              <a:t>dụ</a:t>
            </a:r>
            <a:endParaRPr lang="en-US" dirty="0"/>
          </a:p>
        </p:txBody>
      </p:sp>
    </p:spTree>
    <p:extLst>
      <p:ext uri="{BB962C8B-B14F-4D97-AF65-F5344CB8AC3E}">
        <p14:creationId xmlns:p14="http://schemas.microsoft.com/office/powerpoint/2010/main" val="620160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smtClean="0"/>
              <a:t>Built-in Modules</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a:t>Module </a:t>
            </a:r>
            <a:r>
              <a:rPr lang="en-US" b="1" smtClean="0"/>
              <a:t>os</a:t>
            </a:r>
            <a:endParaRPr lang="en-US" b="1" dirty="0">
              <a:solidFill>
                <a:srgbClr val="FF0000"/>
              </a:solidFill>
            </a:endParaRPr>
          </a:p>
        </p:txBody>
      </p:sp>
      <p:sp>
        <p:nvSpPr>
          <p:cNvPr id="22" name="Rectangle 21"/>
          <p:cNvSpPr/>
          <p:nvPr/>
        </p:nvSpPr>
        <p:spPr>
          <a:xfrm>
            <a:off x="657263" y="2582456"/>
            <a:ext cx="7774356" cy="372265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38017" y="2732856"/>
            <a:ext cx="7402216" cy="3139321"/>
          </a:xfrm>
          <a:prstGeom prst="rect">
            <a:avLst/>
          </a:prstGeom>
          <a:noFill/>
        </p:spPr>
        <p:txBody>
          <a:bodyPr wrap="square" rtlCol="0">
            <a:spAutoFit/>
          </a:bodyPr>
          <a:lstStyle/>
          <a:p>
            <a:r>
              <a:rPr lang="en-US" dirty="0" smtClean="0">
                <a:solidFill>
                  <a:srgbClr val="00B0F0"/>
                </a:solidFill>
              </a:rPr>
              <a:t>import</a:t>
            </a:r>
            <a:r>
              <a:rPr lang="en-US" dirty="0" smtClean="0">
                <a:solidFill>
                  <a:schemeClr val="bg1"/>
                </a:solidFill>
              </a:rPr>
              <a:t> random </a:t>
            </a:r>
          </a:p>
          <a:p>
            <a:endParaRPr lang="en-US" dirty="0" smtClean="0">
              <a:solidFill>
                <a:schemeClr val="bg1"/>
              </a:solidFill>
            </a:endParaRPr>
          </a:p>
          <a:p>
            <a:r>
              <a:rPr lang="en-US" dirty="0">
                <a:solidFill>
                  <a:schemeClr val="accent6">
                    <a:lumMod val="75000"/>
                  </a:schemeClr>
                </a:solidFill>
              </a:rPr>
              <a:t># </a:t>
            </a:r>
            <a:r>
              <a:rPr lang="en-US" dirty="0" err="1">
                <a:solidFill>
                  <a:schemeClr val="accent6">
                    <a:lumMod val="75000"/>
                  </a:schemeClr>
                </a:solidFill>
              </a:rPr>
              <a:t>Tạo</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a:t>
            </a:r>
            <a:r>
              <a:rPr lang="en-US" dirty="0" err="1">
                <a:solidFill>
                  <a:schemeClr val="accent6">
                    <a:lumMod val="75000"/>
                  </a:schemeClr>
                </a:solidFill>
              </a:rPr>
              <a:t>ngẫu</a:t>
            </a:r>
            <a:r>
              <a:rPr lang="en-US" dirty="0">
                <a:solidFill>
                  <a:schemeClr val="accent6">
                    <a:lumMod val="75000"/>
                  </a:schemeClr>
                </a:solidFill>
              </a:rPr>
              <a:t> </a:t>
            </a:r>
            <a:r>
              <a:rPr lang="en-US" dirty="0" err="1">
                <a:solidFill>
                  <a:schemeClr val="accent6">
                    <a:lumMod val="75000"/>
                  </a:schemeClr>
                </a:solidFill>
              </a:rPr>
              <a:t>nhiên</a:t>
            </a:r>
            <a:r>
              <a:rPr lang="en-US" dirty="0">
                <a:solidFill>
                  <a:schemeClr val="accent6">
                    <a:lumMod val="75000"/>
                  </a:schemeClr>
                </a:solidFill>
              </a:rPr>
              <a:t> </a:t>
            </a:r>
            <a:r>
              <a:rPr lang="en-US" dirty="0" err="1">
                <a:solidFill>
                  <a:schemeClr val="accent6">
                    <a:lumMod val="75000"/>
                  </a:schemeClr>
                </a:solidFill>
              </a:rPr>
              <a:t>từ</a:t>
            </a:r>
            <a:r>
              <a:rPr lang="en-US" dirty="0">
                <a:solidFill>
                  <a:schemeClr val="accent6">
                    <a:lumMod val="75000"/>
                  </a:schemeClr>
                </a:solidFill>
              </a:rPr>
              <a:t> 0.0 </a:t>
            </a:r>
            <a:r>
              <a:rPr lang="en-US" dirty="0" err="1">
                <a:solidFill>
                  <a:schemeClr val="accent6">
                    <a:lumMod val="75000"/>
                  </a:schemeClr>
                </a:solidFill>
              </a:rPr>
              <a:t>đến</a:t>
            </a:r>
            <a:r>
              <a:rPr lang="en-US" dirty="0">
                <a:solidFill>
                  <a:schemeClr val="accent6">
                    <a:lumMod val="75000"/>
                  </a:schemeClr>
                </a:solidFill>
              </a:rPr>
              <a:t> 1.0 </a:t>
            </a:r>
            <a:endParaRPr lang="en-US" dirty="0" smtClean="0">
              <a:solidFill>
                <a:schemeClr val="accent6">
                  <a:lumMod val="75000"/>
                </a:schemeClr>
              </a:solidFill>
            </a:endParaRPr>
          </a:p>
          <a:p>
            <a:r>
              <a:rPr lang="en-US" dirty="0" err="1" smtClean="0">
                <a:solidFill>
                  <a:schemeClr val="bg1"/>
                </a:solidFill>
              </a:rPr>
              <a:t>random_number</a:t>
            </a:r>
            <a:r>
              <a:rPr lang="en-US" dirty="0" smtClean="0">
                <a:solidFill>
                  <a:schemeClr val="bg1"/>
                </a:solidFill>
              </a:rPr>
              <a:t> </a:t>
            </a:r>
            <a:r>
              <a:rPr lang="en-US" dirty="0">
                <a:solidFill>
                  <a:schemeClr val="bg1"/>
                </a:solidFill>
              </a:rPr>
              <a:t>= </a:t>
            </a:r>
            <a:r>
              <a:rPr lang="en-US" dirty="0" err="1">
                <a:solidFill>
                  <a:schemeClr val="bg1"/>
                </a:solidFill>
              </a:rPr>
              <a:t>random.random</a:t>
            </a:r>
            <a:r>
              <a:rPr lang="en-US" dirty="0">
                <a:solidFill>
                  <a:schemeClr val="bg1"/>
                </a:solidFill>
              </a:rPr>
              <a:t>()</a:t>
            </a:r>
            <a:r>
              <a:rPr lang="en-US" dirty="0" smtClean="0">
                <a:solidFill>
                  <a:schemeClr val="bg1"/>
                </a:solidFill>
              </a:rPr>
              <a:t> </a:t>
            </a:r>
          </a:p>
          <a:p>
            <a:endParaRPr lang="en-US" dirty="0" smtClean="0">
              <a:solidFill>
                <a:schemeClr val="bg1"/>
              </a:solidFill>
            </a:endParaRPr>
          </a:p>
          <a:p>
            <a:r>
              <a:rPr lang="en-US" dirty="0">
                <a:solidFill>
                  <a:schemeClr val="accent6">
                    <a:lumMod val="75000"/>
                  </a:schemeClr>
                </a:solidFill>
              </a:rPr>
              <a:t># </a:t>
            </a:r>
            <a:r>
              <a:rPr lang="en-US" dirty="0" err="1">
                <a:solidFill>
                  <a:schemeClr val="accent6">
                    <a:lumMod val="75000"/>
                  </a:schemeClr>
                </a:solidFill>
              </a:rPr>
              <a:t>Tạo</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a:t>
            </a:r>
            <a:r>
              <a:rPr lang="en-US" dirty="0" err="1">
                <a:solidFill>
                  <a:schemeClr val="accent6">
                    <a:lumMod val="75000"/>
                  </a:schemeClr>
                </a:solidFill>
              </a:rPr>
              <a:t>ngẫu</a:t>
            </a:r>
            <a:r>
              <a:rPr lang="en-US" dirty="0">
                <a:solidFill>
                  <a:schemeClr val="accent6">
                    <a:lumMod val="75000"/>
                  </a:schemeClr>
                </a:solidFill>
              </a:rPr>
              <a:t> </a:t>
            </a:r>
            <a:r>
              <a:rPr lang="en-US" dirty="0" err="1">
                <a:solidFill>
                  <a:schemeClr val="accent6">
                    <a:lumMod val="75000"/>
                  </a:schemeClr>
                </a:solidFill>
              </a:rPr>
              <a:t>nhiên</a:t>
            </a:r>
            <a:r>
              <a:rPr lang="en-US" dirty="0">
                <a:solidFill>
                  <a:schemeClr val="accent6">
                    <a:lumMod val="75000"/>
                  </a:schemeClr>
                </a:solidFill>
              </a:rPr>
              <a:t> </a:t>
            </a:r>
            <a:r>
              <a:rPr lang="en-US" dirty="0" err="1">
                <a:solidFill>
                  <a:schemeClr val="accent6">
                    <a:lumMod val="75000"/>
                  </a:schemeClr>
                </a:solidFill>
              </a:rPr>
              <a:t>từ</a:t>
            </a:r>
            <a:r>
              <a:rPr lang="en-US" dirty="0">
                <a:solidFill>
                  <a:schemeClr val="accent6">
                    <a:lumMod val="75000"/>
                  </a:schemeClr>
                </a:solidFill>
              </a:rPr>
              <a:t> 1 </a:t>
            </a:r>
            <a:r>
              <a:rPr lang="en-US" dirty="0" err="1">
                <a:solidFill>
                  <a:schemeClr val="accent6">
                    <a:lumMod val="75000"/>
                  </a:schemeClr>
                </a:solidFill>
              </a:rPr>
              <a:t>đến</a:t>
            </a:r>
            <a:r>
              <a:rPr lang="en-US" dirty="0">
                <a:solidFill>
                  <a:schemeClr val="accent6">
                    <a:lumMod val="75000"/>
                  </a:schemeClr>
                </a:solidFill>
              </a:rPr>
              <a:t> 10 </a:t>
            </a:r>
            <a:endParaRPr lang="en-US" dirty="0" smtClean="0">
              <a:solidFill>
                <a:schemeClr val="accent6">
                  <a:lumMod val="75000"/>
                </a:schemeClr>
              </a:solidFill>
            </a:endParaRPr>
          </a:p>
          <a:p>
            <a:r>
              <a:rPr lang="en-US" dirty="0" err="1" smtClean="0">
                <a:solidFill>
                  <a:schemeClr val="bg1"/>
                </a:solidFill>
              </a:rPr>
              <a:t>random_int</a:t>
            </a:r>
            <a:r>
              <a:rPr lang="en-US" dirty="0" smtClean="0">
                <a:solidFill>
                  <a:schemeClr val="bg1"/>
                </a:solidFill>
              </a:rPr>
              <a:t> </a:t>
            </a:r>
            <a:r>
              <a:rPr lang="en-US" dirty="0">
                <a:solidFill>
                  <a:schemeClr val="bg1"/>
                </a:solidFill>
              </a:rPr>
              <a:t>= </a:t>
            </a:r>
            <a:r>
              <a:rPr lang="en-US" dirty="0" err="1">
                <a:solidFill>
                  <a:schemeClr val="bg1"/>
                </a:solidFill>
              </a:rPr>
              <a:t>random.randint</a:t>
            </a:r>
            <a:r>
              <a:rPr lang="en-US" dirty="0">
                <a:solidFill>
                  <a:schemeClr val="bg1"/>
                </a:solidFill>
              </a:rPr>
              <a:t>(1, 10</a:t>
            </a:r>
            <a:r>
              <a:rPr lang="en-US" dirty="0" smtClean="0">
                <a:solidFill>
                  <a:schemeClr val="bg1"/>
                </a:solidFill>
              </a:rPr>
              <a:t>)</a:t>
            </a:r>
          </a:p>
          <a:p>
            <a:endParaRPr lang="en-US" dirty="0">
              <a:solidFill>
                <a:schemeClr val="bg1"/>
              </a:solidFill>
            </a:endParaRPr>
          </a:p>
          <a:p>
            <a:r>
              <a:rPr lang="en-US" dirty="0">
                <a:solidFill>
                  <a:schemeClr val="accent6">
                    <a:lumMod val="75000"/>
                  </a:schemeClr>
                </a:solidFill>
              </a:rPr>
              <a:t># </a:t>
            </a:r>
            <a:r>
              <a:rPr lang="en-US" dirty="0" err="1">
                <a:solidFill>
                  <a:schemeClr val="accent6">
                    <a:lumMod val="75000"/>
                  </a:schemeClr>
                </a:solidFill>
              </a:rPr>
              <a:t>Chọn</a:t>
            </a:r>
            <a:r>
              <a:rPr lang="en-US" dirty="0">
                <a:solidFill>
                  <a:schemeClr val="accent6">
                    <a:lumMod val="75000"/>
                  </a:schemeClr>
                </a:solidFill>
              </a:rPr>
              <a:t> </a:t>
            </a:r>
            <a:r>
              <a:rPr lang="en-US" dirty="0" err="1">
                <a:solidFill>
                  <a:schemeClr val="accent6">
                    <a:lumMod val="75000"/>
                  </a:schemeClr>
                </a:solidFill>
              </a:rPr>
              <a:t>ngẫu</a:t>
            </a:r>
            <a:r>
              <a:rPr lang="en-US" dirty="0">
                <a:solidFill>
                  <a:schemeClr val="accent6">
                    <a:lumMod val="75000"/>
                  </a:schemeClr>
                </a:solidFill>
              </a:rPr>
              <a:t> </a:t>
            </a:r>
            <a:r>
              <a:rPr lang="en-US" dirty="0" err="1">
                <a:solidFill>
                  <a:schemeClr val="accent6">
                    <a:lumMod val="75000"/>
                  </a:schemeClr>
                </a:solidFill>
              </a:rPr>
              <a:t>nhiên</a:t>
            </a:r>
            <a:r>
              <a:rPr lang="en-US" dirty="0">
                <a:solidFill>
                  <a:schemeClr val="accent6">
                    <a:lumMod val="75000"/>
                  </a:schemeClr>
                </a:solidFill>
              </a:rPr>
              <a:t> </a:t>
            </a:r>
            <a:r>
              <a:rPr lang="en-US" dirty="0" err="1">
                <a:solidFill>
                  <a:schemeClr val="accent6">
                    <a:lumMod val="75000"/>
                  </a:schemeClr>
                </a:solidFill>
              </a:rPr>
              <a:t>một</a:t>
            </a:r>
            <a:r>
              <a:rPr lang="en-US" dirty="0">
                <a:solidFill>
                  <a:schemeClr val="accent6">
                    <a:lumMod val="75000"/>
                  </a:schemeClr>
                </a:solidFill>
              </a:rPr>
              <a:t> </a:t>
            </a:r>
            <a:r>
              <a:rPr lang="en-US" dirty="0" err="1">
                <a:solidFill>
                  <a:schemeClr val="accent6">
                    <a:lumMod val="75000"/>
                  </a:schemeClr>
                </a:solidFill>
              </a:rPr>
              <a:t>phần</a:t>
            </a:r>
            <a:r>
              <a:rPr lang="en-US" dirty="0">
                <a:solidFill>
                  <a:schemeClr val="accent6">
                    <a:lumMod val="75000"/>
                  </a:schemeClr>
                </a:solidFill>
              </a:rPr>
              <a:t> </a:t>
            </a:r>
            <a:r>
              <a:rPr lang="en-US" dirty="0" err="1">
                <a:solidFill>
                  <a:schemeClr val="accent6">
                    <a:lumMod val="75000"/>
                  </a:schemeClr>
                </a:solidFill>
              </a:rPr>
              <a:t>tử</a:t>
            </a:r>
            <a:r>
              <a:rPr lang="en-US" dirty="0">
                <a:solidFill>
                  <a:schemeClr val="accent6">
                    <a:lumMod val="75000"/>
                  </a:schemeClr>
                </a:solidFill>
              </a:rPr>
              <a:t> </a:t>
            </a:r>
            <a:r>
              <a:rPr lang="en-US" dirty="0" err="1">
                <a:solidFill>
                  <a:schemeClr val="accent6">
                    <a:lumMod val="75000"/>
                  </a:schemeClr>
                </a:solidFill>
              </a:rPr>
              <a:t>từ</a:t>
            </a:r>
            <a:r>
              <a:rPr lang="en-US" dirty="0">
                <a:solidFill>
                  <a:schemeClr val="accent6">
                    <a:lumMod val="75000"/>
                  </a:schemeClr>
                </a:solidFill>
              </a:rPr>
              <a:t> </a:t>
            </a:r>
            <a:r>
              <a:rPr lang="en-US" dirty="0" err="1">
                <a:solidFill>
                  <a:schemeClr val="accent6">
                    <a:lumMod val="75000"/>
                  </a:schemeClr>
                </a:solidFill>
              </a:rPr>
              <a:t>danh</a:t>
            </a:r>
            <a:r>
              <a:rPr lang="en-US" dirty="0">
                <a:solidFill>
                  <a:schemeClr val="accent6">
                    <a:lumMod val="75000"/>
                  </a:schemeClr>
                </a:solidFill>
              </a:rPr>
              <a:t> </a:t>
            </a:r>
            <a:r>
              <a:rPr lang="en-US" dirty="0" err="1">
                <a:solidFill>
                  <a:schemeClr val="accent6">
                    <a:lumMod val="75000"/>
                  </a:schemeClr>
                </a:solidFill>
              </a:rPr>
              <a:t>sách</a:t>
            </a:r>
            <a:r>
              <a:rPr lang="en-US" dirty="0">
                <a:solidFill>
                  <a:schemeClr val="accent6">
                    <a:lumMod val="75000"/>
                  </a:schemeClr>
                </a:solidFill>
              </a:rPr>
              <a:t> </a:t>
            </a:r>
            <a:endParaRPr lang="en-US" dirty="0" smtClean="0">
              <a:solidFill>
                <a:schemeClr val="accent6">
                  <a:lumMod val="75000"/>
                </a:schemeClr>
              </a:solidFill>
            </a:endParaRPr>
          </a:p>
          <a:p>
            <a:r>
              <a:rPr lang="en-US" dirty="0" err="1" smtClean="0">
                <a:solidFill>
                  <a:schemeClr val="bg1"/>
                </a:solidFill>
              </a:rPr>
              <a:t>my_list</a:t>
            </a:r>
            <a:r>
              <a:rPr lang="en-US" dirty="0" smtClean="0">
                <a:solidFill>
                  <a:schemeClr val="bg1"/>
                </a:solidFill>
              </a:rPr>
              <a:t> </a:t>
            </a:r>
            <a:r>
              <a:rPr lang="en-US" dirty="0">
                <a:solidFill>
                  <a:schemeClr val="bg1"/>
                </a:solidFill>
              </a:rPr>
              <a:t>= [1, 2, 3, 4, 5] </a:t>
            </a:r>
            <a:endParaRPr lang="en-US" dirty="0" smtClean="0">
              <a:solidFill>
                <a:schemeClr val="bg1"/>
              </a:solidFill>
            </a:endParaRPr>
          </a:p>
          <a:p>
            <a:r>
              <a:rPr lang="en-US" dirty="0" err="1" smtClean="0">
                <a:solidFill>
                  <a:schemeClr val="bg1"/>
                </a:solidFill>
              </a:rPr>
              <a:t>random_element</a:t>
            </a:r>
            <a:r>
              <a:rPr lang="en-US" dirty="0" smtClean="0">
                <a:solidFill>
                  <a:schemeClr val="bg1"/>
                </a:solidFill>
              </a:rPr>
              <a:t> </a:t>
            </a:r>
            <a:r>
              <a:rPr lang="en-US" dirty="0">
                <a:solidFill>
                  <a:schemeClr val="bg1"/>
                </a:solidFill>
              </a:rPr>
              <a:t>= </a:t>
            </a:r>
            <a:r>
              <a:rPr lang="en-US" dirty="0" err="1">
                <a:solidFill>
                  <a:schemeClr val="bg1"/>
                </a:solidFill>
              </a:rPr>
              <a:t>random.choice</a:t>
            </a:r>
            <a:r>
              <a:rPr lang="en-US" dirty="0">
                <a:solidFill>
                  <a:schemeClr val="bg1"/>
                </a:solidFill>
              </a:rPr>
              <a:t>(</a:t>
            </a:r>
            <a:r>
              <a:rPr lang="en-US" dirty="0" err="1">
                <a:solidFill>
                  <a:schemeClr val="bg1"/>
                </a:solidFill>
              </a:rPr>
              <a:t>my_list</a:t>
            </a:r>
            <a:r>
              <a:rPr lang="en-US" dirty="0">
                <a:solidFill>
                  <a:schemeClr val="bg1"/>
                </a:solidFill>
              </a:rPr>
              <a:t>)</a:t>
            </a:r>
            <a:endParaRPr lang="en-US" dirty="0" smtClean="0">
              <a:solidFill>
                <a:schemeClr val="bg1"/>
              </a:solidFill>
            </a:endParaRPr>
          </a:p>
        </p:txBody>
      </p:sp>
      <p:sp>
        <p:nvSpPr>
          <p:cNvPr id="8" name="TextBox 7"/>
          <p:cNvSpPr txBox="1"/>
          <p:nvPr/>
        </p:nvSpPr>
        <p:spPr>
          <a:xfrm>
            <a:off x="548981" y="2118089"/>
            <a:ext cx="7697972" cy="369332"/>
          </a:xfrm>
          <a:prstGeom prst="rect">
            <a:avLst/>
          </a:prstGeom>
          <a:noFill/>
        </p:spPr>
        <p:txBody>
          <a:bodyPr wrap="square" rtlCol="0">
            <a:spAutoFit/>
          </a:bodyPr>
          <a:lstStyle/>
          <a:p>
            <a:r>
              <a:rPr lang="en-US" dirty="0" err="1" smtClean="0"/>
              <a:t>Một</a:t>
            </a:r>
            <a:r>
              <a:rPr lang="en-US" dirty="0" smtClean="0"/>
              <a:t> </a:t>
            </a:r>
            <a:r>
              <a:rPr lang="en-US" dirty="0" err="1" smtClean="0"/>
              <a:t>số</a:t>
            </a:r>
            <a:r>
              <a:rPr lang="en-US" dirty="0" smtClean="0"/>
              <a:t> </a:t>
            </a:r>
            <a:r>
              <a:rPr lang="en-US" dirty="0" err="1" smtClean="0"/>
              <a:t>ví</a:t>
            </a:r>
            <a:r>
              <a:rPr lang="en-US" dirty="0" smtClean="0"/>
              <a:t> </a:t>
            </a:r>
            <a:r>
              <a:rPr lang="en-US" dirty="0" err="1" smtClean="0"/>
              <a:t>dụ</a:t>
            </a:r>
            <a:endParaRPr lang="en-US" dirty="0"/>
          </a:p>
        </p:txBody>
      </p:sp>
    </p:spTree>
    <p:extLst>
      <p:ext uri="{BB962C8B-B14F-4D97-AF65-F5344CB8AC3E}">
        <p14:creationId xmlns:p14="http://schemas.microsoft.com/office/powerpoint/2010/main" val="25471401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8.1 </a:t>
            </a:r>
            <a:r>
              <a:rPr lang="en-US" dirty="0" err="1"/>
              <a:t>Tổng</a:t>
            </a:r>
            <a:r>
              <a:rPr lang="en-US" dirty="0"/>
              <a:t> </a:t>
            </a:r>
            <a:r>
              <a:rPr lang="en-US" dirty="0" err="1"/>
              <a:t>quan</a:t>
            </a:r>
            <a:r>
              <a:rPr lang="en-US" dirty="0"/>
              <a:t> </a:t>
            </a:r>
            <a:r>
              <a:rPr lang="en-US" dirty="0" err="1"/>
              <a:t>về</a:t>
            </a:r>
            <a:r>
              <a:rPr lang="en-US" dirty="0"/>
              <a:t> Module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dirty="0" err="1" smtClean="0"/>
              <a:t>Tự</a:t>
            </a:r>
            <a:r>
              <a:rPr lang="en-US" b="1" dirty="0" smtClean="0"/>
              <a:t> </a:t>
            </a:r>
            <a:r>
              <a:rPr lang="en-US" b="1" dirty="0" err="1" smtClean="0"/>
              <a:t>tạo</a:t>
            </a:r>
            <a:r>
              <a:rPr lang="en-US" b="1" dirty="0" smtClean="0"/>
              <a:t> </a:t>
            </a:r>
            <a:r>
              <a:rPr lang="en-US" b="1" dirty="0" err="1" smtClean="0"/>
              <a:t>một</a:t>
            </a:r>
            <a:r>
              <a:rPr lang="en-US" b="1" dirty="0" smtClean="0"/>
              <a:t> Module</a:t>
            </a:r>
            <a:endParaRPr lang="en-US" b="1" dirty="0">
              <a:solidFill>
                <a:srgbClr val="FF0000"/>
              </a:solidFill>
            </a:endParaRPr>
          </a:p>
        </p:txBody>
      </p:sp>
      <p:sp>
        <p:nvSpPr>
          <p:cNvPr id="29" name="Rectangle 28"/>
          <p:cNvSpPr/>
          <p:nvPr/>
        </p:nvSpPr>
        <p:spPr>
          <a:xfrm>
            <a:off x="699793" y="3012146"/>
            <a:ext cx="7774356" cy="93517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3135439"/>
            <a:ext cx="7402216" cy="646331"/>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greeting</a:t>
            </a:r>
            <a:r>
              <a:rPr lang="en-US" dirty="0">
                <a:solidFill>
                  <a:schemeClr val="accent4">
                    <a:lumMod val="60000"/>
                    <a:lumOff val="40000"/>
                  </a:schemeClr>
                </a:solidFill>
              </a:rPr>
              <a:t>(</a:t>
            </a:r>
            <a:r>
              <a:rPr lang="en-US" dirty="0">
                <a:solidFill>
                  <a:schemeClr val="bg1"/>
                </a:solidFill>
              </a:rPr>
              <a:t>name</a:t>
            </a:r>
            <a:r>
              <a:rPr lang="en-US" dirty="0">
                <a:solidFill>
                  <a:schemeClr val="accent4">
                    <a:lumMod val="60000"/>
                    <a:lumOff val="40000"/>
                  </a:schemeClr>
                </a:solidFill>
              </a:rPr>
              <a:t>)</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accent2">
                    <a:lumMod val="75000"/>
                  </a:schemeClr>
                </a:solidFill>
              </a:rPr>
              <a:t>"Hello, "</a:t>
            </a:r>
            <a:r>
              <a:rPr lang="en-US" dirty="0">
                <a:solidFill>
                  <a:schemeClr val="bg1"/>
                </a:solidFill>
              </a:rPr>
              <a:t> + name</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dirty="0" err="1" smtClean="0"/>
              <a:t>Ngoài</a:t>
            </a:r>
            <a:r>
              <a:rPr lang="en-US" dirty="0" smtClean="0"/>
              <a:t> </a:t>
            </a:r>
            <a:r>
              <a:rPr lang="en-US" dirty="0" err="1" smtClean="0"/>
              <a:t>những</a:t>
            </a:r>
            <a:r>
              <a:rPr lang="en-US" dirty="0" smtClean="0"/>
              <a:t> Module </a:t>
            </a:r>
            <a:r>
              <a:rPr lang="en-US" dirty="0" err="1" smtClean="0"/>
              <a:t>có</a:t>
            </a:r>
            <a:r>
              <a:rPr lang="en-US" dirty="0" smtClean="0"/>
              <a:t> </a:t>
            </a:r>
            <a:r>
              <a:rPr lang="en-US" dirty="0" err="1" smtClean="0"/>
              <a:t>sẵn</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tự</a:t>
            </a:r>
            <a:r>
              <a:rPr lang="en-US" dirty="0" smtClean="0"/>
              <a:t> </a:t>
            </a:r>
            <a:r>
              <a:rPr lang="en-US" dirty="0" err="1" smtClean="0"/>
              <a:t>tạo</a:t>
            </a:r>
            <a:r>
              <a:rPr lang="en-US" dirty="0" smtClean="0"/>
              <a:t> </a:t>
            </a:r>
            <a:r>
              <a:rPr lang="en-US" dirty="0" err="1" smtClean="0"/>
              <a:t>cho</a:t>
            </a:r>
            <a:r>
              <a:rPr lang="en-US" dirty="0" smtClean="0"/>
              <a:t> </a:t>
            </a:r>
            <a:r>
              <a:rPr lang="en-US" dirty="0" err="1" smtClean="0"/>
              <a:t>mình</a:t>
            </a:r>
            <a:r>
              <a:rPr lang="en-US" dirty="0" smtClean="0"/>
              <a:t> </a:t>
            </a:r>
            <a:r>
              <a:rPr lang="en-US" dirty="0" err="1" smtClean="0"/>
              <a:t>một</a:t>
            </a:r>
            <a:r>
              <a:rPr lang="en-US" dirty="0" smtClean="0"/>
              <a:t> Module </a:t>
            </a:r>
            <a:endParaRPr lang="en-US" b="1" dirty="0"/>
          </a:p>
        </p:txBody>
      </p:sp>
      <p:sp>
        <p:nvSpPr>
          <p:cNvPr id="12" name="TextBox 11"/>
          <p:cNvSpPr txBox="1"/>
          <p:nvPr/>
        </p:nvSpPr>
        <p:spPr>
          <a:xfrm>
            <a:off x="639997" y="2474990"/>
            <a:ext cx="7697972" cy="369332"/>
          </a:xfrm>
          <a:prstGeom prst="rect">
            <a:avLst/>
          </a:prstGeom>
          <a:noFill/>
        </p:spPr>
        <p:txBody>
          <a:bodyPr wrap="square" rtlCol="0">
            <a:spAutoFit/>
          </a:bodyPr>
          <a:lstStyle/>
          <a:p>
            <a:r>
              <a:rPr lang="en-US" dirty="0" err="1" smtClean="0"/>
              <a:t>Tạo</a:t>
            </a:r>
            <a:r>
              <a:rPr lang="en-US" dirty="0" smtClean="0"/>
              <a:t> </a:t>
            </a:r>
            <a:r>
              <a:rPr lang="en-US" dirty="0" err="1" smtClean="0"/>
              <a:t>một</a:t>
            </a:r>
            <a:r>
              <a:rPr lang="en-US" dirty="0" smtClean="0"/>
              <a:t> file </a:t>
            </a:r>
            <a:r>
              <a:rPr lang="en-US" dirty="0" err="1" smtClean="0"/>
              <a:t>đặt</a:t>
            </a:r>
            <a:r>
              <a:rPr lang="en-US" dirty="0" smtClean="0"/>
              <a:t> </a:t>
            </a:r>
            <a:r>
              <a:rPr lang="en-US" dirty="0" err="1" smtClean="0"/>
              <a:t>tên</a:t>
            </a:r>
            <a:r>
              <a:rPr lang="en-US" dirty="0" smtClean="0"/>
              <a:t> </a:t>
            </a:r>
            <a:r>
              <a:rPr lang="en-US" dirty="0" err="1" smtClean="0"/>
              <a:t>là</a:t>
            </a:r>
            <a:r>
              <a:rPr lang="en-US" dirty="0" smtClean="0"/>
              <a:t> </a:t>
            </a:r>
            <a:r>
              <a:rPr lang="en-US" dirty="0">
                <a:solidFill>
                  <a:srgbClr val="FF0000"/>
                </a:solidFill>
              </a:rPr>
              <a:t>mymodule.py</a:t>
            </a:r>
            <a:endParaRPr lang="en-US" b="1" dirty="0">
              <a:solidFill>
                <a:srgbClr val="FF0000"/>
              </a:solidFill>
            </a:endParaRPr>
          </a:p>
        </p:txBody>
      </p:sp>
      <p:sp>
        <p:nvSpPr>
          <p:cNvPr id="18" name="Rectangle 17"/>
          <p:cNvSpPr/>
          <p:nvPr/>
        </p:nvSpPr>
        <p:spPr>
          <a:xfrm>
            <a:off x="699793" y="4734620"/>
            <a:ext cx="7774356" cy="17482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p:cNvSpPr txBox="1"/>
          <p:nvPr/>
        </p:nvSpPr>
        <p:spPr>
          <a:xfrm>
            <a:off x="880547" y="4857913"/>
            <a:ext cx="7402216" cy="1477328"/>
          </a:xfrm>
          <a:prstGeom prst="rect">
            <a:avLst/>
          </a:prstGeom>
          <a:noFill/>
        </p:spPr>
        <p:txBody>
          <a:bodyPr wrap="square" rtlCol="0">
            <a:spAutoFit/>
          </a:bodyPr>
          <a:lstStyle/>
          <a:p>
            <a:r>
              <a:rPr lang="en-US" dirty="0">
                <a:solidFill>
                  <a:schemeClr val="bg1"/>
                </a:solidFill>
              </a:rPr>
              <a:t>person1 = </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chemeClr val="bg1"/>
                </a:solidFill>
              </a:rPr>
              <a:t>  </a:t>
            </a:r>
            <a:r>
              <a:rPr lang="en-US" dirty="0">
                <a:solidFill>
                  <a:schemeClr val="accent2">
                    <a:lumMod val="75000"/>
                  </a:schemeClr>
                </a:solidFill>
              </a:rPr>
              <a:t>"name"</a:t>
            </a:r>
            <a:r>
              <a:rPr lang="en-US" dirty="0">
                <a:solidFill>
                  <a:schemeClr val="bg1"/>
                </a:solidFill>
              </a:rPr>
              <a:t>: </a:t>
            </a:r>
            <a:r>
              <a:rPr lang="en-US" dirty="0">
                <a:solidFill>
                  <a:schemeClr val="accent2">
                    <a:lumMod val="75000"/>
                  </a:schemeClr>
                </a:solidFill>
              </a:rPr>
              <a:t>"John"</a:t>
            </a:r>
            <a:r>
              <a:rPr lang="en-US" dirty="0">
                <a:solidFill>
                  <a:schemeClr val="bg1"/>
                </a:solidFill>
              </a:rPr>
              <a:t>,</a:t>
            </a:r>
            <a:br>
              <a:rPr lang="en-US" dirty="0">
                <a:solidFill>
                  <a:schemeClr val="bg1"/>
                </a:solidFill>
              </a:rPr>
            </a:br>
            <a:r>
              <a:rPr lang="en-US" dirty="0">
                <a:solidFill>
                  <a:schemeClr val="bg1"/>
                </a:solidFill>
              </a:rPr>
              <a:t>  </a:t>
            </a:r>
            <a:r>
              <a:rPr lang="en-US" dirty="0">
                <a:solidFill>
                  <a:schemeClr val="accent2">
                    <a:lumMod val="75000"/>
                  </a:schemeClr>
                </a:solidFill>
              </a:rPr>
              <a:t>"age"</a:t>
            </a:r>
            <a:r>
              <a:rPr lang="en-US" dirty="0">
                <a:solidFill>
                  <a:schemeClr val="bg1"/>
                </a:solidFill>
              </a:rPr>
              <a:t>: </a:t>
            </a:r>
            <a:r>
              <a:rPr lang="en-US" dirty="0">
                <a:solidFill>
                  <a:schemeClr val="accent6">
                    <a:lumMod val="60000"/>
                    <a:lumOff val="40000"/>
                  </a:schemeClr>
                </a:solidFill>
              </a:rPr>
              <a:t>36</a:t>
            </a:r>
            <a:r>
              <a:rPr lang="en-US" dirty="0">
                <a:solidFill>
                  <a:schemeClr val="bg1"/>
                </a:solidFill>
              </a:rPr>
              <a:t>,</a:t>
            </a:r>
            <a:br>
              <a:rPr lang="en-US" dirty="0">
                <a:solidFill>
                  <a:schemeClr val="bg1"/>
                </a:solidFill>
              </a:rPr>
            </a:br>
            <a:r>
              <a:rPr lang="en-US" dirty="0">
                <a:solidFill>
                  <a:schemeClr val="bg1"/>
                </a:solidFill>
              </a:rPr>
              <a:t>  </a:t>
            </a:r>
            <a:r>
              <a:rPr lang="en-US" dirty="0">
                <a:solidFill>
                  <a:schemeClr val="accent2">
                    <a:lumMod val="75000"/>
                  </a:schemeClr>
                </a:solidFill>
              </a:rPr>
              <a:t>"country"</a:t>
            </a:r>
            <a:r>
              <a:rPr lang="en-US" dirty="0">
                <a:solidFill>
                  <a:schemeClr val="bg1"/>
                </a:solidFill>
              </a:rPr>
              <a:t>: </a:t>
            </a:r>
            <a:r>
              <a:rPr lang="en-US" dirty="0">
                <a:solidFill>
                  <a:schemeClr val="accent2">
                    <a:lumMod val="75000"/>
                  </a:schemeClr>
                </a:solidFill>
              </a:rPr>
              <a:t>"Norway"</a:t>
            </a:r>
            <a:r>
              <a:rPr lang="en-US" dirty="0">
                <a:solidFill>
                  <a:schemeClr val="bg1"/>
                </a:solidFill>
              </a:rPr>
              <a:t/>
            </a:r>
            <a:br>
              <a:rPr lang="en-US" dirty="0">
                <a:solidFill>
                  <a:schemeClr val="bg1"/>
                </a:solidFill>
              </a:rPr>
            </a:b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15" name="TextBox 14"/>
          <p:cNvSpPr txBox="1"/>
          <p:nvPr/>
        </p:nvSpPr>
        <p:spPr>
          <a:xfrm>
            <a:off x="639997" y="4173558"/>
            <a:ext cx="7697972" cy="369332"/>
          </a:xfrm>
          <a:prstGeom prst="rect">
            <a:avLst/>
          </a:prstGeom>
          <a:noFill/>
        </p:spPr>
        <p:txBody>
          <a:bodyPr wrap="square" rtlCol="0">
            <a:spAutoFit/>
          </a:bodyPr>
          <a:lstStyle/>
          <a:p>
            <a:r>
              <a:rPr lang="en-US" dirty="0" smtClean="0"/>
              <a:t>Module </a:t>
            </a:r>
            <a:r>
              <a:rPr lang="en-US" dirty="0" err="1" smtClean="0"/>
              <a:t>có</a:t>
            </a:r>
            <a:r>
              <a:rPr lang="en-US" dirty="0" smtClean="0"/>
              <a:t> </a:t>
            </a:r>
            <a:r>
              <a:rPr lang="en-US" dirty="0" err="1" smtClean="0"/>
              <a:t>thể</a:t>
            </a:r>
            <a:r>
              <a:rPr lang="en-US" dirty="0" smtClean="0"/>
              <a:t> </a:t>
            </a:r>
            <a:r>
              <a:rPr lang="en-US" dirty="0" err="1" smtClean="0"/>
              <a:t>là</a:t>
            </a:r>
            <a:r>
              <a:rPr lang="en-US" dirty="0" smtClean="0"/>
              <a:t> function, list, tuple, set, </a:t>
            </a:r>
            <a:r>
              <a:rPr lang="en-US" dirty="0"/>
              <a:t>dictionaries</a:t>
            </a:r>
            <a:r>
              <a:rPr lang="en-US" dirty="0" smtClean="0"/>
              <a:t>…</a:t>
            </a:r>
            <a:endParaRPr lang="en-US" b="1" dirty="0"/>
          </a:p>
        </p:txBody>
      </p:sp>
    </p:spTree>
    <p:extLst>
      <p:ext uri="{BB962C8B-B14F-4D97-AF65-F5344CB8AC3E}">
        <p14:creationId xmlns:p14="http://schemas.microsoft.com/office/powerpoint/2010/main" val="16043160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8.1 </a:t>
            </a:r>
            <a:r>
              <a:rPr lang="en-US" dirty="0" err="1"/>
              <a:t>Tổng</a:t>
            </a:r>
            <a:r>
              <a:rPr lang="en-US" dirty="0"/>
              <a:t> </a:t>
            </a:r>
            <a:r>
              <a:rPr lang="en-US" dirty="0" err="1"/>
              <a:t>quan</a:t>
            </a:r>
            <a:r>
              <a:rPr lang="en-US" dirty="0"/>
              <a:t> </a:t>
            </a:r>
            <a:r>
              <a:rPr lang="en-US" dirty="0" err="1"/>
              <a:t>về</a:t>
            </a:r>
            <a:r>
              <a:rPr lang="en-US" dirty="0"/>
              <a:t> Module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dirty="0" err="1" smtClean="0"/>
              <a:t>Quy</a:t>
            </a:r>
            <a:r>
              <a:rPr lang="en-US" b="1" dirty="0" smtClean="0"/>
              <a:t> </a:t>
            </a:r>
            <a:r>
              <a:rPr lang="en-US" b="1" dirty="0" err="1" smtClean="0"/>
              <a:t>tắc</a:t>
            </a:r>
            <a:r>
              <a:rPr lang="en-US" b="1" dirty="0" smtClean="0"/>
              <a:t> </a:t>
            </a:r>
            <a:r>
              <a:rPr lang="en-US" b="1" dirty="0" err="1" smtClean="0"/>
              <a:t>đặt</a:t>
            </a:r>
            <a:r>
              <a:rPr lang="en-US" b="1" dirty="0" smtClean="0"/>
              <a:t> </a:t>
            </a:r>
            <a:r>
              <a:rPr lang="en-US" b="1" dirty="0" err="1" smtClean="0"/>
              <a:t>tên</a:t>
            </a:r>
            <a:r>
              <a:rPr lang="en-US" b="1" dirty="0" smtClean="0"/>
              <a:t> Module</a:t>
            </a:r>
            <a:endParaRPr lang="en-US" b="1" dirty="0">
              <a:solidFill>
                <a:srgbClr val="FF0000"/>
              </a:solidFill>
            </a:endParaRPr>
          </a:p>
        </p:txBody>
      </p:sp>
      <p:sp>
        <p:nvSpPr>
          <p:cNvPr id="19" name="TextBox 18"/>
          <p:cNvSpPr txBox="1"/>
          <p:nvPr/>
        </p:nvSpPr>
        <p:spPr>
          <a:xfrm>
            <a:off x="1058917" y="2108603"/>
            <a:ext cx="7330171" cy="923330"/>
          </a:xfrm>
          <a:prstGeom prst="rect">
            <a:avLst/>
          </a:prstGeom>
          <a:noFill/>
        </p:spPr>
        <p:txBody>
          <a:bodyPr wrap="square" rtlCol="0">
            <a:spAutoFit/>
          </a:bodyPr>
          <a:lstStyle/>
          <a:p>
            <a:r>
              <a:rPr lang="vi-VN" dirty="0" smtClean="0"/>
              <a:t>Theo </a:t>
            </a:r>
            <a:r>
              <a:rPr lang="vi-VN" dirty="0"/>
              <a:t>quy ước, tên module trong Python nên được viết bằng </a:t>
            </a:r>
            <a:r>
              <a:rPr lang="vi-VN" b="1" dirty="0"/>
              <a:t>chữ thường</a:t>
            </a:r>
            <a:r>
              <a:rPr lang="vi-VN" dirty="0"/>
              <a:t> và sử dụng dấu gạch dưới (_) để phân tách các từ. </a:t>
            </a:r>
            <a:endParaRPr lang="en-US" dirty="0" smtClean="0"/>
          </a:p>
          <a:p>
            <a:r>
              <a:rPr lang="vi-VN" dirty="0" smtClean="0"/>
              <a:t>Ví </a:t>
            </a:r>
            <a:r>
              <a:rPr lang="vi-VN" dirty="0"/>
              <a:t>dụ: my_module, utils, data_processing, v.v.</a:t>
            </a:r>
            <a:endParaRPr lang="en-US" dirty="0"/>
          </a:p>
        </p:txBody>
      </p:sp>
      <p:sp>
        <p:nvSpPr>
          <p:cNvPr id="13" name="Flowchart: Decision 12"/>
          <p:cNvSpPr/>
          <p:nvPr/>
        </p:nvSpPr>
        <p:spPr>
          <a:xfrm>
            <a:off x="710426" y="220820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041993" y="3171858"/>
            <a:ext cx="7330171" cy="369332"/>
          </a:xfrm>
          <a:prstGeom prst="rect">
            <a:avLst/>
          </a:prstGeom>
          <a:noFill/>
        </p:spPr>
        <p:txBody>
          <a:bodyPr wrap="square" rtlCol="0">
            <a:spAutoFit/>
          </a:bodyPr>
          <a:lstStyle/>
          <a:p>
            <a:r>
              <a:rPr lang="en-US" dirty="0" err="1" smtClean="0"/>
              <a:t>Đặt</a:t>
            </a:r>
            <a:r>
              <a:rPr lang="en-US" dirty="0" smtClean="0"/>
              <a:t> </a:t>
            </a:r>
            <a:r>
              <a:rPr lang="en-US" dirty="0" err="1" smtClean="0"/>
              <a:t>tên</a:t>
            </a:r>
            <a:r>
              <a:rPr lang="en-US" dirty="0" smtClean="0"/>
              <a:t> </a:t>
            </a:r>
            <a:r>
              <a:rPr lang="en-US" dirty="0" err="1" smtClean="0"/>
              <a:t>theo</a:t>
            </a:r>
            <a:r>
              <a:rPr lang="en-US" dirty="0" smtClean="0"/>
              <a:t> </a:t>
            </a:r>
            <a:r>
              <a:rPr lang="en-US" dirty="0" err="1" smtClean="0"/>
              <a:t>kiểu</a:t>
            </a:r>
            <a:r>
              <a:rPr lang="en-US" dirty="0" smtClean="0"/>
              <a:t> </a:t>
            </a:r>
            <a:r>
              <a:rPr lang="en-US" b="1" dirty="0" err="1" smtClean="0">
                <a:solidFill>
                  <a:srgbClr val="FF0000"/>
                </a:solidFill>
              </a:rPr>
              <a:t>snake_case</a:t>
            </a:r>
            <a:endParaRPr lang="en-US" b="1" dirty="0">
              <a:solidFill>
                <a:srgbClr val="FF0000"/>
              </a:solidFill>
            </a:endParaRPr>
          </a:p>
        </p:txBody>
      </p:sp>
      <p:sp>
        <p:nvSpPr>
          <p:cNvPr id="22" name="Flowchart: Decision 21"/>
          <p:cNvSpPr/>
          <p:nvPr/>
        </p:nvSpPr>
        <p:spPr>
          <a:xfrm>
            <a:off x="710426" y="382006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1058917" y="3709825"/>
            <a:ext cx="7330171" cy="923330"/>
          </a:xfrm>
          <a:prstGeom prst="rect">
            <a:avLst/>
          </a:prstGeom>
          <a:noFill/>
        </p:spPr>
        <p:txBody>
          <a:bodyPr wrap="square" rtlCol="0">
            <a:spAutoFit/>
          </a:bodyPr>
          <a:lstStyle/>
          <a:p>
            <a:r>
              <a:rPr lang="en-US" dirty="0" err="1"/>
              <a:t>Đảm</a:t>
            </a:r>
            <a:r>
              <a:rPr lang="en-US" dirty="0"/>
              <a:t> </a:t>
            </a:r>
            <a:r>
              <a:rPr lang="en-US" dirty="0" err="1"/>
              <a:t>bảo</a:t>
            </a:r>
            <a:r>
              <a:rPr lang="en-US" dirty="0"/>
              <a:t> </a:t>
            </a:r>
            <a:r>
              <a:rPr lang="en-US" dirty="0" err="1"/>
              <a:t>rằng</a:t>
            </a:r>
            <a:r>
              <a:rPr lang="en-US" dirty="0"/>
              <a:t> </a:t>
            </a:r>
            <a:r>
              <a:rPr lang="en-US" dirty="0" err="1"/>
              <a:t>tên</a:t>
            </a:r>
            <a:r>
              <a:rPr lang="en-US" dirty="0"/>
              <a:t> module </a:t>
            </a:r>
            <a:r>
              <a:rPr lang="en-US" dirty="0" err="1"/>
              <a:t>của</a:t>
            </a:r>
            <a:r>
              <a:rPr lang="en-US" dirty="0"/>
              <a:t> </a:t>
            </a:r>
            <a:r>
              <a:rPr lang="en-US" dirty="0" err="1"/>
              <a:t>bạn</a:t>
            </a:r>
            <a:r>
              <a:rPr lang="en-US" dirty="0"/>
              <a:t> </a:t>
            </a:r>
            <a:r>
              <a:rPr lang="en-US" dirty="0" err="1"/>
              <a:t>không</a:t>
            </a:r>
            <a:r>
              <a:rPr lang="en-US" dirty="0"/>
              <a:t> </a:t>
            </a:r>
            <a:r>
              <a:rPr lang="en-US" dirty="0" err="1"/>
              <a:t>trùng</a:t>
            </a:r>
            <a:r>
              <a:rPr lang="en-US" dirty="0"/>
              <a:t> </a:t>
            </a:r>
            <a:r>
              <a:rPr lang="en-US" dirty="0" err="1"/>
              <a:t>lặp</a:t>
            </a:r>
            <a:r>
              <a:rPr lang="en-US" dirty="0"/>
              <a:t> </a:t>
            </a:r>
            <a:r>
              <a:rPr lang="en-US" dirty="0" err="1"/>
              <a:t>với</a:t>
            </a:r>
            <a:r>
              <a:rPr lang="en-US" dirty="0"/>
              <a:t> </a:t>
            </a:r>
            <a:r>
              <a:rPr lang="en-US" dirty="0" err="1"/>
              <a:t>tên</a:t>
            </a:r>
            <a:r>
              <a:rPr lang="en-US" dirty="0"/>
              <a:t> module </a:t>
            </a:r>
            <a:r>
              <a:rPr lang="en-US" dirty="0" err="1"/>
              <a:t>có</a:t>
            </a:r>
            <a:r>
              <a:rPr lang="en-US" dirty="0"/>
              <a:t> </a:t>
            </a:r>
            <a:r>
              <a:rPr lang="en-US" dirty="0" err="1"/>
              <a:t>sẵn</a:t>
            </a:r>
            <a:r>
              <a:rPr lang="en-US" dirty="0"/>
              <a:t> </a:t>
            </a:r>
            <a:r>
              <a:rPr lang="en-US" dirty="0" err="1"/>
              <a:t>trong</a:t>
            </a:r>
            <a:r>
              <a:rPr lang="en-US" dirty="0"/>
              <a:t> Python </a:t>
            </a:r>
            <a:r>
              <a:rPr lang="en-US" dirty="0" err="1"/>
              <a:t>hoặc</a:t>
            </a:r>
            <a:r>
              <a:rPr lang="en-US" dirty="0"/>
              <a:t> </a:t>
            </a:r>
            <a:r>
              <a:rPr lang="en-US" dirty="0" err="1"/>
              <a:t>các</a:t>
            </a:r>
            <a:r>
              <a:rPr lang="en-US" dirty="0"/>
              <a:t> module </a:t>
            </a:r>
            <a:r>
              <a:rPr lang="en-US" dirty="0" err="1"/>
              <a:t>bên</a:t>
            </a:r>
            <a:r>
              <a:rPr lang="en-US" dirty="0"/>
              <a:t> </a:t>
            </a:r>
            <a:r>
              <a:rPr lang="en-US" dirty="0" err="1"/>
              <a:t>thứ</a:t>
            </a:r>
            <a:r>
              <a:rPr lang="en-US" dirty="0"/>
              <a:t> </a:t>
            </a:r>
            <a:r>
              <a:rPr lang="en-US" dirty="0" err="1"/>
              <a:t>ba</a:t>
            </a:r>
            <a:r>
              <a:rPr lang="en-US" dirty="0"/>
              <a:t>. </a:t>
            </a:r>
            <a:r>
              <a:rPr lang="en-US" dirty="0" err="1"/>
              <a:t>Điều</a:t>
            </a:r>
            <a:r>
              <a:rPr lang="en-US" dirty="0"/>
              <a:t> </a:t>
            </a:r>
            <a:r>
              <a:rPr lang="en-US" dirty="0" err="1"/>
              <a:t>này</a:t>
            </a:r>
            <a:r>
              <a:rPr lang="en-US" dirty="0"/>
              <a:t> </a:t>
            </a:r>
            <a:r>
              <a:rPr lang="en-US" dirty="0" err="1"/>
              <a:t>sẽ</a:t>
            </a:r>
            <a:r>
              <a:rPr lang="en-US" dirty="0"/>
              <a:t> </a:t>
            </a:r>
            <a:r>
              <a:rPr lang="en-US" dirty="0" err="1"/>
              <a:t>tránh</a:t>
            </a:r>
            <a:r>
              <a:rPr lang="en-US" dirty="0"/>
              <a:t> </a:t>
            </a:r>
            <a:r>
              <a:rPr lang="en-US" dirty="0" err="1"/>
              <a:t>xung</a:t>
            </a:r>
            <a:r>
              <a:rPr lang="en-US" dirty="0"/>
              <a:t> </a:t>
            </a:r>
            <a:r>
              <a:rPr lang="en-US" dirty="0" err="1"/>
              <a:t>đột</a:t>
            </a:r>
            <a:r>
              <a:rPr lang="en-US" dirty="0"/>
              <a:t> </a:t>
            </a:r>
            <a:r>
              <a:rPr lang="en-US" dirty="0" err="1"/>
              <a:t>và</a:t>
            </a:r>
            <a:r>
              <a:rPr lang="en-US" dirty="0"/>
              <a:t> </a:t>
            </a:r>
            <a:r>
              <a:rPr lang="en-US" dirty="0" err="1"/>
              <a:t>khó</a:t>
            </a:r>
            <a:r>
              <a:rPr lang="en-US" dirty="0"/>
              <a:t> </a:t>
            </a:r>
            <a:r>
              <a:rPr lang="en-US" dirty="0" err="1"/>
              <a:t>khăn</a:t>
            </a:r>
            <a:r>
              <a:rPr lang="en-US" dirty="0"/>
              <a:t> </a:t>
            </a:r>
            <a:r>
              <a:rPr lang="en-US" dirty="0" err="1"/>
              <a:t>trong</a:t>
            </a:r>
            <a:r>
              <a:rPr lang="en-US" dirty="0"/>
              <a:t> </a:t>
            </a:r>
            <a:r>
              <a:rPr lang="en-US" dirty="0" err="1"/>
              <a:t>việc</a:t>
            </a:r>
            <a:r>
              <a:rPr lang="en-US" dirty="0"/>
              <a:t> </a:t>
            </a:r>
            <a:r>
              <a:rPr lang="en-US" dirty="0" err="1"/>
              <a:t>tìm</a:t>
            </a:r>
            <a:r>
              <a:rPr lang="en-US" dirty="0"/>
              <a:t> </a:t>
            </a:r>
            <a:r>
              <a:rPr lang="en-US" dirty="0" err="1"/>
              <a:t>kiếm</a:t>
            </a:r>
            <a:r>
              <a:rPr lang="en-US" dirty="0"/>
              <a:t> </a:t>
            </a:r>
            <a:r>
              <a:rPr lang="en-US" dirty="0" err="1"/>
              <a:t>và</a:t>
            </a:r>
            <a:r>
              <a:rPr lang="en-US" dirty="0"/>
              <a:t> </a:t>
            </a:r>
            <a:r>
              <a:rPr lang="en-US" dirty="0" err="1"/>
              <a:t>sử</a:t>
            </a:r>
            <a:r>
              <a:rPr lang="en-US" dirty="0"/>
              <a:t> </a:t>
            </a:r>
            <a:r>
              <a:rPr lang="en-US" dirty="0" err="1"/>
              <a:t>dụng</a:t>
            </a:r>
            <a:r>
              <a:rPr lang="en-US" dirty="0"/>
              <a:t> module</a:t>
            </a:r>
          </a:p>
        </p:txBody>
      </p:sp>
      <p:sp>
        <p:nvSpPr>
          <p:cNvPr id="24" name="Flowchart: Decision 23"/>
          <p:cNvSpPr/>
          <p:nvPr/>
        </p:nvSpPr>
        <p:spPr>
          <a:xfrm>
            <a:off x="710426" y="496838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1058917" y="4858142"/>
            <a:ext cx="7330171" cy="923330"/>
          </a:xfrm>
          <a:prstGeom prst="rect">
            <a:avLst/>
          </a:prstGeom>
          <a:noFill/>
        </p:spPr>
        <p:txBody>
          <a:bodyPr wrap="square" rtlCol="0">
            <a:spAutoFit/>
          </a:bodyPr>
          <a:lstStyle/>
          <a:p>
            <a:r>
              <a:rPr lang="vi-VN" dirty="0"/>
              <a:t>Hãy chọn tên module có ý nghĩa và liên quan đến nội dung và chức năng của module. Điều này giúp người đọc mã dễ hiểu và tìm hiểu mục đích sử dụng của module.</a:t>
            </a:r>
            <a:endParaRPr lang="en-US" dirty="0"/>
          </a:p>
        </p:txBody>
      </p:sp>
    </p:spTree>
    <p:extLst>
      <p:ext uri="{BB962C8B-B14F-4D97-AF65-F5344CB8AC3E}">
        <p14:creationId xmlns:p14="http://schemas.microsoft.com/office/powerpoint/2010/main" val="1353858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8.1 </a:t>
            </a:r>
            <a:r>
              <a:rPr lang="en-US" dirty="0" err="1"/>
              <a:t>Tổng</a:t>
            </a:r>
            <a:r>
              <a:rPr lang="en-US" dirty="0"/>
              <a:t> </a:t>
            </a:r>
            <a:r>
              <a:rPr lang="en-US" dirty="0" err="1"/>
              <a:t>quan</a:t>
            </a:r>
            <a:r>
              <a:rPr lang="en-US" dirty="0"/>
              <a:t> </a:t>
            </a:r>
            <a:r>
              <a:rPr lang="en-US" dirty="0" err="1"/>
              <a:t>về</a:t>
            </a:r>
            <a:r>
              <a:rPr lang="en-US" dirty="0"/>
              <a:t> Module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err="1" smtClean="0"/>
              <a:t>Cách</a:t>
            </a:r>
            <a:r>
              <a:rPr lang="en-US" b="1" dirty="0" smtClean="0"/>
              <a:t> </a:t>
            </a:r>
            <a:r>
              <a:rPr lang="en-US" b="1" dirty="0" err="1" smtClean="0"/>
              <a:t>Sử</a:t>
            </a:r>
            <a:r>
              <a:rPr lang="en-US" b="1" dirty="0" smtClean="0"/>
              <a:t> </a:t>
            </a:r>
            <a:r>
              <a:rPr lang="en-US" b="1" dirty="0" err="1" smtClean="0"/>
              <a:t>dụng</a:t>
            </a:r>
            <a:r>
              <a:rPr lang="en-US" b="1" dirty="0" smtClean="0"/>
              <a:t> Module </a:t>
            </a:r>
            <a:r>
              <a:rPr lang="en-US" b="1" dirty="0" err="1" smtClean="0"/>
              <a:t>đã</a:t>
            </a:r>
            <a:r>
              <a:rPr lang="en-US" b="1" dirty="0" smtClean="0"/>
              <a:t> </a:t>
            </a:r>
            <a:r>
              <a:rPr lang="en-US" b="1" dirty="0" err="1" smtClean="0"/>
              <a:t>tạo</a:t>
            </a:r>
            <a:r>
              <a:rPr lang="en-US" b="1" dirty="0" smtClean="0"/>
              <a:t> </a:t>
            </a:r>
            <a:r>
              <a:rPr lang="en-US" b="1" dirty="0" err="1" smtClean="0"/>
              <a:t>ra</a:t>
            </a:r>
            <a:endParaRPr lang="en-US" b="1" dirty="0">
              <a:solidFill>
                <a:srgbClr val="FF0000"/>
              </a:solidFill>
            </a:endParaRPr>
          </a:p>
        </p:txBody>
      </p:sp>
      <p:sp>
        <p:nvSpPr>
          <p:cNvPr id="18" name="Rectangle 17"/>
          <p:cNvSpPr/>
          <p:nvPr/>
        </p:nvSpPr>
        <p:spPr>
          <a:xfrm>
            <a:off x="699793" y="2126182"/>
            <a:ext cx="7774356" cy="93517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p:cNvSpPr txBox="1"/>
          <p:nvPr/>
        </p:nvSpPr>
        <p:spPr>
          <a:xfrm>
            <a:off x="880547" y="2249475"/>
            <a:ext cx="7402216" cy="646331"/>
          </a:xfrm>
          <a:prstGeom prst="rect">
            <a:avLst/>
          </a:prstGeom>
          <a:noFill/>
        </p:spPr>
        <p:txBody>
          <a:bodyPr wrap="square" rtlCol="0">
            <a:spAutoFit/>
          </a:bodyPr>
          <a:lstStyle/>
          <a:p>
            <a:r>
              <a:rPr lang="en-US" dirty="0">
                <a:solidFill>
                  <a:srgbClr val="00B0F0"/>
                </a:solidFill>
              </a:rPr>
              <a:t>i</a:t>
            </a:r>
            <a:r>
              <a:rPr lang="en-US" dirty="0" smtClean="0">
                <a:solidFill>
                  <a:srgbClr val="00B0F0"/>
                </a:solidFill>
              </a:rPr>
              <a:t>mport</a:t>
            </a:r>
            <a:r>
              <a:rPr lang="en-US" dirty="0" smtClean="0">
                <a:solidFill>
                  <a:schemeClr val="bg1"/>
                </a:solidFill>
              </a:rPr>
              <a:t> </a:t>
            </a:r>
            <a:r>
              <a:rPr lang="en-US" dirty="0" err="1" smtClean="0">
                <a:solidFill>
                  <a:schemeClr val="bg1"/>
                </a:solidFill>
              </a:rPr>
              <a:t>mymodule</a:t>
            </a:r>
            <a:endParaRPr lang="en-US" dirty="0" smtClean="0">
              <a:solidFill>
                <a:schemeClr val="bg1"/>
              </a:solidFill>
            </a:endParaRPr>
          </a:p>
          <a:p>
            <a:r>
              <a:rPr lang="en-US" dirty="0" err="1">
                <a:solidFill>
                  <a:schemeClr val="bg1"/>
                </a:solidFill>
              </a:rPr>
              <a:t>mymodule.greeting</a:t>
            </a:r>
            <a:r>
              <a:rPr lang="en-US" dirty="0">
                <a:solidFill>
                  <a:schemeClr val="accent4">
                    <a:lumMod val="60000"/>
                    <a:lumOff val="40000"/>
                  </a:schemeClr>
                </a:solidFill>
              </a:rPr>
              <a:t>(</a:t>
            </a:r>
            <a:r>
              <a:rPr lang="en-US" dirty="0">
                <a:solidFill>
                  <a:schemeClr val="accent2">
                    <a:lumMod val="75000"/>
                  </a:schemeClr>
                </a:solidFill>
              </a:rPr>
              <a:t>"Jonathan"</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21" name="TextBox 20"/>
          <p:cNvSpPr txBox="1"/>
          <p:nvPr/>
        </p:nvSpPr>
        <p:spPr>
          <a:xfrm>
            <a:off x="639997" y="3220183"/>
            <a:ext cx="7697972" cy="646331"/>
          </a:xfrm>
          <a:prstGeom prst="rect">
            <a:avLst/>
          </a:prstGeom>
          <a:noFill/>
        </p:spPr>
        <p:txBody>
          <a:bodyPr wrap="square" rtlCol="0">
            <a:spAutoFit/>
          </a:bodyPr>
          <a:lstStyle/>
          <a:p>
            <a:r>
              <a:rPr lang="en-US" dirty="0" err="1" smtClean="0"/>
              <a:t>Dùng</a:t>
            </a:r>
            <a:r>
              <a:rPr lang="en-US" dirty="0" smtClean="0"/>
              <a:t> </a:t>
            </a:r>
            <a:r>
              <a:rPr lang="en-US" dirty="0" err="1" smtClean="0"/>
              <a:t>từ</a:t>
            </a:r>
            <a:r>
              <a:rPr lang="en-US" dirty="0" smtClean="0"/>
              <a:t> </a:t>
            </a:r>
            <a:r>
              <a:rPr lang="en-US" dirty="0" err="1" smtClean="0"/>
              <a:t>khóa</a:t>
            </a:r>
            <a:r>
              <a:rPr lang="en-US" dirty="0" smtClean="0"/>
              <a:t> </a:t>
            </a:r>
            <a:r>
              <a:rPr lang="en-US" b="1" dirty="0" smtClean="0">
                <a:solidFill>
                  <a:srgbClr val="FF0000"/>
                </a:solidFill>
              </a:rPr>
              <a:t>import</a:t>
            </a:r>
            <a:r>
              <a:rPr lang="en-US" dirty="0" smtClean="0"/>
              <a:t> </a:t>
            </a:r>
            <a:r>
              <a:rPr lang="en-US" dirty="0" err="1" smtClean="0"/>
              <a:t>để</a:t>
            </a:r>
            <a:r>
              <a:rPr lang="en-US" dirty="0" smtClean="0"/>
              <a:t> </a:t>
            </a:r>
            <a:r>
              <a:rPr lang="en-US" dirty="0" err="1" smtClean="0"/>
              <a:t>nạp</a:t>
            </a:r>
            <a:r>
              <a:rPr lang="en-US" dirty="0" smtClean="0"/>
              <a:t> module </a:t>
            </a:r>
            <a:r>
              <a:rPr lang="en-US" dirty="0" err="1" smtClean="0"/>
              <a:t>vào</a:t>
            </a:r>
            <a:r>
              <a:rPr lang="en-US" dirty="0" smtClean="0"/>
              <a:t>, </a:t>
            </a:r>
            <a:r>
              <a:rPr lang="en-US" dirty="0" err="1" smtClean="0"/>
              <a:t>với</a:t>
            </a:r>
            <a:r>
              <a:rPr lang="en-US" dirty="0" smtClean="0"/>
              <a:t> </a:t>
            </a:r>
            <a:r>
              <a:rPr lang="en-US" dirty="0" err="1" smtClean="0"/>
              <a:t>tên</a:t>
            </a:r>
            <a:r>
              <a:rPr lang="en-US" dirty="0" smtClean="0"/>
              <a:t> module </a:t>
            </a:r>
            <a:r>
              <a:rPr lang="en-US" dirty="0" err="1" smtClean="0"/>
              <a:t>chính</a:t>
            </a:r>
            <a:r>
              <a:rPr lang="en-US" dirty="0" smtClean="0"/>
              <a:t> </a:t>
            </a:r>
            <a:r>
              <a:rPr lang="en-US" dirty="0" err="1" smtClean="0"/>
              <a:t>là</a:t>
            </a:r>
            <a:r>
              <a:rPr lang="en-US" dirty="0" smtClean="0"/>
              <a:t> </a:t>
            </a:r>
            <a:r>
              <a:rPr lang="en-US" dirty="0" err="1" smtClean="0"/>
              <a:t>tên</a:t>
            </a:r>
            <a:r>
              <a:rPr lang="en-US" dirty="0" smtClean="0"/>
              <a:t> </a:t>
            </a:r>
            <a:r>
              <a:rPr lang="en-US" dirty="0" err="1" smtClean="0"/>
              <a:t>mà</a:t>
            </a:r>
            <a:r>
              <a:rPr lang="en-US" dirty="0" smtClean="0"/>
              <a:t> </a:t>
            </a:r>
            <a:r>
              <a:rPr lang="en-US" dirty="0" err="1" smtClean="0"/>
              <a:t>bạn</a:t>
            </a:r>
            <a:r>
              <a:rPr lang="en-US" dirty="0" smtClean="0"/>
              <a:t> </a:t>
            </a:r>
            <a:r>
              <a:rPr lang="en-US" dirty="0" err="1" smtClean="0"/>
              <a:t>đã</a:t>
            </a:r>
            <a:r>
              <a:rPr lang="en-US" dirty="0" smtClean="0"/>
              <a:t> </a:t>
            </a:r>
            <a:r>
              <a:rPr lang="en-US" dirty="0" err="1" smtClean="0"/>
              <a:t>đặt</a:t>
            </a:r>
            <a:r>
              <a:rPr lang="en-US" dirty="0" smtClean="0"/>
              <a:t> </a:t>
            </a:r>
            <a:r>
              <a:rPr lang="en-US" dirty="0" err="1" smtClean="0"/>
              <a:t>cho</a:t>
            </a:r>
            <a:r>
              <a:rPr lang="en-US" dirty="0"/>
              <a:t> </a:t>
            </a:r>
            <a:r>
              <a:rPr lang="en-US" dirty="0" smtClean="0"/>
              <a:t>file. </a:t>
            </a:r>
            <a:r>
              <a:rPr lang="en-US" dirty="0" err="1" smtClean="0"/>
              <a:t>Sử</a:t>
            </a:r>
            <a:r>
              <a:rPr lang="en-US" dirty="0" smtClean="0"/>
              <a:t> </a:t>
            </a:r>
            <a:r>
              <a:rPr lang="en-US" dirty="0" err="1"/>
              <a:t>dụng</a:t>
            </a:r>
            <a:r>
              <a:rPr lang="en-US" dirty="0"/>
              <a:t> </a:t>
            </a:r>
            <a:r>
              <a:rPr lang="en-US" dirty="0" err="1"/>
              <a:t>cú</a:t>
            </a:r>
            <a:r>
              <a:rPr lang="en-US" dirty="0"/>
              <a:t> </a:t>
            </a:r>
            <a:r>
              <a:rPr lang="en-US" dirty="0" err="1"/>
              <a:t>phép</a:t>
            </a:r>
            <a:r>
              <a:rPr lang="en-US" dirty="0"/>
              <a:t> </a:t>
            </a:r>
            <a:r>
              <a:rPr lang="en-US" b="1" dirty="0" err="1" smtClean="0"/>
              <a:t>tên_module.properties</a:t>
            </a:r>
            <a:endParaRPr lang="en-US" b="1" dirty="0"/>
          </a:p>
        </p:txBody>
      </p:sp>
      <p:sp>
        <p:nvSpPr>
          <p:cNvPr id="22" name="Rectangle 21"/>
          <p:cNvSpPr/>
          <p:nvPr/>
        </p:nvSpPr>
        <p:spPr>
          <a:xfrm>
            <a:off x="699793" y="4555680"/>
            <a:ext cx="7774356" cy="134572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80547" y="4678973"/>
            <a:ext cx="7402216" cy="923330"/>
          </a:xfrm>
          <a:prstGeom prst="rect">
            <a:avLst/>
          </a:prstGeom>
          <a:noFill/>
        </p:spPr>
        <p:txBody>
          <a:bodyPr wrap="square" rtlCol="0">
            <a:spAutoFit/>
          </a:bodyPr>
          <a:lstStyle/>
          <a:p>
            <a:r>
              <a:rPr lang="en-US" dirty="0">
                <a:solidFill>
                  <a:srgbClr val="00B0F0"/>
                </a:solidFill>
              </a:rPr>
              <a:t>i</a:t>
            </a:r>
            <a:r>
              <a:rPr lang="en-US" dirty="0" smtClean="0">
                <a:solidFill>
                  <a:srgbClr val="00B0F0"/>
                </a:solidFill>
              </a:rPr>
              <a:t>mport</a:t>
            </a:r>
            <a:r>
              <a:rPr lang="en-US" dirty="0" smtClean="0">
                <a:solidFill>
                  <a:schemeClr val="bg1"/>
                </a:solidFill>
              </a:rPr>
              <a:t> </a:t>
            </a:r>
            <a:r>
              <a:rPr lang="en-US" dirty="0" err="1" smtClean="0">
                <a:solidFill>
                  <a:schemeClr val="bg1"/>
                </a:solidFill>
              </a:rPr>
              <a:t>mymodule</a:t>
            </a:r>
            <a:r>
              <a:rPr lang="en-US" dirty="0" smtClean="0">
                <a:solidFill>
                  <a:schemeClr val="bg1"/>
                </a:solidFill>
              </a:rPr>
              <a:t> </a:t>
            </a:r>
            <a:r>
              <a:rPr lang="en-US" dirty="0" smtClean="0">
                <a:solidFill>
                  <a:srgbClr val="00B0F0"/>
                </a:solidFill>
              </a:rPr>
              <a:t>as</a:t>
            </a:r>
            <a:r>
              <a:rPr lang="en-US" dirty="0" smtClean="0">
                <a:solidFill>
                  <a:schemeClr val="bg1"/>
                </a:solidFill>
              </a:rPr>
              <a:t> mx</a:t>
            </a:r>
          </a:p>
          <a:p>
            <a:r>
              <a:rPr lang="en-US" dirty="0">
                <a:solidFill>
                  <a:schemeClr val="bg1"/>
                </a:solidFill>
              </a:rPr>
              <a:t>a = </a:t>
            </a:r>
            <a:r>
              <a:rPr lang="en-US" dirty="0" smtClean="0">
                <a:solidFill>
                  <a:schemeClr val="bg1"/>
                </a:solidFill>
              </a:rPr>
              <a:t>mx.person1</a:t>
            </a:r>
            <a:r>
              <a:rPr lang="en-US" dirty="0">
                <a:solidFill>
                  <a:schemeClr val="bg1"/>
                </a:solidFill>
              </a:rPr>
              <a:t>[</a:t>
            </a:r>
            <a:r>
              <a:rPr lang="en-US" dirty="0">
                <a:solidFill>
                  <a:schemeClr val="accent2">
                    <a:lumMod val="75000"/>
                  </a:schemeClr>
                </a:solidFill>
              </a:rPr>
              <a:t>"age"</a:t>
            </a:r>
            <a:r>
              <a:rPr lang="en-US" dirty="0">
                <a:solidFill>
                  <a:schemeClr val="bg1"/>
                </a:solidFill>
              </a:rPr>
              <a:t>]</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a</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25" name="TextBox 24"/>
          <p:cNvSpPr txBox="1"/>
          <p:nvPr/>
        </p:nvSpPr>
        <p:spPr>
          <a:xfrm>
            <a:off x="639997" y="6048443"/>
            <a:ext cx="7697972" cy="369332"/>
          </a:xfrm>
          <a:prstGeom prst="rect">
            <a:avLst/>
          </a:prstGeom>
          <a:noFill/>
        </p:spPr>
        <p:txBody>
          <a:bodyPr wrap="square" rtlCol="0">
            <a:spAutoFit/>
          </a:bodyPr>
          <a:lstStyle/>
          <a:p>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b="1" dirty="0" err="1" smtClean="0"/>
              <a:t>đổi</a:t>
            </a:r>
            <a:r>
              <a:rPr lang="en-US" b="1" dirty="0" smtClean="0"/>
              <a:t> </a:t>
            </a:r>
            <a:r>
              <a:rPr lang="en-US" b="1" dirty="0" err="1" smtClean="0"/>
              <a:t>tên</a:t>
            </a:r>
            <a:r>
              <a:rPr lang="en-US" dirty="0" smtClean="0"/>
              <a:t> module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a:t>
            </a:r>
            <a:r>
              <a:rPr lang="en-US" b="1" dirty="0" smtClean="0">
                <a:solidFill>
                  <a:srgbClr val="FF0000"/>
                </a:solidFill>
              </a:rPr>
              <a:t>as</a:t>
            </a:r>
            <a:r>
              <a:rPr lang="en-US" dirty="0" smtClean="0"/>
              <a:t> </a:t>
            </a:r>
            <a:r>
              <a:rPr lang="en-US" dirty="0" err="1" smtClean="0"/>
              <a:t>như</a:t>
            </a:r>
            <a:r>
              <a:rPr lang="en-US" dirty="0" smtClean="0"/>
              <a:t> </a:t>
            </a:r>
            <a:r>
              <a:rPr lang="en-US" dirty="0" err="1" smtClean="0"/>
              <a:t>ví</a:t>
            </a:r>
            <a:r>
              <a:rPr lang="en-US" dirty="0" smtClean="0"/>
              <a:t> </a:t>
            </a:r>
            <a:r>
              <a:rPr lang="en-US" dirty="0" err="1" smtClean="0"/>
              <a:t>dụ</a:t>
            </a:r>
            <a:r>
              <a:rPr lang="en-US" dirty="0" smtClean="0"/>
              <a:t> </a:t>
            </a:r>
            <a:r>
              <a:rPr lang="en-US" dirty="0" err="1" smtClean="0"/>
              <a:t>trên</a:t>
            </a:r>
            <a:endParaRPr lang="en-US" dirty="0"/>
          </a:p>
        </p:txBody>
      </p:sp>
      <p:sp>
        <p:nvSpPr>
          <p:cNvPr id="26" name="TextBox 25"/>
          <p:cNvSpPr txBox="1"/>
          <p:nvPr/>
        </p:nvSpPr>
        <p:spPr>
          <a:xfrm>
            <a:off x="639997" y="3953829"/>
            <a:ext cx="7697972" cy="369332"/>
          </a:xfrm>
          <a:prstGeom prst="rect">
            <a:avLst/>
          </a:prstGeom>
          <a:noFill/>
        </p:spPr>
        <p:txBody>
          <a:bodyPr wrap="square" rtlCol="0">
            <a:spAutoFit/>
          </a:bodyPr>
          <a:lstStyle/>
          <a:p>
            <a:r>
              <a:rPr lang="en-US" b="1" dirty="0" smtClean="0"/>
              <a:t>Properties: </a:t>
            </a:r>
            <a:r>
              <a:rPr lang="en-US" dirty="0" err="1" smtClean="0"/>
              <a:t>có</a:t>
            </a:r>
            <a:r>
              <a:rPr lang="en-US" dirty="0" smtClean="0"/>
              <a:t> </a:t>
            </a:r>
            <a:r>
              <a:rPr lang="en-US" dirty="0" err="1" smtClean="0"/>
              <a:t>thể</a:t>
            </a:r>
            <a:r>
              <a:rPr lang="en-US" dirty="0" smtClean="0"/>
              <a:t> </a:t>
            </a:r>
            <a:r>
              <a:rPr lang="en-US" dirty="0" err="1" smtClean="0"/>
              <a:t>là</a:t>
            </a:r>
            <a:r>
              <a:rPr lang="en-US" dirty="0" smtClean="0"/>
              <a:t> function, </a:t>
            </a:r>
            <a:r>
              <a:rPr lang="en-US" dirty="0" err="1" smtClean="0"/>
              <a:t>biến</a:t>
            </a:r>
            <a:endParaRPr lang="en-US" dirty="0"/>
          </a:p>
        </p:txBody>
      </p:sp>
    </p:spTree>
    <p:extLst>
      <p:ext uri="{BB962C8B-B14F-4D97-AF65-F5344CB8AC3E}">
        <p14:creationId xmlns:p14="http://schemas.microsoft.com/office/powerpoint/2010/main" val="29179396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8.1 </a:t>
            </a:r>
            <a:r>
              <a:rPr lang="en-US" dirty="0" err="1"/>
              <a:t>Tổng</a:t>
            </a:r>
            <a:r>
              <a:rPr lang="en-US" dirty="0"/>
              <a:t> </a:t>
            </a:r>
            <a:r>
              <a:rPr lang="en-US" dirty="0" err="1"/>
              <a:t>quan</a:t>
            </a:r>
            <a:r>
              <a:rPr lang="en-US" dirty="0"/>
              <a:t> </a:t>
            </a:r>
            <a:r>
              <a:rPr lang="en-US" dirty="0" err="1"/>
              <a:t>về</a:t>
            </a:r>
            <a:r>
              <a:rPr lang="en-US" dirty="0"/>
              <a:t> Module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err="1" smtClean="0"/>
              <a:t>Cách</a:t>
            </a:r>
            <a:r>
              <a:rPr lang="en-US" b="1" dirty="0" smtClean="0"/>
              <a:t> </a:t>
            </a:r>
            <a:r>
              <a:rPr lang="en-US" b="1" dirty="0" err="1" smtClean="0"/>
              <a:t>Sử</a:t>
            </a:r>
            <a:r>
              <a:rPr lang="en-US" b="1" dirty="0" smtClean="0"/>
              <a:t> </a:t>
            </a:r>
            <a:r>
              <a:rPr lang="en-US" b="1" dirty="0" err="1" smtClean="0"/>
              <a:t>dụng</a:t>
            </a:r>
            <a:r>
              <a:rPr lang="en-US" b="1" dirty="0" smtClean="0"/>
              <a:t> Module </a:t>
            </a:r>
            <a:r>
              <a:rPr lang="en-US" b="1" dirty="0" err="1" smtClean="0"/>
              <a:t>đã</a:t>
            </a:r>
            <a:r>
              <a:rPr lang="en-US" b="1" dirty="0" smtClean="0"/>
              <a:t> </a:t>
            </a:r>
            <a:r>
              <a:rPr lang="en-US" b="1" dirty="0" err="1" smtClean="0"/>
              <a:t>tạo</a:t>
            </a:r>
            <a:r>
              <a:rPr lang="en-US" b="1" dirty="0" smtClean="0"/>
              <a:t> </a:t>
            </a:r>
            <a:r>
              <a:rPr lang="en-US" b="1" dirty="0" err="1" smtClean="0"/>
              <a:t>ra</a:t>
            </a:r>
            <a:endParaRPr lang="en-US" b="1" dirty="0">
              <a:solidFill>
                <a:srgbClr val="FF0000"/>
              </a:solidFill>
            </a:endParaRPr>
          </a:p>
        </p:txBody>
      </p:sp>
      <p:sp>
        <p:nvSpPr>
          <p:cNvPr id="21" name="TextBox 20"/>
          <p:cNvSpPr txBox="1"/>
          <p:nvPr/>
        </p:nvSpPr>
        <p:spPr>
          <a:xfrm>
            <a:off x="639997" y="2023067"/>
            <a:ext cx="7697972" cy="369332"/>
          </a:xfrm>
          <a:prstGeom prst="rect">
            <a:avLst/>
          </a:prstGeom>
          <a:noFill/>
        </p:spPr>
        <p:txBody>
          <a:bodyPr wrap="square" rtlCol="0">
            <a:spAutoFit/>
          </a:bodyPr>
          <a:lstStyle/>
          <a:p>
            <a:r>
              <a:rPr lang="en-US" dirty="0" err="1" smtClean="0"/>
              <a:t>Trường</a:t>
            </a:r>
            <a:r>
              <a:rPr lang="en-US" dirty="0" smtClean="0"/>
              <a:t> </a:t>
            </a:r>
            <a:r>
              <a:rPr lang="en-US" dirty="0" err="1" smtClean="0"/>
              <a:t>hợp</a:t>
            </a:r>
            <a:r>
              <a:rPr lang="en-US" dirty="0" smtClean="0"/>
              <a:t> </a:t>
            </a:r>
            <a:r>
              <a:rPr lang="en-US" dirty="0" err="1" smtClean="0"/>
              <a:t>một</a:t>
            </a:r>
            <a:r>
              <a:rPr lang="en-US" dirty="0" smtClean="0"/>
              <a:t> module </a:t>
            </a:r>
            <a:r>
              <a:rPr lang="en-US" dirty="0" err="1" smtClean="0"/>
              <a:t>có</a:t>
            </a:r>
            <a:r>
              <a:rPr lang="en-US" dirty="0" smtClean="0"/>
              <a:t> </a:t>
            </a:r>
            <a:r>
              <a:rPr lang="en-US" dirty="0" err="1" smtClean="0"/>
              <a:t>nhiều</a:t>
            </a:r>
            <a:r>
              <a:rPr lang="en-US" dirty="0" smtClean="0"/>
              <a:t> </a:t>
            </a:r>
            <a:r>
              <a:rPr lang="en-US" dirty="0" err="1" smtClean="0"/>
              <a:t>thành</a:t>
            </a:r>
            <a:r>
              <a:rPr lang="en-US" dirty="0" smtClean="0"/>
              <a:t> </a:t>
            </a:r>
            <a:r>
              <a:rPr lang="en-US" dirty="0" err="1" smtClean="0"/>
              <a:t>phần</a:t>
            </a:r>
            <a:r>
              <a:rPr lang="en-US" dirty="0" smtClean="0"/>
              <a:t> </a:t>
            </a:r>
            <a:r>
              <a:rPr lang="en-US" dirty="0" err="1" smtClean="0"/>
              <a:t>như</a:t>
            </a:r>
            <a:r>
              <a:rPr lang="en-US" dirty="0" smtClean="0"/>
              <a:t> </a:t>
            </a:r>
            <a:r>
              <a:rPr lang="en-US" dirty="0" err="1" smtClean="0"/>
              <a:t>ví</a:t>
            </a:r>
            <a:r>
              <a:rPr lang="en-US" dirty="0" smtClean="0"/>
              <a:t> </a:t>
            </a:r>
            <a:r>
              <a:rPr lang="en-US" dirty="0" err="1" smtClean="0"/>
              <a:t>dụ</a:t>
            </a:r>
            <a:r>
              <a:rPr lang="en-US" dirty="0" smtClean="0"/>
              <a:t> </a:t>
            </a:r>
            <a:r>
              <a:rPr lang="en-US" dirty="0" err="1" smtClean="0"/>
              <a:t>sau</a:t>
            </a:r>
            <a:r>
              <a:rPr lang="en-US" dirty="0" smtClean="0"/>
              <a:t>: </a:t>
            </a:r>
            <a:endParaRPr lang="en-US" b="1" dirty="0"/>
          </a:p>
        </p:txBody>
      </p:sp>
      <p:sp>
        <p:nvSpPr>
          <p:cNvPr id="22" name="Rectangle 21"/>
          <p:cNvSpPr/>
          <p:nvPr/>
        </p:nvSpPr>
        <p:spPr>
          <a:xfrm>
            <a:off x="699793" y="2478993"/>
            <a:ext cx="7774356" cy="16358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80547" y="2602287"/>
            <a:ext cx="7402216" cy="1200329"/>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greeting</a:t>
            </a:r>
            <a:r>
              <a:rPr lang="en-US" dirty="0">
                <a:solidFill>
                  <a:schemeClr val="accent4">
                    <a:lumMod val="60000"/>
                    <a:lumOff val="40000"/>
                  </a:schemeClr>
                </a:solidFill>
              </a:rPr>
              <a:t>(</a:t>
            </a:r>
            <a:r>
              <a:rPr lang="en-US" dirty="0">
                <a:solidFill>
                  <a:schemeClr val="bg1"/>
                </a:solidFill>
              </a:rPr>
              <a:t>name</a:t>
            </a:r>
            <a:r>
              <a:rPr lang="en-US" dirty="0">
                <a:solidFill>
                  <a:schemeClr val="accent4">
                    <a:lumMod val="60000"/>
                    <a:lumOff val="40000"/>
                  </a:schemeClr>
                </a:solidFill>
              </a:rPr>
              <a:t>)</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accent2">
                    <a:lumMod val="75000"/>
                  </a:schemeClr>
                </a:solidFill>
              </a:rPr>
              <a:t>"Hello, "</a:t>
            </a:r>
            <a:r>
              <a:rPr lang="en-US" dirty="0">
                <a:solidFill>
                  <a:schemeClr val="bg1"/>
                </a:solidFill>
              </a:rPr>
              <a:t> + name</a:t>
            </a:r>
            <a:r>
              <a:rPr lang="en-US" dirty="0" smtClean="0">
                <a:solidFill>
                  <a:schemeClr val="accent4">
                    <a:lumMod val="60000"/>
                    <a:lumOff val="40000"/>
                  </a:schemeClr>
                </a:solidFill>
              </a:rPr>
              <a:t>)</a:t>
            </a:r>
          </a:p>
          <a:p>
            <a:endParaRPr lang="en-US" dirty="0">
              <a:solidFill>
                <a:schemeClr val="accent4">
                  <a:lumMod val="60000"/>
                  <a:lumOff val="40000"/>
                </a:schemeClr>
              </a:solidFill>
            </a:endParaRPr>
          </a:p>
          <a:p>
            <a:r>
              <a:rPr lang="en-US" dirty="0">
                <a:solidFill>
                  <a:schemeClr val="bg1"/>
                </a:solidFill>
              </a:rPr>
              <a:t>person1 = </a:t>
            </a:r>
            <a:r>
              <a:rPr lang="en-US" dirty="0" smtClean="0">
                <a:solidFill>
                  <a:schemeClr val="accent4">
                    <a:lumMod val="60000"/>
                    <a:lumOff val="40000"/>
                  </a:schemeClr>
                </a:solidFill>
              </a:rPr>
              <a:t>{</a:t>
            </a:r>
            <a:r>
              <a:rPr lang="en-US" dirty="0" smtClean="0">
                <a:solidFill>
                  <a:schemeClr val="accent2">
                    <a:lumMod val="75000"/>
                  </a:schemeClr>
                </a:solidFill>
              </a:rPr>
              <a:t>"</a:t>
            </a:r>
            <a:r>
              <a:rPr lang="en-US" dirty="0">
                <a:solidFill>
                  <a:schemeClr val="accent2">
                    <a:lumMod val="75000"/>
                  </a:schemeClr>
                </a:solidFill>
              </a:rPr>
              <a:t>name"</a:t>
            </a:r>
            <a:r>
              <a:rPr lang="en-US" dirty="0">
                <a:solidFill>
                  <a:schemeClr val="bg1"/>
                </a:solidFill>
              </a:rPr>
              <a:t>: </a:t>
            </a:r>
            <a:r>
              <a:rPr lang="en-US" dirty="0">
                <a:solidFill>
                  <a:schemeClr val="accent2">
                    <a:lumMod val="75000"/>
                  </a:schemeClr>
                </a:solidFill>
              </a:rPr>
              <a:t>"John</a:t>
            </a:r>
            <a:r>
              <a:rPr lang="en-US" dirty="0" smtClean="0">
                <a:solidFill>
                  <a:schemeClr val="accent2">
                    <a:lumMod val="75000"/>
                  </a:schemeClr>
                </a:solidFill>
              </a:rPr>
              <a:t>"</a:t>
            </a:r>
            <a:r>
              <a:rPr lang="en-US" dirty="0" smtClean="0">
                <a:solidFill>
                  <a:schemeClr val="bg1"/>
                </a:solidFill>
              </a:rPr>
              <a:t>, </a:t>
            </a:r>
            <a:r>
              <a:rPr lang="en-US" dirty="0" smtClean="0">
                <a:solidFill>
                  <a:schemeClr val="accent2">
                    <a:lumMod val="75000"/>
                  </a:schemeClr>
                </a:solidFill>
              </a:rPr>
              <a:t>"</a:t>
            </a:r>
            <a:r>
              <a:rPr lang="en-US" dirty="0">
                <a:solidFill>
                  <a:schemeClr val="accent2">
                    <a:lumMod val="75000"/>
                  </a:schemeClr>
                </a:solidFill>
              </a:rPr>
              <a:t>age"</a:t>
            </a:r>
            <a:r>
              <a:rPr lang="en-US" dirty="0">
                <a:solidFill>
                  <a:schemeClr val="bg1"/>
                </a:solidFill>
              </a:rPr>
              <a:t>: </a:t>
            </a:r>
            <a:r>
              <a:rPr lang="en-US" dirty="0">
                <a:solidFill>
                  <a:schemeClr val="accent6">
                    <a:lumMod val="60000"/>
                    <a:lumOff val="40000"/>
                  </a:schemeClr>
                </a:solidFill>
              </a:rPr>
              <a:t>36</a:t>
            </a:r>
            <a:r>
              <a:rPr lang="en-US" dirty="0" smtClean="0">
                <a:solidFill>
                  <a:schemeClr val="bg1"/>
                </a:solidFill>
              </a:rPr>
              <a:t>,</a:t>
            </a:r>
            <a:r>
              <a:rPr lang="en-US" dirty="0" smtClean="0">
                <a:solidFill>
                  <a:schemeClr val="accent2">
                    <a:lumMod val="75000"/>
                  </a:schemeClr>
                </a:solidFill>
              </a:rPr>
              <a:t>"</a:t>
            </a:r>
            <a:r>
              <a:rPr lang="en-US" dirty="0">
                <a:solidFill>
                  <a:schemeClr val="accent2">
                    <a:lumMod val="75000"/>
                  </a:schemeClr>
                </a:solidFill>
              </a:rPr>
              <a:t>country"</a:t>
            </a:r>
            <a:r>
              <a:rPr lang="en-US" dirty="0">
                <a:solidFill>
                  <a:schemeClr val="bg1"/>
                </a:solidFill>
              </a:rPr>
              <a:t>: </a:t>
            </a:r>
            <a:r>
              <a:rPr lang="en-US" dirty="0">
                <a:solidFill>
                  <a:schemeClr val="accent2">
                    <a:lumMod val="75000"/>
                  </a:schemeClr>
                </a:solidFill>
              </a:rPr>
              <a:t>"Norway</a:t>
            </a:r>
            <a:r>
              <a:rPr lang="en-US" dirty="0" smtClean="0">
                <a:solidFill>
                  <a:schemeClr val="accent2">
                    <a:lumMod val="75000"/>
                  </a:schemeClr>
                </a:solidFill>
              </a:rPr>
              <a:t>"</a:t>
            </a:r>
            <a:r>
              <a:rPr lang="en-US" dirty="0" smtClean="0">
                <a:solidFill>
                  <a:schemeClr val="accent4">
                    <a:lumMod val="60000"/>
                    <a:lumOff val="40000"/>
                  </a:schemeClr>
                </a:solidFill>
              </a:rPr>
              <a:t>}</a:t>
            </a:r>
            <a:endParaRPr lang="en-US" sz="1600" dirty="0">
              <a:solidFill>
                <a:schemeClr val="accent4">
                  <a:lumMod val="60000"/>
                  <a:lumOff val="40000"/>
                </a:schemeClr>
              </a:solidFill>
            </a:endParaRPr>
          </a:p>
        </p:txBody>
      </p:sp>
      <p:sp>
        <p:nvSpPr>
          <p:cNvPr id="25" name="TextBox 24"/>
          <p:cNvSpPr txBox="1"/>
          <p:nvPr/>
        </p:nvSpPr>
        <p:spPr>
          <a:xfrm>
            <a:off x="639997" y="4316341"/>
            <a:ext cx="7697972" cy="646331"/>
          </a:xfrm>
          <a:prstGeom prst="rect">
            <a:avLst/>
          </a:prstGeom>
          <a:noFill/>
        </p:spPr>
        <p:txBody>
          <a:bodyPr wrap="square" rtlCol="0">
            <a:spAutoFit/>
          </a:bodyPr>
          <a:lstStyle/>
          <a:p>
            <a:r>
              <a:rPr lang="en-US" dirty="0" err="1" smtClean="0"/>
              <a:t>Nhưng</a:t>
            </a:r>
            <a:r>
              <a:rPr lang="en-US" dirty="0" smtClean="0"/>
              <a:t> </a:t>
            </a:r>
            <a:r>
              <a:rPr lang="en-US" dirty="0" err="1" smtClean="0"/>
              <a:t>bạn</a:t>
            </a:r>
            <a:r>
              <a:rPr lang="en-US" dirty="0" smtClean="0"/>
              <a:t> </a:t>
            </a:r>
            <a:r>
              <a:rPr lang="en-US" dirty="0" err="1" smtClean="0"/>
              <a:t>chỉ</a:t>
            </a:r>
            <a:r>
              <a:rPr lang="en-US" dirty="0" smtClean="0"/>
              <a:t> </a:t>
            </a:r>
            <a:r>
              <a:rPr lang="en-US" dirty="0" err="1" smtClean="0"/>
              <a:t>muốn</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một</a:t>
            </a:r>
            <a:r>
              <a:rPr lang="en-US" dirty="0" smtClean="0"/>
              <a:t> </a:t>
            </a:r>
            <a:r>
              <a:rPr lang="en-US" dirty="0" err="1" smtClean="0"/>
              <a:t>thành</a:t>
            </a:r>
            <a:r>
              <a:rPr lang="en-US" dirty="0" smtClean="0"/>
              <a:t> </a:t>
            </a:r>
            <a:r>
              <a:rPr lang="en-US" dirty="0" err="1" smtClean="0"/>
              <a:t>phần</a:t>
            </a:r>
            <a:r>
              <a:rPr lang="en-US" dirty="0" smtClean="0"/>
              <a:t> </a:t>
            </a:r>
            <a:r>
              <a:rPr lang="en-US" dirty="0" err="1" smtClean="0"/>
              <a:t>trong</a:t>
            </a:r>
            <a:r>
              <a:rPr lang="en-US" dirty="0" smtClean="0"/>
              <a:t> module </a:t>
            </a:r>
            <a:r>
              <a:rPr lang="en-US" dirty="0" err="1" smtClean="0"/>
              <a:t>đó</a:t>
            </a:r>
            <a:r>
              <a:rPr lang="en-US" dirty="0" smtClean="0"/>
              <a:t> </a:t>
            </a:r>
            <a:r>
              <a:rPr lang="en-US" dirty="0" err="1" smtClean="0"/>
              <a:t>thì</a:t>
            </a:r>
            <a:r>
              <a:rPr lang="en-US" dirty="0" smtClean="0"/>
              <a:t> </a:t>
            </a:r>
            <a:r>
              <a:rPr lang="en-US" dirty="0" err="1" smtClean="0"/>
              <a:t>dùng</a:t>
            </a:r>
            <a:r>
              <a:rPr lang="en-US" dirty="0" smtClean="0"/>
              <a:t> </a:t>
            </a:r>
            <a:r>
              <a:rPr lang="en-US" dirty="0" err="1" smtClean="0"/>
              <a:t>từ</a:t>
            </a:r>
            <a:r>
              <a:rPr lang="en-US" dirty="0" smtClean="0"/>
              <a:t> </a:t>
            </a:r>
            <a:r>
              <a:rPr lang="en-US" dirty="0" err="1" smtClean="0"/>
              <a:t>khóa</a:t>
            </a:r>
            <a:r>
              <a:rPr lang="en-US" dirty="0" smtClean="0"/>
              <a:t> </a:t>
            </a:r>
            <a:r>
              <a:rPr lang="en-US" b="1" dirty="0" smtClean="0">
                <a:solidFill>
                  <a:srgbClr val="FF0000"/>
                </a:solidFill>
              </a:rPr>
              <a:t>from</a:t>
            </a:r>
            <a:r>
              <a:rPr lang="en-US" dirty="0" smtClean="0"/>
              <a:t> </a:t>
            </a:r>
            <a:r>
              <a:rPr lang="en-US" dirty="0" err="1" smtClean="0"/>
              <a:t>như</a:t>
            </a:r>
            <a:r>
              <a:rPr lang="en-US" dirty="0" smtClean="0"/>
              <a:t> </a:t>
            </a:r>
            <a:r>
              <a:rPr lang="en-US" dirty="0" err="1" smtClean="0"/>
              <a:t>dưới</a:t>
            </a:r>
            <a:r>
              <a:rPr lang="en-US" dirty="0" smtClean="0"/>
              <a:t> </a:t>
            </a:r>
            <a:r>
              <a:rPr lang="en-US" dirty="0" err="1" smtClean="0"/>
              <a:t>đây</a:t>
            </a:r>
            <a:endParaRPr lang="en-US" dirty="0"/>
          </a:p>
        </p:txBody>
      </p:sp>
      <p:sp>
        <p:nvSpPr>
          <p:cNvPr id="13" name="Rectangle 12"/>
          <p:cNvSpPr/>
          <p:nvPr/>
        </p:nvSpPr>
        <p:spPr>
          <a:xfrm>
            <a:off x="699793" y="5171340"/>
            <a:ext cx="7774356" cy="93517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80547" y="5294633"/>
            <a:ext cx="7402216" cy="646331"/>
          </a:xfrm>
          <a:prstGeom prst="rect">
            <a:avLst/>
          </a:prstGeom>
          <a:noFill/>
        </p:spPr>
        <p:txBody>
          <a:bodyPr wrap="square" rtlCol="0">
            <a:spAutoFit/>
          </a:bodyPr>
          <a:lstStyle/>
          <a:p>
            <a:r>
              <a:rPr lang="en-US" dirty="0">
                <a:solidFill>
                  <a:srgbClr val="00B0F0"/>
                </a:solidFill>
              </a:rPr>
              <a:t>from</a:t>
            </a:r>
            <a:r>
              <a:rPr lang="en-US" dirty="0">
                <a:solidFill>
                  <a:schemeClr val="bg1"/>
                </a:solidFill>
              </a:rPr>
              <a:t> </a:t>
            </a:r>
            <a:r>
              <a:rPr lang="en-US" dirty="0" err="1">
                <a:solidFill>
                  <a:schemeClr val="bg1"/>
                </a:solidFill>
              </a:rPr>
              <a:t>mymodule</a:t>
            </a:r>
            <a:r>
              <a:rPr lang="en-US" dirty="0">
                <a:solidFill>
                  <a:schemeClr val="bg1"/>
                </a:solidFill>
              </a:rPr>
              <a:t> </a:t>
            </a:r>
            <a:r>
              <a:rPr lang="en-US" dirty="0">
                <a:solidFill>
                  <a:srgbClr val="00B0F0"/>
                </a:solidFill>
              </a:rPr>
              <a:t>import</a:t>
            </a:r>
            <a:r>
              <a:rPr lang="en-US" dirty="0">
                <a:solidFill>
                  <a:schemeClr val="bg1"/>
                </a:solidFill>
              </a:rPr>
              <a:t> </a:t>
            </a:r>
            <a:r>
              <a:rPr lang="en-US" dirty="0" smtClean="0">
                <a:solidFill>
                  <a:schemeClr val="bg1"/>
                </a:solidFill>
              </a:rPr>
              <a:t>person1</a:t>
            </a:r>
          </a:p>
          <a:p>
            <a:r>
              <a:rPr lang="en-US" dirty="0">
                <a:solidFill>
                  <a:schemeClr val="bg1"/>
                </a:solidFill>
              </a:rPr>
              <a:t>print </a:t>
            </a:r>
            <a:r>
              <a:rPr lang="en-US" dirty="0">
                <a:solidFill>
                  <a:schemeClr val="accent4">
                    <a:lumMod val="60000"/>
                    <a:lumOff val="40000"/>
                  </a:schemeClr>
                </a:solidFill>
              </a:rPr>
              <a:t>(</a:t>
            </a:r>
            <a:r>
              <a:rPr lang="en-US" dirty="0">
                <a:solidFill>
                  <a:schemeClr val="bg1"/>
                </a:solidFill>
              </a:rPr>
              <a:t>person1</a:t>
            </a:r>
            <a:r>
              <a:rPr lang="en-US" dirty="0">
                <a:solidFill>
                  <a:srgbClr val="FF66CC"/>
                </a:solidFill>
              </a:rPr>
              <a:t>[</a:t>
            </a:r>
            <a:r>
              <a:rPr lang="en-US" dirty="0">
                <a:solidFill>
                  <a:schemeClr val="accent2">
                    <a:lumMod val="75000"/>
                  </a:schemeClr>
                </a:solidFill>
              </a:rPr>
              <a:t>"age"</a:t>
            </a:r>
            <a:r>
              <a:rPr lang="en-US" dirty="0">
                <a:solidFill>
                  <a:srgbClr val="FF66CC"/>
                </a:solidFill>
              </a:rPr>
              <a:t>]</a:t>
            </a:r>
            <a:r>
              <a:rPr lang="en-US" dirty="0">
                <a:solidFill>
                  <a:schemeClr val="accent4">
                    <a:lumMod val="60000"/>
                    <a:lumOff val="40000"/>
                  </a:schemeClr>
                </a:solidFill>
              </a:rPr>
              <a:t>)</a:t>
            </a:r>
            <a:endParaRPr lang="en-US" sz="1600" b="1" dirty="0">
              <a:solidFill>
                <a:schemeClr val="accent4">
                  <a:lumMod val="60000"/>
                  <a:lumOff val="40000"/>
                </a:schemeClr>
              </a:solidFill>
            </a:endParaRPr>
          </a:p>
        </p:txBody>
      </p:sp>
    </p:spTree>
    <p:extLst>
      <p:ext uri="{BB962C8B-B14F-4D97-AF65-F5344CB8AC3E}">
        <p14:creationId xmlns:p14="http://schemas.microsoft.com/office/powerpoint/2010/main" val="33160014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8.2 </a:t>
            </a:r>
            <a:r>
              <a:rPr lang="en-US" dirty="0" smtClean="0"/>
              <a:t>Built-in Modules</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1041993" y="1541792"/>
            <a:ext cx="6432695"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solidFill>
                <a:srgbClr val="FF0000"/>
              </a:solidFill>
            </a:endParaRPr>
          </a:p>
        </p:txBody>
      </p:sp>
      <p:sp>
        <p:nvSpPr>
          <p:cNvPr id="8" name="TextBox 7"/>
          <p:cNvSpPr txBox="1"/>
          <p:nvPr/>
        </p:nvSpPr>
        <p:spPr>
          <a:xfrm>
            <a:off x="999461" y="2118089"/>
            <a:ext cx="7697972" cy="369332"/>
          </a:xfrm>
          <a:prstGeom prst="rect">
            <a:avLst/>
          </a:prstGeom>
          <a:noFill/>
        </p:spPr>
        <p:txBody>
          <a:bodyPr wrap="square" rtlCol="0">
            <a:spAutoFit/>
          </a:bodyPr>
          <a:lstStyle/>
          <a:p>
            <a:r>
              <a:rPr lang="en-US" dirty="0" err="1" smtClean="0"/>
              <a:t>Tổng</a:t>
            </a:r>
            <a:r>
              <a:rPr lang="en-US" dirty="0" smtClean="0"/>
              <a:t> </a:t>
            </a:r>
            <a:r>
              <a:rPr lang="en-US" dirty="0" err="1" smtClean="0"/>
              <a:t>quan</a:t>
            </a:r>
            <a:r>
              <a:rPr lang="en-US" dirty="0" smtClean="0"/>
              <a:t> </a:t>
            </a:r>
            <a:r>
              <a:rPr lang="en-US" dirty="0" err="1" smtClean="0"/>
              <a:t>về</a:t>
            </a:r>
            <a:r>
              <a:rPr lang="en-US" dirty="0" smtClean="0"/>
              <a:t> Module</a:t>
            </a:r>
            <a:endParaRPr lang="en-US" dirty="0"/>
          </a:p>
        </p:txBody>
      </p:sp>
      <p:sp>
        <p:nvSpPr>
          <p:cNvPr id="9" name="Flowchart: Decision 8"/>
          <p:cNvSpPr/>
          <p:nvPr/>
        </p:nvSpPr>
        <p:spPr>
          <a:xfrm>
            <a:off x="699793" y="221769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999461" y="2568525"/>
            <a:ext cx="7697972" cy="369332"/>
          </a:xfrm>
          <a:prstGeom prst="rect">
            <a:avLst/>
          </a:prstGeom>
          <a:noFill/>
        </p:spPr>
        <p:txBody>
          <a:bodyPr wrap="square" rtlCol="0">
            <a:spAutoFit/>
          </a:bodyPr>
          <a:lstStyle/>
          <a:p>
            <a:r>
              <a:rPr lang="en-US" dirty="0">
                <a:hlinkClick r:id="rId3"/>
              </a:rPr>
              <a:t>https://www.w3schools.com/python/python_modules.asp</a:t>
            </a:r>
            <a:endParaRPr lang="en-US" dirty="0"/>
          </a:p>
        </p:txBody>
      </p:sp>
      <p:sp>
        <p:nvSpPr>
          <p:cNvPr id="11" name="TextBox 10"/>
          <p:cNvSpPr txBox="1"/>
          <p:nvPr/>
        </p:nvSpPr>
        <p:spPr>
          <a:xfrm>
            <a:off x="999461" y="3047260"/>
            <a:ext cx="7697972" cy="369332"/>
          </a:xfrm>
          <a:prstGeom prst="rect">
            <a:avLst/>
          </a:prstGeom>
          <a:noFill/>
        </p:spPr>
        <p:txBody>
          <a:bodyPr wrap="square" rtlCol="0">
            <a:spAutoFit/>
          </a:bodyPr>
          <a:lstStyle/>
          <a:p>
            <a:r>
              <a:rPr lang="en-US" dirty="0" err="1" smtClean="0"/>
              <a:t>Cách</a:t>
            </a:r>
            <a:r>
              <a:rPr lang="en-US" dirty="0" smtClean="0"/>
              <a:t> </a:t>
            </a:r>
            <a:r>
              <a:rPr lang="en-US" dirty="0" err="1" smtClean="0"/>
              <a:t>sử</a:t>
            </a:r>
            <a:r>
              <a:rPr lang="en-US" dirty="0" smtClean="0"/>
              <a:t> </a:t>
            </a:r>
            <a:r>
              <a:rPr lang="en-US" dirty="0" err="1" smtClean="0"/>
              <a:t>dụng</a:t>
            </a:r>
            <a:r>
              <a:rPr lang="en-US" dirty="0" smtClean="0"/>
              <a:t> Module </a:t>
            </a:r>
            <a:r>
              <a:rPr lang="en-US" dirty="0" err="1" smtClean="0"/>
              <a:t>Datetime</a:t>
            </a:r>
            <a:endParaRPr lang="en-US" dirty="0"/>
          </a:p>
        </p:txBody>
      </p:sp>
      <p:sp>
        <p:nvSpPr>
          <p:cNvPr id="12" name="Flowchart: Decision 11"/>
          <p:cNvSpPr/>
          <p:nvPr/>
        </p:nvSpPr>
        <p:spPr>
          <a:xfrm>
            <a:off x="699793" y="314686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99461" y="3525995"/>
            <a:ext cx="7697972" cy="369332"/>
          </a:xfrm>
          <a:prstGeom prst="rect">
            <a:avLst/>
          </a:prstGeom>
          <a:noFill/>
        </p:spPr>
        <p:txBody>
          <a:bodyPr wrap="square" rtlCol="0">
            <a:spAutoFit/>
          </a:bodyPr>
          <a:lstStyle/>
          <a:p>
            <a:r>
              <a:rPr lang="en-US" dirty="0">
                <a:hlinkClick r:id="rId4"/>
              </a:rPr>
              <a:t>https://www.w3schools.com/python/python_datetime.asp</a:t>
            </a:r>
            <a:endParaRPr lang="en-US" dirty="0"/>
          </a:p>
        </p:txBody>
      </p:sp>
      <p:sp>
        <p:nvSpPr>
          <p:cNvPr id="15" name="TextBox 14"/>
          <p:cNvSpPr txBox="1"/>
          <p:nvPr/>
        </p:nvSpPr>
        <p:spPr>
          <a:xfrm>
            <a:off x="999461" y="4052277"/>
            <a:ext cx="7697972" cy="369332"/>
          </a:xfrm>
          <a:prstGeom prst="rect">
            <a:avLst/>
          </a:prstGeom>
          <a:noFill/>
        </p:spPr>
        <p:txBody>
          <a:bodyPr wrap="square" rtlCol="0">
            <a:spAutoFit/>
          </a:bodyPr>
          <a:lstStyle/>
          <a:p>
            <a:r>
              <a:rPr lang="en-US" dirty="0" err="1" smtClean="0"/>
              <a:t>Cách</a:t>
            </a:r>
            <a:r>
              <a:rPr lang="en-US" dirty="0" smtClean="0"/>
              <a:t> </a:t>
            </a:r>
            <a:r>
              <a:rPr lang="en-US" dirty="0" err="1" smtClean="0"/>
              <a:t>sử</a:t>
            </a:r>
            <a:r>
              <a:rPr lang="en-US" dirty="0" smtClean="0"/>
              <a:t> </a:t>
            </a:r>
            <a:r>
              <a:rPr lang="en-US" dirty="0" err="1" smtClean="0"/>
              <a:t>dụng</a:t>
            </a:r>
            <a:r>
              <a:rPr lang="en-US" dirty="0" smtClean="0"/>
              <a:t> Module Math</a:t>
            </a:r>
            <a:endParaRPr lang="en-US" dirty="0"/>
          </a:p>
        </p:txBody>
      </p:sp>
      <p:sp>
        <p:nvSpPr>
          <p:cNvPr id="17" name="Flowchart: Decision 16"/>
          <p:cNvSpPr/>
          <p:nvPr/>
        </p:nvSpPr>
        <p:spPr>
          <a:xfrm>
            <a:off x="699793" y="415188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99461" y="4531012"/>
            <a:ext cx="7697972" cy="369332"/>
          </a:xfrm>
          <a:prstGeom prst="rect">
            <a:avLst/>
          </a:prstGeom>
          <a:noFill/>
        </p:spPr>
        <p:txBody>
          <a:bodyPr wrap="square" rtlCol="0">
            <a:spAutoFit/>
          </a:bodyPr>
          <a:lstStyle/>
          <a:p>
            <a:r>
              <a:rPr lang="en-US" dirty="0">
                <a:hlinkClick r:id="rId5"/>
              </a:rPr>
              <a:t>https://www.w3schools.com/python/python_math.asp</a:t>
            </a:r>
            <a:endParaRPr lang="en-US" dirty="0"/>
          </a:p>
        </p:txBody>
      </p:sp>
      <p:sp>
        <p:nvSpPr>
          <p:cNvPr id="19" name="TextBox 18"/>
          <p:cNvSpPr txBox="1"/>
          <p:nvPr/>
        </p:nvSpPr>
        <p:spPr>
          <a:xfrm>
            <a:off x="999461" y="5098483"/>
            <a:ext cx="7697972" cy="369332"/>
          </a:xfrm>
          <a:prstGeom prst="rect">
            <a:avLst/>
          </a:prstGeom>
          <a:noFill/>
        </p:spPr>
        <p:txBody>
          <a:bodyPr wrap="square" rtlCol="0">
            <a:spAutoFit/>
          </a:bodyPr>
          <a:lstStyle/>
          <a:p>
            <a:r>
              <a:rPr lang="en-US" dirty="0" err="1" smtClean="0"/>
              <a:t>Cách</a:t>
            </a:r>
            <a:r>
              <a:rPr lang="en-US" dirty="0" smtClean="0"/>
              <a:t> </a:t>
            </a:r>
            <a:r>
              <a:rPr lang="en-US" dirty="0" err="1" smtClean="0"/>
              <a:t>sử</a:t>
            </a:r>
            <a:r>
              <a:rPr lang="en-US" dirty="0" smtClean="0"/>
              <a:t> </a:t>
            </a:r>
            <a:r>
              <a:rPr lang="en-US" dirty="0" err="1" smtClean="0"/>
              <a:t>dụng</a:t>
            </a:r>
            <a:r>
              <a:rPr lang="en-US" dirty="0" smtClean="0"/>
              <a:t> Module Random</a:t>
            </a:r>
            <a:endParaRPr lang="en-US" dirty="0"/>
          </a:p>
        </p:txBody>
      </p:sp>
      <p:sp>
        <p:nvSpPr>
          <p:cNvPr id="20" name="Flowchart: Decision 19"/>
          <p:cNvSpPr/>
          <p:nvPr/>
        </p:nvSpPr>
        <p:spPr>
          <a:xfrm>
            <a:off x="699793" y="519808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999461" y="5577218"/>
            <a:ext cx="7697972" cy="369332"/>
          </a:xfrm>
          <a:prstGeom prst="rect">
            <a:avLst/>
          </a:prstGeom>
          <a:noFill/>
        </p:spPr>
        <p:txBody>
          <a:bodyPr wrap="square" rtlCol="0">
            <a:spAutoFit/>
          </a:bodyPr>
          <a:lstStyle/>
          <a:p>
            <a:r>
              <a:rPr lang="en-US" dirty="0">
                <a:hlinkClick r:id="rId6"/>
              </a:rPr>
              <a:t>https://www.w3schools.com/python/module_random.asp</a:t>
            </a:r>
            <a:endParaRPr lang="en-US" dirty="0"/>
          </a:p>
        </p:txBody>
      </p:sp>
    </p:spTree>
    <p:extLst>
      <p:ext uri="{BB962C8B-B14F-4D97-AF65-F5344CB8AC3E}">
        <p14:creationId xmlns:p14="http://schemas.microsoft.com/office/powerpoint/2010/main" val="37335264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smtClean="0"/>
              <a:t>8.3 Package</a:t>
            </a:r>
            <a:endParaRPr lang="en-US"/>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41792"/>
            <a:ext cx="6432695" cy="369332"/>
          </a:xfrm>
          <a:prstGeom prst="rect">
            <a:avLst/>
          </a:prstGeom>
          <a:noFill/>
        </p:spPr>
        <p:txBody>
          <a:bodyPr wrap="square" rtlCol="0">
            <a:spAutoFit/>
          </a:bodyPr>
          <a:lstStyle/>
          <a:p>
            <a:r>
              <a:rPr lang="en-US" b="1" smtClean="0"/>
              <a:t>Định nghĩa</a:t>
            </a:r>
            <a:endParaRPr lang="en-US" b="1" dirty="0">
              <a:solidFill>
                <a:srgbClr val="FF0000"/>
              </a:solidFill>
            </a:endParaRPr>
          </a:p>
        </p:txBody>
      </p:sp>
      <p:sp>
        <p:nvSpPr>
          <p:cNvPr id="6" name="TextBox 5"/>
          <p:cNvSpPr txBox="1"/>
          <p:nvPr/>
        </p:nvSpPr>
        <p:spPr>
          <a:xfrm>
            <a:off x="639997" y="2023067"/>
            <a:ext cx="7697972" cy="646331"/>
          </a:xfrm>
          <a:prstGeom prst="rect">
            <a:avLst/>
          </a:prstGeom>
          <a:noFill/>
        </p:spPr>
        <p:txBody>
          <a:bodyPr wrap="square" rtlCol="0">
            <a:spAutoFit/>
          </a:bodyPr>
          <a:lstStyle/>
          <a:p>
            <a:r>
              <a:rPr lang="vi-VN"/>
              <a:t> </a:t>
            </a:r>
            <a:r>
              <a:rPr lang="vi-VN" b="1" smtClean="0"/>
              <a:t>Package</a:t>
            </a:r>
            <a:r>
              <a:rPr lang="vi-VN" smtClean="0"/>
              <a:t> </a:t>
            </a:r>
            <a:r>
              <a:rPr lang="vi-VN"/>
              <a:t>là </a:t>
            </a:r>
            <a:r>
              <a:rPr lang="vi-VN"/>
              <a:t>một </a:t>
            </a:r>
            <a:r>
              <a:rPr lang="vi-VN" b="1" smtClean="0"/>
              <a:t>thư </a:t>
            </a:r>
            <a:r>
              <a:rPr lang="vi-VN" b="1"/>
              <a:t>mục chứa </a:t>
            </a:r>
            <a:r>
              <a:rPr lang="vi-VN" b="1"/>
              <a:t>nhiều </a:t>
            </a:r>
            <a:r>
              <a:rPr lang="vi-VN" b="1" smtClean="0"/>
              <a:t>module</a:t>
            </a:r>
            <a:r>
              <a:rPr lang="vi-VN" smtClean="0"/>
              <a:t>, </a:t>
            </a:r>
            <a:r>
              <a:rPr lang="vi-VN"/>
              <a:t>có file đặc biệt `__init__.py` (có thể rỗng).</a:t>
            </a:r>
          </a:p>
        </p:txBody>
      </p:sp>
      <p:sp>
        <p:nvSpPr>
          <p:cNvPr id="7" name="TextBox 6"/>
          <p:cNvSpPr txBox="1"/>
          <p:nvPr/>
        </p:nvSpPr>
        <p:spPr>
          <a:xfrm>
            <a:off x="639997" y="2962867"/>
            <a:ext cx="7697972" cy="369332"/>
          </a:xfrm>
          <a:prstGeom prst="rect">
            <a:avLst/>
          </a:prstGeom>
          <a:noFill/>
        </p:spPr>
        <p:txBody>
          <a:bodyPr wrap="square" rtlCol="0">
            <a:spAutoFit/>
          </a:bodyPr>
          <a:lstStyle/>
          <a:p>
            <a:r>
              <a:rPr lang="vi-VN"/>
              <a:t>Cấu trúc ví dụ:</a:t>
            </a:r>
            <a:endParaRPr lang="vi-VN"/>
          </a:p>
        </p:txBody>
      </p:sp>
      <p:sp>
        <p:nvSpPr>
          <p:cNvPr id="8" name="Rectangle 7"/>
          <p:cNvSpPr/>
          <p:nvPr/>
        </p:nvSpPr>
        <p:spPr>
          <a:xfrm>
            <a:off x="699793" y="3509620"/>
            <a:ext cx="7774356" cy="259484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880547" y="3632914"/>
            <a:ext cx="7402216" cy="2031325"/>
          </a:xfrm>
          <a:prstGeom prst="rect">
            <a:avLst/>
          </a:prstGeom>
          <a:noFill/>
        </p:spPr>
        <p:txBody>
          <a:bodyPr wrap="square" rtlCol="0">
            <a:spAutoFit/>
          </a:bodyPr>
          <a:lstStyle/>
          <a:p>
            <a:r>
              <a:rPr lang="en-US">
                <a:solidFill>
                  <a:schemeClr val="bg1"/>
                </a:solidFill>
              </a:rPr>
              <a:t>project/</a:t>
            </a:r>
          </a:p>
          <a:p>
            <a:r>
              <a:rPr lang="en-US">
                <a:solidFill>
                  <a:schemeClr val="bg1"/>
                </a:solidFill>
              </a:rPr>
              <a:t>│</a:t>
            </a:r>
          </a:p>
          <a:p>
            <a:r>
              <a:rPr lang="en-US" smtClean="0">
                <a:solidFill>
                  <a:schemeClr val="bg1"/>
                </a:solidFill>
              </a:rPr>
              <a:t>├── </a:t>
            </a:r>
            <a:r>
              <a:rPr lang="en-US">
                <a:solidFill>
                  <a:schemeClr val="bg1"/>
                </a:solidFill>
              </a:rPr>
              <a:t>utils/</a:t>
            </a:r>
          </a:p>
          <a:p>
            <a:r>
              <a:rPr lang="en-US">
                <a:solidFill>
                  <a:schemeClr val="bg1"/>
                </a:solidFill>
              </a:rPr>
              <a:t>│   ├── __init__.py</a:t>
            </a:r>
          </a:p>
          <a:p>
            <a:r>
              <a:rPr lang="en-US">
                <a:solidFill>
                  <a:schemeClr val="bg1"/>
                </a:solidFill>
              </a:rPr>
              <a:t>│   ├── math_utils.py</a:t>
            </a:r>
          </a:p>
          <a:p>
            <a:r>
              <a:rPr lang="en-US">
                <a:solidFill>
                  <a:schemeClr val="bg1"/>
                </a:solidFill>
              </a:rPr>
              <a:t>│   └── string_utils.py</a:t>
            </a:r>
          </a:p>
          <a:p>
            <a:r>
              <a:rPr lang="en-US">
                <a:solidFill>
                  <a:schemeClr val="bg1"/>
                </a:solidFill>
              </a:rPr>
              <a:t>└── main.py</a:t>
            </a:r>
          </a:p>
        </p:txBody>
      </p:sp>
      <p:cxnSp>
        <p:nvCxnSpPr>
          <p:cNvPr id="13" name="Straight Arrow Connector 12"/>
          <p:cNvCxnSpPr/>
          <p:nvPr/>
        </p:nvCxnSpPr>
        <p:spPr>
          <a:xfrm flipH="1" flipV="1">
            <a:off x="3378200" y="4902997"/>
            <a:ext cx="1236133" cy="923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386667" y="5020733"/>
            <a:ext cx="1227666" cy="203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732867" y="4902997"/>
            <a:ext cx="2463800" cy="369332"/>
          </a:xfrm>
          <a:prstGeom prst="rect">
            <a:avLst/>
          </a:prstGeom>
          <a:noFill/>
        </p:spPr>
        <p:txBody>
          <a:bodyPr wrap="square" rtlCol="0">
            <a:spAutoFit/>
          </a:bodyPr>
          <a:lstStyle/>
          <a:p>
            <a:r>
              <a:rPr lang="en-US" smtClean="0">
                <a:solidFill>
                  <a:srgbClr val="FF0000"/>
                </a:solidFill>
              </a:rPr>
              <a:t>Các hàm tiện ích</a:t>
            </a:r>
            <a:endParaRPr lang="en-US">
              <a:solidFill>
                <a:srgbClr val="FF0000"/>
              </a:solidFill>
            </a:endParaRPr>
          </a:p>
        </p:txBody>
      </p:sp>
      <p:cxnSp>
        <p:nvCxnSpPr>
          <p:cNvPr id="20" name="Straight Arrow Connector 19"/>
          <p:cNvCxnSpPr/>
          <p:nvPr/>
        </p:nvCxnSpPr>
        <p:spPr>
          <a:xfrm flipH="1">
            <a:off x="3048000" y="4064000"/>
            <a:ext cx="1075267" cy="448733"/>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241800" y="3886997"/>
            <a:ext cx="2463800" cy="646331"/>
          </a:xfrm>
          <a:prstGeom prst="rect">
            <a:avLst/>
          </a:prstGeom>
          <a:noFill/>
        </p:spPr>
        <p:txBody>
          <a:bodyPr wrap="square" rtlCol="0">
            <a:spAutoFit/>
          </a:bodyPr>
          <a:lstStyle/>
          <a:p>
            <a:r>
              <a:rPr lang="en-US" smtClean="0">
                <a:solidFill>
                  <a:srgbClr val="FFFF00"/>
                </a:solidFill>
              </a:rPr>
              <a:t>File đặc biệt để nhận diện là Module</a:t>
            </a:r>
            <a:endParaRPr lang="en-US">
              <a:solidFill>
                <a:srgbClr val="FFFF00"/>
              </a:solidFill>
            </a:endParaRPr>
          </a:p>
        </p:txBody>
      </p:sp>
    </p:spTree>
    <p:extLst>
      <p:ext uri="{BB962C8B-B14F-4D97-AF65-F5344CB8AC3E}">
        <p14:creationId xmlns:p14="http://schemas.microsoft.com/office/powerpoint/2010/main" val="40209648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18</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smtClean="0"/>
              <a:t>8.4 Review Lessions 1-7</a:t>
            </a:r>
            <a:endParaRPr lang="en-US"/>
          </a:p>
        </p:txBody>
      </p:sp>
      <p:sp>
        <p:nvSpPr>
          <p:cNvPr id="17" name="TextBox 16"/>
          <p:cNvSpPr txBox="1"/>
          <p:nvPr/>
        </p:nvSpPr>
        <p:spPr>
          <a:xfrm>
            <a:off x="906328" y="1720156"/>
            <a:ext cx="7697972" cy="369332"/>
          </a:xfrm>
          <a:prstGeom prst="rect">
            <a:avLst/>
          </a:prstGeom>
          <a:noFill/>
        </p:spPr>
        <p:txBody>
          <a:bodyPr wrap="square" rtlCol="0">
            <a:spAutoFit/>
          </a:bodyPr>
          <a:lstStyle/>
          <a:p>
            <a:r>
              <a:rPr lang="en-US"/>
              <a:t>Biến &amp; Kiểu dữ liệu</a:t>
            </a:r>
          </a:p>
        </p:txBody>
      </p:sp>
      <p:sp>
        <p:nvSpPr>
          <p:cNvPr id="18" name="Flowchart: Decision 17"/>
          <p:cNvSpPr/>
          <p:nvPr/>
        </p:nvSpPr>
        <p:spPr>
          <a:xfrm>
            <a:off x="606660" y="181976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06328" y="2236622"/>
            <a:ext cx="7697972" cy="369332"/>
          </a:xfrm>
          <a:prstGeom prst="rect">
            <a:avLst/>
          </a:prstGeom>
          <a:noFill/>
        </p:spPr>
        <p:txBody>
          <a:bodyPr wrap="square" rtlCol="0">
            <a:spAutoFit/>
          </a:bodyPr>
          <a:lstStyle/>
          <a:p>
            <a:r>
              <a:rPr lang="en-US"/>
              <a:t>Cấu trúc điều khiển</a:t>
            </a:r>
          </a:p>
        </p:txBody>
      </p:sp>
      <p:sp>
        <p:nvSpPr>
          <p:cNvPr id="22" name="Flowchart: Decision 21"/>
          <p:cNvSpPr/>
          <p:nvPr/>
        </p:nvSpPr>
        <p:spPr>
          <a:xfrm>
            <a:off x="606660" y="233622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906328" y="2778489"/>
            <a:ext cx="7697972" cy="369332"/>
          </a:xfrm>
          <a:prstGeom prst="rect">
            <a:avLst/>
          </a:prstGeom>
          <a:noFill/>
        </p:spPr>
        <p:txBody>
          <a:bodyPr wrap="square" rtlCol="0">
            <a:spAutoFit/>
          </a:bodyPr>
          <a:lstStyle/>
          <a:p>
            <a:r>
              <a:rPr lang="en-US"/>
              <a:t>Vòng lặp </a:t>
            </a:r>
          </a:p>
        </p:txBody>
      </p:sp>
      <p:sp>
        <p:nvSpPr>
          <p:cNvPr id="24" name="Flowchart: Decision 23"/>
          <p:cNvSpPr/>
          <p:nvPr/>
        </p:nvSpPr>
        <p:spPr>
          <a:xfrm>
            <a:off x="606660" y="287809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906328" y="3252622"/>
            <a:ext cx="7697972" cy="369332"/>
          </a:xfrm>
          <a:prstGeom prst="rect">
            <a:avLst/>
          </a:prstGeom>
          <a:noFill/>
        </p:spPr>
        <p:txBody>
          <a:bodyPr wrap="square" rtlCol="0">
            <a:spAutoFit/>
          </a:bodyPr>
          <a:lstStyle/>
          <a:p>
            <a:r>
              <a:rPr lang="en-US"/>
              <a:t>Cấu trúc </a:t>
            </a:r>
            <a:r>
              <a:rPr lang="en-US"/>
              <a:t>dữ </a:t>
            </a:r>
            <a:r>
              <a:rPr lang="en-US" smtClean="0"/>
              <a:t>liệu: list, tuple, set, dict</a:t>
            </a:r>
            <a:endParaRPr lang="en-US"/>
          </a:p>
        </p:txBody>
      </p:sp>
      <p:sp>
        <p:nvSpPr>
          <p:cNvPr id="26" name="Flowchart: Decision 25"/>
          <p:cNvSpPr/>
          <p:nvPr/>
        </p:nvSpPr>
        <p:spPr>
          <a:xfrm>
            <a:off x="606660" y="335222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906328" y="3760622"/>
            <a:ext cx="7697972" cy="369332"/>
          </a:xfrm>
          <a:prstGeom prst="rect">
            <a:avLst/>
          </a:prstGeom>
          <a:noFill/>
        </p:spPr>
        <p:txBody>
          <a:bodyPr wrap="square" rtlCol="0">
            <a:spAutoFit/>
          </a:bodyPr>
          <a:lstStyle/>
          <a:p>
            <a:r>
              <a:rPr lang="en-US"/>
              <a:t>Hàm</a:t>
            </a:r>
          </a:p>
        </p:txBody>
      </p:sp>
      <p:sp>
        <p:nvSpPr>
          <p:cNvPr id="28" name="Flowchart: Decision 27"/>
          <p:cNvSpPr/>
          <p:nvPr/>
        </p:nvSpPr>
        <p:spPr>
          <a:xfrm>
            <a:off x="606660" y="386022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906328" y="4209356"/>
            <a:ext cx="7697972" cy="369332"/>
          </a:xfrm>
          <a:prstGeom prst="rect">
            <a:avLst/>
          </a:prstGeom>
          <a:noFill/>
        </p:spPr>
        <p:txBody>
          <a:bodyPr wrap="square" rtlCol="0">
            <a:spAutoFit/>
          </a:bodyPr>
          <a:lstStyle/>
          <a:p>
            <a:r>
              <a:rPr lang="en-US"/>
              <a:t>Xử lý ngoại lệ</a:t>
            </a:r>
          </a:p>
        </p:txBody>
      </p:sp>
      <p:sp>
        <p:nvSpPr>
          <p:cNvPr id="30" name="Flowchart: Decision 29"/>
          <p:cNvSpPr/>
          <p:nvPr/>
        </p:nvSpPr>
        <p:spPr>
          <a:xfrm>
            <a:off x="606660" y="430896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906328" y="4666556"/>
            <a:ext cx="7697972" cy="369332"/>
          </a:xfrm>
          <a:prstGeom prst="rect">
            <a:avLst/>
          </a:prstGeom>
          <a:noFill/>
        </p:spPr>
        <p:txBody>
          <a:bodyPr wrap="square" rtlCol="0">
            <a:spAutoFit/>
          </a:bodyPr>
          <a:lstStyle/>
          <a:p>
            <a:r>
              <a:rPr lang="en-US"/>
              <a:t>File I/O</a:t>
            </a:r>
          </a:p>
        </p:txBody>
      </p:sp>
      <p:sp>
        <p:nvSpPr>
          <p:cNvPr id="32" name="Flowchart: Decision 31"/>
          <p:cNvSpPr/>
          <p:nvPr/>
        </p:nvSpPr>
        <p:spPr>
          <a:xfrm>
            <a:off x="606660" y="476616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48137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smtClean="0">
                <a:solidFill>
                  <a:schemeClr val="bg1"/>
                </a:solidFill>
              </a:rPr>
              <a:t>Tổng kết lại </a:t>
            </a:r>
            <a:r>
              <a:rPr lang="en-US" b="1" smtClean="0">
                <a:solidFill>
                  <a:schemeClr val="bg1"/>
                </a:solidFill>
              </a:rPr>
              <a:t>bài </a:t>
            </a:r>
            <a:r>
              <a:rPr lang="en-US" b="1" smtClean="0">
                <a:solidFill>
                  <a:schemeClr val="bg1"/>
                </a:solidFill>
              </a:rPr>
              <a:t>8</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6</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7</a:t>
            </a:r>
          </a:p>
        </p:txBody>
      </p:sp>
      <p:sp>
        <p:nvSpPr>
          <p:cNvPr id="7" name="Oval 6"/>
          <p:cNvSpPr/>
          <p:nvPr/>
        </p:nvSpPr>
        <p:spPr>
          <a:xfrm>
            <a:off x="1731027" y="345514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8</a:t>
            </a:r>
            <a:endParaRPr lang="en-US" b="1" dirty="0">
              <a:solidFill>
                <a:srgbClr val="60B659"/>
              </a:solidFill>
            </a:endParaRPr>
          </a:p>
        </p:txBody>
      </p:sp>
      <p:sp>
        <p:nvSpPr>
          <p:cNvPr id="8" name="Oval 7"/>
          <p:cNvSpPr/>
          <p:nvPr/>
        </p:nvSpPr>
        <p:spPr>
          <a:xfrm>
            <a:off x="1731027" y="427416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9</a:t>
            </a: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285999" y="1822655"/>
            <a:ext cx="6485861" cy="369332"/>
          </a:xfrm>
          <a:prstGeom prst="rect">
            <a:avLst/>
          </a:prstGeom>
          <a:noFill/>
        </p:spPr>
        <p:txBody>
          <a:bodyPr wrap="square" rtlCol="0">
            <a:spAutoFit/>
          </a:bodyPr>
          <a:lstStyle/>
          <a:p>
            <a:r>
              <a:rPr lang="en-US" dirty="0" err="1" smtClean="0">
                <a:solidFill>
                  <a:schemeClr val="bg1"/>
                </a:solidFill>
              </a:rPr>
              <a:t>Hiểu</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thế</a:t>
            </a:r>
            <a:r>
              <a:rPr lang="en-US" dirty="0" smtClean="0">
                <a:solidFill>
                  <a:schemeClr val="bg1"/>
                </a:solidFill>
              </a:rPr>
              <a:t> </a:t>
            </a:r>
            <a:r>
              <a:rPr lang="en-US" dirty="0" err="1" smtClean="0">
                <a:solidFill>
                  <a:schemeClr val="bg1"/>
                </a:solidFill>
              </a:rPr>
              <a:t>nào</a:t>
            </a:r>
            <a:r>
              <a:rPr lang="en-US" dirty="0" smtClean="0">
                <a:solidFill>
                  <a:schemeClr val="bg1"/>
                </a:solidFill>
              </a:rPr>
              <a:t> </a:t>
            </a:r>
            <a:r>
              <a:rPr lang="en-US" dirty="0" err="1" smtClean="0">
                <a:solidFill>
                  <a:schemeClr val="bg1"/>
                </a:solidFill>
              </a:rPr>
              <a:t>là</a:t>
            </a:r>
            <a:r>
              <a:rPr lang="en-US" dirty="0" smtClean="0">
                <a:solidFill>
                  <a:schemeClr val="bg1"/>
                </a:solidFill>
              </a:rPr>
              <a:t> Module </a:t>
            </a:r>
            <a:r>
              <a:rPr lang="en-US" dirty="0" err="1" smtClean="0">
                <a:solidFill>
                  <a:schemeClr val="bg1"/>
                </a:solidFill>
              </a:rPr>
              <a:t>trong</a:t>
            </a:r>
            <a:r>
              <a:rPr lang="en-US" dirty="0" smtClean="0">
                <a:solidFill>
                  <a:schemeClr val="bg1"/>
                </a:solidFill>
              </a:rPr>
              <a:t> Python</a:t>
            </a:r>
          </a:p>
        </p:txBody>
      </p:sp>
      <p:sp>
        <p:nvSpPr>
          <p:cNvPr id="13" name="TextBox 12"/>
          <p:cNvSpPr txBox="1"/>
          <p:nvPr/>
        </p:nvSpPr>
        <p:spPr>
          <a:xfrm>
            <a:off x="2286000" y="2680757"/>
            <a:ext cx="5178056" cy="646331"/>
          </a:xfrm>
          <a:prstGeom prst="rect">
            <a:avLst/>
          </a:prstGeom>
          <a:noFill/>
        </p:spPr>
        <p:txBody>
          <a:bodyPr wrap="square" rtlCol="0">
            <a:spAutoFit/>
          </a:bodyPr>
          <a:lstStyle/>
          <a:p>
            <a:r>
              <a:rPr lang="en-US" dirty="0" err="1" smtClean="0">
                <a:solidFill>
                  <a:schemeClr val="bg1"/>
                </a:solidFill>
              </a:rPr>
              <a:t>Biết</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tự</a:t>
            </a:r>
            <a:r>
              <a:rPr lang="en-US" dirty="0" smtClean="0">
                <a:solidFill>
                  <a:schemeClr val="bg1"/>
                </a:solidFill>
              </a:rPr>
              <a:t> </a:t>
            </a:r>
            <a:r>
              <a:rPr lang="en-US" dirty="0" err="1" smtClean="0">
                <a:solidFill>
                  <a:schemeClr val="bg1"/>
                </a:solidFill>
              </a:rPr>
              <a:t>tạo</a:t>
            </a:r>
            <a:r>
              <a:rPr lang="en-US" dirty="0" smtClean="0">
                <a:solidFill>
                  <a:schemeClr val="bg1"/>
                </a:solidFill>
              </a:rPr>
              <a:t> </a:t>
            </a:r>
            <a:r>
              <a:rPr lang="en-US" dirty="0" err="1" smtClean="0">
                <a:solidFill>
                  <a:schemeClr val="bg1"/>
                </a:solidFill>
              </a:rPr>
              <a:t>một</a:t>
            </a:r>
            <a:r>
              <a:rPr lang="en-US" dirty="0">
                <a:solidFill>
                  <a:schemeClr val="bg1"/>
                </a:solidFill>
              </a:rPr>
              <a:t> Module, </a:t>
            </a:r>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quy</a:t>
            </a:r>
            <a:r>
              <a:rPr lang="en-US" dirty="0" smtClean="0">
                <a:solidFill>
                  <a:schemeClr val="bg1"/>
                </a:solidFill>
              </a:rPr>
              <a:t> </a:t>
            </a:r>
            <a:r>
              <a:rPr lang="en-US" dirty="0" err="1" smtClean="0">
                <a:solidFill>
                  <a:schemeClr val="bg1"/>
                </a:solidFill>
              </a:rPr>
              <a:t>tắc</a:t>
            </a:r>
            <a:r>
              <a:rPr lang="en-US" dirty="0" smtClean="0">
                <a:solidFill>
                  <a:schemeClr val="bg1"/>
                </a:solidFill>
              </a:rPr>
              <a:t> </a:t>
            </a:r>
            <a:r>
              <a:rPr lang="en-US" dirty="0" err="1" smtClean="0">
                <a:solidFill>
                  <a:schemeClr val="bg1"/>
                </a:solidFill>
              </a:rPr>
              <a:t>đặt</a:t>
            </a:r>
            <a:r>
              <a:rPr lang="en-US" dirty="0" smtClean="0">
                <a:solidFill>
                  <a:schemeClr val="bg1"/>
                </a:solidFill>
              </a:rPr>
              <a:t> </a:t>
            </a:r>
            <a:r>
              <a:rPr lang="en-US" dirty="0" err="1" smtClean="0">
                <a:solidFill>
                  <a:schemeClr val="bg1"/>
                </a:solidFill>
              </a:rPr>
              <a:t>tên</a:t>
            </a:r>
            <a:r>
              <a:rPr lang="en-US" dirty="0" smtClean="0">
                <a:solidFill>
                  <a:schemeClr val="bg1"/>
                </a:solidFill>
              </a:rPr>
              <a:t> Module</a:t>
            </a:r>
            <a:endParaRPr lang="en-US" dirty="0">
              <a:solidFill>
                <a:schemeClr val="bg1"/>
              </a:solidFill>
            </a:endParaRPr>
          </a:p>
        </p:txBody>
      </p:sp>
      <p:sp>
        <p:nvSpPr>
          <p:cNvPr id="14" name="TextBox 13"/>
          <p:cNvSpPr txBox="1"/>
          <p:nvPr/>
        </p:nvSpPr>
        <p:spPr>
          <a:xfrm>
            <a:off x="2286000" y="4274161"/>
            <a:ext cx="5178056" cy="369332"/>
          </a:xfrm>
          <a:prstGeom prst="rect">
            <a:avLst/>
          </a:prstGeom>
          <a:noFill/>
        </p:spPr>
        <p:txBody>
          <a:bodyPr wrap="square" rtlCol="0">
            <a:spAutoFit/>
          </a:bodyPr>
          <a:lstStyle/>
          <a:p>
            <a:r>
              <a:rPr lang="en-US" dirty="0" err="1" smtClean="0">
                <a:solidFill>
                  <a:schemeClr val="bg1"/>
                </a:solidFill>
              </a:rPr>
              <a:t>Làm</a:t>
            </a:r>
            <a:r>
              <a:rPr lang="en-US" dirty="0" smtClean="0">
                <a:solidFill>
                  <a:schemeClr val="bg1"/>
                </a:solidFill>
              </a:rPr>
              <a:t> </a:t>
            </a:r>
            <a:r>
              <a:rPr lang="en-US" dirty="0" err="1" smtClean="0">
                <a:solidFill>
                  <a:schemeClr val="bg1"/>
                </a:solidFill>
              </a:rPr>
              <a:t>quen</a:t>
            </a:r>
            <a:r>
              <a:rPr lang="en-US" dirty="0" smtClean="0">
                <a:solidFill>
                  <a:schemeClr val="bg1"/>
                </a:solidFill>
              </a:rPr>
              <a:t> </a:t>
            </a:r>
            <a:r>
              <a:rPr lang="en-US" dirty="0" err="1" smtClean="0">
                <a:solidFill>
                  <a:schemeClr val="bg1"/>
                </a:solidFill>
              </a:rPr>
              <a:t>một</a:t>
            </a:r>
            <a:r>
              <a:rPr lang="en-US" dirty="0" smtClean="0">
                <a:solidFill>
                  <a:schemeClr val="bg1"/>
                </a:solidFill>
              </a:rPr>
              <a:t> </a:t>
            </a:r>
            <a:r>
              <a:rPr lang="en-US" dirty="0" err="1" smtClean="0">
                <a:solidFill>
                  <a:schemeClr val="bg1"/>
                </a:solidFill>
              </a:rPr>
              <a:t>số</a:t>
            </a:r>
            <a:r>
              <a:rPr lang="en-US" dirty="0" smtClean="0">
                <a:solidFill>
                  <a:schemeClr val="bg1"/>
                </a:solidFill>
              </a:rPr>
              <a:t> Built-in Module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
        <p:nvSpPr>
          <p:cNvPr id="17" name="TextBox 16"/>
          <p:cNvSpPr txBox="1"/>
          <p:nvPr/>
        </p:nvSpPr>
        <p:spPr>
          <a:xfrm>
            <a:off x="2286000" y="3476718"/>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Module</a:t>
            </a:r>
            <a:endParaRPr lang="en-US" dirty="0">
              <a:solidFill>
                <a:schemeClr val="bg1"/>
              </a:solidFill>
            </a:endParaRPr>
          </a:p>
        </p:txBody>
      </p:sp>
    </p:spTree>
    <p:extLst>
      <p:ext uri="{BB962C8B-B14F-4D97-AF65-F5344CB8AC3E}">
        <p14:creationId xmlns:p14="http://schemas.microsoft.com/office/powerpoint/2010/main" val="22865789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1190</TotalTime>
  <Words>1374</Words>
  <Application>Microsoft Office PowerPoint</Application>
  <PresentationFormat>On-screen Show (4:3)</PresentationFormat>
  <Paragraphs>197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572</cp:revision>
  <dcterms:created xsi:type="dcterms:W3CDTF">2023-04-21T02:43:36Z</dcterms:created>
  <dcterms:modified xsi:type="dcterms:W3CDTF">2025-10-30T03:16:17Z</dcterms:modified>
</cp:coreProperties>
</file>