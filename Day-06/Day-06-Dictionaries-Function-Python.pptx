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8" r:id="rId3"/>
    <p:sldId id="298" r:id="rId4"/>
    <p:sldId id="343" r:id="rId5"/>
    <p:sldId id="344" r:id="rId6"/>
    <p:sldId id="359" r:id="rId7"/>
    <p:sldId id="348" r:id="rId8"/>
    <p:sldId id="339" r:id="rId9"/>
    <p:sldId id="345"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26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C500"/>
    <a:srgbClr val="FECC36"/>
    <a:srgbClr val="3A75A6"/>
    <a:srgbClr val="64C0A7"/>
    <a:srgbClr val="67C7DF"/>
    <a:srgbClr val="5EB130"/>
    <a:srgbClr val="346E9E"/>
    <a:srgbClr val="60B659"/>
    <a:srgbClr val="377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85" autoAdjust="0"/>
    <p:restoredTop sz="94280" autoAdjust="0"/>
  </p:normalViewPr>
  <p:slideViewPr>
    <p:cSldViewPr snapToGrid="0">
      <p:cViewPr varScale="1">
        <p:scale>
          <a:sx n="113" d="100"/>
          <a:sy n="113" d="100"/>
        </p:scale>
        <p:origin x="15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10/30/2025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0" dirty="0" smtClean="0">
                <a:solidFill>
                  <a:schemeClr val="bg1"/>
                </a:solidFill>
                <a:latin typeface="+mj-lt"/>
                <a:ea typeface="Roboto" pitchFamily="2" charset="0"/>
                <a:cs typeface="Arial" panose="020B0604020202020204" pitchFamily="34" charset="0"/>
              </a:rPr>
              <a:t>Học</a:t>
            </a:r>
            <a:r>
              <a:rPr lang="en-US" sz="2000" b="0" baseline="0" dirty="0" smtClean="0">
                <a:solidFill>
                  <a:schemeClr val="bg1"/>
                </a:solidFill>
                <a:latin typeface="+mj-lt"/>
                <a:ea typeface="Roboto" pitchFamily="2" charset="0"/>
                <a:cs typeface="Arial" panose="020B0604020202020204" pitchFamily="34" charset="0"/>
              </a:rPr>
              <a:t> l</a:t>
            </a:r>
            <a:r>
              <a:rPr lang="en-US" sz="2000" b="0" dirty="0" smtClean="0">
                <a:solidFill>
                  <a:schemeClr val="bg1"/>
                </a:solidFill>
                <a:latin typeface="+mj-lt"/>
                <a:ea typeface="Roboto" pitchFamily="2" charset="0"/>
                <a:cs typeface="Arial" panose="020B0604020202020204" pitchFamily="34" charset="0"/>
              </a:rPr>
              <a:t>ập</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trình</a:t>
            </a:r>
            <a:r>
              <a:rPr lang="en-US" sz="2000" b="0" baseline="0" dirty="0" smtClean="0">
                <a:solidFill>
                  <a:schemeClr val="bg1"/>
                </a:solidFill>
                <a:latin typeface="+mj-lt"/>
                <a:ea typeface="Roboto" pitchFamily="2" charset="0"/>
                <a:cs typeface="Arial" panose="020B0604020202020204" pitchFamily="34" charset="0"/>
              </a:rPr>
              <a:t> Python </a:t>
            </a:r>
            <a:r>
              <a:rPr lang="en-US" sz="2000" b="0" baseline="0" dirty="0" err="1" smtClean="0">
                <a:solidFill>
                  <a:schemeClr val="bg1"/>
                </a:solidFill>
                <a:latin typeface="+mj-lt"/>
                <a:ea typeface="Roboto" pitchFamily="2" charset="0"/>
                <a:cs typeface="Arial" panose="020B0604020202020204" pitchFamily="34" charset="0"/>
              </a:rPr>
              <a:t>Cơ</a:t>
            </a:r>
            <a:r>
              <a:rPr lang="en-US" sz="2000" b="0" baseline="0" dirty="0" smtClean="0">
                <a:solidFill>
                  <a:schemeClr val="bg1"/>
                </a:solidFill>
                <a:latin typeface="+mj-lt"/>
                <a:ea typeface="Roboto" pitchFamily="2" charset="0"/>
                <a:cs typeface="Arial" panose="020B0604020202020204" pitchFamily="34" charset="0"/>
              </a:rPr>
              <a:t> </a:t>
            </a:r>
            <a:r>
              <a:rPr lang="en-US" sz="2000" b="0" baseline="0" dirty="0" err="1" smtClean="0">
                <a:solidFill>
                  <a:schemeClr val="bg1"/>
                </a:solidFill>
                <a:latin typeface="+mj-lt"/>
                <a:ea typeface="Roboto" pitchFamily="2" charset="0"/>
                <a:cs typeface="Arial" panose="020B0604020202020204" pitchFamily="34" charset="0"/>
              </a:rPr>
              <a:t>Bản</a:t>
            </a:r>
            <a:endParaRPr lang="en-US" sz="2000" b="0"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5094829"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Học</a:t>
            </a:r>
            <a:r>
              <a:rPr lang="en-US" sz="2000" b="1" baseline="0" dirty="0" smtClean="0">
                <a:solidFill>
                  <a:schemeClr val="bg1"/>
                </a:solidFill>
                <a:latin typeface="+mj-lt"/>
                <a:ea typeface="Roboto" pitchFamily="2" charset="0"/>
                <a:cs typeface="Arial" panose="020B0604020202020204" pitchFamily="34" charset="0"/>
              </a:rPr>
              <a:t> l</a:t>
            </a:r>
            <a:r>
              <a:rPr lang="en-US" sz="2000" b="1" dirty="0" smtClean="0">
                <a:solidFill>
                  <a:schemeClr val="bg1"/>
                </a:solidFill>
                <a:latin typeface="+mj-lt"/>
                <a:ea typeface="Roboto" pitchFamily="2" charset="0"/>
                <a:cs typeface="Arial" panose="020B0604020202020204" pitchFamily="34" charset="0"/>
              </a:rPr>
              <a:t>ập</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trình</a:t>
            </a:r>
            <a:r>
              <a:rPr lang="en-US" sz="2000" b="1" baseline="0" dirty="0" smtClean="0">
                <a:solidFill>
                  <a:schemeClr val="bg1"/>
                </a:solidFill>
                <a:latin typeface="+mj-lt"/>
                <a:ea typeface="Roboto" pitchFamily="2" charset="0"/>
                <a:cs typeface="Arial" panose="020B0604020202020204" pitchFamily="34" charset="0"/>
              </a:rPr>
              <a:t> Python </a:t>
            </a:r>
            <a:r>
              <a:rPr lang="en-US" sz="2000" b="1" baseline="0" dirty="0" err="1" smtClean="0">
                <a:solidFill>
                  <a:schemeClr val="bg1"/>
                </a:solidFill>
                <a:latin typeface="+mj-lt"/>
                <a:ea typeface="Roboto" pitchFamily="2" charset="0"/>
                <a:cs typeface="Arial" panose="020B0604020202020204" pitchFamily="34" charset="0"/>
              </a:rPr>
              <a:t>Cơ</a:t>
            </a:r>
            <a:r>
              <a:rPr lang="en-US" sz="2000" b="1" baseline="0" dirty="0" smtClean="0">
                <a:solidFill>
                  <a:schemeClr val="bg1"/>
                </a:solidFill>
                <a:latin typeface="+mj-lt"/>
                <a:ea typeface="Roboto" pitchFamily="2" charset="0"/>
                <a:cs typeface="Arial" panose="020B0604020202020204" pitchFamily="34" charset="0"/>
              </a:rPr>
              <a:t> </a:t>
            </a:r>
            <a:r>
              <a:rPr lang="en-US" sz="2000" b="1" baseline="0" dirty="0" err="1" smtClean="0">
                <a:solidFill>
                  <a:schemeClr val="bg1"/>
                </a:solidFill>
                <a:latin typeface="+mj-lt"/>
                <a:ea typeface="Roboto" pitchFamily="2" charset="0"/>
                <a:cs typeface="Arial" panose="020B0604020202020204" pitchFamily="34" charset="0"/>
              </a:rPr>
              <a:t>Bản</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
        <p:nvSpPr>
          <p:cNvPr id="4" name="Freeform 3"/>
          <p:cNvSpPr/>
          <p:nvPr userDrawn="1"/>
        </p:nvSpPr>
        <p:spPr>
          <a:xfrm>
            <a:off x="2666172" y="1"/>
            <a:ext cx="321577" cy="669850"/>
          </a:xfrm>
          <a:custGeom>
            <a:avLst/>
            <a:gdLst>
              <a:gd name="connsiteX0" fmla="*/ 0 w 510363"/>
              <a:gd name="connsiteY0" fmla="*/ 0 h 669851"/>
              <a:gd name="connsiteX1" fmla="*/ 510363 w 510363"/>
              <a:gd name="connsiteY1" fmla="*/ 0 h 669851"/>
              <a:gd name="connsiteX2" fmla="*/ 318977 w 510363"/>
              <a:gd name="connsiteY2" fmla="*/ 669851 h 669851"/>
              <a:gd name="connsiteX3" fmla="*/ 0 w 510363"/>
              <a:gd name="connsiteY3" fmla="*/ 669851 h 669851"/>
              <a:gd name="connsiteX4" fmla="*/ 0 w 510363"/>
              <a:gd name="connsiteY4" fmla="*/ 0 h 669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63" h="669851">
                <a:moveTo>
                  <a:pt x="0" y="0"/>
                </a:moveTo>
                <a:lnTo>
                  <a:pt x="510363" y="0"/>
                </a:lnTo>
                <a:lnTo>
                  <a:pt x="318977" y="669851"/>
                </a:lnTo>
                <a:lnTo>
                  <a:pt x="0" y="669851"/>
                </a:lnTo>
                <a:lnTo>
                  <a:pt x="0" y="0"/>
                </a:lnTo>
                <a:close/>
              </a:path>
            </a:pathLst>
          </a:cu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schools.com/python/python_dictionaries.asp" TargetMode="External"/><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hyperlink" Target="https://www.w3schools.com/python/python_dictionaries_methods.asp"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www.w3schools.com/python/python_functions.asp" TargetMode="External"/><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hyperlink" Target="https://www.w3schools.com/python/python_ref_functions.asp" TargetMode="External"/><Relationship Id="rId4" Type="http://schemas.openxmlformats.org/officeDocument/2006/relationships/hyperlink" Target="https://www.w3schools.com/python/python_lambda.asp"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058568"/>
            <a:ext cx="3079630" cy="646331"/>
          </a:xfrm>
          <a:prstGeom prst="rect">
            <a:avLst/>
          </a:prstGeom>
          <a:noFill/>
        </p:spPr>
        <p:txBody>
          <a:bodyPr wrap="square" rtlCol="0">
            <a:spAutoFit/>
          </a:bodyPr>
          <a:lstStyle/>
          <a:p>
            <a:pPr algn="ctr"/>
            <a:r>
              <a:rPr lang="en-US" sz="3600" b="1">
                <a:solidFill>
                  <a:schemeClr val="bg1"/>
                </a:solidFill>
              </a:rPr>
              <a:t>BÀI </a:t>
            </a:r>
            <a:r>
              <a:rPr lang="en-US" sz="3600" b="1" smtClean="0">
                <a:solidFill>
                  <a:schemeClr val="bg1"/>
                </a:solidFill>
              </a:rPr>
              <a:t>06</a:t>
            </a:r>
            <a:endParaRPr lang="en-US" sz="3600" b="1" dirty="0">
              <a:solidFill>
                <a:schemeClr val="bg1"/>
              </a:solidFill>
            </a:endParaRPr>
          </a:p>
        </p:txBody>
      </p:sp>
      <p:sp>
        <p:nvSpPr>
          <p:cNvPr id="7" name="TextBox 6"/>
          <p:cNvSpPr txBox="1"/>
          <p:nvPr/>
        </p:nvSpPr>
        <p:spPr>
          <a:xfrm>
            <a:off x="1137019" y="3838896"/>
            <a:ext cx="6869962" cy="1323439"/>
          </a:xfrm>
          <a:prstGeom prst="rect">
            <a:avLst/>
          </a:prstGeom>
          <a:noFill/>
        </p:spPr>
        <p:txBody>
          <a:bodyPr wrap="square" rtlCol="0">
            <a:spAutoFit/>
          </a:bodyPr>
          <a:lstStyle/>
          <a:p>
            <a:pPr algn="ctr"/>
            <a:r>
              <a:rPr lang="en-US" sz="4000" b="1" smtClean="0">
                <a:solidFill>
                  <a:schemeClr val="bg1"/>
                </a:solidFill>
                <a:ea typeface="Roboto" pitchFamily="2" charset="0"/>
              </a:rPr>
              <a:t>Dictionaries và Functions</a:t>
            </a:r>
          </a:p>
          <a:p>
            <a:pPr algn="ctr"/>
            <a:r>
              <a:rPr lang="en-US" sz="4000" b="1" smtClean="0">
                <a:solidFill>
                  <a:schemeClr val="bg1"/>
                </a:solidFill>
                <a:ea typeface="Roboto" pitchFamily="2" charset="0"/>
              </a:rPr>
              <a:t> Trong Python</a:t>
            </a:r>
            <a:endParaRPr lang="en-US" sz="4000" b="1" dirty="0" smtClean="0">
              <a:solidFill>
                <a:schemeClr val="bg1"/>
              </a:solidFill>
              <a:ea typeface="Roboto" pitchFamily="2" charset="0"/>
            </a:endParaRP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a:t>
            </a:r>
            <a:endParaRPr lang="en-US" b="1" dirty="0"/>
          </a:p>
        </p:txBody>
      </p:sp>
      <p:sp>
        <p:nvSpPr>
          <p:cNvPr id="6" name="TextBox 5"/>
          <p:cNvSpPr txBox="1"/>
          <p:nvPr/>
        </p:nvSpPr>
        <p:spPr>
          <a:xfrm>
            <a:off x="1201478" y="2373866"/>
            <a:ext cx="6485861"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điển</a:t>
            </a:r>
            <a:r>
              <a:rPr lang="en-US" dirty="0" smtClean="0"/>
              <a:t> Dictionaries</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
        <p:nvSpPr>
          <p:cNvPr id="10" name="TextBox 9"/>
          <p:cNvSpPr txBox="1"/>
          <p:nvPr/>
        </p:nvSpPr>
        <p:spPr>
          <a:xfrm>
            <a:off x="1201478" y="3054066"/>
            <a:ext cx="6485861" cy="369332"/>
          </a:xfrm>
          <a:prstGeom prst="rect">
            <a:avLst/>
          </a:prstGeom>
          <a:noFill/>
        </p:spPr>
        <p:txBody>
          <a:bodyPr wrap="square" rtlCol="0">
            <a:spAutoFit/>
          </a:bodyPr>
          <a:lstStyle/>
          <a:p>
            <a:r>
              <a:rPr lang="en-US" dirty="0" err="1" smtClean="0"/>
              <a:t>Tìm</a:t>
            </a:r>
            <a:r>
              <a:rPr lang="en-US" dirty="0" smtClean="0"/>
              <a:t> </a:t>
            </a:r>
            <a:r>
              <a:rPr lang="en-US" dirty="0" err="1" smtClean="0"/>
              <a:t>hiểu</a:t>
            </a:r>
            <a:r>
              <a:rPr lang="en-US" dirty="0" smtClean="0"/>
              <a:t> </a:t>
            </a:r>
            <a:r>
              <a:rPr lang="en-US" dirty="0" err="1" smtClean="0"/>
              <a:t>và</a:t>
            </a:r>
            <a:r>
              <a:rPr lang="en-US" dirty="0" smtClean="0"/>
              <a:t> </a:t>
            </a:r>
            <a:r>
              <a:rPr lang="en-US" dirty="0" err="1" smtClean="0"/>
              <a:t>cách</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một</a:t>
            </a:r>
            <a:r>
              <a:rPr lang="en-US" dirty="0" smtClean="0"/>
              <a:t> function (</a:t>
            </a:r>
            <a:r>
              <a:rPr lang="en-US" dirty="0" err="1" smtClean="0"/>
              <a:t>hàm</a:t>
            </a:r>
            <a:r>
              <a:rPr lang="en-US" dirty="0" smtClean="0"/>
              <a:t>) </a:t>
            </a:r>
            <a:r>
              <a:rPr lang="en-US" dirty="0" err="1" smtClean="0"/>
              <a:t>trong</a:t>
            </a:r>
            <a:r>
              <a:rPr lang="en-US" dirty="0" smtClean="0"/>
              <a:t> Python</a:t>
            </a:r>
            <a:endParaRPr lang="en-US" dirty="0"/>
          </a:p>
        </p:txBody>
      </p:sp>
      <p:sp>
        <p:nvSpPr>
          <p:cNvPr id="11" name="Oval 10"/>
          <p:cNvSpPr/>
          <p:nvPr/>
        </p:nvSpPr>
        <p:spPr>
          <a:xfrm>
            <a:off x="602143" y="3018808"/>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13" name="Oval 12"/>
          <p:cNvSpPr/>
          <p:nvPr/>
        </p:nvSpPr>
        <p:spPr>
          <a:xfrm>
            <a:off x="602143" y="3820292"/>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a:t>
            </a:r>
            <a:endParaRPr lang="en-US" b="1" dirty="0"/>
          </a:p>
        </p:txBody>
      </p:sp>
      <p:sp>
        <p:nvSpPr>
          <p:cNvPr id="15" name="TextBox 14"/>
          <p:cNvSpPr txBox="1"/>
          <p:nvPr/>
        </p:nvSpPr>
        <p:spPr>
          <a:xfrm>
            <a:off x="1201479" y="3845297"/>
            <a:ext cx="5178056" cy="369332"/>
          </a:xfrm>
          <a:prstGeom prst="rect">
            <a:avLst/>
          </a:prstGeom>
          <a:noFill/>
        </p:spPr>
        <p:txBody>
          <a:bodyPr wrap="square" rtlCol="0">
            <a:spAutoFit/>
          </a:bodyPr>
          <a:lstStyle/>
          <a:p>
            <a:r>
              <a:rPr lang="en-US" dirty="0" smtClean="0"/>
              <a:t>Function </a:t>
            </a:r>
            <a:r>
              <a:rPr lang="en-US" dirty="0" err="1" smtClean="0"/>
              <a:t>có</a:t>
            </a:r>
            <a:r>
              <a:rPr lang="en-US" dirty="0" smtClean="0"/>
              <a:t> </a:t>
            </a:r>
            <a:r>
              <a:rPr lang="en-US" dirty="0" err="1" smtClean="0"/>
              <a:t>chứa</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tham</a:t>
            </a:r>
            <a:r>
              <a:rPr lang="en-US" dirty="0" smtClean="0"/>
              <a:t> </a:t>
            </a:r>
            <a:r>
              <a:rPr lang="en-US" dirty="0" err="1" smtClean="0"/>
              <a:t>số</a:t>
            </a:r>
            <a:r>
              <a:rPr lang="en-US" dirty="0" smtClean="0"/>
              <a:t> </a:t>
            </a:r>
            <a:r>
              <a:rPr lang="en-US" dirty="0" err="1" smtClean="0"/>
              <a:t>tùy</a:t>
            </a:r>
            <a:r>
              <a:rPr lang="en-US" dirty="0" smtClean="0"/>
              <a:t> </a:t>
            </a:r>
            <a:r>
              <a:rPr lang="en-US" dirty="0" err="1" smtClean="0"/>
              <a:t>chọn</a:t>
            </a:r>
            <a:endParaRPr lang="en-US" dirty="0"/>
          </a:p>
        </p:txBody>
      </p:sp>
      <p:sp>
        <p:nvSpPr>
          <p:cNvPr id="16" name="TextBox 15"/>
          <p:cNvSpPr txBox="1"/>
          <p:nvPr/>
        </p:nvSpPr>
        <p:spPr>
          <a:xfrm>
            <a:off x="1201479" y="4599411"/>
            <a:ext cx="5178056" cy="369332"/>
          </a:xfrm>
          <a:prstGeom prst="rect">
            <a:avLst/>
          </a:prstGeom>
          <a:noFill/>
        </p:spPr>
        <p:txBody>
          <a:bodyPr wrap="square" rtlCol="0">
            <a:spAutoFit/>
          </a:bodyPr>
          <a:lstStyle/>
          <a:p>
            <a:r>
              <a:rPr lang="en-US" dirty="0" smtClean="0"/>
              <a:t>Function </a:t>
            </a:r>
            <a:r>
              <a:rPr lang="en-US" dirty="0" err="1" smtClean="0"/>
              <a:t>có</a:t>
            </a:r>
            <a:r>
              <a:rPr lang="en-US" dirty="0" smtClean="0"/>
              <a:t> </a:t>
            </a:r>
            <a:r>
              <a:rPr lang="en-US" dirty="0" err="1" smtClean="0"/>
              <a:t>trả</a:t>
            </a:r>
            <a:r>
              <a:rPr lang="en-US" dirty="0" smtClean="0"/>
              <a:t> </a:t>
            </a:r>
            <a:r>
              <a:rPr lang="en-US" dirty="0" err="1" smtClean="0"/>
              <a:t>về</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với</a:t>
            </a:r>
            <a:r>
              <a:rPr lang="en-US" dirty="0" smtClean="0"/>
              <a:t> </a:t>
            </a:r>
            <a:r>
              <a:rPr lang="en-US" dirty="0" err="1" smtClean="0"/>
              <a:t>câu</a:t>
            </a:r>
            <a:r>
              <a:rPr lang="en-US" dirty="0" smtClean="0"/>
              <a:t> </a:t>
            </a:r>
            <a:r>
              <a:rPr lang="en-US" dirty="0" err="1" smtClean="0"/>
              <a:t>lệnh</a:t>
            </a:r>
            <a:r>
              <a:rPr lang="en-US" dirty="0" smtClean="0"/>
              <a:t> return</a:t>
            </a:r>
            <a:endParaRPr lang="en-US" dirty="0"/>
          </a:p>
        </p:txBody>
      </p:sp>
      <p:sp>
        <p:nvSpPr>
          <p:cNvPr id="17" name="Oval 16"/>
          <p:cNvSpPr/>
          <p:nvPr/>
        </p:nvSpPr>
        <p:spPr>
          <a:xfrm>
            <a:off x="602143" y="5304719"/>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18" name="TextBox 17"/>
          <p:cNvSpPr txBox="1"/>
          <p:nvPr/>
        </p:nvSpPr>
        <p:spPr>
          <a:xfrm>
            <a:off x="1201478" y="5339977"/>
            <a:ext cx="5730949" cy="369332"/>
          </a:xfrm>
          <a:prstGeom prst="rect">
            <a:avLst/>
          </a:prstGeom>
          <a:noFill/>
        </p:spPr>
        <p:txBody>
          <a:bodyPr wrap="square" rtlCol="0">
            <a:spAutoFit/>
          </a:bodyPr>
          <a:lstStyle/>
          <a:p>
            <a:r>
              <a:rPr lang="en-US" dirty="0" smtClean="0"/>
              <a:t>Anonymous function (</a:t>
            </a:r>
            <a:r>
              <a:rPr lang="en-US" dirty="0"/>
              <a:t>A lambda </a:t>
            </a:r>
            <a:r>
              <a:rPr lang="en-US" dirty="0" smtClean="0"/>
              <a:t>function) </a:t>
            </a:r>
            <a:r>
              <a:rPr lang="en-US" dirty="0" err="1" smtClean="0"/>
              <a:t>trong</a:t>
            </a:r>
            <a:r>
              <a:rPr lang="en-US" dirty="0" smtClean="0"/>
              <a:t> Python </a:t>
            </a:r>
            <a:endParaRPr lang="en-US" dirty="0"/>
          </a:p>
        </p:txBody>
      </p:sp>
      <p:sp>
        <p:nvSpPr>
          <p:cNvPr id="19" name="Oval 18"/>
          <p:cNvSpPr/>
          <p:nvPr/>
        </p:nvSpPr>
        <p:spPr>
          <a:xfrm>
            <a:off x="602143" y="4551185"/>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4</a:t>
            </a:r>
            <a:endParaRPr lang="en-US" b="1" dirty="0"/>
          </a:p>
        </p:txBody>
      </p:sp>
    </p:spTree>
    <p:extLst>
      <p:ext uri="{BB962C8B-B14F-4D97-AF65-F5344CB8AC3E}">
        <p14:creationId xmlns:p14="http://schemas.microsoft.com/office/powerpoint/2010/main" val="1935813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6.1 </a:t>
            </a:r>
            <a:r>
              <a:rPr lang="en-US" dirty="0" err="1"/>
              <a:t>Tổng</a:t>
            </a:r>
            <a:r>
              <a:rPr lang="en-US" dirty="0"/>
              <a:t> </a:t>
            </a:r>
            <a:r>
              <a:rPr lang="en-US" dirty="0" err="1"/>
              <a:t>quan</a:t>
            </a:r>
            <a:r>
              <a:rPr lang="en-US" dirty="0"/>
              <a:t> </a:t>
            </a:r>
            <a:r>
              <a:rPr lang="en-US" dirty="0" err="1"/>
              <a:t>về</a:t>
            </a:r>
            <a:r>
              <a:rPr lang="en-US" dirty="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a:t> </a:t>
            </a:r>
            <a:r>
              <a:rPr lang="en-US" dirty="0" err="1" smtClean="0"/>
              <a:t>điển</a:t>
            </a:r>
            <a:r>
              <a:rPr lang="en-US" dirty="0" smtClean="0"/>
              <a:t> Dictionaries</a:t>
            </a:r>
            <a:endParaRPr lang="en-US" b="0" dirty="0" smtClean="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Khái</a:t>
            </a:r>
            <a:r>
              <a:rPr lang="en-US" b="1" dirty="0" smtClean="0"/>
              <a:t> </a:t>
            </a:r>
            <a:r>
              <a:rPr lang="en-US" b="1" dirty="0" err="1" smtClean="0"/>
              <a:t>niệm</a:t>
            </a:r>
            <a:r>
              <a:rPr lang="en-US" b="1" dirty="0" smtClean="0"/>
              <a:t> </a:t>
            </a:r>
            <a:r>
              <a:rPr lang="en-US" b="1" dirty="0" err="1" smtClean="0"/>
              <a:t>về</a:t>
            </a:r>
            <a:r>
              <a:rPr lang="en-US" b="1" dirty="0"/>
              <a:t> Dictionaries</a:t>
            </a:r>
            <a:endParaRPr lang="en-US" b="1" dirty="0">
              <a:solidFill>
                <a:srgbClr val="FF0000"/>
              </a:solidFill>
            </a:endParaRPr>
          </a:p>
        </p:txBody>
      </p:sp>
      <p:sp>
        <p:nvSpPr>
          <p:cNvPr id="8" name="TextBox 7"/>
          <p:cNvSpPr txBox="1"/>
          <p:nvPr/>
        </p:nvSpPr>
        <p:spPr>
          <a:xfrm>
            <a:off x="925034" y="1903017"/>
            <a:ext cx="7831856" cy="646331"/>
          </a:xfrm>
          <a:prstGeom prst="rect">
            <a:avLst/>
          </a:prstGeom>
          <a:noFill/>
        </p:spPr>
        <p:txBody>
          <a:bodyPr wrap="square" rtlCol="0">
            <a:spAutoFit/>
          </a:bodyPr>
          <a:lstStyle/>
          <a:p>
            <a:r>
              <a:rPr lang="vi-VN" dirty="0"/>
              <a:t>Trong Python, Dictionaries (Từ điển) là một loại cấu trúc dữ liệu mạnh mẽ và linh hoạt, cho phép bạn lưu trữ và truy xuất dữ liệu theo cặp khóa-giá trị</a:t>
            </a:r>
            <a:endParaRPr lang="en-US" dirty="0"/>
          </a:p>
        </p:txBody>
      </p:sp>
      <p:sp>
        <p:nvSpPr>
          <p:cNvPr id="14" name="TextBox 13"/>
          <p:cNvSpPr txBox="1"/>
          <p:nvPr/>
        </p:nvSpPr>
        <p:spPr>
          <a:xfrm>
            <a:off x="925033" y="2618319"/>
            <a:ext cx="7697972" cy="923330"/>
          </a:xfrm>
          <a:prstGeom prst="rect">
            <a:avLst/>
          </a:prstGeom>
          <a:noFill/>
        </p:spPr>
        <p:txBody>
          <a:bodyPr wrap="square" rtlCol="0">
            <a:spAutoFit/>
          </a:bodyPr>
          <a:lstStyle/>
          <a:p>
            <a:r>
              <a:rPr lang="vi-VN" dirty="0"/>
              <a:t>Dictionaries được biểu thị bằng dấu ngoặc nhọn "{}" và được sử dụng rộng rãi trong Python để lưu trữ và quản lý các cặp dữ liệu có tính chất "khóa-giá trị".</a:t>
            </a:r>
            <a:endParaRPr lang="en-US" dirty="0"/>
          </a:p>
        </p:txBody>
      </p:sp>
      <p:sp>
        <p:nvSpPr>
          <p:cNvPr id="15" name="Flowchart: Decision 14"/>
          <p:cNvSpPr/>
          <p:nvPr/>
        </p:nvSpPr>
        <p:spPr>
          <a:xfrm>
            <a:off x="710426" y="19985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710426" y="272673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25033" y="5284025"/>
            <a:ext cx="7697972" cy="646331"/>
          </a:xfrm>
          <a:prstGeom prst="rect">
            <a:avLst/>
          </a:prstGeom>
          <a:noFill/>
        </p:spPr>
        <p:txBody>
          <a:bodyPr wrap="square" rtlCol="0">
            <a:spAutoFit/>
          </a:bodyPr>
          <a:lstStyle/>
          <a:p>
            <a:r>
              <a:rPr lang="en-US" dirty="0"/>
              <a:t>2</a:t>
            </a:r>
            <a:r>
              <a:rPr lang="en-US" dirty="0" smtClean="0"/>
              <a:t>. </a:t>
            </a:r>
            <a:r>
              <a:rPr lang="vi-VN" b="1" dirty="0"/>
              <a:t>Giá trị (Value): </a:t>
            </a:r>
            <a:r>
              <a:rPr lang="vi-VN" dirty="0"/>
              <a:t>Đây là giá trị được lưu trữ liên kết với khóa tương ứng. Giá trị có thể là bất kỳ đối tượng Python nào</a:t>
            </a:r>
            <a:endParaRPr lang="en-US" dirty="0"/>
          </a:p>
        </p:txBody>
      </p:sp>
      <p:sp>
        <p:nvSpPr>
          <p:cNvPr id="18" name="Flowchart: Decision 17"/>
          <p:cNvSpPr/>
          <p:nvPr/>
        </p:nvSpPr>
        <p:spPr>
          <a:xfrm>
            <a:off x="710426" y="371556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25034" y="3657389"/>
            <a:ext cx="7831856" cy="369332"/>
          </a:xfrm>
          <a:prstGeom prst="rect">
            <a:avLst/>
          </a:prstGeom>
          <a:noFill/>
        </p:spPr>
        <p:txBody>
          <a:bodyPr wrap="square" rtlCol="0">
            <a:spAutoFit/>
          </a:bodyPr>
          <a:lstStyle/>
          <a:p>
            <a:r>
              <a:rPr lang="vi-VN" b="1" dirty="0"/>
              <a:t>Mỗi cặp trong từ điển bao gồm hai </a:t>
            </a:r>
            <a:r>
              <a:rPr lang="vi-VN" b="1" dirty="0" smtClean="0"/>
              <a:t>phần</a:t>
            </a:r>
            <a:r>
              <a:rPr lang="en-US" b="1" dirty="0" smtClean="0"/>
              <a:t>:</a:t>
            </a:r>
            <a:endParaRPr lang="en-US" b="1" dirty="0"/>
          </a:p>
        </p:txBody>
      </p:sp>
      <p:sp>
        <p:nvSpPr>
          <p:cNvPr id="20" name="TextBox 19"/>
          <p:cNvSpPr txBox="1"/>
          <p:nvPr/>
        </p:nvSpPr>
        <p:spPr>
          <a:xfrm>
            <a:off x="925033" y="4193708"/>
            <a:ext cx="7697972" cy="923330"/>
          </a:xfrm>
          <a:prstGeom prst="rect">
            <a:avLst/>
          </a:prstGeom>
          <a:noFill/>
        </p:spPr>
        <p:txBody>
          <a:bodyPr wrap="square" rtlCol="0">
            <a:spAutoFit/>
          </a:bodyPr>
          <a:lstStyle/>
          <a:p>
            <a:r>
              <a:rPr lang="en-US" dirty="0"/>
              <a:t>1</a:t>
            </a:r>
            <a:r>
              <a:rPr lang="en-US" dirty="0" smtClean="0"/>
              <a:t>. </a:t>
            </a:r>
            <a:r>
              <a:rPr lang="vi-VN" b="1" dirty="0"/>
              <a:t>Khóa (Key): </a:t>
            </a:r>
            <a:r>
              <a:rPr lang="vi-VN" dirty="0"/>
              <a:t>Đây là giá trị duy nhất dùng để xác định và truy xuất giá trị tương ứng. Khóa có thể là một đối tượng bất kỳ có thể băm (hashable) như chuỗi (string), số nguyên (integer), bộ (tuple), v.v</a:t>
            </a:r>
            <a:endParaRPr lang="en-US" dirty="0"/>
          </a:p>
        </p:txBody>
      </p:sp>
    </p:spTree>
    <p:extLst>
      <p:ext uri="{BB962C8B-B14F-4D97-AF65-F5344CB8AC3E}">
        <p14:creationId xmlns:p14="http://schemas.microsoft.com/office/powerpoint/2010/main" val="3168920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6.1 </a:t>
            </a:r>
            <a:r>
              <a:rPr lang="en-US" dirty="0" err="1"/>
              <a:t>Tổng</a:t>
            </a:r>
            <a:r>
              <a:rPr lang="en-US" dirty="0"/>
              <a:t> </a:t>
            </a:r>
            <a:r>
              <a:rPr lang="en-US" dirty="0" err="1"/>
              <a:t>quan</a:t>
            </a:r>
            <a:r>
              <a:rPr lang="en-US" dirty="0"/>
              <a:t> </a:t>
            </a:r>
            <a:r>
              <a:rPr lang="en-US" dirty="0" err="1"/>
              <a:t>về</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điển</a:t>
            </a:r>
            <a:r>
              <a:rPr lang="en-US" dirty="0"/>
              <a:t> Dictionaries</a:t>
            </a:r>
            <a:endParaRPr lang="en-US" b="0"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endParaRPr lang="en-US" b="1" dirty="0">
              <a:solidFill>
                <a:srgbClr val="FF0000"/>
              </a:solidFill>
            </a:endParaRPr>
          </a:p>
        </p:txBody>
      </p:sp>
      <p:sp>
        <p:nvSpPr>
          <p:cNvPr id="18" name="TextBox 17"/>
          <p:cNvSpPr txBox="1"/>
          <p:nvPr/>
        </p:nvSpPr>
        <p:spPr>
          <a:xfrm>
            <a:off x="548981" y="3993286"/>
            <a:ext cx="7697972" cy="369332"/>
          </a:xfrm>
          <a:prstGeom prst="rect">
            <a:avLst/>
          </a:prstGeom>
          <a:noFill/>
        </p:spPr>
        <p:txBody>
          <a:bodyPr wrap="square" rtlCol="0">
            <a:spAutoFit/>
          </a:bodyPr>
          <a:lstStyle/>
          <a:p>
            <a:r>
              <a:rPr lang="en-US" dirty="0" err="1" smtClean="0"/>
              <a:t>Trong</a:t>
            </a:r>
            <a:r>
              <a:rPr lang="en-US" dirty="0" smtClean="0"/>
              <a:t> </a:t>
            </a:r>
            <a:r>
              <a:rPr lang="en-US" dirty="0" err="1" smtClean="0"/>
              <a:t>ví</a:t>
            </a:r>
            <a:r>
              <a:rPr lang="en-US" dirty="0" smtClean="0"/>
              <a:t> </a:t>
            </a:r>
            <a:r>
              <a:rPr lang="en-US" dirty="0" err="1" smtClean="0"/>
              <a:t>dụ</a:t>
            </a:r>
            <a:r>
              <a:rPr lang="en-US" dirty="0" smtClean="0"/>
              <a:t> </a:t>
            </a:r>
            <a:r>
              <a:rPr lang="en-US" dirty="0" err="1" smtClean="0"/>
              <a:t>này</a:t>
            </a:r>
            <a:r>
              <a:rPr lang="en-US" dirty="0" smtClean="0"/>
              <a:t>, </a:t>
            </a:r>
            <a:r>
              <a:rPr lang="en-US" dirty="0" err="1" smtClean="0"/>
              <a:t>từ</a:t>
            </a:r>
            <a:r>
              <a:rPr lang="en-US" dirty="0" smtClean="0"/>
              <a:t> </a:t>
            </a:r>
            <a:r>
              <a:rPr lang="en-US" dirty="0" err="1" smtClean="0"/>
              <a:t>điển</a:t>
            </a:r>
            <a:r>
              <a:rPr lang="en-US" dirty="0" smtClean="0"/>
              <a:t> "</a:t>
            </a:r>
            <a:r>
              <a:rPr lang="en-US" b="1" dirty="0" smtClean="0"/>
              <a:t>person</a:t>
            </a:r>
            <a:r>
              <a:rPr lang="en-US" dirty="0" smtClean="0"/>
              <a:t>" </a:t>
            </a:r>
            <a:r>
              <a:rPr lang="en-US" dirty="0" err="1" smtClean="0"/>
              <a:t>chứa</a:t>
            </a:r>
            <a:r>
              <a:rPr lang="en-US" dirty="0" smtClean="0"/>
              <a:t> </a:t>
            </a:r>
            <a:r>
              <a:rPr lang="en-US" dirty="0" err="1" smtClean="0"/>
              <a:t>ba</a:t>
            </a:r>
            <a:r>
              <a:rPr lang="en-US" dirty="0" smtClean="0"/>
              <a:t> </a:t>
            </a:r>
            <a:r>
              <a:rPr lang="en-US" dirty="0" err="1" smtClean="0"/>
              <a:t>cặp</a:t>
            </a:r>
            <a:r>
              <a:rPr lang="en-US" dirty="0" smtClean="0"/>
              <a:t> </a:t>
            </a:r>
            <a:r>
              <a:rPr lang="en-US" dirty="0" err="1" smtClean="0"/>
              <a:t>khóa</a:t>
            </a:r>
            <a:r>
              <a:rPr lang="en-US" dirty="0" smtClean="0"/>
              <a:t> - </a:t>
            </a:r>
            <a:r>
              <a:rPr lang="en-US" dirty="0" err="1" smtClean="0"/>
              <a:t>giá</a:t>
            </a:r>
            <a:r>
              <a:rPr lang="en-US" dirty="0" smtClean="0"/>
              <a:t> </a:t>
            </a:r>
            <a:r>
              <a:rPr lang="en-US" dirty="0" err="1" smtClean="0"/>
              <a:t>trị</a:t>
            </a:r>
            <a:r>
              <a:rPr lang="en-US" dirty="0" smtClean="0"/>
              <a:t>:</a:t>
            </a:r>
            <a:endParaRPr lang="en-US" dirty="0"/>
          </a:p>
        </p:txBody>
      </p:sp>
      <p:sp>
        <p:nvSpPr>
          <p:cNvPr id="14" name="Rectangle 13"/>
          <p:cNvSpPr/>
          <p:nvPr/>
        </p:nvSpPr>
        <p:spPr>
          <a:xfrm>
            <a:off x="699793" y="2035135"/>
            <a:ext cx="7774356" cy="17835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880547" y="2185295"/>
            <a:ext cx="7402216" cy="1477328"/>
          </a:xfrm>
          <a:prstGeom prst="rect">
            <a:avLst/>
          </a:prstGeom>
          <a:noFill/>
        </p:spPr>
        <p:txBody>
          <a:bodyPr wrap="square" rtlCol="0">
            <a:spAutoFit/>
          </a:bodyPr>
          <a:lstStyle/>
          <a:p>
            <a:r>
              <a:rPr lang="en-US" dirty="0">
                <a:solidFill>
                  <a:schemeClr val="bg1"/>
                </a:solidFill>
              </a:rPr>
              <a:t>person = </a:t>
            </a:r>
            <a:r>
              <a:rPr lang="en-US" dirty="0">
                <a:solidFill>
                  <a:schemeClr val="accent4">
                    <a:lumMod val="60000"/>
                    <a:lumOff val="40000"/>
                  </a:schemeClr>
                </a:solidFill>
              </a:rPr>
              <a:t>{</a:t>
            </a:r>
          </a:p>
          <a:p>
            <a:r>
              <a:rPr lang="en-US" dirty="0">
                <a:solidFill>
                  <a:schemeClr val="bg1"/>
                </a:solidFill>
              </a:rPr>
              <a:t>    </a:t>
            </a:r>
            <a:r>
              <a:rPr lang="en-US" dirty="0">
                <a:solidFill>
                  <a:schemeClr val="accent2">
                    <a:lumMod val="75000"/>
                  </a:schemeClr>
                </a:solidFill>
              </a:rPr>
              <a:t>"name"</a:t>
            </a:r>
            <a:r>
              <a:rPr lang="en-US" dirty="0">
                <a:solidFill>
                  <a:schemeClr val="bg1"/>
                </a:solidFill>
              </a:rPr>
              <a:t>: </a:t>
            </a:r>
            <a:r>
              <a:rPr lang="en-US" dirty="0">
                <a:solidFill>
                  <a:schemeClr val="accent2">
                    <a:lumMod val="75000"/>
                  </a:schemeClr>
                </a:solidFill>
              </a:rPr>
              <a:t>"John"</a:t>
            </a:r>
            <a:r>
              <a:rPr lang="en-US" dirty="0">
                <a:solidFill>
                  <a:schemeClr val="bg1"/>
                </a:solidFill>
              </a:rPr>
              <a:t>,</a:t>
            </a:r>
          </a:p>
          <a:p>
            <a:r>
              <a:rPr lang="en-US" dirty="0">
                <a:solidFill>
                  <a:schemeClr val="bg1"/>
                </a:solidFill>
              </a:rPr>
              <a:t>    </a:t>
            </a:r>
            <a:r>
              <a:rPr lang="en-US" dirty="0">
                <a:solidFill>
                  <a:schemeClr val="accent2">
                    <a:lumMod val="75000"/>
                  </a:schemeClr>
                </a:solidFill>
              </a:rPr>
              <a:t>"age"</a:t>
            </a:r>
            <a:r>
              <a:rPr lang="en-US" dirty="0">
                <a:solidFill>
                  <a:schemeClr val="bg1"/>
                </a:solidFill>
              </a:rPr>
              <a:t>: </a:t>
            </a:r>
            <a:r>
              <a:rPr lang="en-US" dirty="0">
                <a:solidFill>
                  <a:schemeClr val="accent6">
                    <a:lumMod val="60000"/>
                    <a:lumOff val="40000"/>
                  </a:schemeClr>
                </a:solidFill>
              </a:rPr>
              <a:t>30</a:t>
            </a:r>
            <a:r>
              <a:rPr lang="en-US" dirty="0">
                <a:solidFill>
                  <a:schemeClr val="bg1"/>
                </a:solidFill>
              </a:rPr>
              <a:t>,</a:t>
            </a:r>
          </a:p>
          <a:p>
            <a:r>
              <a:rPr lang="en-US" dirty="0">
                <a:solidFill>
                  <a:schemeClr val="bg1"/>
                </a:solidFill>
              </a:rPr>
              <a:t>    </a:t>
            </a:r>
            <a:r>
              <a:rPr lang="en-US" dirty="0">
                <a:solidFill>
                  <a:schemeClr val="accent2">
                    <a:lumMod val="75000"/>
                  </a:schemeClr>
                </a:solidFill>
              </a:rPr>
              <a:t>"city"</a:t>
            </a:r>
            <a:r>
              <a:rPr lang="en-US" dirty="0">
                <a:solidFill>
                  <a:schemeClr val="bg1"/>
                </a:solidFill>
              </a:rPr>
              <a:t>: </a:t>
            </a:r>
            <a:r>
              <a:rPr lang="en-US" dirty="0">
                <a:solidFill>
                  <a:schemeClr val="accent2">
                    <a:lumMod val="75000"/>
                  </a:schemeClr>
                </a:solidFill>
              </a:rPr>
              <a:t>"New York"</a:t>
            </a:r>
          </a:p>
          <a:p>
            <a:r>
              <a:rPr lang="en-US" dirty="0">
                <a:solidFill>
                  <a:schemeClr val="accent4">
                    <a:lumMod val="60000"/>
                    <a:lumOff val="40000"/>
                  </a:schemeClr>
                </a:solidFill>
              </a:rPr>
              <a:t>}</a:t>
            </a:r>
          </a:p>
        </p:txBody>
      </p:sp>
      <p:sp>
        <p:nvSpPr>
          <p:cNvPr id="17" name="TextBox 16"/>
          <p:cNvSpPr txBox="1"/>
          <p:nvPr/>
        </p:nvSpPr>
        <p:spPr>
          <a:xfrm>
            <a:off x="548981" y="4503649"/>
            <a:ext cx="7697972" cy="923330"/>
          </a:xfrm>
          <a:prstGeom prst="rect">
            <a:avLst/>
          </a:prstGeom>
          <a:noFill/>
        </p:spPr>
        <p:txBody>
          <a:bodyPr wrap="square" rtlCol="0">
            <a:spAutoFit/>
          </a:bodyPr>
          <a:lstStyle/>
          <a:p>
            <a:r>
              <a:rPr lang="en-US" dirty="0" smtClean="0"/>
              <a:t>- </a:t>
            </a:r>
            <a:r>
              <a:rPr lang="en-US" dirty="0" err="1" smtClean="0"/>
              <a:t>Khóa</a:t>
            </a:r>
            <a:r>
              <a:rPr lang="en-US" dirty="0" smtClean="0"/>
              <a:t> </a:t>
            </a:r>
            <a:r>
              <a:rPr lang="en-US" b="1" dirty="0" smtClean="0"/>
              <a:t>"name" </a:t>
            </a:r>
            <a:r>
              <a:rPr lang="en-US" dirty="0" err="1" smtClean="0"/>
              <a:t>liên</a:t>
            </a:r>
            <a:r>
              <a:rPr lang="en-US" dirty="0" smtClean="0"/>
              <a:t> </a:t>
            </a:r>
            <a:r>
              <a:rPr lang="en-US" dirty="0" err="1" smtClean="0"/>
              <a:t>kết</a:t>
            </a:r>
            <a:r>
              <a:rPr lang="en-US" dirty="0" smtClean="0"/>
              <a:t> </a:t>
            </a:r>
            <a:r>
              <a:rPr lang="en-US" dirty="0" err="1" smtClean="0"/>
              <a:t>với</a:t>
            </a:r>
            <a:r>
              <a:rPr lang="en-US" dirty="0" smtClean="0"/>
              <a:t> </a:t>
            </a:r>
            <a:r>
              <a:rPr lang="en-US" dirty="0" err="1" smtClean="0"/>
              <a:t>giá</a:t>
            </a:r>
            <a:r>
              <a:rPr lang="en-US" dirty="0" smtClean="0"/>
              <a:t> </a:t>
            </a:r>
            <a:r>
              <a:rPr lang="en-US" dirty="0" err="1" smtClean="0"/>
              <a:t>trị</a:t>
            </a:r>
            <a:r>
              <a:rPr lang="en-US" dirty="0" smtClean="0"/>
              <a:t> </a:t>
            </a:r>
            <a:r>
              <a:rPr lang="en-US" b="1" dirty="0" smtClean="0"/>
              <a:t>"John"</a:t>
            </a:r>
            <a:endParaRPr lang="en-US" dirty="0" smtClean="0"/>
          </a:p>
          <a:p>
            <a:r>
              <a:rPr lang="en-US" dirty="0" smtClean="0"/>
              <a:t>- </a:t>
            </a:r>
            <a:r>
              <a:rPr lang="en-US" dirty="0" err="1" smtClean="0"/>
              <a:t>Khóa</a:t>
            </a:r>
            <a:r>
              <a:rPr lang="en-US" dirty="0" smtClean="0"/>
              <a:t> </a:t>
            </a:r>
            <a:r>
              <a:rPr lang="en-US" b="1" dirty="0"/>
              <a:t>"age"</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giá</a:t>
            </a:r>
            <a:r>
              <a:rPr lang="en-US" dirty="0"/>
              <a:t> </a:t>
            </a:r>
            <a:r>
              <a:rPr lang="en-US" dirty="0" err="1"/>
              <a:t>trị</a:t>
            </a:r>
            <a:r>
              <a:rPr lang="en-US" dirty="0"/>
              <a:t> </a:t>
            </a:r>
            <a:r>
              <a:rPr lang="en-US" b="1" dirty="0"/>
              <a:t>30</a:t>
            </a:r>
            <a:r>
              <a:rPr lang="en-US" dirty="0"/>
              <a:t> (</a:t>
            </a:r>
            <a:r>
              <a:rPr lang="en-US" dirty="0" err="1"/>
              <a:t>kiểu</a:t>
            </a:r>
            <a:r>
              <a:rPr lang="en-US" dirty="0"/>
              <a:t> </a:t>
            </a:r>
            <a:r>
              <a:rPr lang="en-US" dirty="0" err="1"/>
              <a:t>số</a:t>
            </a:r>
            <a:r>
              <a:rPr lang="en-US" dirty="0"/>
              <a:t> </a:t>
            </a:r>
            <a:r>
              <a:rPr lang="en-US" dirty="0" err="1"/>
              <a:t>nguyên</a:t>
            </a:r>
            <a:r>
              <a:rPr lang="en-US" dirty="0"/>
              <a:t>).</a:t>
            </a:r>
          </a:p>
          <a:p>
            <a:r>
              <a:rPr lang="en-US" dirty="0" smtClean="0"/>
              <a:t>- </a:t>
            </a:r>
            <a:r>
              <a:rPr lang="en-US" dirty="0" err="1" smtClean="0"/>
              <a:t>Khóa</a:t>
            </a:r>
            <a:r>
              <a:rPr lang="en-US" dirty="0" smtClean="0"/>
              <a:t> </a:t>
            </a:r>
            <a:r>
              <a:rPr lang="en-US" b="1" dirty="0"/>
              <a:t>"city"</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giá</a:t>
            </a:r>
            <a:r>
              <a:rPr lang="en-US" dirty="0"/>
              <a:t> </a:t>
            </a:r>
            <a:r>
              <a:rPr lang="en-US" dirty="0" err="1"/>
              <a:t>trị</a:t>
            </a:r>
            <a:r>
              <a:rPr lang="en-US" dirty="0"/>
              <a:t> </a:t>
            </a:r>
            <a:r>
              <a:rPr lang="en-US" b="1" dirty="0"/>
              <a:t>"New York"</a:t>
            </a:r>
          </a:p>
        </p:txBody>
      </p:sp>
    </p:spTree>
    <p:extLst>
      <p:ext uri="{BB962C8B-B14F-4D97-AF65-F5344CB8AC3E}">
        <p14:creationId xmlns:p14="http://schemas.microsoft.com/office/powerpoint/2010/main" val="5131383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6.1 </a:t>
            </a:r>
            <a:r>
              <a:rPr lang="en-US" dirty="0" err="1"/>
              <a:t>Tổng</a:t>
            </a:r>
            <a:r>
              <a:rPr lang="en-US" dirty="0"/>
              <a:t> </a:t>
            </a:r>
            <a:r>
              <a:rPr lang="en-US" dirty="0" err="1"/>
              <a:t>quan</a:t>
            </a:r>
            <a:r>
              <a:rPr lang="en-US" dirty="0"/>
              <a:t> </a:t>
            </a:r>
            <a:r>
              <a:rPr lang="en-US" dirty="0" err="1"/>
              <a:t>về</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điển</a:t>
            </a:r>
            <a:r>
              <a:rPr lang="en-US" dirty="0"/>
              <a:t> Dictionaries</a:t>
            </a:r>
            <a:endParaRPr lang="en-US" b="0"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endParaRPr lang="en-US" b="1" dirty="0">
              <a:solidFill>
                <a:srgbClr val="FF0000"/>
              </a:solidFill>
            </a:endParaRPr>
          </a:p>
        </p:txBody>
      </p:sp>
      <p:sp>
        <p:nvSpPr>
          <p:cNvPr id="12" name="TextBox 11"/>
          <p:cNvSpPr txBox="1"/>
          <p:nvPr/>
        </p:nvSpPr>
        <p:spPr>
          <a:xfrm>
            <a:off x="880547" y="4524387"/>
            <a:ext cx="7985052" cy="369332"/>
          </a:xfrm>
          <a:prstGeom prst="rect">
            <a:avLst/>
          </a:prstGeom>
          <a:noFill/>
        </p:spPr>
        <p:txBody>
          <a:bodyPr wrap="square" rtlCol="0">
            <a:spAutoFit/>
          </a:bodyPr>
          <a:lstStyle/>
          <a:p>
            <a:r>
              <a:rPr lang="en-US" dirty="0" smtClean="0"/>
              <a:t>Qua </a:t>
            </a:r>
            <a:r>
              <a:rPr lang="en-US" dirty="0" err="1" smtClean="0"/>
              <a:t>ví</a:t>
            </a:r>
            <a:r>
              <a:rPr lang="en-US" dirty="0" smtClean="0"/>
              <a:t> </a:t>
            </a:r>
            <a:r>
              <a:rPr lang="en-US" dirty="0" err="1" smtClean="0"/>
              <a:t>dụ</a:t>
            </a:r>
            <a:r>
              <a:rPr lang="en-US" dirty="0" smtClean="0"/>
              <a:t> </a:t>
            </a:r>
            <a:r>
              <a:rPr lang="en-US" dirty="0" err="1" smtClean="0"/>
              <a:t>này</a:t>
            </a:r>
            <a:r>
              <a:rPr lang="en-US" dirty="0" smtClean="0"/>
              <a:t> </a:t>
            </a:r>
            <a:r>
              <a:rPr lang="en-US" dirty="0" err="1" smtClean="0"/>
              <a:t>và</a:t>
            </a:r>
            <a:r>
              <a:rPr lang="en-US" dirty="0" smtClean="0"/>
              <a:t> </a:t>
            </a:r>
            <a:r>
              <a:rPr lang="en-US" dirty="0" err="1" smtClean="0"/>
              <a:t>ví</a:t>
            </a:r>
            <a:r>
              <a:rPr lang="en-US" dirty="0" smtClean="0"/>
              <a:t> </a:t>
            </a:r>
            <a:r>
              <a:rPr lang="en-US" dirty="0" err="1" smtClean="0"/>
              <a:t>dụ</a:t>
            </a:r>
            <a:r>
              <a:rPr lang="en-US" dirty="0" smtClean="0"/>
              <a:t> </a:t>
            </a:r>
            <a:r>
              <a:rPr lang="en-US" dirty="0" err="1" smtClean="0"/>
              <a:t>trước</a:t>
            </a:r>
            <a:r>
              <a:rPr lang="en-US" dirty="0" smtClean="0"/>
              <a:t> </a:t>
            </a:r>
            <a:r>
              <a:rPr lang="en-US" dirty="0" err="1" smtClean="0"/>
              <a:t>bạn</a:t>
            </a:r>
            <a:r>
              <a:rPr lang="en-US" dirty="0" smtClean="0"/>
              <a:t> </a:t>
            </a:r>
            <a:r>
              <a:rPr lang="en-US" dirty="0" err="1" smtClean="0"/>
              <a:t>thấy</a:t>
            </a:r>
            <a:r>
              <a:rPr lang="en-US" dirty="0" smtClean="0"/>
              <a:t> </a:t>
            </a:r>
            <a:r>
              <a:rPr lang="en-US" b="1" dirty="0" smtClean="0"/>
              <a:t>value</a:t>
            </a:r>
            <a:r>
              <a:rPr lang="en-US" dirty="0" smtClean="0"/>
              <a:t> </a:t>
            </a:r>
            <a:r>
              <a:rPr lang="en-US" dirty="0" err="1" smtClean="0"/>
              <a:t>có</a:t>
            </a:r>
            <a:r>
              <a:rPr lang="en-US" dirty="0" smtClean="0"/>
              <a:t> </a:t>
            </a:r>
            <a:r>
              <a:rPr lang="en-US" dirty="0" err="1" smtClean="0"/>
              <a:t>thể</a:t>
            </a:r>
            <a:r>
              <a:rPr lang="en-US" dirty="0" smtClean="0"/>
              <a:t> </a:t>
            </a:r>
            <a:r>
              <a:rPr lang="en-US" dirty="0" err="1" smtClean="0"/>
              <a:t>có</a:t>
            </a:r>
            <a:r>
              <a:rPr lang="en-US" dirty="0" smtClean="0"/>
              <a:t> </a:t>
            </a:r>
            <a:r>
              <a:rPr lang="en-US" dirty="0" err="1" smtClean="0"/>
              <a:t>rất</a:t>
            </a:r>
            <a:r>
              <a:rPr lang="en-US" dirty="0" smtClean="0"/>
              <a:t> </a:t>
            </a:r>
            <a:r>
              <a:rPr lang="en-US" dirty="0" err="1" smtClean="0"/>
              <a:t>nhiều</a:t>
            </a:r>
            <a:r>
              <a:rPr lang="en-US" dirty="0" smtClean="0"/>
              <a:t> </a:t>
            </a:r>
            <a:r>
              <a:rPr lang="en-US" dirty="0" err="1" smtClean="0"/>
              <a:t>kiểu</a:t>
            </a:r>
            <a:r>
              <a:rPr lang="en-US" dirty="0" smtClean="0"/>
              <a:t> </a:t>
            </a:r>
            <a:r>
              <a:rPr lang="en-US" dirty="0" err="1" smtClean="0"/>
              <a:t>giá</a:t>
            </a:r>
            <a:r>
              <a:rPr lang="en-US" dirty="0" smtClean="0"/>
              <a:t> </a:t>
            </a:r>
            <a:r>
              <a:rPr lang="en-US" dirty="0" err="1" smtClean="0"/>
              <a:t>trị</a:t>
            </a:r>
            <a:endParaRPr lang="en-US" dirty="0"/>
          </a:p>
        </p:txBody>
      </p:sp>
      <p:sp>
        <p:nvSpPr>
          <p:cNvPr id="11" name="Rectangle 10"/>
          <p:cNvSpPr/>
          <p:nvPr/>
        </p:nvSpPr>
        <p:spPr>
          <a:xfrm>
            <a:off x="699793" y="1957623"/>
            <a:ext cx="7774356" cy="241660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880547" y="2107784"/>
            <a:ext cx="7402216" cy="2031325"/>
          </a:xfrm>
          <a:prstGeom prst="rect">
            <a:avLst/>
          </a:prstGeom>
          <a:noFill/>
        </p:spPr>
        <p:txBody>
          <a:bodyPr wrap="square" rtlCol="0">
            <a:spAutoFit/>
          </a:bodyPr>
          <a:lstStyle/>
          <a:p>
            <a:r>
              <a:rPr lang="en-US" dirty="0">
                <a:solidFill>
                  <a:schemeClr val="bg1"/>
                </a:solidFill>
              </a:rPr>
              <a:t>data = </a:t>
            </a:r>
            <a:r>
              <a:rPr lang="en-US" dirty="0">
                <a:solidFill>
                  <a:schemeClr val="accent4">
                    <a:lumMod val="60000"/>
                    <a:lumOff val="40000"/>
                  </a:schemeClr>
                </a:solidFill>
              </a:rPr>
              <a:t>{</a:t>
            </a:r>
            <a:r>
              <a:rPr lang="en-US" dirty="0">
                <a:solidFill>
                  <a:schemeClr val="bg1"/>
                </a:solidFill>
              </a:rPr>
              <a:t> </a:t>
            </a:r>
          </a:p>
          <a:p>
            <a:r>
              <a:rPr lang="en-US" dirty="0">
                <a:solidFill>
                  <a:schemeClr val="bg1"/>
                </a:solidFill>
              </a:rPr>
              <a:t> </a:t>
            </a:r>
            <a:r>
              <a:rPr lang="en-US" dirty="0" smtClean="0">
                <a:solidFill>
                  <a:schemeClr val="bg1"/>
                </a:solidFill>
              </a:rPr>
              <a:t>   </a:t>
            </a:r>
            <a:r>
              <a:rPr lang="en-US" dirty="0" smtClean="0">
                <a:solidFill>
                  <a:schemeClr val="accent2">
                    <a:lumMod val="75000"/>
                  </a:schemeClr>
                </a:solidFill>
              </a:rPr>
              <a:t>"</a:t>
            </a:r>
            <a:r>
              <a:rPr lang="en-US" dirty="0">
                <a:solidFill>
                  <a:schemeClr val="accent2">
                    <a:lumMod val="75000"/>
                  </a:schemeClr>
                </a:solidFill>
              </a:rPr>
              <a:t>numbers"</a:t>
            </a:r>
            <a:r>
              <a:rPr lang="en-US" dirty="0">
                <a:solidFill>
                  <a:schemeClr val="bg1"/>
                </a:solidFill>
              </a:rPr>
              <a:t>: </a:t>
            </a:r>
            <a:r>
              <a:rPr lang="en-US" dirty="0">
                <a:solidFill>
                  <a:srgbClr val="FF66CC"/>
                </a:solidFill>
              </a:rPr>
              <a:t>[</a:t>
            </a:r>
            <a:r>
              <a:rPr lang="en-US" dirty="0">
                <a:solidFill>
                  <a:schemeClr val="accent6">
                    <a:lumMod val="60000"/>
                    <a:lumOff val="40000"/>
                  </a:schemeClr>
                </a:solidFill>
              </a:rPr>
              <a:t>1</a:t>
            </a:r>
            <a:r>
              <a:rPr lang="en-US" dirty="0">
                <a:solidFill>
                  <a:schemeClr val="bg1"/>
                </a:solidFill>
              </a:rPr>
              <a:t>, </a:t>
            </a:r>
            <a:r>
              <a:rPr lang="en-US" dirty="0">
                <a:solidFill>
                  <a:schemeClr val="accent6">
                    <a:lumMod val="60000"/>
                    <a:lumOff val="40000"/>
                  </a:schemeClr>
                </a:solidFill>
              </a:rPr>
              <a:t>2</a:t>
            </a:r>
            <a:r>
              <a:rPr lang="en-US" dirty="0">
                <a:solidFill>
                  <a:schemeClr val="bg1"/>
                </a:solidFill>
              </a:rPr>
              <a:t>, </a:t>
            </a:r>
            <a:r>
              <a:rPr lang="en-US" dirty="0">
                <a:solidFill>
                  <a:schemeClr val="accent6">
                    <a:lumMod val="60000"/>
                    <a:lumOff val="40000"/>
                  </a:schemeClr>
                </a:solidFill>
              </a:rPr>
              <a:t>3</a:t>
            </a:r>
            <a:r>
              <a:rPr lang="en-US" dirty="0">
                <a:solidFill>
                  <a:schemeClr val="bg1"/>
                </a:solidFill>
              </a:rPr>
              <a:t>, </a:t>
            </a:r>
            <a:r>
              <a:rPr lang="en-US" dirty="0">
                <a:solidFill>
                  <a:schemeClr val="accent6">
                    <a:lumMod val="60000"/>
                    <a:lumOff val="40000"/>
                  </a:schemeClr>
                </a:solidFill>
              </a:rPr>
              <a:t>4</a:t>
            </a:r>
            <a:r>
              <a:rPr lang="en-US" dirty="0">
                <a:solidFill>
                  <a:schemeClr val="bg1"/>
                </a:solidFill>
              </a:rPr>
              <a:t>, </a:t>
            </a:r>
            <a:r>
              <a:rPr lang="en-US" dirty="0">
                <a:solidFill>
                  <a:schemeClr val="accent6">
                    <a:lumMod val="60000"/>
                    <a:lumOff val="40000"/>
                  </a:schemeClr>
                </a:solidFill>
              </a:rPr>
              <a:t>5</a:t>
            </a:r>
            <a:r>
              <a:rPr lang="en-US" dirty="0">
                <a:solidFill>
                  <a:srgbClr val="FF66CC"/>
                </a:solidFill>
              </a:rPr>
              <a:t>]</a:t>
            </a:r>
            <a:r>
              <a:rPr lang="en-US" dirty="0">
                <a:solidFill>
                  <a:schemeClr val="bg1"/>
                </a:solidFill>
              </a:rPr>
              <a:t>, </a:t>
            </a:r>
          </a:p>
          <a:p>
            <a:r>
              <a:rPr lang="en-US" dirty="0" smtClean="0">
                <a:solidFill>
                  <a:schemeClr val="bg1"/>
                </a:solidFill>
              </a:rPr>
              <a:t>    </a:t>
            </a:r>
            <a:r>
              <a:rPr lang="en-US" dirty="0" smtClean="0">
                <a:solidFill>
                  <a:schemeClr val="accent2">
                    <a:lumMod val="75000"/>
                  </a:schemeClr>
                </a:solidFill>
              </a:rPr>
              <a:t>"</a:t>
            </a:r>
            <a:r>
              <a:rPr lang="en-US" dirty="0">
                <a:solidFill>
                  <a:schemeClr val="accent2">
                    <a:lumMod val="75000"/>
                  </a:schemeClr>
                </a:solidFill>
              </a:rPr>
              <a:t>info"</a:t>
            </a:r>
            <a:r>
              <a:rPr lang="en-US" dirty="0">
                <a:solidFill>
                  <a:schemeClr val="bg1"/>
                </a:solidFill>
              </a:rPr>
              <a:t>: </a:t>
            </a:r>
            <a:r>
              <a:rPr lang="en-US" dirty="0">
                <a:solidFill>
                  <a:srgbClr val="FF66CC"/>
                </a:solidFill>
              </a:rPr>
              <a:t>{</a:t>
            </a:r>
            <a:r>
              <a:rPr lang="en-US" dirty="0">
                <a:solidFill>
                  <a:schemeClr val="bg1"/>
                </a:solidFill>
              </a:rPr>
              <a:t> </a:t>
            </a:r>
            <a:endParaRPr lang="en-US" dirty="0" smtClean="0">
              <a:solidFill>
                <a:schemeClr val="bg1"/>
              </a:solidFill>
            </a:endParaRPr>
          </a:p>
          <a:p>
            <a:r>
              <a:rPr lang="en-US" dirty="0">
                <a:solidFill>
                  <a:schemeClr val="bg1"/>
                </a:solidFill>
              </a:rPr>
              <a:t>	</a:t>
            </a:r>
            <a:r>
              <a:rPr lang="en-US" dirty="0" smtClean="0">
                <a:solidFill>
                  <a:schemeClr val="accent2">
                    <a:lumMod val="75000"/>
                  </a:schemeClr>
                </a:solidFill>
              </a:rPr>
              <a:t>"</a:t>
            </a:r>
            <a:r>
              <a:rPr lang="en-US" dirty="0">
                <a:solidFill>
                  <a:schemeClr val="accent2">
                    <a:lumMod val="75000"/>
                  </a:schemeClr>
                </a:solidFill>
              </a:rPr>
              <a:t>name"</a:t>
            </a:r>
            <a:r>
              <a:rPr lang="en-US" dirty="0">
                <a:solidFill>
                  <a:schemeClr val="bg1"/>
                </a:solidFill>
              </a:rPr>
              <a:t>: </a:t>
            </a:r>
            <a:r>
              <a:rPr lang="en-US" dirty="0">
                <a:solidFill>
                  <a:schemeClr val="accent2">
                    <a:lumMod val="75000"/>
                  </a:schemeClr>
                </a:solidFill>
              </a:rPr>
              <a:t>"Alice"</a:t>
            </a:r>
            <a:r>
              <a:rPr lang="en-US" dirty="0">
                <a:solidFill>
                  <a:schemeClr val="bg1"/>
                </a:solidFill>
              </a:rPr>
              <a:t>, </a:t>
            </a:r>
            <a:r>
              <a:rPr lang="en-US" dirty="0">
                <a:solidFill>
                  <a:schemeClr val="accent2">
                    <a:lumMod val="75000"/>
                  </a:schemeClr>
                </a:solidFill>
              </a:rPr>
              <a:t>"age"</a:t>
            </a:r>
            <a:r>
              <a:rPr lang="en-US" dirty="0">
                <a:solidFill>
                  <a:schemeClr val="bg1"/>
                </a:solidFill>
              </a:rPr>
              <a:t>: </a:t>
            </a:r>
            <a:r>
              <a:rPr lang="en-US" dirty="0">
                <a:solidFill>
                  <a:schemeClr val="accent6">
                    <a:lumMod val="60000"/>
                    <a:lumOff val="40000"/>
                  </a:schemeClr>
                </a:solidFill>
              </a:rPr>
              <a:t>25</a:t>
            </a:r>
            <a:r>
              <a:rPr lang="en-US" dirty="0">
                <a:solidFill>
                  <a:schemeClr val="bg1"/>
                </a:solidFill>
              </a:rPr>
              <a:t>, </a:t>
            </a:r>
            <a:r>
              <a:rPr lang="en-US" dirty="0">
                <a:solidFill>
                  <a:schemeClr val="accent2">
                    <a:lumMod val="75000"/>
                  </a:schemeClr>
                </a:solidFill>
              </a:rPr>
              <a:t>"occupation"</a:t>
            </a:r>
            <a:r>
              <a:rPr lang="en-US" dirty="0">
                <a:solidFill>
                  <a:schemeClr val="bg1"/>
                </a:solidFill>
              </a:rPr>
              <a:t>: </a:t>
            </a:r>
            <a:r>
              <a:rPr lang="en-US" dirty="0">
                <a:solidFill>
                  <a:schemeClr val="accent2">
                    <a:lumMod val="75000"/>
                  </a:schemeClr>
                </a:solidFill>
              </a:rPr>
              <a:t>"Engineer"</a:t>
            </a:r>
            <a:r>
              <a:rPr lang="en-US" dirty="0">
                <a:solidFill>
                  <a:schemeClr val="bg1"/>
                </a:solidFill>
              </a:rPr>
              <a:t> </a:t>
            </a:r>
            <a:endParaRPr lang="en-US" dirty="0" smtClean="0">
              <a:solidFill>
                <a:schemeClr val="bg1"/>
              </a:solidFill>
            </a:endParaRPr>
          </a:p>
          <a:p>
            <a:r>
              <a:rPr lang="en-US" dirty="0">
                <a:solidFill>
                  <a:schemeClr val="bg1"/>
                </a:solidFill>
              </a:rPr>
              <a:t>	</a:t>
            </a:r>
            <a:r>
              <a:rPr lang="en-US" dirty="0" smtClean="0">
                <a:solidFill>
                  <a:srgbClr val="FF66CC"/>
                </a:solidFill>
              </a:rPr>
              <a:t>}</a:t>
            </a:r>
            <a:r>
              <a:rPr lang="en-US" dirty="0" smtClean="0">
                <a:solidFill>
                  <a:schemeClr val="bg1"/>
                </a:solidFill>
              </a:rPr>
              <a:t>,    </a:t>
            </a:r>
          </a:p>
          <a:p>
            <a:r>
              <a:rPr lang="en-US" dirty="0">
                <a:solidFill>
                  <a:schemeClr val="bg1"/>
                </a:solidFill>
              </a:rPr>
              <a:t> </a:t>
            </a:r>
            <a:r>
              <a:rPr lang="en-US" dirty="0" smtClean="0">
                <a:solidFill>
                  <a:schemeClr val="bg1"/>
                </a:solidFill>
              </a:rPr>
              <a:t>   </a:t>
            </a:r>
            <a:r>
              <a:rPr lang="en-US" dirty="0" smtClean="0">
                <a:solidFill>
                  <a:schemeClr val="accent2">
                    <a:lumMod val="75000"/>
                  </a:schemeClr>
                </a:solidFill>
              </a:rPr>
              <a:t>"</a:t>
            </a:r>
            <a:r>
              <a:rPr lang="en-US" dirty="0" err="1">
                <a:solidFill>
                  <a:schemeClr val="accent2">
                    <a:lumMod val="75000"/>
                  </a:schemeClr>
                </a:solidFill>
              </a:rPr>
              <a:t>some_function</a:t>
            </a:r>
            <a:r>
              <a:rPr lang="en-US" dirty="0">
                <a:solidFill>
                  <a:schemeClr val="accent2">
                    <a:lumMod val="75000"/>
                  </a:schemeClr>
                </a:solidFill>
              </a:rPr>
              <a:t>"</a:t>
            </a:r>
            <a:r>
              <a:rPr lang="en-US" dirty="0">
                <a:solidFill>
                  <a:schemeClr val="bg1"/>
                </a:solidFill>
              </a:rPr>
              <a:t>: lambda x: x ** </a:t>
            </a:r>
            <a:r>
              <a:rPr lang="en-US" dirty="0">
                <a:solidFill>
                  <a:schemeClr val="accent6">
                    <a:lumMod val="60000"/>
                    <a:lumOff val="40000"/>
                  </a:schemeClr>
                </a:solidFill>
              </a:rPr>
              <a:t>2</a:t>
            </a:r>
            <a:r>
              <a:rPr lang="en-US" dirty="0">
                <a:solidFill>
                  <a:schemeClr val="bg1"/>
                </a:solidFill>
              </a:rPr>
              <a:t> </a:t>
            </a:r>
            <a:endParaRPr lang="en-US" dirty="0" smtClean="0">
              <a:solidFill>
                <a:schemeClr val="bg1"/>
              </a:solidFill>
            </a:endParaRPr>
          </a:p>
          <a:p>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14" name="Flowchart: Decision 13"/>
          <p:cNvSpPr/>
          <p:nvPr/>
        </p:nvSpPr>
        <p:spPr>
          <a:xfrm>
            <a:off x="644674" y="462399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99461" y="4924231"/>
            <a:ext cx="7985052" cy="369332"/>
          </a:xfrm>
          <a:prstGeom prst="rect">
            <a:avLst/>
          </a:prstGeom>
          <a:noFill/>
        </p:spPr>
        <p:txBody>
          <a:bodyPr wrap="square" rtlCol="0">
            <a:spAutoFit/>
          </a:bodyPr>
          <a:lstStyle/>
          <a:p>
            <a:r>
              <a:rPr lang="en-US" dirty="0" err="1" smtClean="0"/>
              <a:t>Kiểu</a:t>
            </a:r>
            <a:r>
              <a:rPr lang="en-US" dirty="0" smtClean="0"/>
              <a:t> </a:t>
            </a:r>
            <a:r>
              <a:rPr lang="en-US" dirty="0" err="1" smtClean="0"/>
              <a:t>số</a:t>
            </a:r>
            <a:r>
              <a:rPr lang="en-US" dirty="0" smtClean="0"/>
              <a:t>, </a:t>
            </a:r>
            <a:r>
              <a:rPr lang="en-US" dirty="0" err="1" smtClean="0"/>
              <a:t>chữ</a:t>
            </a:r>
            <a:r>
              <a:rPr lang="en-US" dirty="0" smtClean="0"/>
              <a:t>, set, function, ….</a:t>
            </a:r>
          </a:p>
        </p:txBody>
      </p:sp>
      <p:sp>
        <p:nvSpPr>
          <p:cNvPr id="20" name="TextBox 19"/>
          <p:cNvSpPr txBox="1"/>
          <p:nvPr/>
        </p:nvSpPr>
        <p:spPr>
          <a:xfrm>
            <a:off x="880547" y="5470685"/>
            <a:ext cx="7985052" cy="369332"/>
          </a:xfrm>
          <a:prstGeom prst="rect">
            <a:avLst/>
          </a:prstGeom>
          <a:noFill/>
        </p:spPr>
        <p:txBody>
          <a:bodyPr wrap="square" rtlCol="0">
            <a:spAutoFit/>
          </a:bodyPr>
          <a:lstStyle/>
          <a:p>
            <a:r>
              <a:rPr lang="en-US" dirty="0" err="1" smtClean="0"/>
              <a:t>Từ</a:t>
            </a:r>
            <a:r>
              <a:rPr lang="en-US" dirty="0"/>
              <a:t> </a:t>
            </a:r>
            <a:r>
              <a:rPr lang="en-US" dirty="0" err="1" smtClean="0"/>
              <a:t>điền</a:t>
            </a:r>
            <a:r>
              <a:rPr lang="en-US" dirty="0" smtClean="0"/>
              <a:t> </a:t>
            </a:r>
            <a:r>
              <a:rPr lang="en-US" dirty="0" err="1" smtClean="0"/>
              <a:t>lồng</a:t>
            </a:r>
            <a:r>
              <a:rPr lang="en-US" dirty="0" smtClean="0"/>
              <a:t> </a:t>
            </a:r>
            <a:r>
              <a:rPr lang="en-US" dirty="0" err="1" smtClean="0"/>
              <a:t>vào</a:t>
            </a:r>
            <a:r>
              <a:rPr lang="en-US" dirty="0" smtClean="0"/>
              <a:t> </a:t>
            </a:r>
            <a:r>
              <a:rPr lang="en-US" dirty="0" err="1" smtClean="0"/>
              <a:t>nhau</a:t>
            </a:r>
            <a:r>
              <a:rPr lang="en-US" dirty="0" smtClean="0"/>
              <a:t> </a:t>
            </a:r>
            <a:r>
              <a:rPr lang="en-US" dirty="0" err="1" smtClean="0"/>
              <a:t>như</a:t>
            </a:r>
            <a:r>
              <a:rPr lang="en-US" dirty="0" smtClean="0"/>
              <a:t> value </a:t>
            </a:r>
            <a:r>
              <a:rPr lang="en-US" dirty="0" err="1" smtClean="0"/>
              <a:t>của</a:t>
            </a:r>
            <a:r>
              <a:rPr lang="en-US" dirty="0" smtClean="0"/>
              <a:t> key info ở </a:t>
            </a:r>
            <a:r>
              <a:rPr lang="en-US" dirty="0" err="1" smtClean="0"/>
              <a:t>trên</a:t>
            </a:r>
            <a:endParaRPr lang="en-US" dirty="0"/>
          </a:p>
        </p:txBody>
      </p:sp>
      <p:sp>
        <p:nvSpPr>
          <p:cNvPr id="21" name="Flowchart: Decision 20"/>
          <p:cNvSpPr/>
          <p:nvPr/>
        </p:nvSpPr>
        <p:spPr>
          <a:xfrm>
            <a:off x="644674" y="557029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1962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6.1 </a:t>
            </a:r>
            <a:r>
              <a:rPr lang="en-US" dirty="0" err="1"/>
              <a:t>Tổng</a:t>
            </a:r>
            <a:r>
              <a:rPr lang="en-US" dirty="0"/>
              <a:t> </a:t>
            </a:r>
            <a:r>
              <a:rPr lang="en-US" dirty="0" err="1"/>
              <a:t>quan</a:t>
            </a:r>
            <a:r>
              <a:rPr lang="en-US" dirty="0"/>
              <a:t> </a:t>
            </a:r>
            <a:r>
              <a:rPr lang="en-US" dirty="0" err="1"/>
              <a:t>về</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điển</a:t>
            </a:r>
            <a:r>
              <a:rPr lang="en-US" dirty="0"/>
              <a:t> Dictionaries</a:t>
            </a:r>
            <a:endParaRPr lang="en-US" b="0"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dirty="0" err="1" smtClean="0"/>
              <a:t>Đặc</a:t>
            </a:r>
            <a:r>
              <a:rPr lang="en-US" b="1" dirty="0" smtClean="0"/>
              <a:t> </a:t>
            </a:r>
            <a:r>
              <a:rPr lang="en-US" b="1" dirty="0" err="1" smtClean="0"/>
              <a:t>tính</a:t>
            </a:r>
            <a:r>
              <a:rPr lang="en-US" b="1" dirty="0" smtClean="0"/>
              <a:t> </a:t>
            </a:r>
            <a:r>
              <a:rPr lang="en-US" b="1" dirty="0" err="1" smtClean="0"/>
              <a:t>của</a:t>
            </a:r>
            <a:r>
              <a:rPr lang="en-US" b="1" dirty="0" smtClean="0"/>
              <a:t> </a:t>
            </a:r>
            <a:r>
              <a:rPr lang="en-US" b="1" dirty="0" err="1" smtClean="0"/>
              <a:t>dữ</a:t>
            </a:r>
            <a:r>
              <a:rPr lang="en-US" b="1" dirty="0" smtClean="0"/>
              <a:t> </a:t>
            </a:r>
            <a:r>
              <a:rPr lang="en-US" b="1" dirty="0" err="1" smtClean="0"/>
              <a:t>liệu</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2" name="TextBox 11"/>
          <p:cNvSpPr txBox="1"/>
          <p:nvPr/>
        </p:nvSpPr>
        <p:spPr>
          <a:xfrm>
            <a:off x="880547" y="2035135"/>
            <a:ext cx="7985052" cy="923330"/>
          </a:xfrm>
          <a:prstGeom prst="rect">
            <a:avLst/>
          </a:prstGeom>
          <a:noFill/>
        </p:spPr>
        <p:txBody>
          <a:bodyPr wrap="square" rtlCol="0">
            <a:spAutoFit/>
          </a:bodyPr>
          <a:lstStyle/>
          <a:p>
            <a:r>
              <a:rPr lang="vi-VN" dirty="0"/>
              <a:t>Từ điển là một cấu trúc dữ liệu </a:t>
            </a:r>
            <a:r>
              <a:rPr lang="vi-VN" b="1" dirty="0"/>
              <a:t>không có thứ tự</a:t>
            </a:r>
            <a:r>
              <a:rPr lang="vi-VN" dirty="0"/>
              <a:t>, điều này có nghĩa là các phần tử không được sắp xếp theo vị trí thứ tự, mà được truy xuất thông qua khóa của chúng</a:t>
            </a:r>
            <a:endParaRPr lang="en-US" dirty="0"/>
          </a:p>
        </p:txBody>
      </p:sp>
      <p:sp>
        <p:nvSpPr>
          <p:cNvPr id="14" name="Flowchart: Decision 13"/>
          <p:cNvSpPr/>
          <p:nvPr/>
        </p:nvSpPr>
        <p:spPr>
          <a:xfrm>
            <a:off x="644674" y="213474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80547" y="3068196"/>
            <a:ext cx="7985052" cy="646331"/>
          </a:xfrm>
          <a:prstGeom prst="rect">
            <a:avLst/>
          </a:prstGeom>
          <a:noFill/>
        </p:spPr>
        <p:txBody>
          <a:bodyPr wrap="square" rtlCol="0">
            <a:spAutoFit/>
          </a:bodyPr>
          <a:lstStyle/>
          <a:p>
            <a:r>
              <a:rPr lang="en-US" dirty="0" smtClean="0"/>
              <a:t>B</a:t>
            </a:r>
            <a:r>
              <a:rPr lang="vi-VN" dirty="0" smtClean="0"/>
              <a:t>ạn </a:t>
            </a:r>
            <a:r>
              <a:rPr lang="vi-VN" dirty="0"/>
              <a:t>có thể thêm, sửa đổi và xóa các cặp khóa-giá trị trong từ điển một cách linh hoạt</a:t>
            </a:r>
            <a:endParaRPr lang="en-US" dirty="0"/>
          </a:p>
        </p:txBody>
      </p:sp>
      <p:sp>
        <p:nvSpPr>
          <p:cNvPr id="15" name="Flowchart: Decision 14"/>
          <p:cNvSpPr/>
          <p:nvPr/>
        </p:nvSpPr>
        <p:spPr>
          <a:xfrm>
            <a:off x="644674" y="316780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880547" y="3853656"/>
            <a:ext cx="7985052" cy="369332"/>
          </a:xfrm>
          <a:prstGeom prst="rect">
            <a:avLst/>
          </a:prstGeom>
          <a:noFill/>
        </p:spPr>
        <p:txBody>
          <a:bodyPr wrap="square" rtlCol="0">
            <a:spAutoFit/>
          </a:bodyPr>
          <a:lstStyle/>
          <a:p>
            <a:r>
              <a:rPr lang="en-US" dirty="0" err="1" smtClean="0"/>
              <a:t>Không</a:t>
            </a:r>
            <a:r>
              <a:rPr lang="en-US" dirty="0" smtClean="0"/>
              <a:t> </a:t>
            </a:r>
            <a:r>
              <a:rPr lang="en-US" dirty="0" err="1" smtClean="0"/>
              <a:t>cho</a:t>
            </a:r>
            <a:r>
              <a:rPr lang="en-US" dirty="0" smtClean="0"/>
              <a:t> </a:t>
            </a:r>
            <a:r>
              <a:rPr lang="en-US" dirty="0" err="1" smtClean="0"/>
              <a:t>phép</a:t>
            </a:r>
            <a:r>
              <a:rPr lang="en-US" dirty="0" smtClean="0"/>
              <a:t> </a:t>
            </a:r>
            <a:r>
              <a:rPr lang="en-US" dirty="0" err="1" smtClean="0"/>
              <a:t>trùng</a:t>
            </a:r>
            <a:r>
              <a:rPr lang="en-US" dirty="0" smtClean="0"/>
              <a:t> </a:t>
            </a:r>
            <a:r>
              <a:rPr lang="en-US" dirty="0" err="1" smtClean="0"/>
              <a:t>lặp</a:t>
            </a:r>
            <a:r>
              <a:rPr lang="en-US" dirty="0" smtClean="0"/>
              <a:t> </a:t>
            </a:r>
            <a:r>
              <a:rPr lang="en-US" b="1" dirty="0" smtClean="0"/>
              <a:t>key</a:t>
            </a:r>
            <a:endParaRPr lang="en-US" b="1" dirty="0"/>
          </a:p>
        </p:txBody>
      </p:sp>
      <p:sp>
        <p:nvSpPr>
          <p:cNvPr id="17" name="Flowchart: Decision 16"/>
          <p:cNvSpPr/>
          <p:nvPr/>
        </p:nvSpPr>
        <p:spPr>
          <a:xfrm>
            <a:off x="644674" y="3953262"/>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99793" y="4467737"/>
            <a:ext cx="7774356" cy="193596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880547" y="4617898"/>
            <a:ext cx="7402216" cy="1754326"/>
          </a:xfrm>
          <a:prstGeom prst="rect">
            <a:avLst/>
          </a:prstGeom>
          <a:noFill/>
        </p:spPr>
        <p:txBody>
          <a:bodyPr wrap="square" rtlCol="0">
            <a:spAutoFit/>
          </a:bodyPr>
          <a:lstStyle/>
          <a:p>
            <a:r>
              <a:rPr lang="en-US" dirty="0">
                <a:solidFill>
                  <a:schemeClr val="bg1"/>
                </a:solidFill>
              </a:rPr>
              <a:t>person = </a:t>
            </a:r>
            <a:r>
              <a:rPr lang="en-US" dirty="0">
                <a:solidFill>
                  <a:schemeClr val="accent4">
                    <a:lumMod val="60000"/>
                    <a:lumOff val="40000"/>
                  </a:schemeClr>
                </a:solidFill>
              </a:rPr>
              <a:t>{</a:t>
            </a:r>
          </a:p>
          <a:p>
            <a:r>
              <a:rPr lang="en-US" dirty="0">
                <a:solidFill>
                  <a:schemeClr val="bg1"/>
                </a:solidFill>
              </a:rPr>
              <a:t>    </a:t>
            </a:r>
            <a:r>
              <a:rPr lang="en-US" dirty="0">
                <a:solidFill>
                  <a:schemeClr val="accent2">
                    <a:lumMod val="75000"/>
                  </a:schemeClr>
                </a:solidFill>
              </a:rPr>
              <a:t>"name"</a:t>
            </a:r>
            <a:r>
              <a:rPr lang="en-US" dirty="0">
                <a:solidFill>
                  <a:schemeClr val="bg1"/>
                </a:solidFill>
              </a:rPr>
              <a:t>: </a:t>
            </a:r>
            <a:r>
              <a:rPr lang="en-US" dirty="0">
                <a:solidFill>
                  <a:schemeClr val="accent2">
                    <a:lumMod val="75000"/>
                  </a:schemeClr>
                </a:solidFill>
              </a:rPr>
              <a:t>"John"</a:t>
            </a:r>
            <a:r>
              <a:rPr lang="en-US" dirty="0">
                <a:solidFill>
                  <a:schemeClr val="bg1"/>
                </a:solidFill>
              </a:rPr>
              <a:t>,</a:t>
            </a:r>
          </a:p>
          <a:p>
            <a:r>
              <a:rPr lang="en-US" dirty="0">
                <a:solidFill>
                  <a:schemeClr val="bg1"/>
                </a:solidFill>
              </a:rPr>
              <a:t>    </a:t>
            </a:r>
            <a:r>
              <a:rPr lang="en-US" dirty="0">
                <a:solidFill>
                  <a:schemeClr val="accent2">
                    <a:lumMod val="75000"/>
                  </a:schemeClr>
                </a:solidFill>
              </a:rPr>
              <a:t>"age"</a:t>
            </a:r>
            <a:r>
              <a:rPr lang="en-US" dirty="0">
                <a:solidFill>
                  <a:schemeClr val="bg1"/>
                </a:solidFill>
              </a:rPr>
              <a:t>: </a:t>
            </a:r>
            <a:r>
              <a:rPr lang="en-US" dirty="0">
                <a:solidFill>
                  <a:schemeClr val="accent6">
                    <a:lumMod val="60000"/>
                    <a:lumOff val="40000"/>
                  </a:schemeClr>
                </a:solidFill>
              </a:rPr>
              <a:t>30</a:t>
            </a:r>
            <a:r>
              <a:rPr lang="en-US" dirty="0">
                <a:solidFill>
                  <a:schemeClr val="bg1"/>
                </a:solidFill>
              </a:rPr>
              <a:t>,</a:t>
            </a:r>
          </a:p>
          <a:p>
            <a:r>
              <a:rPr lang="en-US" dirty="0">
                <a:solidFill>
                  <a:schemeClr val="bg1"/>
                </a:solidFill>
              </a:rPr>
              <a:t>    </a:t>
            </a:r>
            <a:r>
              <a:rPr lang="en-US" dirty="0">
                <a:solidFill>
                  <a:schemeClr val="accent2">
                    <a:lumMod val="75000"/>
                  </a:schemeClr>
                </a:solidFill>
              </a:rPr>
              <a:t>"city"</a:t>
            </a:r>
            <a:r>
              <a:rPr lang="en-US" dirty="0">
                <a:solidFill>
                  <a:schemeClr val="bg1"/>
                </a:solidFill>
              </a:rPr>
              <a:t>: </a:t>
            </a:r>
            <a:r>
              <a:rPr lang="en-US" dirty="0">
                <a:solidFill>
                  <a:schemeClr val="accent2">
                    <a:lumMod val="75000"/>
                  </a:schemeClr>
                </a:solidFill>
              </a:rPr>
              <a:t>"New </a:t>
            </a:r>
            <a:r>
              <a:rPr lang="en-US" dirty="0" smtClean="0">
                <a:solidFill>
                  <a:schemeClr val="accent2">
                    <a:lumMod val="75000"/>
                  </a:schemeClr>
                </a:solidFill>
              </a:rPr>
              <a:t>York“,</a:t>
            </a:r>
          </a:p>
          <a:p>
            <a:r>
              <a:rPr lang="en-US" dirty="0" smtClean="0">
                <a:solidFill>
                  <a:schemeClr val="accent2">
                    <a:lumMod val="75000"/>
                  </a:schemeClr>
                </a:solidFill>
              </a:rPr>
              <a:t>    "</a:t>
            </a:r>
            <a:r>
              <a:rPr lang="en-US" dirty="0">
                <a:solidFill>
                  <a:schemeClr val="accent2">
                    <a:lumMod val="75000"/>
                  </a:schemeClr>
                </a:solidFill>
              </a:rPr>
              <a:t>city"</a:t>
            </a:r>
            <a:r>
              <a:rPr lang="en-US" dirty="0">
                <a:solidFill>
                  <a:schemeClr val="bg1"/>
                </a:solidFill>
              </a:rPr>
              <a:t>: </a:t>
            </a:r>
            <a:r>
              <a:rPr lang="en-US" dirty="0" smtClean="0">
                <a:solidFill>
                  <a:schemeClr val="accent2">
                    <a:lumMod val="75000"/>
                  </a:schemeClr>
                </a:solidFill>
              </a:rPr>
              <a:t>“WDC"</a:t>
            </a:r>
            <a:endParaRPr lang="en-US" dirty="0">
              <a:solidFill>
                <a:schemeClr val="accent2">
                  <a:lumMod val="75000"/>
                </a:schemeClr>
              </a:solidFill>
            </a:endParaRPr>
          </a:p>
          <a:p>
            <a:r>
              <a:rPr lang="en-US" dirty="0">
                <a:solidFill>
                  <a:schemeClr val="accent4">
                    <a:lumMod val="60000"/>
                    <a:lumOff val="40000"/>
                  </a:schemeClr>
                </a:solidFill>
              </a:rPr>
              <a:t>}</a:t>
            </a:r>
          </a:p>
        </p:txBody>
      </p:sp>
      <p:sp>
        <p:nvSpPr>
          <p:cNvPr id="4" name="TextBox 3"/>
          <p:cNvSpPr txBox="1"/>
          <p:nvPr/>
        </p:nvSpPr>
        <p:spPr>
          <a:xfrm>
            <a:off x="4093535" y="5251053"/>
            <a:ext cx="2987749" cy="369332"/>
          </a:xfrm>
          <a:prstGeom prst="rect">
            <a:avLst/>
          </a:prstGeom>
          <a:noFill/>
        </p:spPr>
        <p:txBody>
          <a:bodyPr wrap="square" rtlCol="0">
            <a:spAutoFit/>
          </a:bodyPr>
          <a:lstStyle/>
          <a:p>
            <a:r>
              <a:rPr lang="en-US" dirty="0" err="1" smtClean="0">
                <a:solidFill>
                  <a:schemeClr val="bg1"/>
                </a:solidFill>
              </a:rPr>
              <a:t>Lỗi</a:t>
            </a:r>
            <a:r>
              <a:rPr lang="en-US" dirty="0" smtClean="0">
                <a:solidFill>
                  <a:schemeClr val="bg1"/>
                </a:solidFill>
              </a:rPr>
              <a:t> </a:t>
            </a:r>
            <a:r>
              <a:rPr lang="en-US" dirty="0" err="1" smtClean="0">
                <a:solidFill>
                  <a:schemeClr val="bg1"/>
                </a:solidFill>
              </a:rPr>
              <a:t>vì</a:t>
            </a:r>
            <a:r>
              <a:rPr lang="en-US" dirty="0" smtClean="0">
                <a:solidFill>
                  <a:schemeClr val="bg1"/>
                </a:solidFill>
              </a:rPr>
              <a:t> </a:t>
            </a:r>
            <a:r>
              <a:rPr lang="en-US" dirty="0" err="1" smtClean="0">
                <a:solidFill>
                  <a:schemeClr val="bg1"/>
                </a:solidFill>
              </a:rPr>
              <a:t>trùng</a:t>
            </a:r>
            <a:r>
              <a:rPr lang="en-US" dirty="0" smtClean="0">
                <a:solidFill>
                  <a:schemeClr val="bg1"/>
                </a:solidFill>
              </a:rPr>
              <a:t> </a:t>
            </a:r>
            <a:r>
              <a:rPr lang="en-US" dirty="0" err="1" smtClean="0">
                <a:solidFill>
                  <a:schemeClr val="bg1"/>
                </a:solidFill>
              </a:rPr>
              <a:t>lặp</a:t>
            </a:r>
            <a:r>
              <a:rPr lang="en-US" dirty="0" smtClean="0">
                <a:solidFill>
                  <a:schemeClr val="bg1"/>
                </a:solidFill>
              </a:rPr>
              <a:t> key </a:t>
            </a:r>
            <a:r>
              <a:rPr lang="en-US" b="1" dirty="0" smtClean="0">
                <a:solidFill>
                  <a:schemeClr val="bg1"/>
                </a:solidFill>
              </a:rPr>
              <a:t>city</a:t>
            </a:r>
            <a:endParaRPr lang="en-US" b="1" dirty="0">
              <a:solidFill>
                <a:schemeClr val="bg1"/>
              </a:solidFill>
            </a:endParaRPr>
          </a:p>
        </p:txBody>
      </p:sp>
    </p:spTree>
    <p:extLst>
      <p:ext uri="{BB962C8B-B14F-4D97-AF65-F5344CB8AC3E}">
        <p14:creationId xmlns:p14="http://schemas.microsoft.com/office/powerpoint/2010/main" val="25484650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với</a:t>
            </a:r>
            <a:r>
              <a:rPr lang="en-US" dirty="0" smtClean="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a:t>Phương</a:t>
            </a:r>
            <a:r>
              <a:rPr lang="en-US" b="1" dirty="0"/>
              <a:t> </a:t>
            </a:r>
            <a:r>
              <a:rPr lang="en-US" b="1" dirty="0" err="1"/>
              <a:t>thức</a:t>
            </a:r>
            <a:r>
              <a:rPr lang="en-US" b="1" dirty="0"/>
              <a:t> </a:t>
            </a:r>
            <a:r>
              <a:rPr lang="en-US" b="1" dirty="0" err="1" smtClean="0">
                <a:solidFill>
                  <a:srgbClr val="FF0000"/>
                </a:solidFill>
              </a:rPr>
              <a:t>len</a:t>
            </a:r>
            <a:r>
              <a:rPr lang="en-US" b="1" dirty="0" smtClean="0">
                <a:solidFill>
                  <a:srgbClr val="FF0000"/>
                </a:solidFill>
              </a:rPr>
              <a:t>()</a:t>
            </a:r>
            <a:endParaRPr lang="en-US" b="1" dirty="0">
              <a:solidFill>
                <a:srgbClr val="FF0000"/>
              </a:solidFill>
            </a:endParaRPr>
          </a:p>
        </p:txBody>
      </p:sp>
      <p:sp>
        <p:nvSpPr>
          <p:cNvPr id="28" name="TextBox 27"/>
          <p:cNvSpPr txBox="1"/>
          <p:nvPr/>
        </p:nvSpPr>
        <p:spPr>
          <a:xfrm>
            <a:off x="548981" y="2017550"/>
            <a:ext cx="7610868" cy="369332"/>
          </a:xfrm>
          <a:prstGeom prst="rect">
            <a:avLst/>
          </a:prstGeom>
          <a:noFill/>
        </p:spPr>
        <p:txBody>
          <a:bodyPr wrap="square" rtlCol="0">
            <a:spAutoFit/>
          </a:bodyPr>
          <a:lstStyle/>
          <a:p>
            <a:r>
              <a:rPr lang="en-US" dirty="0" err="1" smtClean="0"/>
              <a:t>Kiểm</a:t>
            </a:r>
            <a:r>
              <a:rPr lang="en-US" dirty="0" smtClean="0"/>
              <a:t> </a:t>
            </a:r>
            <a:r>
              <a:rPr lang="en-US" dirty="0" err="1" smtClean="0"/>
              <a:t>tra</a:t>
            </a:r>
            <a:r>
              <a:rPr lang="en-US" dirty="0" smtClean="0"/>
              <a:t> </a:t>
            </a:r>
            <a:r>
              <a:rPr lang="en-US" dirty="0" err="1" smtClean="0"/>
              <a:t>độ</a:t>
            </a:r>
            <a:r>
              <a:rPr lang="en-US" dirty="0" smtClean="0"/>
              <a:t> </a:t>
            </a:r>
            <a:r>
              <a:rPr lang="en-US" dirty="0" err="1" smtClean="0"/>
              <a:t>dài</a:t>
            </a:r>
            <a:r>
              <a:rPr lang="en-US" dirty="0" smtClean="0"/>
              <a:t> </a:t>
            </a:r>
            <a:r>
              <a:rPr lang="en-US" dirty="0" err="1" smtClean="0"/>
              <a:t>của</a:t>
            </a:r>
            <a:r>
              <a:rPr lang="en-US" dirty="0" smtClean="0"/>
              <a:t> </a:t>
            </a:r>
            <a:r>
              <a:rPr lang="en-US" dirty="0" err="1" smtClean="0"/>
              <a:t>từ</a:t>
            </a:r>
            <a:r>
              <a:rPr lang="en-US" dirty="0" smtClean="0"/>
              <a:t> </a:t>
            </a:r>
            <a:r>
              <a:rPr lang="en-US" dirty="0" err="1" smtClean="0"/>
              <a:t>điển</a:t>
            </a:r>
            <a:endParaRPr lang="en-US" b="1" dirty="0"/>
          </a:p>
        </p:txBody>
      </p:sp>
      <p:sp>
        <p:nvSpPr>
          <p:cNvPr id="25" name="Rectangle 24"/>
          <p:cNvSpPr/>
          <p:nvPr/>
        </p:nvSpPr>
        <p:spPr>
          <a:xfrm>
            <a:off x="646630" y="2572616"/>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p:cNvSpPr txBox="1"/>
          <p:nvPr/>
        </p:nvSpPr>
        <p:spPr>
          <a:xfrm>
            <a:off x="827384" y="2722775"/>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len</a:t>
            </a:r>
            <a:r>
              <a:rPr lang="en-US" dirty="0" smtClean="0">
                <a:solidFill>
                  <a:srgbClr val="FF66CC"/>
                </a:solidFill>
              </a:rPr>
              <a:t>(</a:t>
            </a:r>
            <a:r>
              <a:rPr lang="en-US" dirty="0">
                <a:solidFill>
                  <a:schemeClr val="bg1"/>
                </a:solidFill>
              </a:rPr>
              <a:t>person</a:t>
            </a:r>
            <a:r>
              <a:rPr lang="en-US" dirty="0" smtClean="0">
                <a:solidFill>
                  <a:srgbClr val="FF66CC"/>
                </a:solidFill>
              </a:rPr>
              <a:t>)</a:t>
            </a:r>
            <a:r>
              <a:rPr lang="en-US" dirty="0" smtClean="0">
                <a:solidFill>
                  <a:schemeClr val="accent4">
                    <a:lumMod val="60000"/>
                    <a:lumOff val="40000"/>
                  </a:schemeClr>
                </a:solidFill>
              </a:rPr>
              <a:t>) # </a:t>
            </a:r>
            <a:r>
              <a:rPr lang="en-US" dirty="0" err="1" smtClean="0">
                <a:solidFill>
                  <a:schemeClr val="accent4">
                    <a:lumMod val="60000"/>
                    <a:lumOff val="40000"/>
                  </a:schemeClr>
                </a:solidFill>
              </a:rPr>
              <a:t>cho</a:t>
            </a:r>
            <a:r>
              <a:rPr lang="en-US" dirty="0" smtClean="0">
                <a:solidFill>
                  <a:schemeClr val="accent4">
                    <a:lumMod val="60000"/>
                    <a:lumOff val="40000"/>
                  </a:schemeClr>
                </a:solidFill>
              </a:rPr>
              <a:t> </a:t>
            </a:r>
            <a:r>
              <a:rPr lang="en-US" dirty="0" err="1" smtClean="0">
                <a:solidFill>
                  <a:schemeClr val="accent4">
                    <a:lumMod val="60000"/>
                    <a:lumOff val="40000"/>
                  </a:schemeClr>
                </a:solidFill>
              </a:rPr>
              <a:t>kết</a:t>
            </a:r>
            <a:r>
              <a:rPr lang="en-US" dirty="0" smtClean="0">
                <a:solidFill>
                  <a:schemeClr val="accent4">
                    <a:lumMod val="60000"/>
                    <a:lumOff val="40000"/>
                  </a:schemeClr>
                </a:solidFill>
              </a:rPr>
              <a:t> </a:t>
            </a:r>
            <a:r>
              <a:rPr lang="en-US" dirty="0" err="1" smtClean="0">
                <a:solidFill>
                  <a:schemeClr val="accent4">
                    <a:lumMod val="60000"/>
                    <a:lumOff val="40000"/>
                  </a:schemeClr>
                </a:solidFill>
              </a:rPr>
              <a:t>quả</a:t>
            </a:r>
            <a:r>
              <a:rPr lang="en-US" dirty="0" smtClean="0">
                <a:solidFill>
                  <a:schemeClr val="accent4">
                    <a:lumMod val="60000"/>
                    <a:lumOff val="40000"/>
                  </a:schemeClr>
                </a:solidFill>
              </a:rPr>
              <a:t>: 3</a:t>
            </a:r>
            <a:endParaRPr lang="en-US" sz="1600" b="1" dirty="0">
              <a:solidFill>
                <a:schemeClr val="accent4">
                  <a:lumMod val="60000"/>
                  <a:lumOff val="40000"/>
                </a:schemeClr>
              </a:solidFill>
            </a:endParaRPr>
          </a:p>
        </p:txBody>
      </p:sp>
      <p:pic>
        <p:nvPicPr>
          <p:cNvPr id="3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73908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p:cNvSpPr txBox="1"/>
          <p:nvPr/>
        </p:nvSpPr>
        <p:spPr>
          <a:xfrm>
            <a:off x="1041993" y="3779654"/>
            <a:ext cx="6432695" cy="369332"/>
          </a:xfrm>
          <a:prstGeom prst="rect">
            <a:avLst/>
          </a:prstGeom>
          <a:noFill/>
        </p:spPr>
        <p:txBody>
          <a:bodyPr wrap="square" rtlCol="0">
            <a:spAutoFit/>
          </a:bodyPr>
          <a:lstStyle/>
          <a:p>
            <a:r>
              <a:rPr lang="en-US" b="1" dirty="0" err="1"/>
              <a:t>Phương</a:t>
            </a:r>
            <a:r>
              <a:rPr lang="en-US" b="1" dirty="0"/>
              <a:t> </a:t>
            </a:r>
            <a:r>
              <a:rPr lang="en-US" b="1" dirty="0" err="1"/>
              <a:t>thức</a:t>
            </a:r>
            <a:r>
              <a:rPr lang="en-US" b="1" dirty="0"/>
              <a:t> </a:t>
            </a:r>
            <a:r>
              <a:rPr lang="en-US" b="1" dirty="0" smtClean="0">
                <a:solidFill>
                  <a:srgbClr val="FF0000"/>
                </a:solidFill>
              </a:rPr>
              <a:t>type()</a:t>
            </a:r>
            <a:endParaRPr lang="en-US" b="1" dirty="0">
              <a:solidFill>
                <a:srgbClr val="FF0000"/>
              </a:solidFill>
            </a:endParaRPr>
          </a:p>
        </p:txBody>
      </p:sp>
      <p:sp>
        <p:nvSpPr>
          <p:cNvPr id="34" name="Rectangle 33"/>
          <p:cNvSpPr/>
          <p:nvPr/>
        </p:nvSpPr>
        <p:spPr>
          <a:xfrm>
            <a:off x="646630" y="4816085"/>
            <a:ext cx="7774356" cy="678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827384" y="4966244"/>
            <a:ext cx="7402216" cy="369332"/>
          </a:xfrm>
          <a:prstGeom prst="rect">
            <a:avLst/>
          </a:prstGeom>
          <a:noFill/>
        </p:spPr>
        <p:txBody>
          <a:bodyPr wrap="square" rtlCol="0">
            <a:spAutoFit/>
          </a:bodyPr>
          <a:lstStyle/>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type</a:t>
            </a:r>
            <a:r>
              <a:rPr lang="en-US" dirty="0" smtClean="0">
                <a:solidFill>
                  <a:srgbClr val="FF66CC"/>
                </a:solidFill>
              </a:rPr>
              <a:t>(</a:t>
            </a:r>
            <a:r>
              <a:rPr lang="en-US" dirty="0" smtClean="0">
                <a:solidFill>
                  <a:schemeClr val="bg1"/>
                </a:solidFill>
              </a:rPr>
              <a:t>person</a:t>
            </a:r>
            <a:r>
              <a:rPr lang="en-US" dirty="0" smtClean="0">
                <a:solidFill>
                  <a:srgbClr val="FF66CC"/>
                </a:solidFill>
              </a:rPr>
              <a:t>)</a:t>
            </a:r>
            <a:r>
              <a:rPr lang="en-US" dirty="0" smtClean="0">
                <a:solidFill>
                  <a:schemeClr val="accent4">
                    <a:lumMod val="60000"/>
                    <a:lumOff val="40000"/>
                  </a:schemeClr>
                </a:solidFill>
              </a:rPr>
              <a:t>) #</a:t>
            </a:r>
            <a:r>
              <a:rPr lang="en-US" dirty="0" err="1" smtClean="0">
                <a:solidFill>
                  <a:schemeClr val="accent4">
                    <a:lumMod val="60000"/>
                    <a:lumOff val="40000"/>
                  </a:schemeClr>
                </a:solidFill>
              </a:rPr>
              <a:t>cho</a:t>
            </a:r>
            <a:r>
              <a:rPr lang="en-US" dirty="0" smtClean="0">
                <a:solidFill>
                  <a:schemeClr val="accent4">
                    <a:lumMod val="60000"/>
                    <a:lumOff val="40000"/>
                  </a:schemeClr>
                </a:solidFill>
              </a:rPr>
              <a:t> </a:t>
            </a:r>
            <a:r>
              <a:rPr lang="en-US" dirty="0" err="1" smtClean="0">
                <a:solidFill>
                  <a:schemeClr val="accent4">
                    <a:lumMod val="60000"/>
                    <a:lumOff val="40000"/>
                  </a:schemeClr>
                </a:solidFill>
              </a:rPr>
              <a:t>kết</a:t>
            </a:r>
            <a:r>
              <a:rPr lang="en-US" dirty="0" smtClean="0">
                <a:solidFill>
                  <a:schemeClr val="accent4">
                    <a:lumMod val="60000"/>
                    <a:lumOff val="40000"/>
                  </a:schemeClr>
                </a:solidFill>
              </a:rPr>
              <a:t> </a:t>
            </a:r>
            <a:r>
              <a:rPr lang="en-US" dirty="0" err="1" smtClean="0">
                <a:solidFill>
                  <a:schemeClr val="accent4">
                    <a:lumMod val="60000"/>
                    <a:lumOff val="40000"/>
                  </a:schemeClr>
                </a:solidFill>
              </a:rPr>
              <a:t>quả</a:t>
            </a:r>
            <a:r>
              <a:rPr lang="en-US" dirty="0" smtClean="0">
                <a:solidFill>
                  <a:schemeClr val="accent4">
                    <a:lumMod val="60000"/>
                    <a:lumOff val="40000"/>
                  </a:schemeClr>
                </a:solidFill>
              </a:rPr>
              <a:t> </a:t>
            </a:r>
            <a:r>
              <a:rPr lang="en-US" dirty="0">
                <a:solidFill>
                  <a:schemeClr val="bg1"/>
                </a:solidFill>
              </a:rPr>
              <a:t>&lt;class '</a:t>
            </a:r>
            <a:r>
              <a:rPr lang="en-US" dirty="0" err="1">
                <a:solidFill>
                  <a:schemeClr val="bg1"/>
                </a:solidFill>
              </a:rPr>
              <a:t>dict</a:t>
            </a:r>
            <a:r>
              <a:rPr lang="en-US" dirty="0">
                <a:solidFill>
                  <a:schemeClr val="bg1"/>
                </a:solidFill>
              </a:rPr>
              <a:t>'&gt;</a:t>
            </a:r>
            <a:endParaRPr lang="en-US" sz="1600" b="1" dirty="0">
              <a:solidFill>
                <a:schemeClr val="bg1"/>
              </a:solidFill>
            </a:endParaRPr>
          </a:p>
        </p:txBody>
      </p:sp>
      <p:sp>
        <p:nvSpPr>
          <p:cNvPr id="36" name="TextBox 35"/>
          <p:cNvSpPr txBox="1"/>
          <p:nvPr/>
        </p:nvSpPr>
        <p:spPr>
          <a:xfrm>
            <a:off x="548981" y="4324815"/>
            <a:ext cx="7610868" cy="369332"/>
          </a:xfrm>
          <a:prstGeom prst="rect">
            <a:avLst/>
          </a:prstGeom>
          <a:noFill/>
        </p:spPr>
        <p:txBody>
          <a:bodyPr wrap="square" rtlCol="0">
            <a:spAutoFit/>
          </a:bodyPr>
          <a:lstStyle/>
          <a:p>
            <a:r>
              <a:rPr lang="en-US" dirty="0" err="1" smtClean="0"/>
              <a:t>Kiểm</a:t>
            </a:r>
            <a:r>
              <a:rPr lang="en-US" dirty="0" smtClean="0"/>
              <a:t> </a:t>
            </a:r>
            <a:r>
              <a:rPr lang="en-US" dirty="0" err="1" smtClean="0"/>
              <a:t>tra</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của</a:t>
            </a:r>
            <a:r>
              <a:rPr lang="en-US" dirty="0" smtClean="0"/>
              <a:t> </a:t>
            </a:r>
            <a:r>
              <a:rPr lang="en-US" dirty="0" err="1" smtClean="0"/>
              <a:t>từ</a:t>
            </a:r>
            <a:r>
              <a:rPr lang="en-US" dirty="0" smtClean="0"/>
              <a:t> </a:t>
            </a:r>
            <a:r>
              <a:rPr lang="en-US" dirty="0" err="1" smtClean="0"/>
              <a:t>điển</a:t>
            </a:r>
            <a:endParaRPr lang="en-US" b="1" dirty="0"/>
          </a:p>
        </p:txBody>
      </p:sp>
    </p:spTree>
    <p:extLst>
      <p:ext uri="{BB962C8B-B14F-4D97-AF65-F5344CB8AC3E}">
        <p14:creationId xmlns:p14="http://schemas.microsoft.com/office/powerpoint/2010/main" val="34061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sp>
        <p:nvSpPr>
          <p:cNvPr id="29" name="Rectangle 28"/>
          <p:cNvSpPr/>
          <p:nvPr/>
        </p:nvSpPr>
        <p:spPr>
          <a:xfrm>
            <a:off x="699793" y="2583720"/>
            <a:ext cx="7774356" cy="8690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80547" y="2733879"/>
            <a:ext cx="7402216" cy="646331"/>
          </a:xfrm>
          <a:prstGeom prst="rect">
            <a:avLst/>
          </a:prstGeom>
          <a:noFill/>
        </p:spPr>
        <p:txBody>
          <a:bodyPr wrap="square" rtlCol="0">
            <a:spAutoFit/>
          </a:bodyPr>
          <a:lstStyle/>
          <a:p>
            <a:r>
              <a:rPr lang="en-US" dirty="0">
                <a:solidFill>
                  <a:schemeClr val="bg1"/>
                </a:solidFill>
              </a:rPr>
              <a:t>n</a:t>
            </a:r>
            <a:r>
              <a:rPr lang="en-US" dirty="0" smtClean="0">
                <a:solidFill>
                  <a:schemeClr val="bg1"/>
                </a:solidFill>
              </a:rPr>
              <a:t>ame = person</a:t>
            </a:r>
            <a:r>
              <a:rPr lang="en-US" dirty="0" smtClean="0">
                <a:solidFill>
                  <a:schemeClr val="accent4">
                    <a:lumMod val="60000"/>
                    <a:lumOff val="40000"/>
                  </a:schemeClr>
                </a:solidFill>
              </a:rPr>
              <a:t>[</a:t>
            </a:r>
            <a:r>
              <a:rPr lang="en-US" dirty="0" smtClean="0">
                <a:solidFill>
                  <a:schemeClr val="accent2">
                    <a:lumMod val="75000"/>
                  </a:schemeClr>
                </a:solidFill>
              </a:rPr>
              <a:t>“name”</a:t>
            </a:r>
            <a:r>
              <a:rPr lang="en-US" dirty="0" smtClean="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name</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smtClean="0"/>
              <a:t>Truy</a:t>
            </a:r>
            <a:r>
              <a:rPr lang="en-US" b="1" dirty="0" smtClean="0"/>
              <a:t> </a:t>
            </a:r>
            <a:r>
              <a:rPr lang="en-US" b="1" dirty="0" err="1" smtClean="0"/>
              <a:t>cập</a:t>
            </a:r>
            <a:r>
              <a:rPr lang="en-US" b="1" dirty="0" smtClean="0"/>
              <a:t> </a:t>
            </a:r>
            <a:r>
              <a:rPr lang="en-US" b="1" dirty="0" err="1" smtClean="0"/>
              <a:t>đến</a:t>
            </a:r>
            <a:r>
              <a:rPr lang="en-US" b="1" dirty="0" smtClean="0"/>
              <a:t> </a:t>
            </a:r>
            <a:r>
              <a:rPr lang="en-US" b="1" dirty="0" err="1" smtClean="0"/>
              <a:t>các</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của</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28" name="TextBox 27"/>
          <p:cNvSpPr txBox="1"/>
          <p:nvPr/>
        </p:nvSpPr>
        <p:spPr>
          <a:xfrm>
            <a:off x="625365" y="2017550"/>
            <a:ext cx="7834152" cy="369332"/>
          </a:xfrm>
          <a:prstGeom prst="rect">
            <a:avLst/>
          </a:prstGeom>
          <a:noFill/>
        </p:spPr>
        <p:txBody>
          <a:bodyPr wrap="square" rtlCol="0">
            <a:spAutoFit/>
          </a:bodyPr>
          <a:lstStyle/>
          <a:p>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lấy</a:t>
            </a:r>
            <a:r>
              <a:rPr lang="en-US" dirty="0" smtClean="0"/>
              <a:t> </a:t>
            </a:r>
            <a:r>
              <a:rPr lang="en-US" dirty="0" err="1" smtClean="0"/>
              <a:t>giá</a:t>
            </a:r>
            <a:r>
              <a:rPr lang="en-US" dirty="0" smtClean="0"/>
              <a:t> </a:t>
            </a:r>
            <a:r>
              <a:rPr lang="en-US" dirty="0" err="1" smtClean="0"/>
              <a:t>trị</a:t>
            </a:r>
            <a:r>
              <a:rPr lang="en-US" dirty="0" smtClean="0"/>
              <a:t> (value) </a:t>
            </a:r>
            <a:r>
              <a:rPr lang="en-US" dirty="0" err="1" smtClean="0"/>
              <a:t>của</a:t>
            </a:r>
            <a:r>
              <a:rPr lang="en-US" dirty="0" smtClean="0"/>
              <a:t> </a:t>
            </a:r>
            <a:r>
              <a:rPr lang="en-US" dirty="0" err="1" smtClean="0"/>
              <a:t>một</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dựa</a:t>
            </a:r>
            <a:r>
              <a:rPr lang="en-US" dirty="0" smtClean="0"/>
              <a:t> </a:t>
            </a:r>
            <a:r>
              <a:rPr lang="en-US" dirty="0" err="1" smtClean="0"/>
              <a:t>vào</a:t>
            </a:r>
            <a:r>
              <a:rPr lang="en-US" dirty="0" smtClean="0"/>
              <a:t> key </a:t>
            </a:r>
            <a:r>
              <a:rPr lang="en-US" dirty="0" err="1" smtClean="0"/>
              <a:t>của</a:t>
            </a:r>
            <a:r>
              <a:rPr lang="en-US" dirty="0" smtClean="0"/>
              <a:t> </a:t>
            </a:r>
            <a:r>
              <a:rPr lang="en-US" dirty="0" err="1" smtClean="0"/>
              <a:t>chúng</a:t>
            </a:r>
            <a:endParaRPr lang="en-US" b="1" dirty="0"/>
          </a:p>
        </p:txBody>
      </p:sp>
      <p:sp>
        <p:nvSpPr>
          <p:cNvPr id="13" name="TextBox 12"/>
          <p:cNvSpPr txBox="1"/>
          <p:nvPr/>
        </p:nvSpPr>
        <p:spPr>
          <a:xfrm>
            <a:off x="625365" y="3607974"/>
            <a:ext cx="7985052" cy="369332"/>
          </a:xfrm>
          <a:prstGeom prst="rect">
            <a:avLst/>
          </a:prstGeom>
          <a:noFill/>
        </p:spPr>
        <p:txBody>
          <a:bodyPr wrap="square" rtlCol="0">
            <a:spAutoFit/>
          </a:bodyPr>
          <a:lstStyle/>
          <a:p>
            <a:r>
              <a:rPr lang="en-US" dirty="0" err="1" smtClean="0"/>
              <a:t>Ngoài</a:t>
            </a:r>
            <a:r>
              <a:rPr lang="en-US" dirty="0" smtClean="0"/>
              <a:t> </a:t>
            </a:r>
            <a:r>
              <a:rPr lang="en-US" dirty="0" err="1" smtClean="0"/>
              <a:t>ra</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get()</a:t>
            </a:r>
            <a:r>
              <a:rPr lang="en-US" dirty="0" smtClean="0"/>
              <a:t> </a:t>
            </a:r>
            <a:r>
              <a:rPr lang="en-US" dirty="0" err="1" smtClean="0"/>
              <a:t>để</a:t>
            </a:r>
            <a:r>
              <a:rPr lang="en-US" dirty="0" smtClean="0"/>
              <a:t> </a:t>
            </a:r>
            <a:r>
              <a:rPr lang="en-US" dirty="0" err="1" smtClean="0"/>
              <a:t>lấy</a:t>
            </a:r>
            <a:endParaRPr lang="en-US" dirty="0"/>
          </a:p>
        </p:txBody>
      </p:sp>
      <p:sp>
        <p:nvSpPr>
          <p:cNvPr id="23" name="Rectangle 22"/>
          <p:cNvSpPr/>
          <p:nvPr/>
        </p:nvSpPr>
        <p:spPr>
          <a:xfrm>
            <a:off x="699793" y="4082911"/>
            <a:ext cx="7774356" cy="8690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880547" y="4233070"/>
            <a:ext cx="7402216" cy="646331"/>
          </a:xfrm>
          <a:prstGeom prst="rect">
            <a:avLst/>
          </a:prstGeom>
          <a:noFill/>
        </p:spPr>
        <p:txBody>
          <a:bodyPr wrap="square" rtlCol="0">
            <a:spAutoFit/>
          </a:bodyPr>
          <a:lstStyle/>
          <a:p>
            <a:r>
              <a:rPr lang="en-US" dirty="0">
                <a:solidFill>
                  <a:schemeClr val="bg1"/>
                </a:solidFill>
              </a:rPr>
              <a:t>n</a:t>
            </a:r>
            <a:r>
              <a:rPr lang="en-US" dirty="0" smtClean="0">
                <a:solidFill>
                  <a:schemeClr val="bg1"/>
                </a:solidFill>
              </a:rPr>
              <a:t>ame = </a:t>
            </a:r>
            <a:r>
              <a:rPr lang="en-US" dirty="0" err="1" smtClean="0">
                <a:solidFill>
                  <a:schemeClr val="bg1"/>
                </a:solidFill>
              </a:rPr>
              <a:t>person.get</a:t>
            </a:r>
            <a:r>
              <a:rPr lang="en-US" dirty="0" smtClean="0">
                <a:solidFill>
                  <a:schemeClr val="accent4">
                    <a:lumMod val="60000"/>
                    <a:lumOff val="40000"/>
                  </a:schemeClr>
                </a:solidFill>
              </a:rPr>
              <a:t>(</a:t>
            </a:r>
            <a:r>
              <a:rPr lang="en-US" dirty="0" smtClean="0">
                <a:solidFill>
                  <a:schemeClr val="accent2">
                    <a:lumMod val="75000"/>
                  </a:schemeClr>
                </a:solidFill>
              </a:rPr>
              <a:t>“name”</a:t>
            </a:r>
            <a:r>
              <a:rPr lang="en-US" dirty="0">
                <a:solidFill>
                  <a:schemeClr val="accent4">
                    <a:lumMod val="60000"/>
                    <a:lumOff val="40000"/>
                  </a:schemeClr>
                </a:solidFill>
              </a:rPr>
              <a:t>)</a:t>
            </a:r>
            <a:endParaRPr lang="en-US" dirty="0" smtClean="0">
              <a:solidFill>
                <a:schemeClr val="accent4">
                  <a:lumMod val="60000"/>
                  <a:lumOff val="40000"/>
                </a:schemeClr>
              </a:solidFill>
            </a:endParaRPr>
          </a:p>
          <a:p>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name</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25" name="TextBox 24"/>
          <p:cNvSpPr txBox="1"/>
          <p:nvPr/>
        </p:nvSpPr>
        <p:spPr>
          <a:xfrm>
            <a:off x="625365" y="5181593"/>
            <a:ext cx="7985052" cy="369332"/>
          </a:xfrm>
          <a:prstGeom prst="rect">
            <a:avLst/>
          </a:prstGeom>
          <a:noFill/>
        </p:spPr>
        <p:txBody>
          <a:bodyPr wrap="square" rtlCol="0">
            <a:spAutoFit/>
          </a:bodyPr>
          <a:lstStyle/>
          <a:p>
            <a:r>
              <a:rPr lang="en-US" dirty="0" err="1" smtClean="0"/>
              <a:t>Lấy</a:t>
            </a:r>
            <a:r>
              <a:rPr lang="en-US" dirty="0" smtClean="0"/>
              <a:t> </a:t>
            </a:r>
            <a:r>
              <a:rPr lang="en-US" dirty="0" err="1" smtClean="0"/>
              <a:t>danh</a:t>
            </a:r>
            <a:r>
              <a:rPr lang="en-US" dirty="0" smtClean="0"/>
              <a:t> </a:t>
            </a:r>
            <a:r>
              <a:rPr lang="en-US" dirty="0" err="1" smtClean="0"/>
              <a:t>sách</a:t>
            </a:r>
            <a:r>
              <a:rPr lang="en-US" dirty="0" smtClean="0"/>
              <a:t> key </a:t>
            </a:r>
            <a:r>
              <a:rPr lang="en-US" dirty="0" err="1" smtClean="0"/>
              <a:t>của</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keys()</a:t>
            </a:r>
            <a:endParaRPr lang="en-US" b="1" dirty="0">
              <a:solidFill>
                <a:srgbClr val="FF0000"/>
              </a:solidFill>
            </a:endParaRPr>
          </a:p>
        </p:txBody>
      </p:sp>
      <p:sp>
        <p:nvSpPr>
          <p:cNvPr id="31" name="Flowchart: Decision 30"/>
          <p:cNvSpPr/>
          <p:nvPr/>
        </p:nvSpPr>
        <p:spPr>
          <a:xfrm>
            <a:off x="527716" y="211196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Decision 31"/>
          <p:cNvSpPr/>
          <p:nvPr/>
        </p:nvSpPr>
        <p:spPr>
          <a:xfrm>
            <a:off x="527716" y="369621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Decision 32"/>
          <p:cNvSpPr/>
          <p:nvPr/>
        </p:nvSpPr>
        <p:spPr>
          <a:xfrm>
            <a:off x="527716" y="526983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99793" y="5635264"/>
            <a:ext cx="7774356" cy="8690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880547" y="5785423"/>
            <a:ext cx="7402216" cy="646331"/>
          </a:xfrm>
          <a:prstGeom prst="rect">
            <a:avLst/>
          </a:prstGeom>
          <a:noFill/>
        </p:spPr>
        <p:txBody>
          <a:bodyPr wrap="square" rtlCol="0">
            <a:spAutoFit/>
          </a:bodyPr>
          <a:lstStyle/>
          <a:p>
            <a:r>
              <a:rPr lang="en-US" dirty="0" err="1">
                <a:solidFill>
                  <a:schemeClr val="bg1"/>
                </a:solidFill>
              </a:rPr>
              <a:t>k</a:t>
            </a:r>
            <a:r>
              <a:rPr lang="en-US" dirty="0" err="1" smtClean="0">
                <a:solidFill>
                  <a:schemeClr val="bg1"/>
                </a:solidFill>
              </a:rPr>
              <a:t>eyList</a:t>
            </a:r>
            <a:r>
              <a:rPr lang="en-US" dirty="0" smtClean="0">
                <a:solidFill>
                  <a:schemeClr val="bg1"/>
                </a:solidFill>
              </a:rPr>
              <a:t> = </a:t>
            </a:r>
            <a:r>
              <a:rPr lang="en-US" dirty="0" err="1" smtClean="0">
                <a:solidFill>
                  <a:schemeClr val="bg1"/>
                </a:solidFill>
              </a:rPr>
              <a:t>person.keys</a:t>
            </a:r>
            <a:r>
              <a:rPr lang="en-US" dirty="0" smtClean="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a:solidFill>
                  <a:schemeClr val="bg1"/>
                </a:solidFill>
              </a:rPr>
              <a:t>keyList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823568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sp>
        <p:nvSpPr>
          <p:cNvPr id="29" name="Rectangle 28"/>
          <p:cNvSpPr/>
          <p:nvPr/>
        </p:nvSpPr>
        <p:spPr>
          <a:xfrm>
            <a:off x="685161" y="2487443"/>
            <a:ext cx="7774356" cy="98803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637602"/>
            <a:ext cx="7402216" cy="646331"/>
          </a:xfrm>
          <a:prstGeom prst="rect">
            <a:avLst/>
          </a:prstGeom>
          <a:noFill/>
        </p:spPr>
        <p:txBody>
          <a:bodyPr wrap="square" rtlCol="0">
            <a:spAutoFit/>
          </a:bodyPr>
          <a:lstStyle/>
          <a:p>
            <a:r>
              <a:rPr lang="en-US" dirty="0" err="1">
                <a:solidFill>
                  <a:schemeClr val="bg1"/>
                </a:solidFill>
              </a:rPr>
              <a:t>v</a:t>
            </a:r>
            <a:r>
              <a:rPr lang="en-US" dirty="0" err="1" smtClean="0">
                <a:solidFill>
                  <a:schemeClr val="bg1"/>
                </a:solidFill>
              </a:rPr>
              <a:t>List</a:t>
            </a:r>
            <a:r>
              <a:rPr lang="en-US" dirty="0" smtClean="0">
                <a:solidFill>
                  <a:schemeClr val="bg1"/>
                </a:solidFill>
              </a:rPr>
              <a:t> </a:t>
            </a:r>
            <a:r>
              <a:rPr lang="en-US" dirty="0">
                <a:solidFill>
                  <a:schemeClr val="bg1"/>
                </a:solidFill>
              </a:rPr>
              <a:t>= </a:t>
            </a:r>
            <a:r>
              <a:rPr lang="en-US" dirty="0" err="1" smtClean="0">
                <a:solidFill>
                  <a:schemeClr val="bg1"/>
                </a:solidFill>
              </a:rPr>
              <a:t>person.values</a:t>
            </a:r>
            <a:r>
              <a:rPr lang="en-US" dirty="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a:solidFill>
                  <a:schemeClr val="bg1"/>
                </a:solidFill>
              </a:rPr>
              <a:t>v</a:t>
            </a:r>
            <a:r>
              <a:rPr lang="en-US" dirty="0" err="1" smtClean="0">
                <a:solidFill>
                  <a:schemeClr val="bg1"/>
                </a:solidFill>
              </a:rPr>
              <a:t>List</a:t>
            </a:r>
            <a:r>
              <a:rPr lang="en-US" dirty="0">
                <a:solidFill>
                  <a:schemeClr val="accent4">
                    <a:lumMod val="60000"/>
                    <a:lumOff val="40000"/>
                  </a:schemeClr>
                </a:solidFill>
              </a:rPr>
              <a:t>)</a:t>
            </a: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err="1"/>
              <a:t>Truy</a:t>
            </a:r>
            <a:r>
              <a:rPr lang="en-US" b="1" dirty="0"/>
              <a:t> </a:t>
            </a:r>
            <a:r>
              <a:rPr lang="en-US" b="1" dirty="0" err="1"/>
              <a:t>cập</a:t>
            </a:r>
            <a:r>
              <a:rPr lang="en-US" b="1" dirty="0"/>
              <a:t> </a:t>
            </a:r>
            <a:r>
              <a:rPr lang="en-US" b="1" dirty="0" err="1"/>
              <a:t>đến</a:t>
            </a:r>
            <a:r>
              <a:rPr lang="en-US" b="1" dirty="0"/>
              <a:t> </a:t>
            </a:r>
            <a:r>
              <a:rPr lang="en-US" b="1" dirty="0" err="1"/>
              <a:t>các</a:t>
            </a:r>
            <a:r>
              <a:rPr lang="en-US" b="1" dirty="0"/>
              <a:t> </a:t>
            </a:r>
            <a:r>
              <a:rPr lang="en-US" b="1" dirty="0" err="1"/>
              <a:t>phần</a:t>
            </a:r>
            <a:r>
              <a:rPr lang="en-US" b="1" dirty="0"/>
              <a:t> </a:t>
            </a:r>
            <a:r>
              <a:rPr lang="en-US" b="1" dirty="0" err="1"/>
              <a:t>tử</a:t>
            </a:r>
            <a:r>
              <a:rPr lang="en-US" b="1" dirty="0"/>
              <a:t> </a:t>
            </a:r>
            <a:r>
              <a:rPr lang="en-US" b="1" dirty="0" err="1"/>
              <a:t>của</a:t>
            </a:r>
            <a:r>
              <a:rPr lang="en-US" b="1" dirty="0"/>
              <a:t> </a:t>
            </a:r>
            <a:r>
              <a:rPr lang="en-US" b="1" dirty="0" err="1"/>
              <a:t>từ</a:t>
            </a:r>
            <a:r>
              <a:rPr lang="en-US" b="1" dirty="0"/>
              <a:t> </a:t>
            </a:r>
            <a:r>
              <a:rPr lang="en-US" b="1" dirty="0" err="1"/>
              <a:t>điển</a:t>
            </a:r>
            <a:endParaRPr lang="en-US" b="1" dirty="0">
              <a:solidFill>
                <a:srgbClr val="FF0000"/>
              </a:solidFill>
            </a:endParaRPr>
          </a:p>
        </p:txBody>
      </p:sp>
      <p:sp>
        <p:nvSpPr>
          <p:cNvPr id="28" name="TextBox 27"/>
          <p:cNvSpPr txBox="1"/>
          <p:nvPr/>
        </p:nvSpPr>
        <p:spPr>
          <a:xfrm>
            <a:off x="774221" y="2017550"/>
            <a:ext cx="7834152" cy="369332"/>
          </a:xfrm>
          <a:prstGeom prst="rect">
            <a:avLst/>
          </a:prstGeom>
          <a:noFill/>
        </p:spPr>
        <p:txBody>
          <a:bodyPr wrap="square" rtlCol="0">
            <a:spAutoFit/>
          </a:bodyPr>
          <a:lstStyle/>
          <a:p>
            <a:r>
              <a:rPr lang="en-US" dirty="0" err="1" smtClean="0"/>
              <a:t>Lấy</a:t>
            </a:r>
            <a:r>
              <a:rPr lang="en-US" dirty="0" smtClean="0"/>
              <a:t> </a:t>
            </a:r>
            <a:r>
              <a:rPr lang="en-US" dirty="0" err="1" smtClean="0"/>
              <a:t>tất</a:t>
            </a:r>
            <a:r>
              <a:rPr lang="en-US" dirty="0" smtClean="0"/>
              <a:t> </a:t>
            </a:r>
            <a:r>
              <a:rPr lang="en-US" dirty="0" err="1" smtClean="0"/>
              <a:t>cả</a:t>
            </a:r>
            <a:r>
              <a:rPr lang="en-US" dirty="0" smtClean="0"/>
              <a:t> </a:t>
            </a:r>
            <a:r>
              <a:rPr lang="en-US" dirty="0" err="1" smtClean="0"/>
              <a:t>các</a:t>
            </a:r>
            <a:r>
              <a:rPr lang="en-US" dirty="0" smtClean="0"/>
              <a:t> value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values()</a:t>
            </a:r>
            <a:endParaRPr lang="en-US" b="1" dirty="0">
              <a:solidFill>
                <a:srgbClr val="FF0000"/>
              </a:solidFill>
            </a:endParaRPr>
          </a:p>
        </p:txBody>
      </p:sp>
      <p:sp>
        <p:nvSpPr>
          <p:cNvPr id="23" name="TextBox 22"/>
          <p:cNvSpPr txBox="1"/>
          <p:nvPr/>
        </p:nvSpPr>
        <p:spPr>
          <a:xfrm>
            <a:off x="685161" y="3734833"/>
            <a:ext cx="8071728" cy="369332"/>
          </a:xfrm>
          <a:prstGeom prst="rect">
            <a:avLst/>
          </a:prstGeom>
          <a:noFill/>
        </p:spPr>
        <p:txBody>
          <a:bodyPr wrap="square" rtlCol="0">
            <a:spAutoFit/>
          </a:bodyPr>
          <a:lstStyle/>
          <a:p>
            <a:r>
              <a:rPr lang="en-US" dirty="0" err="1" smtClean="0"/>
              <a:t>Lấy</a:t>
            </a:r>
            <a:r>
              <a:rPr lang="en-US" dirty="0" smtClean="0"/>
              <a:t> </a:t>
            </a:r>
            <a:r>
              <a:rPr lang="en-US" dirty="0" err="1" smtClean="0"/>
              <a:t>cả</a:t>
            </a:r>
            <a:r>
              <a:rPr lang="en-US" dirty="0" smtClean="0"/>
              <a:t> key </a:t>
            </a:r>
            <a:r>
              <a:rPr lang="en-US" dirty="0" err="1" smtClean="0"/>
              <a:t>và</a:t>
            </a:r>
            <a:r>
              <a:rPr lang="en-US" dirty="0" smtClean="0"/>
              <a:t> value </a:t>
            </a:r>
            <a:r>
              <a:rPr lang="en-US" dirty="0" err="1" smtClean="0"/>
              <a:t>của</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trong</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vởi</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items()</a:t>
            </a:r>
            <a:endParaRPr lang="en-US" b="1" dirty="0">
              <a:solidFill>
                <a:srgbClr val="FF0000"/>
              </a:solidFill>
            </a:endParaRPr>
          </a:p>
        </p:txBody>
      </p:sp>
      <p:sp>
        <p:nvSpPr>
          <p:cNvPr id="24" name="Rectangle 23"/>
          <p:cNvSpPr/>
          <p:nvPr/>
        </p:nvSpPr>
        <p:spPr>
          <a:xfrm>
            <a:off x="685161" y="4343633"/>
            <a:ext cx="7774356" cy="159065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p:cNvSpPr txBox="1"/>
          <p:nvPr/>
        </p:nvSpPr>
        <p:spPr>
          <a:xfrm>
            <a:off x="865915" y="4493792"/>
            <a:ext cx="7402216" cy="1200329"/>
          </a:xfrm>
          <a:prstGeom prst="rect">
            <a:avLst/>
          </a:prstGeom>
          <a:noFill/>
        </p:spPr>
        <p:txBody>
          <a:bodyPr wrap="square" rtlCol="0">
            <a:spAutoFit/>
          </a:bodyPr>
          <a:lstStyle/>
          <a:p>
            <a:r>
              <a:rPr lang="en-US" dirty="0" err="1" smtClean="0">
                <a:solidFill>
                  <a:schemeClr val="bg1"/>
                </a:solidFill>
              </a:rPr>
              <a:t>itemList</a:t>
            </a:r>
            <a:r>
              <a:rPr lang="en-US" dirty="0" smtClean="0">
                <a:solidFill>
                  <a:schemeClr val="bg1"/>
                </a:solidFill>
              </a:rPr>
              <a:t> </a:t>
            </a:r>
            <a:r>
              <a:rPr lang="en-US" dirty="0">
                <a:solidFill>
                  <a:schemeClr val="bg1"/>
                </a:solidFill>
              </a:rPr>
              <a:t>= </a:t>
            </a:r>
            <a:r>
              <a:rPr lang="en-US" dirty="0" err="1" smtClean="0">
                <a:solidFill>
                  <a:schemeClr val="bg1"/>
                </a:solidFill>
              </a:rPr>
              <a:t>person.items</a:t>
            </a:r>
            <a:r>
              <a:rPr lang="en-US" dirty="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itemList</a:t>
            </a:r>
            <a:r>
              <a:rPr lang="en-US" dirty="0" smtClean="0">
                <a:solidFill>
                  <a:schemeClr val="accent4">
                    <a:lumMod val="60000"/>
                    <a:lumOff val="40000"/>
                  </a:schemeClr>
                </a:solidFill>
              </a:rPr>
              <a:t>)</a:t>
            </a:r>
          </a:p>
          <a:p>
            <a:r>
              <a:rPr lang="en-US" dirty="0" smtClean="0">
                <a:solidFill>
                  <a:schemeClr val="accent4">
                    <a:lumMod val="60000"/>
                    <a:lumOff val="40000"/>
                  </a:schemeClr>
                </a:solidFill>
              </a:rPr>
              <a:t>#</a:t>
            </a:r>
            <a:r>
              <a:rPr lang="en-US" dirty="0" err="1" smtClean="0">
                <a:solidFill>
                  <a:schemeClr val="accent4">
                    <a:lumMod val="60000"/>
                    <a:lumOff val="40000"/>
                  </a:schemeClr>
                </a:solidFill>
              </a:rPr>
              <a:t>Kết</a:t>
            </a:r>
            <a:r>
              <a:rPr lang="en-US" dirty="0" smtClean="0">
                <a:solidFill>
                  <a:schemeClr val="accent4">
                    <a:lumMod val="60000"/>
                    <a:lumOff val="40000"/>
                  </a:schemeClr>
                </a:solidFill>
              </a:rPr>
              <a:t> </a:t>
            </a:r>
            <a:r>
              <a:rPr lang="en-US" dirty="0" err="1" smtClean="0">
                <a:solidFill>
                  <a:schemeClr val="accent4">
                    <a:lumMod val="60000"/>
                    <a:lumOff val="40000"/>
                  </a:schemeClr>
                </a:solidFill>
              </a:rPr>
              <a:t>quả</a:t>
            </a:r>
            <a:r>
              <a:rPr lang="en-US" dirty="0" smtClean="0">
                <a:solidFill>
                  <a:schemeClr val="accent4">
                    <a:lumMod val="60000"/>
                    <a:lumOff val="40000"/>
                  </a:schemeClr>
                </a:solidFill>
              </a:rPr>
              <a:t> in </a:t>
            </a:r>
            <a:r>
              <a:rPr lang="en-US" dirty="0" err="1" smtClean="0">
                <a:solidFill>
                  <a:schemeClr val="accent4">
                    <a:lumMod val="60000"/>
                    <a:lumOff val="40000"/>
                  </a:schemeClr>
                </a:solidFill>
              </a:rPr>
              <a:t>ra</a:t>
            </a:r>
            <a:r>
              <a:rPr lang="en-US" dirty="0" smtClean="0">
                <a:solidFill>
                  <a:schemeClr val="accent4">
                    <a:lumMod val="60000"/>
                    <a:lumOff val="40000"/>
                  </a:schemeClr>
                </a:solidFill>
              </a:rPr>
              <a:t> </a:t>
            </a:r>
            <a:r>
              <a:rPr lang="en-US" dirty="0" err="1" smtClean="0">
                <a:solidFill>
                  <a:schemeClr val="accent4">
                    <a:lumMod val="60000"/>
                    <a:lumOff val="40000"/>
                  </a:schemeClr>
                </a:solidFill>
              </a:rPr>
              <a:t>được</a:t>
            </a:r>
            <a:r>
              <a:rPr lang="en-US" dirty="0" smtClean="0">
                <a:solidFill>
                  <a:schemeClr val="accent4">
                    <a:lumMod val="60000"/>
                    <a:lumOff val="40000"/>
                  </a:schemeClr>
                </a:solidFill>
              </a:rPr>
              <a:t>:</a:t>
            </a:r>
          </a:p>
          <a:p>
            <a:r>
              <a:rPr lang="en-US" dirty="0" smtClean="0">
                <a:solidFill>
                  <a:schemeClr val="accent4">
                    <a:lumMod val="60000"/>
                    <a:lumOff val="40000"/>
                  </a:schemeClr>
                </a:solidFill>
              </a:rPr>
              <a:t>[(‘name', '</a:t>
            </a:r>
            <a:r>
              <a:rPr lang="en-US" dirty="0" err="1" smtClean="0">
                <a:solidFill>
                  <a:schemeClr val="accent4">
                    <a:lumMod val="60000"/>
                    <a:lumOff val="40000"/>
                  </a:schemeClr>
                </a:solidFill>
              </a:rPr>
              <a:t>Jonh</a:t>
            </a:r>
            <a:r>
              <a:rPr lang="en-US" dirty="0" smtClean="0">
                <a:solidFill>
                  <a:schemeClr val="accent4">
                    <a:lumMod val="60000"/>
                    <a:lumOff val="40000"/>
                  </a:schemeClr>
                </a:solidFill>
              </a:rPr>
              <a:t>'), (‘age', 30), (‘city', ‘New York’)]</a:t>
            </a:r>
            <a:endParaRPr lang="en-US" dirty="0">
              <a:solidFill>
                <a:schemeClr val="accent4">
                  <a:lumMod val="60000"/>
                  <a:lumOff val="40000"/>
                </a:schemeClr>
              </a:solidFill>
            </a:endParaRPr>
          </a:p>
        </p:txBody>
      </p:sp>
      <p:sp>
        <p:nvSpPr>
          <p:cNvPr id="12" name="Flowchart: Decision 11"/>
          <p:cNvSpPr/>
          <p:nvPr/>
        </p:nvSpPr>
        <p:spPr>
          <a:xfrm>
            <a:off x="527716" y="211196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Decision 12"/>
          <p:cNvSpPr/>
          <p:nvPr/>
        </p:nvSpPr>
        <p:spPr>
          <a:xfrm>
            <a:off x="527716" y="383443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85161" y="6105893"/>
            <a:ext cx="8071728" cy="369332"/>
          </a:xfrm>
          <a:prstGeom prst="rect">
            <a:avLst/>
          </a:prstGeom>
          <a:noFill/>
        </p:spPr>
        <p:txBody>
          <a:bodyPr wrap="square" rtlCol="0">
            <a:spAutoFit/>
          </a:bodyPr>
          <a:lstStyle/>
          <a:p>
            <a:r>
              <a:rPr lang="en-US" dirty="0" err="1" smtClean="0"/>
              <a:t>Trả</a:t>
            </a:r>
            <a:r>
              <a:rPr lang="en-US" dirty="0" smtClean="0"/>
              <a:t> </a:t>
            </a:r>
            <a:r>
              <a:rPr lang="en-US" dirty="0" err="1" smtClean="0"/>
              <a:t>về</a:t>
            </a:r>
            <a:r>
              <a:rPr lang="en-US" dirty="0" smtClean="0"/>
              <a:t> </a:t>
            </a:r>
            <a:r>
              <a:rPr lang="en-US" dirty="0" err="1" smtClean="0"/>
              <a:t>một</a:t>
            </a:r>
            <a:r>
              <a:rPr lang="en-US" dirty="0" smtClean="0"/>
              <a:t> list </a:t>
            </a:r>
            <a:r>
              <a:rPr lang="en-US" dirty="0" err="1" smtClean="0"/>
              <a:t>các</a:t>
            </a:r>
            <a:r>
              <a:rPr lang="en-US" dirty="0" smtClean="0"/>
              <a:t> tuple</a:t>
            </a:r>
            <a:endParaRPr lang="en-US" b="1" dirty="0">
              <a:solidFill>
                <a:srgbClr val="FF0000"/>
              </a:solidFill>
            </a:endParaRPr>
          </a:p>
        </p:txBody>
      </p:sp>
    </p:spTree>
    <p:extLst>
      <p:ext uri="{BB962C8B-B14F-4D97-AF65-F5344CB8AC3E}">
        <p14:creationId xmlns:p14="http://schemas.microsoft.com/office/powerpoint/2010/main" val="10815625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sp>
        <p:nvSpPr>
          <p:cNvPr id="29" name="Rectangle 28"/>
          <p:cNvSpPr/>
          <p:nvPr/>
        </p:nvSpPr>
        <p:spPr>
          <a:xfrm>
            <a:off x="685161" y="2487443"/>
            <a:ext cx="7774356" cy="98803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865915" y="2637602"/>
            <a:ext cx="7402216" cy="646331"/>
          </a:xfrm>
          <a:prstGeom prst="rect">
            <a:avLst/>
          </a:prstGeom>
          <a:noFill/>
        </p:spPr>
        <p:txBody>
          <a:bodyPr wrap="square" rtlCol="0">
            <a:spAutoFit/>
          </a:bodyPr>
          <a:lstStyle/>
          <a:p>
            <a:r>
              <a:rPr lang="en-US" dirty="0">
                <a:solidFill>
                  <a:srgbClr val="00B0F0"/>
                </a:solidFill>
              </a:rPr>
              <a:t>if</a:t>
            </a:r>
            <a:r>
              <a:rPr lang="en-US" dirty="0">
                <a:solidFill>
                  <a:schemeClr val="bg1"/>
                </a:solidFill>
              </a:rPr>
              <a:t>  </a:t>
            </a:r>
            <a:r>
              <a:rPr lang="en-US" dirty="0" smtClean="0">
                <a:solidFill>
                  <a:schemeClr val="accent2">
                    <a:lumMod val="75000"/>
                  </a:schemeClr>
                </a:solidFill>
              </a:rPr>
              <a:t>"city"</a:t>
            </a:r>
            <a:r>
              <a:rPr lang="en-US" dirty="0">
                <a:solidFill>
                  <a:schemeClr val="bg1"/>
                </a:solidFill>
              </a:rPr>
              <a:t> </a:t>
            </a:r>
            <a:r>
              <a:rPr lang="en-US" dirty="0">
                <a:solidFill>
                  <a:srgbClr val="00B0F0"/>
                </a:solidFill>
              </a:rPr>
              <a:t>in</a:t>
            </a:r>
            <a:r>
              <a:rPr lang="en-US" dirty="0">
                <a:solidFill>
                  <a:schemeClr val="bg1"/>
                </a:solidFill>
              </a:rPr>
              <a:t> </a:t>
            </a:r>
            <a:r>
              <a:rPr lang="en-US" dirty="0" smtClean="0">
                <a:solidFill>
                  <a:schemeClr val="bg1"/>
                </a:solidFill>
              </a:rPr>
              <a:t>person:</a:t>
            </a:r>
            <a:r>
              <a:rPr lang="en-US" dirty="0">
                <a:solidFill>
                  <a:schemeClr val="bg1"/>
                </a:solidFill>
              </a:rPr>
              <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accent2">
                    <a:lumMod val="75000"/>
                  </a:schemeClr>
                </a:solidFill>
              </a:rPr>
              <a:t>"Yes, </a:t>
            </a:r>
            <a:r>
              <a:rPr lang="en-US" dirty="0" smtClean="0">
                <a:solidFill>
                  <a:schemeClr val="accent2">
                    <a:lumMod val="75000"/>
                  </a:schemeClr>
                </a:solidFill>
              </a:rPr>
              <a:t>city'  </a:t>
            </a:r>
            <a:r>
              <a:rPr lang="en-US" dirty="0" err="1" smtClean="0">
                <a:solidFill>
                  <a:schemeClr val="accent2">
                    <a:lumMod val="75000"/>
                  </a:schemeClr>
                </a:solidFill>
              </a:rPr>
              <a:t>là</a:t>
            </a:r>
            <a:r>
              <a:rPr lang="en-US" dirty="0" smtClean="0">
                <a:solidFill>
                  <a:schemeClr val="accent2">
                    <a:lumMod val="75000"/>
                  </a:schemeClr>
                </a:solidFill>
              </a:rPr>
              <a:t> </a:t>
            </a:r>
            <a:r>
              <a:rPr lang="en-US" dirty="0" err="1" smtClean="0">
                <a:solidFill>
                  <a:schemeClr val="accent2">
                    <a:lumMod val="75000"/>
                  </a:schemeClr>
                </a:solidFill>
              </a:rPr>
              <a:t>một</a:t>
            </a:r>
            <a:r>
              <a:rPr lang="en-US" dirty="0" smtClean="0">
                <a:solidFill>
                  <a:schemeClr val="accent2">
                    <a:lumMod val="75000"/>
                  </a:schemeClr>
                </a:solidFill>
              </a:rPr>
              <a:t> key </a:t>
            </a:r>
            <a:r>
              <a:rPr lang="en-US" dirty="0" err="1" smtClean="0">
                <a:solidFill>
                  <a:schemeClr val="accent2">
                    <a:lumMod val="75000"/>
                  </a:schemeClr>
                </a:solidFill>
              </a:rPr>
              <a:t>trong</a:t>
            </a:r>
            <a:r>
              <a:rPr lang="en-US" dirty="0" smtClean="0">
                <a:solidFill>
                  <a:schemeClr val="accent2">
                    <a:lumMod val="75000"/>
                  </a:schemeClr>
                </a:solidFill>
              </a:rPr>
              <a:t> </a:t>
            </a:r>
            <a:r>
              <a:rPr lang="en-US" dirty="0" err="1" smtClean="0">
                <a:solidFill>
                  <a:schemeClr val="accent2">
                    <a:lumMod val="75000"/>
                  </a:schemeClr>
                </a:solidFill>
              </a:rPr>
              <a:t>từ</a:t>
            </a:r>
            <a:r>
              <a:rPr lang="en-US" dirty="0" smtClean="0">
                <a:solidFill>
                  <a:schemeClr val="accent2">
                    <a:lumMod val="75000"/>
                  </a:schemeClr>
                </a:solidFill>
              </a:rPr>
              <a:t> </a:t>
            </a:r>
            <a:r>
              <a:rPr lang="en-US" dirty="0" err="1" smtClean="0">
                <a:solidFill>
                  <a:schemeClr val="accent2">
                    <a:lumMod val="75000"/>
                  </a:schemeClr>
                </a:solidFill>
              </a:rPr>
              <a:t>điển</a:t>
            </a:r>
            <a:r>
              <a:rPr lang="en-US" dirty="0" smtClean="0">
                <a:solidFill>
                  <a:schemeClr val="accent2">
                    <a:lumMod val="75000"/>
                  </a:schemeClr>
                </a:solidFill>
              </a:rPr>
              <a:t> person"</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1041993" y="1557449"/>
            <a:ext cx="6432695" cy="369332"/>
          </a:xfrm>
          <a:prstGeom prst="rect">
            <a:avLst/>
          </a:prstGeom>
          <a:noFill/>
        </p:spPr>
        <p:txBody>
          <a:bodyPr wrap="square" rtlCol="0">
            <a:spAutoFit/>
          </a:bodyPr>
          <a:lstStyle/>
          <a:p>
            <a:r>
              <a:rPr lang="en-US" b="1" dirty="0" smtClean="0"/>
              <a:t>Check </a:t>
            </a:r>
            <a:r>
              <a:rPr lang="en-US" b="1" dirty="0" err="1" smtClean="0"/>
              <a:t>sự</a:t>
            </a:r>
            <a:r>
              <a:rPr lang="en-US" b="1" dirty="0" smtClean="0"/>
              <a:t> </a:t>
            </a:r>
            <a:r>
              <a:rPr lang="en-US" b="1" dirty="0" err="1" smtClean="0"/>
              <a:t>tồn</a:t>
            </a:r>
            <a:r>
              <a:rPr lang="en-US" b="1" dirty="0" smtClean="0"/>
              <a:t> </a:t>
            </a:r>
            <a:r>
              <a:rPr lang="en-US" b="1" dirty="0" err="1" smtClean="0"/>
              <a:t>tại</a:t>
            </a:r>
            <a:r>
              <a:rPr lang="en-US" b="1" dirty="0" smtClean="0"/>
              <a:t> </a:t>
            </a:r>
            <a:r>
              <a:rPr lang="en-US" b="1" dirty="0" err="1" smtClean="0"/>
              <a:t>của</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a:t>từ</a:t>
            </a:r>
            <a:r>
              <a:rPr lang="en-US" b="1" dirty="0"/>
              <a:t> </a:t>
            </a:r>
            <a:r>
              <a:rPr lang="en-US" b="1" dirty="0" err="1"/>
              <a:t>điển</a:t>
            </a:r>
            <a:endParaRPr lang="en-US" b="1" dirty="0">
              <a:solidFill>
                <a:srgbClr val="FF0000"/>
              </a:solidFill>
            </a:endParaRPr>
          </a:p>
        </p:txBody>
      </p:sp>
      <p:sp>
        <p:nvSpPr>
          <p:cNvPr id="28" name="TextBox 27"/>
          <p:cNvSpPr txBox="1"/>
          <p:nvPr/>
        </p:nvSpPr>
        <p:spPr>
          <a:xfrm>
            <a:off x="774221" y="2017550"/>
            <a:ext cx="783415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check city </a:t>
            </a:r>
            <a:r>
              <a:rPr lang="en-US" dirty="0" err="1" smtClean="0"/>
              <a:t>có</a:t>
            </a:r>
            <a:r>
              <a:rPr lang="en-US" dirty="0" smtClean="0"/>
              <a:t> </a:t>
            </a:r>
            <a:r>
              <a:rPr lang="en-US" dirty="0" err="1" smtClean="0"/>
              <a:t>tồn</a:t>
            </a:r>
            <a:r>
              <a:rPr lang="en-US" dirty="0" smtClean="0"/>
              <a:t> </a:t>
            </a:r>
            <a:r>
              <a:rPr lang="en-US" dirty="0" err="1" smtClean="0"/>
              <a:t>tại</a:t>
            </a:r>
            <a:r>
              <a:rPr lang="en-US" dirty="0" smtClean="0"/>
              <a:t> </a:t>
            </a:r>
            <a:r>
              <a:rPr lang="en-US" dirty="0" err="1" smtClean="0"/>
              <a:t>trong</a:t>
            </a:r>
            <a:r>
              <a:rPr lang="en-US" dirty="0" smtClean="0"/>
              <a:t> </a:t>
            </a:r>
            <a:r>
              <a:rPr lang="en-US" dirty="0" err="1" smtClean="0"/>
              <a:t>từ</a:t>
            </a:r>
            <a:r>
              <a:rPr lang="en-US" dirty="0" smtClean="0"/>
              <a:t> </a:t>
            </a:r>
            <a:r>
              <a:rPr lang="en-US" dirty="0" err="1" smtClean="0"/>
              <a:t>điển</a:t>
            </a:r>
            <a:r>
              <a:rPr lang="en-US" dirty="0" smtClean="0"/>
              <a:t> person </a:t>
            </a:r>
            <a:r>
              <a:rPr lang="en-US" dirty="0" err="1" smtClean="0"/>
              <a:t>không</a:t>
            </a:r>
            <a:endParaRPr lang="en-US" b="1" dirty="0">
              <a:solidFill>
                <a:srgbClr val="FF0000"/>
              </a:solidFill>
            </a:endParaRPr>
          </a:p>
        </p:txBody>
      </p:sp>
      <p:sp>
        <p:nvSpPr>
          <p:cNvPr id="12" name="Flowchart: Decision 11"/>
          <p:cNvSpPr/>
          <p:nvPr/>
        </p:nvSpPr>
        <p:spPr>
          <a:xfrm>
            <a:off x="527716" y="211196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85161" y="4448994"/>
            <a:ext cx="8071728" cy="369332"/>
          </a:xfrm>
          <a:prstGeom prst="rect">
            <a:avLst/>
          </a:prstGeom>
          <a:noFill/>
        </p:spPr>
        <p:txBody>
          <a:bodyPr wrap="square" rtlCol="0">
            <a:spAutoFit/>
          </a:bodyPr>
          <a:lstStyle/>
          <a:p>
            <a:r>
              <a:rPr lang="en-US" dirty="0" err="1" smtClean="0"/>
              <a:t>Thay</a:t>
            </a:r>
            <a:r>
              <a:rPr lang="en-US" dirty="0" smtClean="0"/>
              <a:t> </a:t>
            </a:r>
            <a:r>
              <a:rPr lang="en-US" dirty="0" err="1" smtClean="0"/>
              <a:t>đổi</a:t>
            </a:r>
            <a:r>
              <a:rPr lang="en-US" dirty="0" smtClean="0"/>
              <a:t> </a:t>
            </a:r>
            <a:r>
              <a:rPr lang="en-US" dirty="0" err="1" smtClean="0"/>
              <a:t>giá</a:t>
            </a:r>
            <a:r>
              <a:rPr lang="en-US" dirty="0" smtClean="0"/>
              <a:t> </a:t>
            </a:r>
            <a:r>
              <a:rPr lang="en-US" dirty="0" err="1" smtClean="0"/>
              <a:t>trị</a:t>
            </a:r>
            <a:r>
              <a:rPr lang="en-US" dirty="0" smtClean="0"/>
              <a:t> (value) </a:t>
            </a:r>
            <a:r>
              <a:rPr lang="en-US" dirty="0" err="1" smtClean="0"/>
              <a:t>cho</a:t>
            </a:r>
            <a:r>
              <a:rPr lang="en-US" dirty="0" smtClean="0"/>
              <a:t> </a:t>
            </a:r>
            <a:r>
              <a:rPr lang="en-US" dirty="0" err="1" smtClean="0"/>
              <a:t>một</a:t>
            </a:r>
            <a:r>
              <a:rPr lang="en-US" dirty="0" smtClean="0"/>
              <a:t> </a:t>
            </a:r>
            <a:r>
              <a:rPr lang="en-US" dirty="0" err="1" smtClean="0"/>
              <a:t>phần</a:t>
            </a:r>
            <a:r>
              <a:rPr lang="en-US" dirty="0" smtClean="0"/>
              <a:t> </a:t>
            </a:r>
            <a:r>
              <a:rPr lang="en-US" dirty="0" err="1" smtClean="0"/>
              <a:t>tử</a:t>
            </a:r>
            <a:r>
              <a:rPr lang="en-US" dirty="0" smtClean="0"/>
              <a:t> (key) </a:t>
            </a:r>
            <a:r>
              <a:rPr lang="en-US" dirty="0" err="1" smtClean="0"/>
              <a:t>trong</a:t>
            </a:r>
            <a:r>
              <a:rPr lang="en-US" dirty="0" smtClean="0"/>
              <a:t> </a:t>
            </a:r>
            <a:r>
              <a:rPr lang="en-US" dirty="0" err="1" smtClean="0"/>
              <a:t>từ</a:t>
            </a:r>
            <a:r>
              <a:rPr lang="en-US" dirty="0" smtClean="0"/>
              <a:t> </a:t>
            </a:r>
            <a:r>
              <a:rPr lang="en-US" dirty="0" err="1" smtClean="0"/>
              <a:t>điển</a:t>
            </a:r>
            <a:endParaRPr lang="en-US" b="1" dirty="0">
              <a:solidFill>
                <a:srgbClr val="FF0000"/>
              </a:solidFill>
            </a:endParaRPr>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866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041993" y="3907244"/>
            <a:ext cx="6432695" cy="369332"/>
          </a:xfrm>
          <a:prstGeom prst="rect">
            <a:avLst/>
          </a:prstGeom>
          <a:noFill/>
        </p:spPr>
        <p:txBody>
          <a:bodyPr wrap="square" rtlCol="0">
            <a:spAutoFit/>
          </a:bodyPr>
          <a:lstStyle/>
          <a:p>
            <a:r>
              <a:rPr lang="en-US" b="1" dirty="0" err="1" smtClean="0"/>
              <a:t>Thay</a:t>
            </a:r>
            <a:r>
              <a:rPr lang="en-US" b="1" dirty="0" smtClean="0"/>
              <a:t> </a:t>
            </a:r>
            <a:r>
              <a:rPr lang="en-US" b="1" dirty="0" err="1" smtClean="0"/>
              <a:t>đổi</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452555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85161" y="5007360"/>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865915" y="5157519"/>
            <a:ext cx="7402216" cy="369332"/>
          </a:xfrm>
          <a:prstGeom prst="rect">
            <a:avLst/>
          </a:prstGeom>
          <a:noFill/>
        </p:spPr>
        <p:txBody>
          <a:bodyPr wrap="square" rtlCol="0">
            <a:spAutoFit/>
          </a:bodyPr>
          <a:lstStyle/>
          <a:p>
            <a:r>
              <a:rPr lang="en-US" dirty="0">
                <a:solidFill>
                  <a:schemeClr val="bg1"/>
                </a:solidFill>
              </a:rPr>
              <a:t>p</a:t>
            </a:r>
            <a:r>
              <a:rPr lang="en-US" dirty="0" smtClean="0">
                <a:solidFill>
                  <a:schemeClr val="bg1"/>
                </a:solidFill>
              </a:rPr>
              <a:t>erson[</a:t>
            </a:r>
            <a:r>
              <a:rPr lang="en-US" dirty="0" smtClean="0">
                <a:solidFill>
                  <a:schemeClr val="accent2">
                    <a:lumMod val="75000"/>
                  </a:schemeClr>
                </a:solidFill>
              </a:rPr>
              <a:t>“city”</a:t>
            </a:r>
            <a:r>
              <a:rPr lang="en-US" dirty="0" smtClean="0">
                <a:solidFill>
                  <a:schemeClr val="bg1"/>
                </a:solidFill>
              </a:rPr>
              <a:t>] = </a:t>
            </a:r>
            <a:r>
              <a:rPr lang="en-US" dirty="0" smtClean="0">
                <a:solidFill>
                  <a:schemeClr val="accent2">
                    <a:lumMod val="75000"/>
                  </a:schemeClr>
                </a:solidFill>
              </a:rPr>
              <a:t>“Canada”</a:t>
            </a:r>
            <a:endParaRPr lang="en-US" dirty="0">
              <a:solidFill>
                <a:schemeClr val="accent2">
                  <a:lumMod val="75000"/>
                </a:schemeClr>
              </a:solidFill>
            </a:endParaRPr>
          </a:p>
        </p:txBody>
      </p:sp>
    </p:spTree>
    <p:extLst>
      <p:ext uri="{BB962C8B-B14F-4D97-AF65-F5344CB8AC3E}">
        <p14:creationId xmlns:p14="http://schemas.microsoft.com/office/powerpoint/2010/main" val="4778586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dirty="0"/>
              <a:t>13.2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err="1" smtClean="0"/>
              <a:t>Hoặc</a:t>
            </a:r>
            <a:r>
              <a:rPr lang="en-US" dirty="0" smtClean="0"/>
              <a:t> </a:t>
            </a:r>
            <a:r>
              <a:rPr lang="en-US" dirty="0" err="1" smtClean="0"/>
              <a:t>bạn</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solidFill>
                  <a:srgbClr val="FF0000"/>
                </a:solidFill>
              </a:rPr>
              <a:t>update()</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err="1" smtClean="0"/>
              <a:t>Thay</a:t>
            </a:r>
            <a:r>
              <a:rPr lang="en-US" b="1" dirty="0" smtClean="0"/>
              <a:t> </a:t>
            </a:r>
            <a:r>
              <a:rPr lang="en-US" b="1" dirty="0" err="1" smtClean="0"/>
              <a:t>đổi</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85161" y="2660580"/>
            <a:ext cx="7774356" cy="741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p:cNvSpPr txBox="1"/>
          <p:nvPr/>
        </p:nvSpPr>
        <p:spPr>
          <a:xfrm>
            <a:off x="865915" y="2810739"/>
            <a:ext cx="7402216" cy="369332"/>
          </a:xfrm>
          <a:prstGeom prst="rect">
            <a:avLst/>
          </a:prstGeom>
          <a:noFill/>
        </p:spPr>
        <p:txBody>
          <a:bodyPr wrap="square" rtlCol="0">
            <a:spAutoFit/>
          </a:bodyPr>
          <a:lstStyle/>
          <a:p>
            <a:r>
              <a:rPr lang="en-US" dirty="0" err="1">
                <a:solidFill>
                  <a:schemeClr val="bg1"/>
                </a:solidFill>
              </a:rPr>
              <a:t>p</a:t>
            </a:r>
            <a:r>
              <a:rPr lang="en-US" dirty="0" err="1" smtClean="0">
                <a:solidFill>
                  <a:schemeClr val="bg1"/>
                </a:solidFill>
              </a:rPr>
              <a:t>erson.update</a:t>
            </a:r>
            <a:r>
              <a:rPr lang="en-US" dirty="0" smtClean="0">
                <a:solidFill>
                  <a:schemeClr val="accent4">
                    <a:lumMod val="60000"/>
                    <a:lumOff val="40000"/>
                  </a:schemeClr>
                </a:solidFill>
              </a:rPr>
              <a:t>(</a:t>
            </a:r>
            <a:r>
              <a:rPr lang="en-US" dirty="0" smtClean="0">
                <a:solidFill>
                  <a:srgbClr val="FF66CC"/>
                </a:solidFill>
              </a:rPr>
              <a:t>{</a:t>
            </a:r>
            <a:r>
              <a:rPr lang="en-US" dirty="0" smtClean="0">
                <a:solidFill>
                  <a:schemeClr val="accent2">
                    <a:lumMod val="75000"/>
                  </a:schemeClr>
                </a:solidFill>
              </a:rPr>
              <a:t>“city”</a:t>
            </a:r>
            <a:r>
              <a:rPr lang="en-US" dirty="0" smtClean="0">
                <a:solidFill>
                  <a:schemeClr val="bg1"/>
                </a:solidFill>
              </a:rPr>
              <a:t>: </a:t>
            </a:r>
            <a:r>
              <a:rPr lang="en-US" dirty="0" smtClean="0">
                <a:solidFill>
                  <a:schemeClr val="accent2">
                    <a:lumMod val="75000"/>
                  </a:schemeClr>
                </a:solidFill>
              </a:rPr>
              <a:t>“Canada”</a:t>
            </a:r>
            <a:r>
              <a:rPr lang="en-US" dirty="0" smtClean="0">
                <a:solidFill>
                  <a:srgbClr val="FF66CC"/>
                </a:solidFill>
              </a:rPr>
              <a:t>}</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pic>
        <p:nvPicPr>
          <p:cNvPr id="2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66490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1993" y="3664907"/>
            <a:ext cx="6432695" cy="369332"/>
          </a:xfrm>
          <a:prstGeom prst="rect">
            <a:avLst/>
          </a:prstGeom>
          <a:noFill/>
        </p:spPr>
        <p:txBody>
          <a:bodyPr wrap="square" rtlCol="0">
            <a:spAutoFit/>
          </a:bodyPr>
          <a:lstStyle/>
          <a:p>
            <a:r>
              <a:rPr lang="en-US" b="1" dirty="0" err="1" smtClean="0"/>
              <a:t>Thêm</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vào</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22" name="Rectangle 21"/>
          <p:cNvSpPr/>
          <p:nvPr/>
        </p:nvSpPr>
        <p:spPr>
          <a:xfrm>
            <a:off x="685161" y="4240953"/>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865915" y="4391112"/>
            <a:ext cx="7402216" cy="369332"/>
          </a:xfrm>
          <a:prstGeom prst="rect">
            <a:avLst/>
          </a:prstGeom>
          <a:noFill/>
        </p:spPr>
        <p:txBody>
          <a:bodyPr wrap="square" rtlCol="0">
            <a:spAutoFit/>
          </a:bodyPr>
          <a:lstStyle/>
          <a:p>
            <a:r>
              <a:rPr lang="en-US" dirty="0">
                <a:solidFill>
                  <a:schemeClr val="bg1"/>
                </a:solidFill>
              </a:rPr>
              <a:t>p</a:t>
            </a:r>
            <a:r>
              <a:rPr lang="en-US" dirty="0" smtClean="0">
                <a:solidFill>
                  <a:schemeClr val="bg1"/>
                </a:solidFill>
              </a:rPr>
              <a:t>erson[</a:t>
            </a:r>
            <a:r>
              <a:rPr lang="en-US" dirty="0" smtClean="0">
                <a:solidFill>
                  <a:schemeClr val="accent2">
                    <a:lumMod val="75000"/>
                  </a:schemeClr>
                </a:solidFill>
              </a:rPr>
              <a:t>“email”</a:t>
            </a:r>
            <a:r>
              <a:rPr lang="en-US" dirty="0" smtClean="0">
                <a:solidFill>
                  <a:schemeClr val="bg1"/>
                </a:solidFill>
              </a:rPr>
              <a:t>] = </a:t>
            </a:r>
            <a:r>
              <a:rPr lang="en-US" dirty="0" smtClean="0">
                <a:solidFill>
                  <a:schemeClr val="accent2">
                    <a:lumMod val="75000"/>
                  </a:schemeClr>
                </a:solidFill>
              </a:rPr>
              <a:t>“jonh@gmail.com”</a:t>
            </a:r>
            <a:endParaRPr lang="en-US" dirty="0">
              <a:solidFill>
                <a:schemeClr val="accent2">
                  <a:lumMod val="75000"/>
                </a:schemeClr>
              </a:solidFill>
            </a:endParaRPr>
          </a:p>
        </p:txBody>
      </p:sp>
      <p:pic>
        <p:nvPicPr>
          <p:cNvPr id="2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5227893"/>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1041993" y="5227893"/>
            <a:ext cx="6432695" cy="369332"/>
          </a:xfrm>
          <a:prstGeom prst="rect">
            <a:avLst/>
          </a:prstGeom>
          <a:noFill/>
        </p:spPr>
        <p:txBody>
          <a:bodyPr wrap="square" rtlCol="0">
            <a:spAutoFit/>
          </a:bodyPr>
          <a:lstStyle/>
          <a:p>
            <a:r>
              <a:rPr lang="en-US" b="1" dirty="0" err="1" smtClean="0"/>
              <a:t>Xóa</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31" name="Rectangle 30"/>
          <p:cNvSpPr/>
          <p:nvPr/>
        </p:nvSpPr>
        <p:spPr>
          <a:xfrm>
            <a:off x="685161" y="5775920"/>
            <a:ext cx="2993704" cy="741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p:cNvSpPr txBox="1"/>
          <p:nvPr/>
        </p:nvSpPr>
        <p:spPr>
          <a:xfrm>
            <a:off x="865915" y="5926079"/>
            <a:ext cx="2462076" cy="369332"/>
          </a:xfrm>
          <a:prstGeom prst="rect">
            <a:avLst/>
          </a:prstGeom>
          <a:noFill/>
        </p:spPr>
        <p:txBody>
          <a:bodyPr wrap="square" rtlCol="0">
            <a:spAutoFit/>
          </a:bodyPr>
          <a:lstStyle/>
          <a:p>
            <a:r>
              <a:rPr lang="en-US" dirty="0" err="1" smtClean="0">
                <a:solidFill>
                  <a:schemeClr val="bg1"/>
                </a:solidFill>
              </a:rPr>
              <a:t>person.pop</a:t>
            </a:r>
            <a:r>
              <a:rPr lang="en-US" dirty="0" smtClean="0">
                <a:solidFill>
                  <a:schemeClr val="accent4">
                    <a:lumMod val="60000"/>
                    <a:lumOff val="40000"/>
                  </a:schemeClr>
                </a:solidFill>
              </a:rPr>
              <a:t>(</a:t>
            </a:r>
            <a:r>
              <a:rPr lang="en-US" dirty="0" smtClean="0">
                <a:solidFill>
                  <a:schemeClr val="accent2">
                    <a:lumMod val="75000"/>
                  </a:schemeClr>
                </a:solidFill>
              </a:rPr>
              <a:t>“email”</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33" name="Rectangle 32"/>
          <p:cNvSpPr/>
          <p:nvPr/>
        </p:nvSpPr>
        <p:spPr>
          <a:xfrm>
            <a:off x="5459179" y="5775920"/>
            <a:ext cx="2993704" cy="741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5639933" y="5926079"/>
            <a:ext cx="2462076" cy="369332"/>
          </a:xfrm>
          <a:prstGeom prst="rect">
            <a:avLst/>
          </a:prstGeom>
          <a:noFill/>
        </p:spPr>
        <p:txBody>
          <a:bodyPr wrap="square" rtlCol="0">
            <a:spAutoFit/>
          </a:bodyPr>
          <a:lstStyle/>
          <a:p>
            <a:r>
              <a:rPr lang="en-US" dirty="0">
                <a:solidFill>
                  <a:srgbClr val="00B0F0"/>
                </a:solidFill>
              </a:rPr>
              <a:t>d</a:t>
            </a:r>
            <a:r>
              <a:rPr lang="en-US" dirty="0" smtClean="0">
                <a:solidFill>
                  <a:srgbClr val="00B0F0"/>
                </a:solidFill>
              </a:rPr>
              <a:t>el</a:t>
            </a:r>
            <a:r>
              <a:rPr lang="en-US" dirty="0" smtClean="0">
                <a:solidFill>
                  <a:schemeClr val="bg1"/>
                </a:solidFill>
              </a:rPr>
              <a:t> person</a:t>
            </a:r>
            <a:r>
              <a:rPr lang="en-US" dirty="0">
                <a:solidFill>
                  <a:schemeClr val="bg1"/>
                </a:solidFill>
              </a:rPr>
              <a:t>[</a:t>
            </a:r>
            <a:r>
              <a:rPr lang="en-US" dirty="0">
                <a:solidFill>
                  <a:schemeClr val="accent2">
                    <a:lumMod val="75000"/>
                  </a:schemeClr>
                </a:solidFill>
              </a:rPr>
              <a:t>“email”</a:t>
            </a:r>
            <a:r>
              <a:rPr lang="en-US" dirty="0">
                <a:solidFill>
                  <a:schemeClr val="bg1"/>
                </a:solidFill>
              </a:rPr>
              <a:t>]</a:t>
            </a:r>
            <a:endParaRPr lang="en-US" dirty="0">
              <a:solidFill>
                <a:schemeClr val="accent4">
                  <a:lumMod val="60000"/>
                  <a:lumOff val="40000"/>
                </a:schemeClr>
              </a:solidFill>
            </a:endParaRPr>
          </a:p>
        </p:txBody>
      </p:sp>
      <p:sp>
        <p:nvSpPr>
          <p:cNvPr id="4" name="TextBox 3"/>
          <p:cNvSpPr txBox="1"/>
          <p:nvPr/>
        </p:nvSpPr>
        <p:spPr>
          <a:xfrm>
            <a:off x="4077523" y="5926079"/>
            <a:ext cx="903767" cy="369332"/>
          </a:xfrm>
          <a:prstGeom prst="rect">
            <a:avLst/>
          </a:prstGeom>
          <a:noFill/>
        </p:spPr>
        <p:txBody>
          <a:bodyPr wrap="square" rtlCol="0">
            <a:spAutoFit/>
          </a:bodyPr>
          <a:lstStyle/>
          <a:p>
            <a:r>
              <a:rPr lang="en-US" dirty="0" err="1" smtClean="0"/>
              <a:t>Hoặc</a:t>
            </a:r>
            <a:endParaRPr lang="en-US" dirty="0"/>
          </a:p>
        </p:txBody>
      </p:sp>
    </p:spTree>
    <p:extLst>
      <p:ext uri="{BB962C8B-B14F-4D97-AF65-F5344CB8AC3E}">
        <p14:creationId xmlns:p14="http://schemas.microsoft.com/office/powerpoint/2010/main" val="2438646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err="1" smtClean="0"/>
              <a:t>Xóa</a:t>
            </a:r>
            <a:r>
              <a:rPr lang="en-US" dirty="0" smtClean="0"/>
              <a:t> </a:t>
            </a:r>
            <a:r>
              <a:rPr lang="en-US" dirty="0" err="1" smtClean="0"/>
              <a:t>phần</a:t>
            </a:r>
            <a:r>
              <a:rPr lang="en-US" dirty="0" smtClean="0"/>
              <a:t> </a:t>
            </a:r>
            <a:r>
              <a:rPr lang="en-US" dirty="0" err="1" smtClean="0"/>
              <a:t>tử</a:t>
            </a:r>
            <a:r>
              <a:rPr lang="en-US" dirty="0" smtClean="0"/>
              <a:t> ở </a:t>
            </a:r>
            <a:r>
              <a:rPr lang="en-US" dirty="0" err="1" smtClean="0"/>
              <a:t>cuối</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b="1" dirty="0" err="1" smtClean="0">
                <a:solidFill>
                  <a:srgbClr val="FF0000"/>
                </a:solidFill>
              </a:rPr>
              <a:t>popitem</a:t>
            </a:r>
            <a:r>
              <a:rPr lang="en-US" b="1" dirty="0" smtClean="0">
                <a:solidFill>
                  <a:srgbClr val="FF0000"/>
                </a:solidFill>
              </a:rPr>
              <a:t>()</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err="1" smtClean="0"/>
              <a:t>Thay</a:t>
            </a:r>
            <a:r>
              <a:rPr lang="en-US" b="1" dirty="0" smtClean="0"/>
              <a:t> </a:t>
            </a:r>
            <a:r>
              <a:rPr lang="en-US" b="1" dirty="0" err="1" smtClean="0"/>
              <a:t>đổi</a:t>
            </a:r>
            <a:r>
              <a:rPr lang="en-US" b="1" dirty="0" smtClean="0"/>
              <a:t> </a:t>
            </a:r>
            <a:r>
              <a:rPr lang="en-US" b="1" dirty="0" err="1" smtClean="0"/>
              <a:t>một</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85161" y="2660580"/>
            <a:ext cx="7774356" cy="741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366490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041993" y="3664907"/>
            <a:ext cx="6432695" cy="369332"/>
          </a:xfrm>
          <a:prstGeom prst="rect">
            <a:avLst/>
          </a:prstGeom>
          <a:noFill/>
        </p:spPr>
        <p:txBody>
          <a:bodyPr wrap="square" rtlCol="0">
            <a:spAutoFit/>
          </a:bodyPr>
          <a:lstStyle/>
          <a:p>
            <a:r>
              <a:rPr lang="en-US" b="1" dirty="0" err="1" smtClean="0"/>
              <a:t>Xoá</a:t>
            </a:r>
            <a:r>
              <a:rPr lang="en-US" b="1" dirty="0" smtClean="0"/>
              <a:t> </a:t>
            </a:r>
            <a:r>
              <a:rPr lang="en-US" b="1" dirty="0" err="1" smtClean="0"/>
              <a:t>luôn</a:t>
            </a:r>
            <a:r>
              <a:rPr lang="en-US" b="1" dirty="0" smtClean="0"/>
              <a:t> </a:t>
            </a:r>
            <a:r>
              <a:rPr lang="en-US" b="1" dirty="0" err="1" smtClean="0"/>
              <a:t>một</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22" name="Rectangle 21"/>
          <p:cNvSpPr/>
          <p:nvPr/>
        </p:nvSpPr>
        <p:spPr>
          <a:xfrm>
            <a:off x="685161" y="4240953"/>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5227893"/>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1041993" y="5227893"/>
            <a:ext cx="6432695" cy="369332"/>
          </a:xfrm>
          <a:prstGeom prst="rect">
            <a:avLst/>
          </a:prstGeom>
          <a:noFill/>
        </p:spPr>
        <p:txBody>
          <a:bodyPr wrap="square" rtlCol="0">
            <a:spAutoFit/>
          </a:bodyPr>
          <a:lstStyle/>
          <a:p>
            <a:r>
              <a:rPr lang="en-US" b="1" dirty="0" err="1" smtClean="0"/>
              <a:t>Xóa</a:t>
            </a:r>
            <a:r>
              <a:rPr lang="en-US" b="1" dirty="0" smtClean="0"/>
              <a:t> </a:t>
            </a:r>
            <a:r>
              <a:rPr lang="en-US" b="1" dirty="0" err="1" smtClean="0"/>
              <a:t>tất</a:t>
            </a:r>
            <a:r>
              <a:rPr lang="en-US" b="1" dirty="0" smtClean="0"/>
              <a:t> </a:t>
            </a:r>
            <a:r>
              <a:rPr lang="en-US" b="1" dirty="0" err="1" smtClean="0"/>
              <a:t>cả</a:t>
            </a:r>
            <a:r>
              <a:rPr lang="en-US" b="1" dirty="0" smtClean="0"/>
              <a:t> </a:t>
            </a:r>
            <a:r>
              <a:rPr lang="en-US" b="1" dirty="0" err="1" smtClean="0"/>
              <a:t>phần</a:t>
            </a:r>
            <a:r>
              <a:rPr lang="en-US" b="1" dirty="0" smtClean="0"/>
              <a:t> </a:t>
            </a:r>
            <a:r>
              <a:rPr lang="en-US" b="1" dirty="0" err="1" smtClean="0"/>
              <a:t>tử</a:t>
            </a:r>
            <a:r>
              <a:rPr lang="en-US" b="1" dirty="0" smtClean="0"/>
              <a:t> </a:t>
            </a:r>
            <a:r>
              <a:rPr lang="en-US" b="1" dirty="0" err="1" smtClean="0"/>
              <a:t>trong</a:t>
            </a:r>
            <a:r>
              <a:rPr lang="en-US" b="1" dirty="0" smtClean="0"/>
              <a:t> </a:t>
            </a:r>
            <a:r>
              <a:rPr lang="en-US" b="1" dirty="0" err="1" smtClean="0"/>
              <a:t>từ</a:t>
            </a:r>
            <a:r>
              <a:rPr lang="en-US" b="1" dirty="0" smtClean="0"/>
              <a:t> </a:t>
            </a:r>
            <a:r>
              <a:rPr lang="en-US" b="1" dirty="0" err="1" smtClean="0"/>
              <a:t>điển</a:t>
            </a:r>
            <a:r>
              <a:rPr lang="en-US" b="1" dirty="0" smtClean="0"/>
              <a:t>, </a:t>
            </a:r>
            <a:r>
              <a:rPr lang="en-US" b="1" dirty="0" err="1" smtClean="0"/>
              <a:t>trả</a:t>
            </a:r>
            <a:r>
              <a:rPr lang="en-US" b="1" dirty="0" smtClean="0"/>
              <a:t> </a:t>
            </a:r>
            <a:r>
              <a:rPr lang="en-US" b="1" dirty="0" err="1" smtClean="0"/>
              <a:t>về</a:t>
            </a:r>
            <a:r>
              <a:rPr lang="en-US" b="1" dirty="0" smtClean="0"/>
              <a:t> </a:t>
            </a:r>
            <a:r>
              <a:rPr lang="en-US" b="1" dirty="0" err="1" smtClean="0"/>
              <a:t>từ</a:t>
            </a:r>
            <a:r>
              <a:rPr lang="en-US" b="1" dirty="0" smtClean="0"/>
              <a:t> </a:t>
            </a:r>
            <a:r>
              <a:rPr lang="en-US" b="1" dirty="0" err="1" smtClean="0"/>
              <a:t>điển</a:t>
            </a:r>
            <a:r>
              <a:rPr lang="en-US" b="1" dirty="0" smtClean="0"/>
              <a:t> </a:t>
            </a:r>
            <a:r>
              <a:rPr lang="en-US" b="1" dirty="0" err="1" smtClean="0"/>
              <a:t>rỗng</a:t>
            </a:r>
            <a:endParaRPr lang="en-US" b="1" dirty="0">
              <a:solidFill>
                <a:srgbClr val="FF0000"/>
              </a:solidFill>
            </a:endParaRPr>
          </a:p>
        </p:txBody>
      </p:sp>
      <p:sp>
        <p:nvSpPr>
          <p:cNvPr id="31" name="Rectangle 30"/>
          <p:cNvSpPr/>
          <p:nvPr/>
        </p:nvSpPr>
        <p:spPr>
          <a:xfrm>
            <a:off x="685161" y="5775920"/>
            <a:ext cx="7774356" cy="74183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p:cNvSpPr txBox="1"/>
          <p:nvPr/>
        </p:nvSpPr>
        <p:spPr>
          <a:xfrm>
            <a:off x="865915" y="5926079"/>
            <a:ext cx="2462076" cy="369332"/>
          </a:xfrm>
          <a:prstGeom prst="rect">
            <a:avLst/>
          </a:prstGeom>
          <a:noFill/>
        </p:spPr>
        <p:txBody>
          <a:bodyPr wrap="square" rtlCol="0">
            <a:spAutoFit/>
          </a:bodyPr>
          <a:lstStyle/>
          <a:p>
            <a:r>
              <a:rPr lang="en-US" dirty="0" err="1" smtClean="0">
                <a:solidFill>
                  <a:schemeClr val="bg1"/>
                </a:solidFill>
              </a:rPr>
              <a:t>person.clear</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
        <p:nvSpPr>
          <p:cNvPr id="34" name="TextBox 33"/>
          <p:cNvSpPr txBox="1"/>
          <p:nvPr/>
        </p:nvSpPr>
        <p:spPr>
          <a:xfrm>
            <a:off x="865915" y="4448527"/>
            <a:ext cx="1856020" cy="369332"/>
          </a:xfrm>
          <a:prstGeom prst="rect">
            <a:avLst/>
          </a:prstGeom>
          <a:noFill/>
        </p:spPr>
        <p:txBody>
          <a:bodyPr wrap="square" rtlCol="0">
            <a:spAutoFit/>
          </a:bodyPr>
          <a:lstStyle/>
          <a:p>
            <a:r>
              <a:rPr lang="en-US" dirty="0">
                <a:solidFill>
                  <a:srgbClr val="00B0F0"/>
                </a:solidFill>
              </a:rPr>
              <a:t>d</a:t>
            </a:r>
            <a:r>
              <a:rPr lang="en-US" dirty="0" smtClean="0">
                <a:solidFill>
                  <a:srgbClr val="00B0F0"/>
                </a:solidFill>
              </a:rPr>
              <a:t>el</a:t>
            </a:r>
            <a:r>
              <a:rPr lang="en-US" dirty="0" smtClean="0">
                <a:solidFill>
                  <a:schemeClr val="bg1"/>
                </a:solidFill>
              </a:rPr>
              <a:t> person</a:t>
            </a:r>
            <a:endParaRPr lang="en-US" dirty="0">
              <a:solidFill>
                <a:schemeClr val="accent4">
                  <a:lumMod val="60000"/>
                  <a:lumOff val="40000"/>
                </a:schemeClr>
              </a:solidFill>
            </a:endParaRPr>
          </a:p>
        </p:txBody>
      </p:sp>
      <p:sp>
        <p:nvSpPr>
          <p:cNvPr id="29" name="TextBox 28"/>
          <p:cNvSpPr txBox="1"/>
          <p:nvPr/>
        </p:nvSpPr>
        <p:spPr>
          <a:xfrm>
            <a:off x="865915" y="2821093"/>
            <a:ext cx="3211608" cy="369332"/>
          </a:xfrm>
          <a:prstGeom prst="rect">
            <a:avLst/>
          </a:prstGeom>
          <a:noFill/>
        </p:spPr>
        <p:txBody>
          <a:bodyPr wrap="square" rtlCol="0">
            <a:spAutoFit/>
          </a:bodyPr>
          <a:lstStyle/>
          <a:p>
            <a:r>
              <a:rPr lang="en-US" dirty="0" err="1" smtClean="0">
                <a:solidFill>
                  <a:schemeClr val="bg1"/>
                </a:solidFill>
              </a:rPr>
              <a:t>person.popitem</a:t>
            </a:r>
            <a:r>
              <a:rPr lang="en-US" dirty="0" smtClean="0">
                <a:solidFill>
                  <a:schemeClr val="accent4">
                    <a:lumMod val="60000"/>
                    <a:lumOff val="40000"/>
                  </a:schemeClr>
                </a:solidFill>
              </a:rPr>
              <a:t>()</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29803476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err="1" smtClean="0"/>
              <a:t>Lặp</a:t>
            </a:r>
            <a:r>
              <a:rPr lang="en-US" dirty="0" smtClean="0"/>
              <a:t> qua </a:t>
            </a:r>
            <a:r>
              <a:rPr lang="en-US" dirty="0" err="1" smtClean="0"/>
              <a:t>từ</a:t>
            </a:r>
            <a:r>
              <a:rPr lang="en-US" dirty="0" smtClean="0"/>
              <a:t> </a:t>
            </a:r>
            <a:r>
              <a:rPr lang="en-US" dirty="0" err="1" smtClean="0"/>
              <a:t>điển</a:t>
            </a:r>
            <a:r>
              <a:rPr lang="en-US" dirty="0" smtClean="0"/>
              <a:t> </a:t>
            </a:r>
            <a:r>
              <a:rPr lang="en-US" dirty="0" err="1" smtClean="0"/>
              <a:t>nó</a:t>
            </a:r>
            <a:r>
              <a:rPr lang="en-US" dirty="0" smtClean="0"/>
              <a:t> </a:t>
            </a:r>
            <a:r>
              <a:rPr lang="en-US" dirty="0" err="1" smtClean="0"/>
              <a:t>trả</a:t>
            </a:r>
            <a:r>
              <a:rPr lang="en-US" dirty="0" smtClean="0"/>
              <a:t> </a:t>
            </a:r>
            <a:r>
              <a:rPr lang="en-US" dirty="0" err="1" smtClean="0"/>
              <a:t>lại</a:t>
            </a:r>
            <a:r>
              <a:rPr lang="en-US" dirty="0" smtClean="0"/>
              <a:t> </a:t>
            </a:r>
            <a:r>
              <a:rPr lang="en-US" b="1" dirty="0" smtClean="0"/>
              <a:t>key</a:t>
            </a:r>
            <a:r>
              <a:rPr lang="en-US" dirty="0" smtClean="0"/>
              <a:t> </a:t>
            </a:r>
            <a:r>
              <a:rPr lang="en-US" dirty="0" err="1" smtClean="0"/>
              <a:t>sau</a:t>
            </a:r>
            <a:r>
              <a:rPr lang="en-US" dirty="0" smtClean="0"/>
              <a:t> </a:t>
            </a:r>
            <a:r>
              <a:rPr lang="en-US" dirty="0" err="1" smtClean="0"/>
              <a:t>mỗi</a:t>
            </a:r>
            <a:r>
              <a:rPr lang="en-US" dirty="0" smtClean="0"/>
              <a:t> </a:t>
            </a:r>
            <a:r>
              <a:rPr lang="en-US" dirty="0" err="1" smtClean="0"/>
              <a:t>lần</a:t>
            </a:r>
            <a:r>
              <a:rPr lang="en-US" dirty="0" smtClean="0"/>
              <a:t> </a:t>
            </a:r>
            <a:r>
              <a:rPr lang="en-US" dirty="0" err="1" smtClean="0"/>
              <a:t>lặp</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err="1" smtClean="0"/>
              <a:t>Vòng</a:t>
            </a:r>
            <a:r>
              <a:rPr lang="en-US" b="1" dirty="0" smtClean="0"/>
              <a:t> </a:t>
            </a:r>
            <a:r>
              <a:rPr lang="en-US" b="1" dirty="0" err="1" smtClean="0"/>
              <a:t>lặp</a:t>
            </a:r>
            <a:r>
              <a:rPr lang="en-US" b="1" dirty="0" smtClean="0"/>
              <a:t> for </a:t>
            </a:r>
            <a:r>
              <a:rPr lang="en-US" b="1" dirty="0" err="1" smtClean="0"/>
              <a:t>với</a:t>
            </a:r>
            <a:r>
              <a:rPr lang="en-US" b="1" dirty="0" smtClean="0"/>
              <a:t> </a:t>
            </a:r>
            <a:r>
              <a:rPr lang="en-US" b="1" dirty="0" err="1" smtClean="0"/>
              <a:t>kiểu</a:t>
            </a:r>
            <a:r>
              <a:rPr lang="en-US" b="1" dirty="0" smtClean="0"/>
              <a:t> </a:t>
            </a:r>
            <a:r>
              <a:rPr lang="en-US" b="1" dirty="0" err="1" smtClean="0"/>
              <a:t>dữ</a:t>
            </a:r>
            <a:r>
              <a:rPr lang="en-US" b="1" dirty="0" smtClean="0"/>
              <a:t> </a:t>
            </a:r>
            <a:r>
              <a:rPr lang="en-US" b="1" dirty="0" err="1" smtClean="0"/>
              <a:t>liệu</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85161" y="2660580"/>
            <a:ext cx="7774356" cy="88921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685161" y="5677574"/>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865915" y="5738047"/>
            <a:ext cx="7427480"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person:</a:t>
            </a:r>
            <a:br>
              <a:rPr lang="en-US" dirty="0">
                <a:solidFill>
                  <a:schemeClr val="bg1"/>
                </a:solidFill>
              </a:rPr>
            </a:br>
            <a:r>
              <a:rPr lang="en-US" dirty="0">
                <a:solidFill>
                  <a:schemeClr val="bg1"/>
                </a:solidFill>
              </a:rPr>
              <a:t>   </a:t>
            </a:r>
            <a:r>
              <a:rPr lang="en-US" dirty="0" smtClean="0">
                <a:solidFill>
                  <a:schemeClr val="bg1"/>
                </a:solidFill>
              </a:rPr>
              <a:t>print</a:t>
            </a:r>
            <a:r>
              <a:rPr lang="en-US" dirty="0" smtClean="0">
                <a:solidFill>
                  <a:schemeClr val="accent4">
                    <a:lumMod val="60000"/>
                    <a:lumOff val="40000"/>
                  </a:schemeClr>
                </a:solidFill>
              </a:rPr>
              <a:t>(</a:t>
            </a:r>
            <a:r>
              <a:rPr lang="en-US" dirty="0" smtClean="0">
                <a:solidFill>
                  <a:schemeClr val="bg1"/>
                </a:solidFill>
              </a:rPr>
              <a:t>person</a:t>
            </a:r>
            <a:r>
              <a:rPr lang="en-US" dirty="0" smtClean="0">
                <a:solidFill>
                  <a:srgbClr val="FF66CC"/>
                </a:solidFill>
              </a:rPr>
              <a:t>[</a:t>
            </a:r>
            <a:r>
              <a:rPr lang="en-US" dirty="0" smtClean="0">
                <a:solidFill>
                  <a:schemeClr val="bg1"/>
                </a:solidFill>
              </a:rPr>
              <a:t>x</a:t>
            </a:r>
            <a:r>
              <a:rPr lang="en-US" dirty="0" smtClean="0">
                <a:solidFill>
                  <a:srgbClr val="FF66CC"/>
                </a:solidFill>
              </a:rPr>
              <a:t>]</a:t>
            </a:r>
            <a:r>
              <a:rPr lang="en-US" dirty="0" smtClean="0">
                <a:solidFill>
                  <a:schemeClr val="accent4">
                    <a:lumMod val="60000"/>
                    <a:lumOff val="40000"/>
                  </a:schemeClr>
                </a:solidFill>
              </a:rPr>
              <a:t>) </a:t>
            </a:r>
            <a:r>
              <a:rPr lang="en-US" dirty="0">
                <a:solidFill>
                  <a:schemeClr val="accent4">
                    <a:lumMod val="60000"/>
                    <a:lumOff val="40000"/>
                  </a:schemeClr>
                </a:solidFill>
              </a:rPr>
              <a:t># </a:t>
            </a:r>
            <a:r>
              <a:rPr lang="en-US" dirty="0" err="1">
                <a:solidFill>
                  <a:schemeClr val="accent4">
                    <a:lumMod val="60000"/>
                    <a:lumOff val="40000"/>
                  </a:schemeClr>
                </a:solidFill>
              </a:rPr>
              <a:t>Kết</a:t>
            </a:r>
            <a:r>
              <a:rPr lang="en-US" dirty="0">
                <a:solidFill>
                  <a:schemeClr val="accent4">
                    <a:lumMod val="60000"/>
                    <a:lumOff val="40000"/>
                  </a:schemeClr>
                </a:solidFill>
              </a:rPr>
              <a:t> </a:t>
            </a:r>
            <a:r>
              <a:rPr lang="en-US" dirty="0" err="1">
                <a:solidFill>
                  <a:schemeClr val="accent4">
                    <a:lumMod val="60000"/>
                    <a:lumOff val="40000"/>
                  </a:schemeClr>
                </a:solidFill>
              </a:rPr>
              <a:t>quả</a:t>
            </a:r>
            <a:r>
              <a:rPr lang="en-US" dirty="0">
                <a:solidFill>
                  <a:schemeClr val="accent4">
                    <a:lumMod val="60000"/>
                    <a:lumOff val="40000"/>
                  </a:schemeClr>
                </a:solidFill>
              </a:rPr>
              <a:t>: </a:t>
            </a:r>
            <a:r>
              <a:rPr lang="en-US" dirty="0" err="1" smtClean="0">
                <a:solidFill>
                  <a:schemeClr val="accent4">
                    <a:lumMod val="60000"/>
                    <a:lumOff val="40000"/>
                  </a:schemeClr>
                </a:solidFill>
              </a:rPr>
              <a:t>Jonh</a:t>
            </a:r>
            <a:r>
              <a:rPr lang="en-US" dirty="0" smtClean="0">
                <a:solidFill>
                  <a:schemeClr val="accent4">
                    <a:lumMod val="60000"/>
                    <a:lumOff val="40000"/>
                  </a:schemeClr>
                </a:solidFill>
              </a:rPr>
              <a:t> 30 New </a:t>
            </a:r>
            <a:r>
              <a:rPr lang="en-US" dirty="0" err="1" smtClean="0">
                <a:solidFill>
                  <a:schemeClr val="accent4">
                    <a:lumMod val="60000"/>
                    <a:lumOff val="40000"/>
                  </a:schemeClr>
                </a:solidFill>
              </a:rPr>
              <a:t>york</a:t>
            </a:r>
            <a:endParaRPr lang="en-US" dirty="0">
              <a:solidFill>
                <a:schemeClr val="accent4">
                  <a:lumMod val="60000"/>
                  <a:lumOff val="40000"/>
                </a:schemeClr>
              </a:solidFill>
            </a:endParaRPr>
          </a:p>
        </p:txBody>
      </p:sp>
      <p:sp>
        <p:nvSpPr>
          <p:cNvPr id="29" name="TextBox 28"/>
          <p:cNvSpPr txBox="1"/>
          <p:nvPr/>
        </p:nvSpPr>
        <p:spPr>
          <a:xfrm>
            <a:off x="865914" y="2747188"/>
            <a:ext cx="7289257"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smtClean="0">
                <a:solidFill>
                  <a:schemeClr val="bg1"/>
                </a:solidFill>
              </a:rPr>
              <a:t>person:</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print</a:t>
            </a:r>
            <a:r>
              <a:rPr lang="en-US" dirty="0" smtClean="0">
                <a:solidFill>
                  <a:schemeClr val="accent4">
                    <a:lumMod val="60000"/>
                    <a:lumOff val="40000"/>
                  </a:schemeClr>
                </a:solidFill>
              </a:rPr>
              <a:t>(</a:t>
            </a:r>
            <a:r>
              <a:rPr lang="en-US" dirty="0" smtClean="0">
                <a:solidFill>
                  <a:schemeClr val="bg1"/>
                </a:solidFill>
              </a:rPr>
              <a:t>x</a:t>
            </a:r>
            <a:r>
              <a:rPr lang="en-US" dirty="0" smtClean="0">
                <a:solidFill>
                  <a:schemeClr val="accent4">
                    <a:lumMod val="60000"/>
                    <a:lumOff val="40000"/>
                  </a:schemeClr>
                </a:solidFill>
              </a:rPr>
              <a:t>) # </a:t>
            </a:r>
            <a:r>
              <a:rPr lang="en-US" dirty="0" err="1" smtClean="0">
                <a:solidFill>
                  <a:schemeClr val="accent4">
                    <a:lumMod val="60000"/>
                    <a:lumOff val="40000"/>
                  </a:schemeClr>
                </a:solidFill>
              </a:rPr>
              <a:t>Kết</a:t>
            </a:r>
            <a:r>
              <a:rPr lang="en-US" dirty="0" smtClean="0">
                <a:solidFill>
                  <a:schemeClr val="accent4">
                    <a:lumMod val="60000"/>
                    <a:lumOff val="40000"/>
                  </a:schemeClr>
                </a:solidFill>
              </a:rPr>
              <a:t> </a:t>
            </a:r>
            <a:r>
              <a:rPr lang="en-US" dirty="0" err="1" smtClean="0">
                <a:solidFill>
                  <a:schemeClr val="accent4">
                    <a:lumMod val="60000"/>
                    <a:lumOff val="40000"/>
                  </a:schemeClr>
                </a:solidFill>
              </a:rPr>
              <a:t>quả</a:t>
            </a:r>
            <a:r>
              <a:rPr lang="en-US" dirty="0" smtClean="0">
                <a:solidFill>
                  <a:schemeClr val="accent4">
                    <a:lumMod val="60000"/>
                    <a:lumOff val="40000"/>
                  </a:schemeClr>
                </a:solidFill>
              </a:rPr>
              <a:t>: name age city</a:t>
            </a:r>
            <a:endParaRPr lang="en-US" dirty="0">
              <a:solidFill>
                <a:schemeClr val="accent4">
                  <a:lumMod val="60000"/>
                  <a:lumOff val="40000"/>
                </a:schemeClr>
              </a:solidFill>
            </a:endParaRPr>
          </a:p>
        </p:txBody>
      </p:sp>
      <p:sp>
        <p:nvSpPr>
          <p:cNvPr id="19" name="TextBox 18"/>
          <p:cNvSpPr txBox="1"/>
          <p:nvPr/>
        </p:nvSpPr>
        <p:spPr>
          <a:xfrm>
            <a:off x="685161" y="5106204"/>
            <a:ext cx="8071728" cy="369332"/>
          </a:xfrm>
          <a:prstGeom prst="rect">
            <a:avLst/>
          </a:prstGeom>
          <a:noFill/>
        </p:spPr>
        <p:txBody>
          <a:bodyPr wrap="square" rtlCol="0">
            <a:spAutoFit/>
          </a:bodyPr>
          <a:lstStyle/>
          <a:p>
            <a:r>
              <a:rPr lang="en-US" dirty="0" smtClean="0"/>
              <a:t>Qua </a:t>
            </a:r>
            <a:r>
              <a:rPr lang="en-US" dirty="0" err="1" smtClean="0"/>
              <a:t>đó</a:t>
            </a:r>
            <a:r>
              <a:rPr lang="en-US" dirty="0" smtClean="0"/>
              <a:t> </a:t>
            </a:r>
            <a:r>
              <a:rPr lang="en-US" dirty="0" err="1" smtClean="0"/>
              <a:t>để</a:t>
            </a:r>
            <a:r>
              <a:rPr lang="en-US" dirty="0" smtClean="0"/>
              <a:t> </a:t>
            </a:r>
            <a:r>
              <a:rPr lang="en-US" dirty="0" err="1" smtClean="0"/>
              <a:t>lấy</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sau</a:t>
            </a:r>
            <a:r>
              <a:rPr lang="en-US" dirty="0" smtClean="0"/>
              <a:t> </a:t>
            </a:r>
            <a:r>
              <a:rPr lang="en-US" dirty="0" err="1" smtClean="0"/>
              <a:t>mỗi</a:t>
            </a:r>
            <a:r>
              <a:rPr lang="en-US" dirty="0" smtClean="0"/>
              <a:t> </a:t>
            </a:r>
            <a:r>
              <a:rPr lang="en-US" dirty="0" err="1" smtClean="0"/>
              <a:t>lần</a:t>
            </a:r>
            <a:r>
              <a:rPr lang="en-US" dirty="0" smtClean="0"/>
              <a:t> </a:t>
            </a:r>
            <a:r>
              <a:rPr lang="en-US" dirty="0" err="1" smtClean="0"/>
              <a:t>lặp</a:t>
            </a:r>
            <a:r>
              <a:rPr lang="en-US" dirty="0" smtClean="0"/>
              <a:t> </a:t>
            </a:r>
            <a:r>
              <a:rPr lang="en-US" dirty="0" err="1" smtClean="0"/>
              <a:t>bạn</a:t>
            </a:r>
            <a:r>
              <a:rPr lang="en-US" dirty="0" smtClean="0"/>
              <a:t> code </a:t>
            </a:r>
            <a:r>
              <a:rPr lang="en-US" dirty="0" err="1" smtClean="0"/>
              <a:t>như</a:t>
            </a:r>
            <a:r>
              <a:rPr lang="en-US" dirty="0" smtClean="0"/>
              <a:t> </a:t>
            </a:r>
            <a:r>
              <a:rPr lang="en-US" dirty="0" err="1" smtClean="0"/>
              <a:t>sau</a:t>
            </a:r>
            <a:r>
              <a:rPr lang="en-US" dirty="0" smtClean="0"/>
              <a:t>:</a:t>
            </a:r>
            <a:endParaRPr lang="en-US" b="1" dirty="0">
              <a:solidFill>
                <a:srgbClr val="FF0000"/>
              </a:solidFill>
            </a:endParaRPr>
          </a:p>
        </p:txBody>
      </p:sp>
      <p:sp>
        <p:nvSpPr>
          <p:cNvPr id="23" name="Flowchart: Decision 22"/>
          <p:cNvSpPr/>
          <p:nvPr/>
        </p:nvSpPr>
        <p:spPr>
          <a:xfrm>
            <a:off x="527716" y="5229765"/>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85161" y="4198005"/>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65915" y="4258478"/>
            <a:ext cx="7427480"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err="1" smtClean="0">
                <a:solidFill>
                  <a:schemeClr val="bg1"/>
                </a:solidFill>
              </a:rPr>
              <a:t>person.keys</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 # </a:t>
            </a:r>
            <a:r>
              <a:rPr lang="en-US" dirty="0" err="1">
                <a:solidFill>
                  <a:schemeClr val="accent4">
                    <a:lumMod val="60000"/>
                    <a:lumOff val="40000"/>
                  </a:schemeClr>
                </a:solidFill>
              </a:rPr>
              <a:t>Kết</a:t>
            </a:r>
            <a:r>
              <a:rPr lang="en-US" dirty="0">
                <a:solidFill>
                  <a:schemeClr val="accent4">
                    <a:lumMod val="60000"/>
                    <a:lumOff val="40000"/>
                  </a:schemeClr>
                </a:solidFill>
              </a:rPr>
              <a:t> </a:t>
            </a:r>
            <a:r>
              <a:rPr lang="en-US" dirty="0" err="1">
                <a:solidFill>
                  <a:schemeClr val="accent4">
                    <a:lumMod val="60000"/>
                    <a:lumOff val="40000"/>
                  </a:schemeClr>
                </a:solidFill>
              </a:rPr>
              <a:t>quả</a:t>
            </a:r>
            <a:r>
              <a:rPr lang="en-US" dirty="0">
                <a:solidFill>
                  <a:schemeClr val="accent4">
                    <a:lumMod val="60000"/>
                    <a:lumOff val="40000"/>
                  </a:schemeClr>
                </a:solidFill>
              </a:rPr>
              <a:t>: name age city</a:t>
            </a:r>
          </a:p>
        </p:txBody>
      </p:sp>
      <p:sp>
        <p:nvSpPr>
          <p:cNvPr id="30" name="TextBox 29"/>
          <p:cNvSpPr txBox="1"/>
          <p:nvPr/>
        </p:nvSpPr>
        <p:spPr>
          <a:xfrm>
            <a:off x="685161" y="3696542"/>
            <a:ext cx="8071728" cy="369332"/>
          </a:xfrm>
          <a:prstGeom prst="rect">
            <a:avLst/>
          </a:prstGeom>
          <a:noFill/>
        </p:spPr>
        <p:txBody>
          <a:bodyPr wrap="square" rtlCol="0">
            <a:spAutoFit/>
          </a:bodyPr>
          <a:lstStyle/>
          <a:p>
            <a:r>
              <a:rPr lang="en-US" dirty="0" err="1" smtClean="0"/>
              <a:t>Hoặc</a:t>
            </a:r>
            <a:r>
              <a:rPr lang="en-US" dirty="0" smtClean="0"/>
              <a:t> </a:t>
            </a:r>
            <a:r>
              <a:rPr lang="en-US" dirty="0" err="1" smtClean="0"/>
              <a:t>bạn</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thức</a:t>
            </a:r>
            <a:r>
              <a:rPr lang="en-US" dirty="0" smtClean="0"/>
              <a:t> keys()</a:t>
            </a:r>
            <a:endParaRPr lang="en-US" b="1" dirty="0">
              <a:solidFill>
                <a:srgbClr val="FF0000"/>
              </a:solidFill>
            </a:endParaRPr>
          </a:p>
        </p:txBody>
      </p:sp>
      <p:sp>
        <p:nvSpPr>
          <p:cNvPr id="33" name="Flowchart: Decision 32"/>
          <p:cNvSpPr/>
          <p:nvPr/>
        </p:nvSpPr>
        <p:spPr>
          <a:xfrm>
            <a:off x="527716" y="377310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0568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err="1" smtClean="0"/>
              <a:t>Hoặc</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values()</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err="1" smtClean="0"/>
              <a:t>Vòng</a:t>
            </a:r>
            <a:r>
              <a:rPr lang="en-US" b="1" dirty="0" smtClean="0"/>
              <a:t> </a:t>
            </a:r>
            <a:r>
              <a:rPr lang="en-US" b="1" dirty="0" err="1" smtClean="0"/>
              <a:t>lặp</a:t>
            </a:r>
            <a:r>
              <a:rPr lang="en-US" b="1" dirty="0" smtClean="0"/>
              <a:t> for </a:t>
            </a:r>
            <a:r>
              <a:rPr lang="en-US" b="1" dirty="0" err="1" smtClean="0"/>
              <a:t>với</a:t>
            </a:r>
            <a:r>
              <a:rPr lang="en-US" b="1" dirty="0" smtClean="0"/>
              <a:t> </a:t>
            </a:r>
            <a:r>
              <a:rPr lang="en-US" b="1" dirty="0" err="1" smtClean="0"/>
              <a:t>kiểu</a:t>
            </a:r>
            <a:r>
              <a:rPr lang="en-US" b="1" dirty="0" smtClean="0"/>
              <a:t> </a:t>
            </a:r>
            <a:r>
              <a:rPr lang="en-US" b="1" dirty="0" err="1" smtClean="0"/>
              <a:t>dữ</a:t>
            </a:r>
            <a:r>
              <a:rPr lang="en-US" b="1" dirty="0" smtClean="0"/>
              <a:t> </a:t>
            </a:r>
            <a:r>
              <a:rPr lang="en-US" b="1" dirty="0" err="1" smtClean="0"/>
              <a:t>liệu</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85161" y="4312019"/>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865915" y="4372492"/>
            <a:ext cx="7427480"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y </a:t>
            </a:r>
            <a:r>
              <a:rPr lang="en-US" dirty="0">
                <a:solidFill>
                  <a:srgbClr val="00B0F0"/>
                </a:solidFill>
              </a:rPr>
              <a:t>in</a:t>
            </a:r>
            <a:r>
              <a:rPr lang="en-US" dirty="0">
                <a:solidFill>
                  <a:schemeClr val="bg1"/>
                </a:solidFill>
              </a:rPr>
              <a:t> </a:t>
            </a:r>
            <a:r>
              <a:rPr lang="en-US" dirty="0" err="1" smtClean="0">
                <a:solidFill>
                  <a:schemeClr val="bg1"/>
                </a:solidFill>
              </a:rPr>
              <a:t>person.items</a:t>
            </a:r>
            <a:r>
              <a:rPr lang="en-US" dirty="0">
                <a:solidFill>
                  <a:schemeClr val="accent4">
                    <a:lumMod val="60000"/>
                    <a:lumOff val="40000"/>
                  </a:schemeClr>
                </a:solidFill>
              </a:rPr>
              <a:t>()</a:t>
            </a:r>
            <a:r>
              <a:rPr lang="en-US" dirty="0">
                <a:solidFill>
                  <a:schemeClr val="bg1"/>
                </a:solidFill>
              </a:rPr>
              <a:t>:</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 y</a:t>
            </a:r>
            <a:r>
              <a:rPr lang="en-US" dirty="0">
                <a:solidFill>
                  <a:schemeClr val="accent4">
                    <a:lumMod val="60000"/>
                    <a:lumOff val="40000"/>
                  </a:schemeClr>
                </a:solidFill>
              </a:rPr>
              <a:t>)</a:t>
            </a:r>
          </a:p>
        </p:txBody>
      </p:sp>
      <p:sp>
        <p:nvSpPr>
          <p:cNvPr id="19" name="TextBox 18"/>
          <p:cNvSpPr txBox="1"/>
          <p:nvPr/>
        </p:nvSpPr>
        <p:spPr>
          <a:xfrm>
            <a:off x="685161" y="3637799"/>
            <a:ext cx="8071728" cy="369332"/>
          </a:xfrm>
          <a:prstGeom prst="rect">
            <a:avLst/>
          </a:prstGeom>
          <a:noFill/>
        </p:spPr>
        <p:txBody>
          <a:bodyPr wrap="square" rtlCol="0">
            <a:spAutoFit/>
          </a:bodyPr>
          <a:lstStyle/>
          <a:p>
            <a:r>
              <a:rPr lang="en-US" dirty="0" err="1" smtClean="0"/>
              <a:t>Lặp</a:t>
            </a:r>
            <a:r>
              <a:rPr lang="en-US" dirty="0" smtClean="0"/>
              <a:t> qua </a:t>
            </a:r>
            <a:r>
              <a:rPr lang="en-US" dirty="0" err="1" smtClean="0"/>
              <a:t>lấy</a:t>
            </a:r>
            <a:r>
              <a:rPr lang="en-US" dirty="0" smtClean="0"/>
              <a:t> </a:t>
            </a:r>
            <a:r>
              <a:rPr lang="en-US" dirty="0" err="1" smtClean="0"/>
              <a:t>cả</a:t>
            </a:r>
            <a:r>
              <a:rPr lang="en-US" dirty="0" smtClean="0"/>
              <a:t> key </a:t>
            </a:r>
            <a:r>
              <a:rPr lang="en-US" dirty="0" err="1" smtClean="0"/>
              <a:t>và</a:t>
            </a:r>
            <a:r>
              <a:rPr lang="en-US" dirty="0" smtClean="0"/>
              <a:t> value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items()</a:t>
            </a:r>
            <a:endParaRPr lang="en-US" b="1" dirty="0">
              <a:solidFill>
                <a:srgbClr val="FF0000"/>
              </a:solidFill>
            </a:endParaRPr>
          </a:p>
        </p:txBody>
      </p:sp>
      <p:sp>
        <p:nvSpPr>
          <p:cNvPr id="23" name="Flowchart: Decision 22"/>
          <p:cNvSpPr/>
          <p:nvPr/>
        </p:nvSpPr>
        <p:spPr>
          <a:xfrm>
            <a:off x="527716" y="373129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85161" y="2599119"/>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65915" y="2659592"/>
            <a:ext cx="7427480" cy="646331"/>
          </a:xfrm>
          <a:prstGeom prst="rect">
            <a:avLst/>
          </a:prstGeom>
          <a:noFill/>
        </p:spPr>
        <p:txBody>
          <a:bodyPr wrap="square" rtlCol="0">
            <a:spAutoFit/>
          </a:bodyPr>
          <a:lstStyle/>
          <a:p>
            <a:r>
              <a:rPr lang="en-US" dirty="0">
                <a:solidFill>
                  <a:srgbClr val="00B0F0"/>
                </a:solidFill>
              </a:rPr>
              <a:t>for</a:t>
            </a:r>
            <a:r>
              <a:rPr lang="en-US" dirty="0">
                <a:solidFill>
                  <a:schemeClr val="bg1"/>
                </a:solidFill>
              </a:rPr>
              <a:t> x </a:t>
            </a:r>
            <a:r>
              <a:rPr lang="en-US" dirty="0">
                <a:solidFill>
                  <a:srgbClr val="00B0F0"/>
                </a:solidFill>
              </a:rPr>
              <a:t>in</a:t>
            </a:r>
            <a:r>
              <a:rPr lang="en-US" dirty="0">
                <a:solidFill>
                  <a:schemeClr val="bg1"/>
                </a:solidFill>
              </a:rPr>
              <a:t> </a:t>
            </a:r>
            <a:r>
              <a:rPr lang="en-US" dirty="0" err="1" smtClean="0">
                <a:solidFill>
                  <a:schemeClr val="bg1"/>
                </a:solidFill>
              </a:rPr>
              <a:t>person.values</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print</a:t>
            </a:r>
            <a:r>
              <a:rPr lang="en-US" dirty="0">
                <a:solidFill>
                  <a:schemeClr val="accent4">
                    <a:lumMod val="60000"/>
                    <a:lumOff val="40000"/>
                  </a:schemeClr>
                </a:solidFill>
              </a:rPr>
              <a:t>(</a:t>
            </a:r>
            <a:r>
              <a:rPr lang="en-US" dirty="0">
                <a:solidFill>
                  <a:schemeClr val="bg1"/>
                </a:solidFill>
              </a:rPr>
              <a:t>x</a:t>
            </a:r>
            <a:r>
              <a:rPr lang="en-US" dirty="0">
                <a:solidFill>
                  <a:schemeClr val="accent4">
                    <a:lumMod val="60000"/>
                    <a:lumOff val="40000"/>
                  </a:schemeClr>
                </a:solidFill>
              </a:rPr>
              <a:t>) # </a:t>
            </a:r>
            <a:r>
              <a:rPr lang="en-US" dirty="0" err="1">
                <a:solidFill>
                  <a:schemeClr val="accent4">
                    <a:lumMod val="60000"/>
                    <a:lumOff val="40000"/>
                  </a:schemeClr>
                </a:solidFill>
              </a:rPr>
              <a:t>Kết</a:t>
            </a:r>
            <a:r>
              <a:rPr lang="en-US" dirty="0">
                <a:solidFill>
                  <a:schemeClr val="accent4">
                    <a:lumMod val="60000"/>
                    <a:lumOff val="40000"/>
                  </a:schemeClr>
                </a:solidFill>
              </a:rPr>
              <a:t> </a:t>
            </a:r>
            <a:r>
              <a:rPr lang="en-US" dirty="0" err="1">
                <a:solidFill>
                  <a:schemeClr val="accent4">
                    <a:lumMod val="60000"/>
                    <a:lumOff val="40000"/>
                  </a:schemeClr>
                </a:solidFill>
              </a:rPr>
              <a:t>quả</a:t>
            </a:r>
            <a:r>
              <a:rPr lang="en-US" dirty="0">
                <a:solidFill>
                  <a:schemeClr val="accent4">
                    <a:lumMod val="60000"/>
                    <a:lumOff val="40000"/>
                  </a:schemeClr>
                </a:solidFill>
              </a:rPr>
              <a:t>: </a:t>
            </a:r>
            <a:r>
              <a:rPr lang="en-US" dirty="0" err="1" smtClean="0">
                <a:solidFill>
                  <a:schemeClr val="accent4">
                    <a:lumMod val="60000"/>
                    <a:lumOff val="40000"/>
                  </a:schemeClr>
                </a:solidFill>
              </a:rPr>
              <a:t>Jonh</a:t>
            </a:r>
            <a:r>
              <a:rPr lang="en-US" dirty="0" smtClean="0">
                <a:solidFill>
                  <a:schemeClr val="accent4">
                    <a:lumMod val="60000"/>
                    <a:lumOff val="40000"/>
                  </a:schemeClr>
                </a:solidFill>
              </a:rPr>
              <a:t> </a:t>
            </a:r>
            <a:r>
              <a:rPr lang="en-US" dirty="0">
                <a:solidFill>
                  <a:schemeClr val="accent4">
                    <a:lumMod val="60000"/>
                    <a:lumOff val="40000"/>
                  </a:schemeClr>
                </a:solidFill>
              </a:rPr>
              <a:t>30 New </a:t>
            </a:r>
            <a:r>
              <a:rPr lang="en-US" dirty="0" err="1">
                <a:solidFill>
                  <a:schemeClr val="accent4">
                    <a:lumMod val="60000"/>
                    <a:lumOff val="40000"/>
                  </a:schemeClr>
                </a:solidFill>
              </a:rPr>
              <a:t>york</a:t>
            </a:r>
            <a:endParaRPr lang="en-US" dirty="0">
              <a:solidFill>
                <a:schemeClr val="accent4">
                  <a:lumMod val="60000"/>
                  <a:lumOff val="40000"/>
                </a:schemeClr>
              </a:solidFill>
            </a:endParaRPr>
          </a:p>
        </p:txBody>
      </p:sp>
    </p:spTree>
    <p:extLst>
      <p:ext uri="{BB962C8B-B14F-4D97-AF65-F5344CB8AC3E}">
        <p14:creationId xmlns:p14="http://schemas.microsoft.com/office/powerpoint/2010/main" val="19301622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6.2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err="1" smtClean="0"/>
              <a:t>Sử</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thức</a:t>
            </a:r>
            <a:r>
              <a:rPr lang="en-US" dirty="0" smtClean="0"/>
              <a:t> </a:t>
            </a:r>
            <a:r>
              <a:rPr lang="en-US" b="1" dirty="0" smtClean="0"/>
              <a:t>copy()</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smtClean="0"/>
              <a:t>Sao </a:t>
            </a:r>
            <a:r>
              <a:rPr lang="en-US" b="1" dirty="0" err="1" smtClean="0"/>
              <a:t>chép</a:t>
            </a:r>
            <a:r>
              <a:rPr lang="en-US" b="1" dirty="0" smtClean="0"/>
              <a:t> (copy) </a:t>
            </a:r>
            <a:r>
              <a:rPr lang="en-US" b="1" dirty="0" err="1" smtClean="0"/>
              <a:t>một</a:t>
            </a:r>
            <a:r>
              <a:rPr lang="en-US" b="1" dirty="0" smtClean="0"/>
              <a:t> </a:t>
            </a:r>
            <a:r>
              <a:rPr lang="en-US" b="1" dirty="0" err="1" smtClean="0"/>
              <a:t>kiểu</a:t>
            </a:r>
            <a:r>
              <a:rPr lang="en-US" b="1" dirty="0" smtClean="0"/>
              <a:t> </a:t>
            </a:r>
            <a:r>
              <a:rPr lang="en-US" b="1" dirty="0" err="1" smtClean="0"/>
              <a:t>dữ</a:t>
            </a:r>
            <a:r>
              <a:rPr lang="en-US" b="1" dirty="0" smtClean="0"/>
              <a:t> </a:t>
            </a:r>
            <a:r>
              <a:rPr lang="en-US" b="1" dirty="0" err="1" smtClean="0"/>
              <a:t>liệu</a:t>
            </a:r>
            <a:r>
              <a:rPr lang="en-US" b="1" dirty="0" smtClean="0"/>
              <a:t> </a:t>
            </a:r>
            <a:r>
              <a:rPr lang="en-US" b="1" dirty="0" err="1" smtClean="0"/>
              <a:t>từ</a:t>
            </a:r>
            <a:r>
              <a:rPr lang="en-US" b="1" dirty="0" smtClean="0"/>
              <a:t> </a:t>
            </a:r>
            <a:r>
              <a:rPr lang="en-US" b="1" dirty="0" err="1" smtClean="0"/>
              <a:t>điển</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85161" y="4312019"/>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865915" y="4372492"/>
            <a:ext cx="7427480" cy="646331"/>
          </a:xfrm>
          <a:prstGeom prst="rect">
            <a:avLst/>
          </a:prstGeom>
          <a:noFill/>
        </p:spPr>
        <p:txBody>
          <a:bodyPr wrap="square" rtlCol="0">
            <a:spAutoFit/>
          </a:bodyPr>
          <a:lstStyle/>
          <a:p>
            <a:r>
              <a:rPr lang="en-US" dirty="0" err="1">
                <a:solidFill>
                  <a:schemeClr val="bg1"/>
                </a:solidFill>
              </a:rPr>
              <a:t>mydict</a:t>
            </a:r>
            <a:r>
              <a:rPr lang="en-US" dirty="0">
                <a:solidFill>
                  <a:schemeClr val="bg1"/>
                </a:solidFill>
              </a:rPr>
              <a:t> = </a:t>
            </a:r>
            <a:r>
              <a:rPr lang="en-US" dirty="0" err="1" smtClean="0">
                <a:solidFill>
                  <a:schemeClr val="bg1"/>
                </a:solidFill>
              </a:rPr>
              <a:t>dict</a:t>
            </a:r>
            <a:r>
              <a:rPr lang="en-US" dirty="0" smtClean="0">
                <a:solidFill>
                  <a:schemeClr val="accent4">
                    <a:lumMod val="60000"/>
                    <a:lumOff val="40000"/>
                  </a:schemeClr>
                </a:solidFill>
              </a:rPr>
              <a:t>(</a:t>
            </a:r>
            <a:r>
              <a:rPr lang="en-US" dirty="0" smtClean="0">
                <a:solidFill>
                  <a:schemeClr val="bg1"/>
                </a:solidFill>
              </a:rPr>
              <a:t>person</a:t>
            </a:r>
            <a:r>
              <a:rPr lang="en-US" dirty="0" smtClean="0">
                <a:solidFill>
                  <a:schemeClr val="accent4">
                    <a:lumMod val="60000"/>
                    <a:lumOff val="40000"/>
                  </a:schemeClr>
                </a:solidFill>
              </a:rPr>
              <a:t>)</a:t>
            </a:r>
          </a:p>
          <a:p>
            <a:r>
              <a:rPr lang="en-US" dirty="0" smtClean="0">
                <a:solidFill>
                  <a:schemeClr val="bg1"/>
                </a:solidFill>
              </a:rPr>
              <a:t>print</a:t>
            </a:r>
            <a:r>
              <a:rPr lang="en-US" dirty="0" smtClean="0">
                <a:solidFill>
                  <a:schemeClr val="accent4">
                    <a:lumMod val="60000"/>
                    <a:lumOff val="40000"/>
                  </a:schemeClr>
                </a:solidFill>
              </a:rPr>
              <a:t>(</a:t>
            </a:r>
            <a:r>
              <a:rPr lang="en-US" dirty="0" err="1" smtClean="0">
                <a:solidFill>
                  <a:schemeClr val="bg1"/>
                </a:solidFill>
              </a:rPr>
              <a:t>mydict</a:t>
            </a:r>
            <a:r>
              <a:rPr lang="en-US" dirty="0">
                <a:solidFill>
                  <a:schemeClr val="accent4">
                    <a:lumMod val="60000"/>
                    <a:lumOff val="40000"/>
                  </a:schemeClr>
                </a:solidFill>
              </a:rPr>
              <a:t>)</a:t>
            </a:r>
          </a:p>
        </p:txBody>
      </p:sp>
      <p:sp>
        <p:nvSpPr>
          <p:cNvPr id="19" name="TextBox 18"/>
          <p:cNvSpPr txBox="1"/>
          <p:nvPr/>
        </p:nvSpPr>
        <p:spPr>
          <a:xfrm>
            <a:off x="685161" y="3637799"/>
            <a:ext cx="8071728" cy="369332"/>
          </a:xfrm>
          <a:prstGeom prst="rect">
            <a:avLst/>
          </a:prstGeom>
          <a:noFill/>
        </p:spPr>
        <p:txBody>
          <a:bodyPr wrap="square" rtlCol="0">
            <a:spAutoFit/>
          </a:bodyPr>
          <a:lstStyle/>
          <a:p>
            <a:r>
              <a:rPr lang="en-US" dirty="0" err="1" smtClean="0"/>
              <a:t>Hoặc</a:t>
            </a:r>
            <a:r>
              <a:rPr lang="en-US" dirty="0" smtClean="0"/>
              <a:t> </a:t>
            </a:r>
            <a:r>
              <a:rPr lang="en-US" dirty="0" err="1" smtClean="0"/>
              <a:t>một</a:t>
            </a:r>
            <a:r>
              <a:rPr lang="en-US" dirty="0" smtClean="0"/>
              <a:t> </a:t>
            </a:r>
            <a:r>
              <a:rPr lang="en-US" dirty="0" err="1" smtClean="0"/>
              <a:t>cách</a:t>
            </a:r>
            <a:r>
              <a:rPr lang="en-US" dirty="0" smtClean="0"/>
              <a:t> </a:t>
            </a:r>
            <a:r>
              <a:rPr lang="en-US" dirty="0" err="1" smtClean="0"/>
              <a:t>khác</a:t>
            </a:r>
            <a:r>
              <a:rPr lang="en-US" dirty="0" smtClean="0"/>
              <a:t> </a:t>
            </a:r>
            <a:r>
              <a:rPr lang="en-US" dirty="0" err="1" smtClean="0"/>
              <a:t>với</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dict</a:t>
            </a:r>
            <a:r>
              <a:rPr lang="en-US" dirty="0" smtClean="0"/>
              <a:t>()</a:t>
            </a:r>
            <a:endParaRPr lang="en-US" b="1" dirty="0">
              <a:solidFill>
                <a:srgbClr val="FF0000"/>
              </a:solidFill>
            </a:endParaRPr>
          </a:p>
        </p:txBody>
      </p:sp>
      <p:sp>
        <p:nvSpPr>
          <p:cNvPr id="23" name="Flowchart: Decision 22"/>
          <p:cNvSpPr/>
          <p:nvPr/>
        </p:nvSpPr>
        <p:spPr>
          <a:xfrm>
            <a:off x="527716" y="373129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85161" y="2599119"/>
            <a:ext cx="7774356" cy="78448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p:cNvSpPr txBox="1"/>
          <p:nvPr/>
        </p:nvSpPr>
        <p:spPr>
          <a:xfrm>
            <a:off x="865915" y="2659592"/>
            <a:ext cx="7427480" cy="646331"/>
          </a:xfrm>
          <a:prstGeom prst="rect">
            <a:avLst/>
          </a:prstGeom>
          <a:noFill/>
        </p:spPr>
        <p:txBody>
          <a:bodyPr wrap="square" rtlCol="0">
            <a:spAutoFit/>
          </a:bodyPr>
          <a:lstStyle/>
          <a:p>
            <a:r>
              <a:rPr lang="en-US" dirty="0" err="1">
                <a:solidFill>
                  <a:schemeClr val="bg1"/>
                </a:solidFill>
              </a:rPr>
              <a:t>mydict</a:t>
            </a:r>
            <a:r>
              <a:rPr lang="en-US" dirty="0">
                <a:solidFill>
                  <a:schemeClr val="bg1"/>
                </a:solidFill>
              </a:rPr>
              <a:t> = </a:t>
            </a:r>
            <a:r>
              <a:rPr lang="en-US" dirty="0" err="1" smtClean="0">
                <a:solidFill>
                  <a:schemeClr val="bg1"/>
                </a:solidFill>
              </a:rPr>
              <a:t>person.copy</a:t>
            </a:r>
            <a:r>
              <a:rPr lang="en-US" dirty="0">
                <a:solidFill>
                  <a:schemeClr val="accent4">
                    <a:lumMod val="60000"/>
                    <a:lumOff val="40000"/>
                  </a:schemeClr>
                </a:solidFill>
              </a:rPr>
              <a:t>()</a:t>
            </a:r>
            <a:r>
              <a:rPr lang="en-US" dirty="0">
                <a:solidFill>
                  <a:schemeClr val="bg1"/>
                </a:solidFill>
              </a:rPr>
              <a:t/>
            </a:r>
            <a:br>
              <a:rPr lang="en-US" dirty="0">
                <a:solidFill>
                  <a:schemeClr val="bg1"/>
                </a:solidFill>
              </a:rPr>
            </a:br>
            <a:r>
              <a:rPr lang="en-US" dirty="0">
                <a:solidFill>
                  <a:schemeClr val="bg1"/>
                </a:solidFill>
              </a:rPr>
              <a:t>print</a:t>
            </a:r>
            <a:r>
              <a:rPr lang="en-US" dirty="0">
                <a:solidFill>
                  <a:schemeClr val="accent4">
                    <a:lumMod val="60000"/>
                    <a:lumOff val="40000"/>
                  </a:schemeClr>
                </a:solidFill>
              </a:rPr>
              <a:t>(</a:t>
            </a:r>
            <a:r>
              <a:rPr lang="en-US" dirty="0" err="1">
                <a:solidFill>
                  <a:schemeClr val="bg1"/>
                </a:solidFill>
              </a:rPr>
              <a:t>mydict</a:t>
            </a:r>
            <a:r>
              <a:rPr lang="en-US" dirty="0">
                <a:solidFill>
                  <a:schemeClr val="accent4">
                    <a:lumMod val="60000"/>
                    <a:lumOff val="40000"/>
                  </a:schemeClr>
                </a:solidFill>
              </a:rPr>
              <a:t>)</a:t>
            </a:r>
          </a:p>
        </p:txBody>
      </p:sp>
    </p:spTree>
    <p:extLst>
      <p:ext uri="{BB962C8B-B14F-4D97-AF65-F5344CB8AC3E}">
        <p14:creationId xmlns:p14="http://schemas.microsoft.com/office/powerpoint/2010/main" val="14196278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6.3 </a:t>
            </a:r>
            <a:r>
              <a:rPr lang="en-US" dirty="0" err="1"/>
              <a:t>Phương</a:t>
            </a:r>
            <a:r>
              <a:rPr lang="en-US" dirty="0"/>
              <a:t> </a:t>
            </a:r>
            <a:r>
              <a:rPr lang="en-US" dirty="0" err="1"/>
              <a:t>thức</a:t>
            </a:r>
            <a:r>
              <a:rPr lang="en-US" dirty="0"/>
              <a:t> </a:t>
            </a:r>
            <a:r>
              <a:rPr lang="en-US" dirty="0" err="1"/>
              <a:t>xử</a:t>
            </a:r>
            <a:r>
              <a:rPr lang="en-US" dirty="0"/>
              <a:t> </a:t>
            </a:r>
            <a:r>
              <a:rPr lang="en-US" dirty="0" err="1"/>
              <a:t>lý</a:t>
            </a:r>
            <a:r>
              <a:rPr lang="en-US" dirty="0"/>
              <a:t> </a:t>
            </a:r>
            <a:r>
              <a:rPr lang="en-US" dirty="0" err="1"/>
              <a:t>với</a:t>
            </a:r>
            <a:r>
              <a:rPr lang="en-US" dirty="0"/>
              <a:t> </a:t>
            </a:r>
            <a:r>
              <a:rPr lang="en-US" dirty="0" err="1"/>
              <a:t>từ</a:t>
            </a:r>
            <a:r>
              <a:rPr lang="en-US" dirty="0"/>
              <a:t> </a:t>
            </a:r>
            <a:r>
              <a:rPr lang="en-US" dirty="0" err="1"/>
              <a:t>điển</a:t>
            </a:r>
            <a:r>
              <a:rPr lang="en-US" dirty="0"/>
              <a:t> Dictionaries</a:t>
            </a:r>
            <a:endParaRPr lang="en-US" b="0" dirty="0"/>
          </a:p>
        </p:txBody>
      </p:sp>
      <p:pic>
        <p:nvPicPr>
          <p:cNvPr id="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16875"/>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161" y="2102214"/>
            <a:ext cx="8071728" cy="369332"/>
          </a:xfrm>
          <a:prstGeom prst="rect">
            <a:avLst/>
          </a:prstGeom>
          <a:noFill/>
        </p:spPr>
        <p:txBody>
          <a:bodyPr wrap="square" rtlCol="0">
            <a:spAutoFit/>
          </a:bodyPr>
          <a:lstStyle/>
          <a:p>
            <a:r>
              <a:rPr lang="en-US" dirty="0" smtClean="0"/>
              <a:t>1. </a:t>
            </a:r>
            <a:r>
              <a:rPr lang="en-US" dirty="0" err="1" smtClean="0"/>
              <a:t>Giới</a:t>
            </a:r>
            <a:r>
              <a:rPr lang="en-US" dirty="0" smtClean="0"/>
              <a:t> </a:t>
            </a:r>
            <a:r>
              <a:rPr lang="en-US" dirty="0" err="1" smtClean="0"/>
              <a:t>thiệu</a:t>
            </a:r>
            <a:r>
              <a:rPr lang="en-US" dirty="0" smtClean="0"/>
              <a:t> </a:t>
            </a:r>
            <a:r>
              <a:rPr lang="en-US" dirty="0" err="1" smtClean="0"/>
              <a:t>về</a:t>
            </a:r>
            <a:r>
              <a:rPr lang="en-US" dirty="0" smtClean="0"/>
              <a:t> </a:t>
            </a:r>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trong</a:t>
            </a:r>
            <a:r>
              <a:rPr lang="en-US" dirty="0" smtClean="0"/>
              <a:t> Python – W3School</a:t>
            </a:r>
            <a:endParaRPr lang="en-US" b="1" dirty="0">
              <a:solidFill>
                <a:srgbClr val="FF0000"/>
              </a:solidFill>
            </a:endParaRPr>
          </a:p>
        </p:txBody>
      </p:sp>
      <p:sp>
        <p:nvSpPr>
          <p:cNvPr id="16" name="TextBox 15"/>
          <p:cNvSpPr txBox="1"/>
          <p:nvPr/>
        </p:nvSpPr>
        <p:spPr>
          <a:xfrm>
            <a:off x="1041993" y="1557449"/>
            <a:ext cx="6432695"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17" name="Flowchart: Decision 16"/>
          <p:cNvSpPr/>
          <p:nvPr/>
        </p:nvSpPr>
        <p:spPr>
          <a:xfrm>
            <a:off x="527716" y="217877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85161" y="3189634"/>
            <a:ext cx="8071728" cy="369332"/>
          </a:xfrm>
          <a:prstGeom prst="rect">
            <a:avLst/>
          </a:prstGeom>
          <a:noFill/>
        </p:spPr>
        <p:txBody>
          <a:bodyPr wrap="square" rtlCol="0">
            <a:spAutoFit/>
          </a:bodyPr>
          <a:lstStyle/>
          <a:p>
            <a:r>
              <a:rPr lang="en-US" dirty="0" smtClean="0"/>
              <a:t>2. </a:t>
            </a:r>
            <a:r>
              <a:rPr lang="en-US" dirty="0" err="1" smtClean="0"/>
              <a:t>Danh</a:t>
            </a:r>
            <a:r>
              <a:rPr lang="en-US" dirty="0" smtClean="0"/>
              <a:t> </a:t>
            </a:r>
            <a:r>
              <a:rPr lang="en-US" dirty="0" err="1" smtClean="0"/>
              <a:t>sách</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r>
              <a:rPr lang="en-US" dirty="0" err="1" smtClean="0"/>
              <a:t>xử</a:t>
            </a:r>
            <a:r>
              <a:rPr lang="en-US" dirty="0" smtClean="0"/>
              <a:t> </a:t>
            </a:r>
            <a:r>
              <a:rPr lang="en-US" dirty="0" err="1" smtClean="0"/>
              <a:t>lý</a:t>
            </a:r>
            <a:r>
              <a:rPr lang="en-US" dirty="0" smtClean="0"/>
              <a:t> </a:t>
            </a:r>
            <a:r>
              <a:rPr lang="en-US" dirty="0" err="1" smtClean="0"/>
              <a:t>từ</a:t>
            </a:r>
            <a:r>
              <a:rPr lang="en-US" dirty="0" smtClean="0"/>
              <a:t> </a:t>
            </a:r>
            <a:r>
              <a:rPr lang="en-US" dirty="0" err="1" smtClean="0"/>
              <a:t>điển</a:t>
            </a:r>
            <a:r>
              <a:rPr lang="en-US" dirty="0" smtClean="0"/>
              <a:t> </a:t>
            </a:r>
            <a:r>
              <a:rPr lang="en-US" dirty="0" err="1" smtClean="0"/>
              <a:t>trong</a:t>
            </a:r>
            <a:r>
              <a:rPr lang="en-US" dirty="0" smtClean="0"/>
              <a:t> Python – W3School</a:t>
            </a:r>
            <a:endParaRPr lang="en-US" b="1" dirty="0">
              <a:solidFill>
                <a:srgbClr val="FF0000"/>
              </a:solidFill>
            </a:endParaRPr>
          </a:p>
        </p:txBody>
      </p:sp>
      <p:sp>
        <p:nvSpPr>
          <p:cNvPr id="23" name="Flowchart: Decision 22"/>
          <p:cNvSpPr/>
          <p:nvPr/>
        </p:nvSpPr>
        <p:spPr>
          <a:xfrm>
            <a:off x="527716" y="328312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74221" y="2604703"/>
            <a:ext cx="8071728" cy="369332"/>
          </a:xfrm>
          <a:prstGeom prst="rect">
            <a:avLst/>
          </a:prstGeom>
          <a:noFill/>
        </p:spPr>
        <p:txBody>
          <a:bodyPr wrap="square" rtlCol="0">
            <a:spAutoFit/>
          </a:bodyPr>
          <a:lstStyle/>
          <a:p>
            <a:r>
              <a:rPr lang="en-US" dirty="0">
                <a:hlinkClick r:id="rId3"/>
              </a:rPr>
              <a:t>https://www.w3schools.com/python/python_dictionaries.asp</a:t>
            </a:r>
            <a:endParaRPr lang="en-US" b="1" dirty="0">
              <a:solidFill>
                <a:srgbClr val="FF0000"/>
              </a:solidFill>
            </a:endParaRPr>
          </a:p>
        </p:txBody>
      </p:sp>
      <p:sp>
        <p:nvSpPr>
          <p:cNvPr id="18" name="TextBox 17"/>
          <p:cNvSpPr txBox="1"/>
          <p:nvPr/>
        </p:nvSpPr>
        <p:spPr>
          <a:xfrm>
            <a:off x="774221" y="3800227"/>
            <a:ext cx="8071728" cy="369332"/>
          </a:xfrm>
          <a:prstGeom prst="rect">
            <a:avLst/>
          </a:prstGeom>
          <a:noFill/>
        </p:spPr>
        <p:txBody>
          <a:bodyPr wrap="square" rtlCol="0">
            <a:spAutoFit/>
          </a:bodyPr>
          <a:lstStyle/>
          <a:p>
            <a:r>
              <a:rPr lang="en-US" dirty="0">
                <a:hlinkClick r:id="rId4"/>
              </a:rPr>
              <a:t>https://www.w3schools.com/python/python_dictionaries_methods.asp</a:t>
            </a:r>
            <a:endParaRPr lang="en-US" b="1" dirty="0">
              <a:solidFill>
                <a:srgbClr val="FF0000"/>
              </a:solidFill>
            </a:endParaRPr>
          </a:p>
        </p:txBody>
      </p:sp>
    </p:spTree>
    <p:extLst>
      <p:ext uri="{BB962C8B-B14F-4D97-AF65-F5344CB8AC3E}">
        <p14:creationId xmlns:p14="http://schemas.microsoft.com/office/powerpoint/2010/main" val="39436834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smtClean="0"/>
              <a:t>6.3 </a:t>
            </a:r>
            <a:r>
              <a:rPr lang="en-US" dirty="0" err="1" smtClean="0"/>
              <a:t>Tìm</a:t>
            </a:r>
            <a:r>
              <a:rPr lang="en-US" dirty="0" smtClean="0"/>
              <a:t> </a:t>
            </a:r>
            <a:r>
              <a:rPr lang="en-US" dirty="0" err="1"/>
              <a:t>hiểu</a:t>
            </a:r>
            <a:r>
              <a:rPr lang="en-US" dirty="0"/>
              <a:t> </a:t>
            </a:r>
            <a:r>
              <a:rPr lang="en-US" dirty="0" err="1"/>
              <a:t>về</a:t>
            </a:r>
            <a:r>
              <a:rPr lang="en-US" dirty="0"/>
              <a:t> </a:t>
            </a:r>
            <a:r>
              <a:rPr lang="en-US" dirty="0" smtClean="0"/>
              <a:t>Function </a:t>
            </a:r>
            <a:r>
              <a:rPr lang="en-US" dirty="0" err="1" smtClean="0"/>
              <a:t>trong</a:t>
            </a:r>
            <a:r>
              <a:rPr lang="en-US" dirty="0" smtClean="0"/>
              <a:t> Python</a:t>
            </a:r>
            <a:endParaRPr lang="en-US" dirty="0"/>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621244"/>
            <a:ext cx="6432695" cy="369332"/>
          </a:xfrm>
          <a:prstGeom prst="rect">
            <a:avLst/>
          </a:prstGeom>
          <a:noFill/>
        </p:spPr>
        <p:txBody>
          <a:bodyPr wrap="square" rtlCol="0">
            <a:spAutoFit/>
          </a:bodyPr>
          <a:lstStyle/>
          <a:p>
            <a:r>
              <a:rPr lang="en-US" b="1" dirty="0" err="1" smtClean="0"/>
              <a:t>Định</a:t>
            </a:r>
            <a:r>
              <a:rPr lang="en-US" b="1" dirty="0" smtClean="0"/>
              <a:t> </a:t>
            </a:r>
            <a:r>
              <a:rPr lang="en-US" b="1" dirty="0" err="1"/>
              <a:t>n</a:t>
            </a:r>
            <a:r>
              <a:rPr lang="en-US" b="1" dirty="0" err="1" smtClean="0"/>
              <a:t>ghĩa</a:t>
            </a:r>
            <a:r>
              <a:rPr lang="en-US" b="1" dirty="0" smtClean="0"/>
              <a:t>: </a:t>
            </a:r>
            <a:r>
              <a:rPr lang="en-US" b="1" dirty="0" smtClean="0">
                <a:solidFill>
                  <a:srgbClr val="FF0000"/>
                </a:solidFill>
              </a:rPr>
              <a:t>function </a:t>
            </a:r>
            <a:r>
              <a:rPr lang="en-US" b="1" dirty="0" err="1" smtClean="0">
                <a:solidFill>
                  <a:srgbClr val="FF0000"/>
                </a:solidFill>
              </a:rPr>
              <a:t>là</a:t>
            </a:r>
            <a:r>
              <a:rPr lang="en-US" b="1" dirty="0" smtClean="0">
                <a:solidFill>
                  <a:srgbClr val="FF0000"/>
                </a:solidFill>
              </a:rPr>
              <a:t> </a:t>
            </a:r>
            <a:r>
              <a:rPr lang="en-US" b="1" dirty="0" err="1" smtClean="0">
                <a:solidFill>
                  <a:srgbClr val="FF0000"/>
                </a:solidFill>
              </a:rPr>
              <a:t>gì</a:t>
            </a:r>
            <a:r>
              <a:rPr lang="en-US" b="1" dirty="0" smtClean="0">
                <a:solidFill>
                  <a:srgbClr val="FF0000"/>
                </a:solidFill>
              </a:rPr>
              <a:t> ?</a:t>
            </a:r>
            <a:endParaRPr lang="en-US" b="1" dirty="0">
              <a:solidFill>
                <a:srgbClr val="FF0000"/>
              </a:solidFill>
            </a:endParaRPr>
          </a:p>
        </p:txBody>
      </p:sp>
      <p:sp>
        <p:nvSpPr>
          <p:cNvPr id="12" name="Rounded Rectangle 11"/>
          <p:cNvSpPr/>
          <p:nvPr/>
        </p:nvSpPr>
        <p:spPr>
          <a:xfrm>
            <a:off x="669850" y="2163660"/>
            <a:ext cx="7740503" cy="1674693"/>
          </a:xfrm>
          <a:prstGeom prst="roundRect">
            <a:avLst>
              <a:gd name="adj" fmla="val 2567"/>
            </a:avLst>
          </a:prstGeom>
          <a:solidFill>
            <a:schemeClr val="bg1"/>
          </a:solidFill>
          <a:ln w="19050">
            <a:solidFill>
              <a:srgbClr val="67C7D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25033" y="2299882"/>
            <a:ext cx="7230139" cy="646331"/>
          </a:xfrm>
          <a:prstGeom prst="rect">
            <a:avLst/>
          </a:prstGeom>
          <a:noFill/>
        </p:spPr>
        <p:txBody>
          <a:bodyPr wrap="square" rtlCol="0">
            <a:spAutoFit/>
          </a:bodyPr>
          <a:lstStyle/>
          <a:p>
            <a:r>
              <a:rPr lang="vi-VN" dirty="0"/>
              <a:t>Trong lập trình, </a:t>
            </a:r>
            <a:r>
              <a:rPr lang="en-US" b="1" dirty="0" smtClean="0"/>
              <a:t>Function</a:t>
            </a:r>
            <a:r>
              <a:rPr lang="en-US" dirty="0" smtClean="0"/>
              <a:t> (</a:t>
            </a:r>
            <a:r>
              <a:rPr lang="vi-VN" dirty="0" smtClean="0"/>
              <a:t>hàm</a:t>
            </a:r>
            <a:r>
              <a:rPr lang="en-US" dirty="0" smtClean="0"/>
              <a:t>)</a:t>
            </a:r>
            <a:r>
              <a:rPr lang="vi-VN" dirty="0" smtClean="0"/>
              <a:t> </a:t>
            </a:r>
            <a:r>
              <a:rPr lang="vi-VN" dirty="0"/>
              <a:t>là một khối mã có tên được sử dụng để thực hiện một tác vụ cụ thể.</a:t>
            </a:r>
            <a:endParaRPr lang="en-US" dirty="0"/>
          </a:p>
        </p:txBody>
      </p:sp>
      <p:sp>
        <p:nvSpPr>
          <p:cNvPr id="14" name="TextBox 13"/>
          <p:cNvSpPr txBox="1"/>
          <p:nvPr/>
        </p:nvSpPr>
        <p:spPr>
          <a:xfrm>
            <a:off x="925033" y="2959653"/>
            <a:ext cx="7230139" cy="646331"/>
          </a:xfrm>
          <a:prstGeom prst="rect">
            <a:avLst/>
          </a:prstGeom>
          <a:noFill/>
        </p:spPr>
        <p:txBody>
          <a:bodyPr wrap="square" rtlCol="0">
            <a:spAutoFit/>
          </a:bodyPr>
          <a:lstStyle/>
          <a:p>
            <a:r>
              <a:rPr lang="en-US" dirty="0" smtClean="0"/>
              <a:t>Function</a:t>
            </a:r>
            <a:r>
              <a:rPr lang="vi-VN" dirty="0" smtClean="0"/>
              <a:t> </a:t>
            </a:r>
            <a:r>
              <a:rPr lang="vi-VN" dirty="0"/>
              <a:t>giúp chia nhỏ code thành các phần nhỏ hơn, dễ quản lý và sử dụng </a:t>
            </a:r>
            <a:r>
              <a:rPr lang="vi-VN" dirty="0" smtClean="0"/>
              <a:t>lại</a:t>
            </a:r>
            <a:r>
              <a:rPr lang="en-US" dirty="0" smtClean="0"/>
              <a:t> (</a:t>
            </a:r>
            <a:r>
              <a:rPr lang="en-US" dirty="0" err="1" smtClean="0"/>
              <a:t>tái</a:t>
            </a:r>
            <a:r>
              <a:rPr lang="en-US" dirty="0" smtClean="0"/>
              <a:t> </a:t>
            </a:r>
            <a:r>
              <a:rPr lang="en-US" dirty="0" err="1" smtClean="0"/>
              <a:t>sử</a:t>
            </a:r>
            <a:r>
              <a:rPr lang="en-US" dirty="0" smtClean="0"/>
              <a:t> </a:t>
            </a:r>
            <a:r>
              <a:rPr lang="en-US" dirty="0" err="1" smtClean="0"/>
              <a:t>dụng</a:t>
            </a:r>
            <a:r>
              <a:rPr lang="en-US" dirty="0"/>
              <a:t>)</a:t>
            </a:r>
          </a:p>
        </p:txBody>
      </p:sp>
      <p:sp>
        <p:nvSpPr>
          <p:cNvPr id="25" name="TextBox 24"/>
          <p:cNvSpPr txBox="1"/>
          <p:nvPr/>
        </p:nvSpPr>
        <p:spPr>
          <a:xfrm>
            <a:off x="548982" y="3970862"/>
            <a:ext cx="3555186"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r>
              <a:rPr lang="en-US" b="1" dirty="0" smtClean="0"/>
              <a:t> </a:t>
            </a:r>
            <a:r>
              <a:rPr lang="en-US" b="1" dirty="0" err="1" smtClean="0"/>
              <a:t>định</a:t>
            </a:r>
            <a:r>
              <a:rPr lang="en-US" b="1" dirty="0" smtClean="0"/>
              <a:t> </a:t>
            </a:r>
            <a:r>
              <a:rPr lang="en-US" b="1" dirty="0" err="1" smtClean="0"/>
              <a:t>nghĩa</a:t>
            </a:r>
            <a:r>
              <a:rPr lang="en-US" b="1" dirty="0" smtClean="0"/>
              <a:t> 1 function</a:t>
            </a:r>
            <a:endParaRPr lang="en-US" b="1" dirty="0">
              <a:solidFill>
                <a:srgbClr val="FF0000"/>
              </a:solidFill>
            </a:endParaRPr>
          </a:p>
        </p:txBody>
      </p:sp>
      <p:sp>
        <p:nvSpPr>
          <p:cNvPr id="26" name="TextBox 25"/>
          <p:cNvSpPr txBox="1"/>
          <p:nvPr/>
        </p:nvSpPr>
        <p:spPr>
          <a:xfrm>
            <a:off x="925033" y="4470425"/>
            <a:ext cx="7485320" cy="830997"/>
          </a:xfrm>
          <a:prstGeom prst="rect">
            <a:avLst/>
          </a:prstGeom>
          <a:noFill/>
        </p:spPr>
        <p:txBody>
          <a:bodyPr wrap="square" rtlCol="0">
            <a:spAutoFit/>
          </a:bodyPr>
          <a:lstStyle/>
          <a:p>
            <a:r>
              <a:rPr lang="en-US" sz="2400" b="1" dirty="0" err="1" smtClean="0">
                <a:solidFill>
                  <a:srgbClr val="FF0000"/>
                </a:solidFill>
              </a:rPr>
              <a:t>def</a:t>
            </a:r>
            <a:r>
              <a:rPr lang="en-US" sz="2400" b="1" dirty="0" smtClean="0"/>
              <a:t>  </a:t>
            </a:r>
            <a:r>
              <a:rPr lang="en-US" sz="2400" b="1" dirty="0" err="1" smtClean="0"/>
              <a:t>name_function</a:t>
            </a:r>
            <a:r>
              <a:rPr lang="en-US" sz="2400" b="1" dirty="0" smtClean="0"/>
              <a:t>():</a:t>
            </a:r>
          </a:p>
          <a:p>
            <a:r>
              <a:rPr lang="en-US" sz="2400" b="1" dirty="0"/>
              <a:t> </a:t>
            </a:r>
            <a:r>
              <a:rPr lang="en-US" sz="2400" b="1" dirty="0" smtClean="0"/>
              <a:t>      </a:t>
            </a:r>
            <a:r>
              <a:rPr lang="en-US" sz="2400" b="1" dirty="0" smtClean="0">
                <a:solidFill>
                  <a:schemeClr val="accent6">
                    <a:lumMod val="50000"/>
                  </a:schemeClr>
                </a:solidFill>
              </a:rPr>
              <a:t>#</a:t>
            </a:r>
            <a:r>
              <a:rPr lang="en-US" sz="2400" b="1" dirty="0" err="1" smtClean="0">
                <a:solidFill>
                  <a:schemeClr val="accent6">
                    <a:lumMod val="50000"/>
                  </a:schemeClr>
                </a:solidFill>
              </a:rPr>
              <a:t>Khối</a:t>
            </a:r>
            <a:r>
              <a:rPr lang="en-US" sz="2400" b="1" dirty="0" smtClean="0">
                <a:solidFill>
                  <a:schemeClr val="accent6">
                    <a:lumMod val="50000"/>
                  </a:schemeClr>
                </a:solidFill>
              </a:rPr>
              <a:t> </a:t>
            </a:r>
            <a:r>
              <a:rPr lang="en-US" sz="2400" b="1" dirty="0" err="1" smtClean="0">
                <a:solidFill>
                  <a:schemeClr val="accent6">
                    <a:lumMod val="50000"/>
                  </a:schemeClr>
                </a:solidFill>
              </a:rPr>
              <a:t>lệnh</a:t>
            </a:r>
            <a:r>
              <a:rPr lang="en-US" sz="2400" b="1" dirty="0" smtClean="0">
                <a:solidFill>
                  <a:schemeClr val="accent6">
                    <a:lumMod val="50000"/>
                  </a:schemeClr>
                </a:solidFill>
              </a:rPr>
              <a:t> </a:t>
            </a:r>
            <a:r>
              <a:rPr lang="en-US" sz="2400" b="1" dirty="0" err="1" smtClean="0">
                <a:solidFill>
                  <a:schemeClr val="accent6">
                    <a:lumMod val="50000"/>
                  </a:schemeClr>
                </a:solidFill>
              </a:rPr>
              <a:t>được</a:t>
            </a:r>
            <a:r>
              <a:rPr lang="en-US" sz="2400" b="1" dirty="0" smtClean="0">
                <a:solidFill>
                  <a:schemeClr val="accent6">
                    <a:lumMod val="50000"/>
                  </a:schemeClr>
                </a:solidFill>
              </a:rPr>
              <a:t> </a:t>
            </a:r>
            <a:r>
              <a:rPr lang="en-US" sz="2400" b="1" dirty="0" err="1" smtClean="0">
                <a:solidFill>
                  <a:schemeClr val="accent6">
                    <a:lumMod val="50000"/>
                  </a:schemeClr>
                </a:solidFill>
              </a:rPr>
              <a:t>thực</a:t>
            </a:r>
            <a:r>
              <a:rPr lang="en-US" sz="2400" b="1" dirty="0" smtClean="0">
                <a:solidFill>
                  <a:schemeClr val="accent6">
                    <a:lumMod val="50000"/>
                  </a:schemeClr>
                </a:solidFill>
              </a:rPr>
              <a:t> </a:t>
            </a:r>
            <a:r>
              <a:rPr lang="en-US" sz="2400" b="1" dirty="0" err="1" smtClean="0">
                <a:solidFill>
                  <a:schemeClr val="accent6">
                    <a:lumMod val="50000"/>
                  </a:schemeClr>
                </a:solidFill>
              </a:rPr>
              <a:t>thi</a:t>
            </a:r>
            <a:r>
              <a:rPr lang="en-US" sz="2400" b="1" dirty="0" smtClean="0">
                <a:solidFill>
                  <a:schemeClr val="accent6">
                    <a:lumMod val="50000"/>
                  </a:schemeClr>
                </a:solidFill>
              </a:rPr>
              <a:t> </a:t>
            </a:r>
            <a:r>
              <a:rPr lang="en-US" sz="2400" b="1" dirty="0" err="1" smtClean="0">
                <a:solidFill>
                  <a:schemeClr val="accent6">
                    <a:lumMod val="50000"/>
                  </a:schemeClr>
                </a:solidFill>
              </a:rPr>
              <a:t>khi</a:t>
            </a:r>
            <a:r>
              <a:rPr lang="en-US" sz="2400" b="1" dirty="0" smtClean="0">
                <a:solidFill>
                  <a:schemeClr val="accent6">
                    <a:lumMod val="50000"/>
                  </a:schemeClr>
                </a:solidFill>
              </a:rPr>
              <a:t> </a:t>
            </a:r>
            <a:r>
              <a:rPr lang="en-US" sz="2400" b="1" dirty="0" err="1" smtClean="0">
                <a:solidFill>
                  <a:schemeClr val="accent6">
                    <a:lumMod val="50000"/>
                  </a:schemeClr>
                </a:solidFill>
              </a:rPr>
              <a:t>hàm</a:t>
            </a:r>
            <a:r>
              <a:rPr lang="en-US" sz="2400" b="1" dirty="0" smtClean="0">
                <a:solidFill>
                  <a:schemeClr val="accent6">
                    <a:lumMod val="50000"/>
                  </a:schemeClr>
                </a:solidFill>
              </a:rPr>
              <a:t> </a:t>
            </a:r>
            <a:r>
              <a:rPr lang="en-US" sz="2400" b="1" dirty="0" err="1" smtClean="0">
                <a:solidFill>
                  <a:schemeClr val="accent6">
                    <a:lumMod val="50000"/>
                  </a:schemeClr>
                </a:solidFill>
              </a:rPr>
              <a:t>được</a:t>
            </a:r>
            <a:r>
              <a:rPr lang="en-US" sz="2400" b="1" dirty="0" smtClean="0">
                <a:solidFill>
                  <a:schemeClr val="accent6">
                    <a:lumMod val="50000"/>
                  </a:schemeClr>
                </a:solidFill>
              </a:rPr>
              <a:t> </a:t>
            </a:r>
            <a:r>
              <a:rPr lang="en-US" sz="2400" b="1" dirty="0" err="1" smtClean="0">
                <a:solidFill>
                  <a:schemeClr val="accent6">
                    <a:lumMod val="50000"/>
                  </a:schemeClr>
                </a:solidFill>
              </a:rPr>
              <a:t>gọi</a:t>
            </a:r>
            <a:r>
              <a:rPr lang="en-US" sz="2400" b="1" dirty="0" smtClean="0">
                <a:solidFill>
                  <a:schemeClr val="accent6">
                    <a:lumMod val="50000"/>
                  </a:schemeClr>
                </a:solidFill>
              </a:rPr>
              <a:t> </a:t>
            </a:r>
            <a:endParaRPr lang="en-US" sz="2400" b="1" dirty="0">
              <a:solidFill>
                <a:schemeClr val="accent6">
                  <a:lumMod val="50000"/>
                </a:schemeClr>
              </a:solidFill>
            </a:endParaRPr>
          </a:p>
        </p:txBody>
      </p:sp>
      <p:sp>
        <p:nvSpPr>
          <p:cNvPr id="27" name="TextBox 26"/>
          <p:cNvSpPr txBox="1"/>
          <p:nvPr/>
        </p:nvSpPr>
        <p:spPr>
          <a:xfrm>
            <a:off x="669850" y="6059452"/>
            <a:ext cx="7230139" cy="369332"/>
          </a:xfrm>
          <a:prstGeom prst="rect">
            <a:avLst/>
          </a:prstGeom>
          <a:noFill/>
        </p:spPr>
        <p:txBody>
          <a:bodyPr wrap="square" rtlCol="0">
            <a:spAutoFit/>
          </a:bodyPr>
          <a:lstStyle/>
          <a:p>
            <a:r>
              <a:rPr lang="en-US" b="1" dirty="0" err="1" smtClean="0"/>
              <a:t>Khối</a:t>
            </a:r>
            <a:r>
              <a:rPr lang="en-US" b="1" dirty="0" smtClean="0"/>
              <a:t> </a:t>
            </a:r>
            <a:r>
              <a:rPr lang="en-US" b="1" dirty="0" err="1" smtClean="0"/>
              <a:t>lệnh</a:t>
            </a:r>
            <a:r>
              <a:rPr lang="en-US" b="1" dirty="0" smtClean="0"/>
              <a:t> </a:t>
            </a:r>
            <a:r>
              <a:rPr lang="en-US" b="1" dirty="0" err="1" smtClean="0"/>
              <a:t>của</a:t>
            </a:r>
            <a:r>
              <a:rPr lang="en-US" b="1" dirty="0" smtClean="0"/>
              <a:t> </a:t>
            </a:r>
            <a:r>
              <a:rPr lang="en-US" b="1" dirty="0" err="1" smtClean="0"/>
              <a:t>hàm</a:t>
            </a:r>
            <a:r>
              <a:rPr lang="en-US" b="1" dirty="0" smtClean="0"/>
              <a:t>: </a:t>
            </a:r>
            <a:r>
              <a:rPr lang="en-US" dirty="0" err="1" smtClean="0"/>
              <a:t>phải</a:t>
            </a:r>
            <a:r>
              <a:rPr lang="en-US" dirty="0" smtClean="0"/>
              <a:t> </a:t>
            </a:r>
            <a:r>
              <a:rPr lang="en-US" dirty="0" err="1" smtClean="0"/>
              <a:t>thụt</a:t>
            </a:r>
            <a:r>
              <a:rPr lang="en-US" dirty="0" smtClean="0"/>
              <a:t> </a:t>
            </a:r>
            <a:r>
              <a:rPr lang="en-US" dirty="0" err="1" smtClean="0"/>
              <a:t>vào</a:t>
            </a:r>
            <a:r>
              <a:rPr lang="en-US" dirty="0" smtClean="0"/>
              <a:t> </a:t>
            </a:r>
            <a:r>
              <a:rPr lang="en-US" dirty="0" err="1" smtClean="0"/>
              <a:t>ít</a:t>
            </a:r>
            <a:r>
              <a:rPr lang="en-US" dirty="0" smtClean="0"/>
              <a:t> </a:t>
            </a:r>
            <a:r>
              <a:rPr lang="en-US" dirty="0" err="1" smtClean="0"/>
              <a:t>nhất</a:t>
            </a:r>
            <a:r>
              <a:rPr lang="en-US" dirty="0" smtClean="0"/>
              <a:t> 1 </a:t>
            </a:r>
            <a:r>
              <a:rPr lang="en-US" dirty="0" err="1" smtClean="0"/>
              <a:t>kí</a:t>
            </a:r>
            <a:r>
              <a:rPr lang="en-US" dirty="0" smtClean="0"/>
              <a:t> </a:t>
            </a:r>
            <a:r>
              <a:rPr lang="en-US" dirty="0" err="1" smtClean="0"/>
              <a:t>tự</a:t>
            </a:r>
            <a:r>
              <a:rPr lang="en-US" dirty="0" smtClean="0"/>
              <a:t> </a:t>
            </a:r>
            <a:r>
              <a:rPr lang="en-US" dirty="0" err="1" smtClean="0"/>
              <a:t>trắng</a:t>
            </a:r>
            <a:r>
              <a:rPr lang="en-US" dirty="0" smtClean="0"/>
              <a:t> so </a:t>
            </a:r>
            <a:r>
              <a:rPr lang="en-US" dirty="0" err="1" smtClean="0"/>
              <a:t>với</a:t>
            </a:r>
            <a:r>
              <a:rPr lang="en-US" dirty="0" smtClean="0"/>
              <a:t> </a:t>
            </a:r>
            <a:r>
              <a:rPr lang="en-US" dirty="0" err="1" smtClean="0"/>
              <a:t>lệnh</a:t>
            </a:r>
            <a:r>
              <a:rPr lang="en-US" dirty="0" smtClean="0"/>
              <a:t> </a:t>
            </a:r>
            <a:r>
              <a:rPr lang="en-US" dirty="0" err="1" smtClean="0"/>
              <a:t>def</a:t>
            </a:r>
            <a:endParaRPr lang="en-US" dirty="0"/>
          </a:p>
        </p:txBody>
      </p:sp>
      <p:sp>
        <p:nvSpPr>
          <p:cNvPr id="28" name="TextBox 27"/>
          <p:cNvSpPr txBox="1"/>
          <p:nvPr/>
        </p:nvSpPr>
        <p:spPr>
          <a:xfrm>
            <a:off x="669850" y="5676680"/>
            <a:ext cx="7230139" cy="369332"/>
          </a:xfrm>
          <a:prstGeom prst="rect">
            <a:avLst/>
          </a:prstGeom>
          <a:noFill/>
        </p:spPr>
        <p:txBody>
          <a:bodyPr wrap="square" rtlCol="0">
            <a:spAutoFit/>
          </a:bodyPr>
          <a:lstStyle/>
          <a:p>
            <a:r>
              <a:rPr lang="en-US" b="1" dirty="0" err="1" smtClean="0"/>
              <a:t>Name_function</a:t>
            </a:r>
            <a:r>
              <a:rPr lang="en-US" b="1" dirty="0" smtClean="0"/>
              <a:t>: </a:t>
            </a:r>
            <a:r>
              <a:rPr lang="en-US" dirty="0" err="1" smtClean="0"/>
              <a:t>Đặt</a:t>
            </a:r>
            <a:r>
              <a:rPr lang="en-US" dirty="0" smtClean="0"/>
              <a:t> </a:t>
            </a:r>
            <a:r>
              <a:rPr lang="en-US" dirty="0" err="1" smtClean="0"/>
              <a:t>theo</a:t>
            </a:r>
            <a:r>
              <a:rPr lang="en-US" dirty="0" smtClean="0"/>
              <a:t> </a:t>
            </a:r>
            <a:r>
              <a:rPr lang="en-US" dirty="0" err="1" smtClean="0"/>
              <a:t>quy</a:t>
            </a:r>
            <a:r>
              <a:rPr lang="en-US" dirty="0" smtClean="0"/>
              <a:t> </a:t>
            </a:r>
            <a:r>
              <a:rPr lang="en-US" dirty="0" err="1" smtClean="0"/>
              <a:t>tắc</a:t>
            </a:r>
            <a:r>
              <a:rPr lang="en-US" dirty="0" smtClean="0"/>
              <a:t> </a:t>
            </a:r>
            <a:r>
              <a:rPr lang="en-US" dirty="0" err="1" smtClean="0"/>
              <a:t>tên</a:t>
            </a:r>
            <a:r>
              <a:rPr lang="en-US" dirty="0" smtClean="0"/>
              <a:t> </a:t>
            </a:r>
            <a:r>
              <a:rPr lang="en-US" dirty="0" err="1" smtClean="0"/>
              <a:t>biến</a:t>
            </a:r>
            <a:r>
              <a:rPr lang="en-US" dirty="0" smtClean="0"/>
              <a:t> </a:t>
            </a:r>
            <a:r>
              <a:rPr lang="en-US" dirty="0" err="1" smtClean="0"/>
              <a:t>trong</a:t>
            </a:r>
            <a:r>
              <a:rPr lang="en-US" dirty="0" smtClean="0"/>
              <a:t> Python</a:t>
            </a:r>
            <a:endParaRPr lang="en-US" dirty="0"/>
          </a:p>
        </p:txBody>
      </p:sp>
    </p:spTree>
    <p:extLst>
      <p:ext uri="{BB962C8B-B14F-4D97-AF65-F5344CB8AC3E}">
        <p14:creationId xmlns:p14="http://schemas.microsoft.com/office/powerpoint/2010/main" val="8136284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18</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6.3 </a:t>
            </a:r>
            <a:r>
              <a:rPr lang="en-US" dirty="0" err="1"/>
              <a:t>Tìm</a:t>
            </a:r>
            <a:r>
              <a:rPr lang="en-US" dirty="0"/>
              <a:t> </a:t>
            </a:r>
            <a:r>
              <a:rPr lang="en-US" dirty="0" err="1"/>
              <a:t>hiểu</a:t>
            </a:r>
            <a:r>
              <a:rPr lang="en-US" dirty="0"/>
              <a:t> </a:t>
            </a:r>
            <a:r>
              <a:rPr lang="en-US" dirty="0" err="1"/>
              <a:t>về</a:t>
            </a:r>
            <a:r>
              <a:rPr lang="en-US" dirty="0"/>
              <a:t> Function </a:t>
            </a:r>
            <a:r>
              <a:rPr lang="en-US" dirty="0" err="1"/>
              <a:t>trong</a:t>
            </a:r>
            <a:r>
              <a:rPr lang="en-US" dirty="0"/>
              <a:t> Python</a:t>
            </a:r>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2955849"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function</a:t>
            </a:r>
            <a:endParaRPr lang="en-US" b="1" dirty="0">
              <a:solidFill>
                <a:srgbClr val="FF0000"/>
              </a:solidFill>
            </a:endParaRPr>
          </a:p>
        </p:txBody>
      </p:sp>
      <p:sp>
        <p:nvSpPr>
          <p:cNvPr id="17" name="TextBox 16"/>
          <p:cNvSpPr txBox="1"/>
          <p:nvPr/>
        </p:nvSpPr>
        <p:spPr>
          <a:xfrm>
            <a:off x="910062" y="4973455"/>
            <a:ext cx="7208872" cy="646331"/>
          </a:xfrm>
          <a:prstGeom prst="rect">
            <a:avLst/>
          </a:prstGeom>
          <a:noFill/>
        </p:spPr>
        <p:txBody>
          <a:bodyPr wrap="square" rtlCol="0">
            <a:spAutoFit/>
          </a:bodyPr>
          <a:lstStyle/>
          <a:p>
            <a:r>
              <a:rPr lang="en-US" dirty="0" err="1" smtClean="0"/>
              <a:t>Trong</a:t>
            </a:r>
            <a:r>
              <a:rPr lang="en-US" dirty="0" smtClean="0"/>
              <a:t> </a:t>
            </a:r>
            <a:r>
              <a:rPr lang="en-US" dirty="0" err="1" smtClean="0"/>
              <a:t>ví</a:t>
            </a:r>
            <a:r>
              <a:rPr lang="en-US" dirty="0" smtClean="0"/>
              <a:t> </a:t>
            </a:r>
            <a:r>
              <a:rPr lang="en-US" dirty="0" err="1" smtClean="0"/>
              <a:t>dụ</a:t>
            </a:r>
            <a:r>
              <a:rPr lang="en-US" dirty="0" smtClean="0"/>
              <a:t> </a:t>
            </a:r>
            <a:r>
              <a:rPr lang="en-US" dirty="0" err="1" smtClean="0"/>
              <a:t>trên</a:t>
            </a:r>
            <a:r>
              <a:rPr lang="en-US" dirty="0" smtClean="0"/>
              <a:t> </a:t>
            </a:r>
            <a:r>
              <a:rPr lang="en-US" dirty="0" err="1" smtClean="0"/>
              <a:t>hàm</a:t>
            </a:r>
            <a:r>
              <a:rPr lang="en-US" dirty="0" smtClean="0"/>
              <a:t> </a:t>
            </a:r>
            <a:r>
              <a:rPr lang="en-US" dirty="0" err="1" smtClean="0"/>
              <a:t>chỉ</a:t>
            </a:r>
            <a:r>
              <a:rPr lang="en-US" dirty="0" smtClean="0"/>
              <a:t> </a:t>
            </a:r>
            <a:r>
              <a:rPr lang="en-US" dirty="0" err="1" smtClean="0"/>
              <a:t>thực</a:t>
            </a:r>
            <a:r>
              <a:rPr lang="en-US" dirty="0" smtClean="0"/>
              <a:t> </a:t>
            </a:r>
            <a:r>
              <a:rPr lang="en-US" dirty="0" err="1" smtClean="0"/>
              <a:t>thi</a:t>
            </a:r>
            <a:r>
              <a:rPr lang="en-US" dirty="0" smtClean="0"/>
              <a:t> </a:t>
            </a:r>
            <a:r>
              <a:rPr lang="en-US" dirty="0" err="1" smtClean="0"/>
              <a:t>các</a:t>
            </a:r>
            <a:r>
              <a:rPr lang="en-US" dirty="0" smtClean="0"/>
              <a:t> </a:t>
            </a:r>
            <a:r>
              <a:rPr lang="en-US" dirty="0" err="1" smtClean="0"/>
              <a:t>lệnh</a:t>
            </a:r>
            <a:r>
              <a:rPr lang="en-US" dirty="0" smtClean="0"/>
              <a:t> </a:t>
            </a:r>
            <a:r>
              <a:rPr lang="en-US" dirty="0" err="1" smtClean="0"/>
              <a:t>mà</a:t>
            </a:r>
            <a:r>
              <a:rPr lang="en-US" dirty="0" smtClean="0"/>
              <a:t> </a:t>
            </a:r>
            <a:r>
              <a:rPr lang="en-US" dirty="0" err="1" smtClean="0"/>
              <a:t>không</a:t>
            </a:r>
            <a:r>
              <a:rPr lang="en-US" dirty="0" smtClean="0"/>
              <a:t> </a:t>
            </a:r>
            <a:r>
              <a:rPr lang="en-US" dirty="0" err="1" smtClean="0"/>
              <a:t>trả</a:t>
            </a:r>
            <a:r>
              <a:rPr lang="en-US" dirty="0"/>
              <a:t> </a:t>
            </a:r>
            <a:r>
              <a:rPr lang="en-US" dirty="0" err="1" smtClean="0"/>
              <a:t>lại</a:t>
            </a:r>
            <a:r>
              <a:rPr lang="en-US" dirty="0" smtClean="0"/>
              <a:t> </a:t>
            </a:r>
            <a:r>
              <a:rPr lang="en-US" dirty="0" err="1" smtClean="0"/>
              <a:t>giá</a:t>
            </a:r>
            <a:r>
              <a:rPr lang="en-US" dirty="0" smtClean="0"/>
              <a:t> </a:t>
            </a:r>
            <a:r>
              <a:rPr lang="en-US" dirty="0" err="1" smtClean="0"/>
              <a:t>trị</a:t>
            </a:r>
            <a:r>
              <a:rPr lang="en-US" dirty="0" smtClean="0"/>
              <a:t> </a:t>
            </a:r>
            <a:r>
              <a:rPr lang="en-US" dirty="0" err="1" smtClean="0"/>
              <a:t>gì</a:t>
            </a:r>
            <a:r>
              <a:rPr lang="en-US" dirty="0" smtClean="0"/>
              <a:t> </a:t>
            </a:r>
            <a:r>
              <a:rPr lang="en-US" dirty="0" err="1" smtClean="0"/>
              <a:t>thì</a:t>
            </a:r>
            <a:r>
              <a:rPr lang="en-US" dirty="0" smtClean="0"/>
              <a:t> </a:t>
            </a:r>
            <a:r>
              <a:rPr lang="en-US" dirty="0" err="1" smtClean="0"/>
              <a:t>thường</a:t>
            </a:r>
            <a:r>
              <a:rPr lang="en-US" dirty="0" smtClean="0"/>
              <a:t> </a:t>
            </a:r>
            <a:r>
              <a:rPr lang="en-US" dirty="0" err="1" smtClean="0"/>
              <a:t>được</a:t>
            </a:r>
            <a:r>
              <a:rPr lang="en-US" dirty="0" smtClean="0"/>
              <a:t> </a:t>
            </a:r>
            <a:r>
              <a:rPr lang="en-US" dirty="0" err="1" smtClean="0"/>
              <a:t>gọi</a:t>
            </a:r>
            <a:r>
              <a:rPr lang="en-US" dirty="0" smtClean="0"/>
              <a:t> </a:t>
            </a:r>
            <a:r>
              <a:rPr lang="en-US" dirty="0" err="1" smtClean="0"/>
              <a:t>là</a:t>
            </a:r>
            <a:r>
              <a:rPr lang="en-US" dirty="0" smtClean="0"/>
              <a:t> </a:t>
            </a:r>
            <a:r>
              <a:rPr lang="en-US" dirty="0" err="1" smtClean="0"/>
              <a:t>hàm</a:t>
            </a:r>
            <a:r>
              <a:rPr lang="en-US" dirty="0" smtClean="0"/>
              <a:t> </a:t>
            </a:r>
            <a:r>
              <a:rPr lang="en-US" b="1" dirty="0" smtClean="0"/>
              <a:t>void</a:t>
            </a:r>
            <a:r>
              <a:rPr lang="en-US" dirty="0" smtClean="0"/>
              <a:t> (</a:t>
            </a:r>
            <a:r>
              <a:rPr lang="en-US" dirty="0" err="1" smtClean="0"/>
              <a:t>Hàm</a:t>
            </a:r>
            <a:r>
              <a:rPr lang="en-US" dirty="0" smtClean="0"/>
              <a:t> </a:t>
            </a:r>
            <a:r>
              <a:rPr lang="en-US" dirty="0" err="1" smtClean="0"/>
              <a:t>thủ</a:t>
            </a:r>
            <a:r>
              <a:rPr lang="en-US" dirty="0" smtClean="0"/>
              <a:t> </a:t>
            </a:r>
            <a:r>
              <a:rPr lang="en-US" dirty="0" err="1" smtClean="0"/>
              <a:t>tục</a:t>
            </a:r>
            <a:r>
              <a:rPr lang="en-US" dirty="0" smtClean="0"/>
              <a:t>)</a:t>
            </a:r>
            <a:endParaRPr lang="en-US" dirty="0"/>
          </a:p>
        </p:txBody>
      </p:sp>
      <p:sp>
        <p:nvSpPr>
          <p:cNvPr id="16" name="Rectangle 15"/>
          <p:cNvSpPr/>
          <p:nvPr/>
        </p:nvSpPr>
        <p:spPr>
          <a:xfrm>
            <a:off x="910062" y="2900440"/>
            <a:ext cx="7846828" cy="195129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3033160"/>
            <a:ext cx="7110974" cy="1477328"/>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a:solidFill>
                  <a:schemeClr val="bg1"/>
                </a:solidFill>
              </a:rPr>
              <a:t>my_function</a:t>
            </a:r>
            <a:r>
              <a:rPr lang="en-US" dirty="0">
                <a:solidFill>
                  <a:srgbClr val="FFC000"/>
                </a:solidFill>
              </a:rPr>
              <a:t>()</a:t>
            </a:r>
            <a:r>
              <a:rPr lang="en-US" dirty="0">
                <a:solidFill>
                  <a:schemeClr val="bg1"/>
                </a:solidFill>
              </a:rPr>
              <a:t>:</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print</a:t>
            </a:r>
            <a:r>
              <a:rPr lang="en-US" dirty="0">
                <a:solidFill>
                  <a:srgbClr val="FFC000"/>
                </a:solidFill>
              </a:rPr>
              <a:t>(</a:t>
            </a:r>
            <a:r>
              <a:rPr lang="en-US" dirty="0">
                <a:solidFill>
                  <a:schemeClr val="accent2">
                    <a:lumMod val="75000"/>
                  </a:schemeClr>
                </a:solidFill>
              </a:rPr>
              <a:t>“</a:t>
            </a:r>
            <a:r>
              <a:rPr lang="en-US" dirty="0" err="1">
                <a:solidFill>
                  <a:schemeClr val="accent2">
                    <a:lumMod val="75000"/>
                  </a:schemeClr>
                </a:solidFill>
              </a:rPr>
              <a:t>Lệnh</a:t>
            </a:r>
            <a:r>
              <a:rPr lang="en-US" dirty="0">
                <a:solidFill>
                  <a:schemeClr val="accent2">
                    <a:lumMod val="75000"/>
                  </a:schemeClr>
                </a:solidFill>
              </a:rPr>
              <a:t> </a:t>
            </a:r>
            <a:r>
              <a:rPr lang="en-US" dirty="0" smtClean="0">
                <a:solidFill>
                  <a:schemeClr val="accent2">
                    <a:lumMod val="75000"/>
                  </a:schemeClr>
                </a:solidFill>
              </a:rPr>
              <a:t>1"</a:t>
            </a:r>
            <a:r>
              <a:rPr lang="en-US" dirty="0" smtClean="0">
                <a:solidFill>
                  <a:srgbClr val="FFC000"/>
                </a:solidFill>
              </a:rPr>
              <a:t>)</a:t>
            </a:r>
            <a:endParaRPr lang="en-US" dirty="0">
              <a:solidFill>
                <a:srgbClr val="FFC000"/>
              </a:solidFill>
            </a:endParaRPr>
          </a:p>
          <a:p>
            <a:r>
              <a:rPr lang="en-US" dirty="0" smtClean="0">
                <a:solidFill>
                  <a:schemeClr val="bg1"/>
                </a:solidFill>
              </a:rPr>
              <a:t>      print</a:t>
            </a:r>
            <a:r>
              <a:rPr lang="en-US" dirty="0" smtClean="0">
                <a:solidFill>
                  <a:srgbClr val="FFC000"/>
                </a:solidFill>
              </a:rPr>
              <a:t>(</a:t>
            </a:r>
            <a:r>
              <a:rPr lang="en-US" dirty="0" smtClean="0">
                <a:solidFill>
                  <a:schemeClr val="accent2">
                    <a:lumMod val="75000"/>
                  </a:schemeClr>
                </a:solidFill>
              </a:rPr>
              <a:t>“</a:t>
            </a:r>
            <a:r>
              <a:rPr lang="en-US" dirty="0" err="1" smtClean="0">
                <a:solidFill>
                  <a:schemeClr val="accent2">
                    <a:lumMod val="75000"/>
                  </a:schemeClr>
                </a:solidFill>
              </a:rPr>
              <a:t>Lệnh</a:t>
            </a:r>
            <a:r>
              <a:rPr lang="en-US" dirty="0" smtClean="0">
                <a:solidFill>
                  <a:schemeClr val="accent2">
                    <a:lumMod val="75000"/>
                  </a:schemeClr>
                </a:solidFill>
              </a:rPr>
              <a:t> 2"</a:t>
            </a:r>
            <a:r>
              <a:rPr lang="en-US" dirty="0" smtClean="0">
                <a:solidFill>
                  <a:srgbClr val="FFC000"/>
                </a:solidFill>
              </a:rPr>
              <a:t>)</a:t>
            </a:r>
          </a:p>
          <a:p>
            <a:r>
              <a:rPr lang="en-US" dirty="0">
                <a:solidFill>
                  <a:srgbClr val="FFC000"/>
                </a:solidFill>
              </a:rPr>
              <a:t>	</a:t>
            </a:r>
            <a:r>
              <a:rPr lang="en-US" dirty="0">
                <a:solidFill>
                  <a:schemeClr val="bg1"/>
                </a:solidFill>
              </a:rPr>
              <a:t/>
            </a:r>
            <a:br>
              <a:rPr lang="en-US" dirty="0">
                <a:solidFill>
                  <a:schemeClr val="bg1"/>
                </a:solidFill>
              </a:rPr>
            </a:br>
            <a:r>
              <a:rPr lang="en-US" dirty="0" err="1">
                <a:solidFill>
                  <a:schemeClr val="bg1"/>
                </a:solidFill>
              </a:rPr>
              <a:t>my_function</a:t>
            </a:r>
            <a:r>
              <a:rPr lang="en-US" dirty="0" smtClean="0">
                <a:solidFill>
                  <a:srgbClr val="FFC000"/>
                </a:solidFill>
              </a:rPr>
              <a:t>() </a:t>
            </a:r>
            <a:r>
              <a:rPr lang="en-US" dirty="0" smtClean="0">
                <a:solidFill>
                  <a:schemeClr val="accent6">
                    <a:lumMod val="75000"/>
                  </a:schemeClr>
                </a:solidFill>
              </a:rPr>
              <a:t>#</a:t>
            </a:r>
            <a:r>
              <a:rPr lang="en-US" dirty="0" err="1" smtClean="0">
                <a:solidFill>
                  <a:schemeClr val="accent6">
                    <a:lumMod val="75000"/>
                  </a:schemeClr>
                </a:solidFill>
              </a:rPr>
              <a:t>Gọi</a:t>
            </a:r>
            <a:r>
              <a:rPr lang="en-US" dirty="0" smtClean="0">
                <a:solidFill>
                  <a:schemeClr val="accent6">
                    <a:lumMod val="75000"/>
                  </a:schemeClr>
                </a:solidFill>
              </a:rPr>
              <a:t> </a:t>
            </a:r>
            <a:r>
              <a:rPr lang="en-US" dirty="0" err="1" smtClean="0">
                <a:solidFill>
                  <a:schemeClr val="accent6">
                    <a:lumMod val="75000"/>
                  </a:schemeClr>
                </a:solidFill>
              </a:rPr>
              <a:t>hàm</a:t>
            </a:r>
            <a:r>
              <a:rPr lang="en-US" dirty="0" smtClean="0">
                <a:solidFill>
                  <a:schemeClr val="accent6">
                    <a:lumMod val="75000"/>
                  </a:schemeClr>
                </a:solidFill>
              </a:rPr>
              <a:t>, </a:t>
            </a:r>
            <a:r>
              <a:rPr lang="en-US" dirty="0" err="1" smtClean="0">
                <a:solidFill>
                  <a:schemeClr val="accent6">
                    <a:lumMod val="75000"/>
                  </a:schemeClr>
                </a:solidFill>
              </a:rPr>
              <a:t>cho</a:t>
            </a:r>
            <a:r>
              <a:rPr lang="en-US" dirty="0" smtClean="0">
                <a:solidFill>
                  <a:schemeClr val="accent6">
                    <a:lumMod val="75000"/>
                  </a:schemeClr>
                </a:solidFill>
              </a:rPr>
              <a:t> </a:t>
            </a:r>
            <a:r>
              <a:rPr lang="en-US" dirty="0" err="1" smtClean="0">
                <a:solidFill>
                  <a:schemeClr val="accent6">
                    <a:lumMod val="75000"/>
                  </a:schemeClr>
                </a:solidFill>
              </a:rPr>
              <a:t>hàm</a:t>
            </a:r>
            <a:r>
              <a:rPr lang="en-US" dirty="0" smtClean="0">
                <a:solidFill>
                  <a:schemeClr val="accent6">
                    <a:lumMod val="75000"/>
                  </a:schemeClr>
                </a:solidFill>
              </a:rPr>
              <a:t> </a:t>
            </a:r>
            <a:r>
              <a:rPr lang="en-US" dirty="0" err="1" smtClean="0">
                <a:solidFill>
                  <a:schemeClr val="accent6">
                    <a:lumMod val="75000"/>
                  </a:schemeClr>
                </a:solidFill>
              </a:rPr>
              <a:t>khởi</a:t>
            </a:r>
            <a:r>
              <a:rPr lang="en-US" dirty="0" smtClean="0">
                <a:solidFill>
                  <a:schemeClr val="accent6">
                    <a:lumMod val="75000"/>
                  </a:schemeClr>
                </a:solidFill>
              </a:rPr>
              <a:t> </a:t>
            </a:r>
            <a:r>
              <a:rPr lang="en-US" dirty="0" err="1" smtClean="0">
                <a:solidFill>
                  <a:schemeClr val="accent6">
                    <a:lumMod val="75000"/>
                  </a:schemeClr>
                </a:solidFill>
              </a:rPr>
              <a:t>chạy</a:t>
            </a:r>
            <a:endParaRPr lang="en-US" dirty="0">
              <a:solidFill>
                <a:schemeClr val="accent6">
                  <a:lumMod val="75000"/>
                </a:schemeClr>
              </a:solidFill>
            </a:endParaRPr>
          </a:p>
        </p:txBody>
      </p:sp>
      <p:sp>
        <p:nvSpPr>
          <p:cNvPr id="24" name="TextBox 23"/>
          <p:cNvSpPr txBox="1"/>
          <p:nvPr/>
        </p:nvSpPr>
        <p:spPr>
          <a:xfrm>
            <a:off x="910062" y="2163169"/>
            <a:ext cx="7208872" cy="369332"/>
          </a:xfrm>
          <a:prstGeom prst="rect">
            <a:avLst/>
          </a:prstGeom>
          <a:noFill/>
        </p:spPr>
        <p:txBody>
          <a:bodyPr wrap="square" rtlCol="0">
            <a:spAutoFit/>
          </a:bodyPr>
          <a:lstStyle/>
          <a:p>
            <a:r>
              <a:rPr lang="en-US" dirty="0" err="1"/>
              <a:t>Một</a:t>
            </a:r>
            <a:r>
              <a:rPr lang="en-US" dirty="0"/>
              <a:t> </a:t>
            </a:r>
            <a:r>
              <a:rPr lang="en-US" dirty="0" err="1"/>
              <a:t>hàm</a:t>
            </a:r>
            <a:r>
              <a:rPr lang="en-US" dirty="0"/>
              <a:t> </a:t>
            </a:r>
            <a:r>
              <a:rPr lang="en-US" dirty="0" err="1"/>
              <a:t>có</a:t>
            </a:r>
            <a:r>
              <a:rPr lang="en-US" dirty="0"/>
              <a:t> </a:t>
            </a:r>
            <a:r>
              <a:rPr lang="en-US" dirty="0" err="1"/>
              <a:t>thể</a:t>
            </a:r>
            <a:r>
              <a:rPr lang="en-US" dirty="0"/>
              <a:t> </a:t>
            </a:r>
            <a:r>
              <a:rPr lang="en-US" dirty="0" err="1"/>
              <a:t>có</a:t>
            </a:r>
            <a:r>
              <a:rPr lang="en-US" dirty="0"/>
              <a:t> </a:t>
            </a:r>
            <a:r>
              <a:rPr lang="en-US" dirty="0" err="1"/>
              <a:t>hoặc</a:t>
            </a:r>
            <a:r>
              <a:rPr lang="en-US" dirty="0"/>
              <a:t> </a:t>
            </a:r>
            <a:r>
              <a:rPr lang="en-US" dirty="0" err="1"/>
              <a:t>không</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trả</a:t>
            </a:r>
            <a:r>
              <a:rPr lang="en-US" dirty="0"/>
              <a:t> </a:t>
            </a:r>
            <a:r>
              <a:rPr lang="en-US" dirty="0" err="1"/>
              <a:t>về</a:t>
            </a:r>
            <a:r>
              <a:rPr lang="en-US" dirty="0"/>
              <a:t> (return value)</a:t>
            </a:r>
          </a:p>
        </p:txBody>
      </p:sp>
    </p:spTree>
    <p:extLst>
      <p:ext uri="{BB962C8B-B14F-4D97-AF65-F5344CB8AC3E}">
        <p14:creationId xmlns:p14="http://schemas.microsoft.com/office/powerpoint/2010/main" val="14487587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19</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6.3 </a:t>
            </a:r>
            <a:r>
              <a:rPr lang="en-US" dirty="0" smtClean="0"/>
              <a:t>function </a:t>
            </a:r>
            <a:r>
              <a:rPr lang="en-US" dirty="0" err="1" smtClean="0"/>
              <a:t>có</a:t>
            </a:r>
            <a:r>
              <a:rPr lang="en-US" dirty="0" smtClean="0"/>
              <a:t> </a:t>
            </a:r>
            <a:r>
              <a:rPr lang="en-US" dirty="0" err="1" smtClean="0"/>
              <a:t>chứa</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tham</a:t>
            </a:r>
            <a:r>
              <a:rPr lang="en-US" dirty="0" smtClean="0"/>
              <a:t> </a:t>
            </a:r>
            <a:r>
              <a:rPr lang="en-US" dirty="0" err="1" smtClean="0"/>
              <a:t>số</a:t>
            </a:r>
            <a:r>
              <a:rPr lang="en-US" dirty="0" smtClean="0"/>
              <a:t> </a:t>
            </a:r>
            <a:r>
              <a:rPr lang="en-US" dirty="0" err="1" smtClean="0"/>
              <a:t>tùy</a:t>
            </a:r>
            <a:r>
              <a:rPr lang="en-US" dirty="0" smtClean="0"/>
              <a:t> </a:t>
            </a:r>
            <a:r>
              <a:rPr lang="en-US" dirty="0" err="1" smtClean="0"/>
              <a:t>chọn</a:t>
            </a:r>
            <a:endParaRPr lang="en-US" dirty="0"/>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5018565" cy="369332"/>
          </a:xfrm>
          <a:prstGeom prst="rect">
            <a:avLst/>
          </a:prstGeom>
          <a:noFill/>
        </p:spPr>
        <p:txBody>
          <a:bodyPr wrap="square" rtlCol="0">
            <a:spAutoFit/>
          </a:bodyPr>
          <a:lstStyle/>
          <a:p>
            <a:r>
              <a:rPr lang="en-US" b="1" smtClean="0"/>
              <a:t>6.3.1 </a:t>
            </a:r>
            <a:r>
              <a:rPr lang="en-US" b="1" dirty="0" smtClean="0"/>
              <a:t>Function </a:t>
            </a:r>
            <a:r>
              <a:rPr lang="en-US" b="1" dirty="0" err="1" smtClean="0"/>
              <a:t>có</a:t>
            </a:r>
            <a:r>
              <a:rPr lang="en-US" b="1" dirty="0" smtClean="0"/>
              <a:t> </a:t>
            </a:r>
            <a:r>
              <a:rPr lang="en-US" b="1" dirty="0" err="1" smtClean="0"/>
              <a:t>chứa</a:t>
            </a:r>
            <a:r>
              <a:rPr lang="en-US" b="1" dirty="0" smtClean="0"/>
              <a:t> </a:t>
            </a:r>
            <a:r>
              <a:rPr lang="en-US" b="1" dirty="0" err="1" smtClean="0"/>
              <a:t>tham</a:t>
            </a:r>
            <a:r>
              <a:rPr lang="en-US" b="1" dirty="0" smtClean="0"/>
              <a:t> </a:t>
            </a:r>
            <a:r>
              <a:rPr lang="en-US" b="1" dirty="0" err="1" smtClean="0"/>
              <a:t>số</a:t>
            </a:r>
            <a:r>
              <a:rPr lang="en-US" b="1" dirty="0" smtClean="0"/>
              <a:t> (parameter)</a:t>
            </a:r>
            <a:endParaRPr lang="en-US" b="1" dirty="0">
              <a:solidFill>
                <a:srgbClr val="FF0000"/>
              </a:solidFill>
            </a:endParaRPr>
          </a:p>
        </p:txBody>
      </p:sp>
      <p:sp>
        <p:nvSpPr>
          <p:cNvPr id="16" name="Rectangle 15"/>
          <p:cNvSpPr/>
          <p:nvPr/>
        </p:nvSpPr>
        <p:spPr>
          <a:xfrm>
            <a:off x="910062" y="4346469"/>
            <a:ext cx="7846828" cy="104869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4479188"/>
            <a:ext cx="7110974" cy="646331"/>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smtClean="0">
                <a:solidFill>
                  <a:schemeClr val="bg1"/>
                </a:solidFill>
              </a:rPr>
              <a:t>hello_name</a:t>
            </a:r>
            <a:r>
              <a:rPr lang="en-US" dirty="0" smtClean="0">
                <a:solidFill>
                  <a:srgbClr val="FFC000"/>
                </a:solidFill>
              </a:rPr>
              <a:t>(</a:t>
            </a:r>
            <a:r>
              <a:rPr lang="en-US" dirty="0" smtClean="0">
                <a:solidFill>
                  <a:schemeClr val="bg1"/>
                </a:solidFill>
              </a:rPr>
              <a:t>name</a:t>
            </a:r>
            <a:r>
              <a:rPr lang="en-US" dirty="0" smtClean="0">
                <a:solidFill>
                  <a:srgbClr val="FFC000"/>
                </a:solidFill>
              </a:rPr>
              <a:t>)</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print</a:t>
            </a:r>
            <a:r>
              <a:rPr lang="en-US" dirty="0" smtClean="0">
                <a:solidFill>
                  <a:srgbClr val="FFC000"/>
                </a:solidFill>
              </a:rPr>
              <a:t>(</a:t>
            </a:r>
            <a:r>
              <a:rPr lang="en-US" dirty="0" smtClean="0">
                <a:solidFill>
                  <a:schemeClr val="accent2">
                    <a:lumMod val="75000"/>
                  </a:schemeClr>
                </a:solidFill>
              </a:rPr>
              <a:t>“Hello “ + name</a:t>
            </a:r>
            <a:r>
              <a:rPr lang="en-US" dirty="0" smtClean="0">
                <a:solidFill>
                  <a:srgbClr val="FFC000"/>
                </a:solidFill>
              </a:rPr>
              <a:t>) </a:t>
            </a:r>
            <a:r>
              <a:rPr lang="en-US" dirty="0">
                <a:solidFill>
                  <a:srgbClr val="FFC000"/>
                </a:solidFill>
              </a:rPr>
              <a:t>	</a:t>
            </a:r>
            <a:endParaRPr lang="en-US" dirty="0" smtClean="0">
              <a:solidFill>
                <a:srgbClr val="FFC000"/>
              </a:solidFill>
            </a:endParaRPr>
          </a:p>
        </p:txBody>
      </p:sp>
      <p:sp>
        <p:nvSpPr>
          <p:cNvPr id="24" name="TextBox 23"/>
          <p:cNvSpPr txBox="1"/>
          <p:nvPr/>
        </p:nvSpPr>
        <p:spPr>
          <a:xfrm>
            <a:off x="910062" y="2163169"/>
            <a:ext cx="7670412" cy="646331"/>
          </a:xfrm>
          <a:prstGeom prst="rect">
            <a:avLst/>
          </a:prstGeom>
          <a:noFill/>
        </p:spPr>
        <p:txBody>
          <a:bodyPr wrap="square" rtlCol="0">
            <a:spAutoFit/>
          </a:bodyPr>
          <a:lstStyle/>
          <a:p>
            <a:r>
              <a:rPr lang="en-US" b="1" dirty="0" err="1"/>
              <a:t>Tham</a:t>
            </a:r>
            <a:r>
              <a:rPr lang="en-US" b="1" dirty="0"/>
              <a:t> </a:t>
            </a:r>
            <a:r>
              <a:rPr lang="en-US" b="1" dirty="0" err="1"/>
              <a:t>số</a:t>
            </a:r>
            <a:r>
              <a:rPr lang="en-US" b="1" dirty="0"/>
              <a:t> (Parameters</a:t>
            </a:r>
            <a:r>
              <a:rPr lang="en-US" b="1" dirty="0" smtClean="0"/>
              <a:t>): </a:t>
            </a:r>
            <a:r>
              <a:rPr lang="vi-VN" dirty="0" smtClean="0"/>
              <a:t>là </a:t>
            </a:r>
            <a:r>
              <a:rPr lang="vi-VN" dirty="0"/>
              <a:t>các biến được khai báo trong phần khai báo hàm, nhằm đại diện cho các giá trị sẽ được truyền vào khi gọi hàm</a:t>
            </a:r>
            <a:endParaRPr lang="en-US" dirty="0"/>
          </a:p>
        </p:txBody>
      </p:sp>
      <p:sp>
        <p:nvSpPr>
          <p:cNvPr id="10" name="TextBox 9"/>
          <p:cNvSpPr txBox="1"/>
          <p:nvPr/>
        </p:nvSpPr>
        <p:spPr>
          <a:xfrm>
            <a:off x="910062" y="2941015"/>
            <a:ext cx="7670412" cy="369332"/>
          </a:xfrm>
          <a:prstGeom prst="rect">
            <a:avLst/>
          </a:prstGeom>
          <a:noFill/>
        </p:spPr>
        <p:txBody>
          <a:bodyPr wrap="square" rtlCol="0">
            <a:spAutoFit/>
          </a:bodyPr>
          <a:lstStyle/>
          <a:p>
            <a:r>
              <a:rPr lang="vi-VN" dirty="0"/>
              <a:t>Tham số được đặt tên và có thể có hoặc không có giá trị mặc định</a:t>
            </a:r>
            <a:endParaRPr lang="en-US" dirty="0"/>
          </a:p>
        </p:txBody>
      </p:sp>
      <p:sp>
        <p:nvSpPr>
          <p:cNvPr id="14" name="TextBox 13"/>
          <p:cNvSpPr txBox="1"/>
          <p:nvPr/>
        </p:nvSpPr>
        <p:spPr>
          <a:xfrm>
            <a:off x="910062" y="3416460"/>
            <a:ext cx="7670412" cy="646331"/>
          </a:xfrm>
          <a:prstGeom prst="rect">
            <a:avLst/>
          </a:prstGeom>
          <a:noFill/>
        </p:spPr>
        <p:txBody>
          <a:bodyPr wrap="square" rtlCol="0">
            <a:spAutoFit/>
          </a:bodyPr>
          <a:lstStyle/>
          <a:p>
            <a:r>
              <a:rPr lang="en-US" dirty="0" err="1"/>
              <a:t>Khi</a:t>
            </a:r>
            <a:r>
              <a:rPr lang="en-US" dirty="0"/>
              <a:t> </a:t>
            </a:r>
            <a:r>
              <a:rPr lang="en-US" dirty="0" err="1"/>
              <a:t>bạn</a:t>
            </a:r>
            <a:r>
              <a:rPr lang="en-US" dirty="0"/>
              <a:t> </a:t>
            </a:r>
            <a:r>
              <a:rPr lang="en-US" dirty="0" err="1"/>
              <a:t>định</a:t>
            </a:r>
            <a:r>
              <a:rPr lang="en-US" dirty="0"/>
              <a:t> </a:t>
            </a:r>
            <a:r>
              <a:rPr lang="en-US" dirty="0" err="1"/>
              <a:t>nghĩa</a:t>
            </a:r>
            <a:r>
              <a:rPr lang="en-US" dirty="0"/>
              <a:t> </a:t>
            </a:r>
            <a:r>
              <a:rPr lang="en-US" dirty="0" err="1"/>
              <a:t>hàm</a:t>
            </a:r>
            <a:r>
              <a:rPr lang="en-US" dirty="0"/>
              <a:t>, </a:t>
            </a:r>
            <a:r>
              <a:rPr lang="en-US" dirty="0" err="1"/>
              <a:t>bạn</a:t>
            </a:r>
            <a:r>
              <a:rPr lang="en-US" dirty="0"/>
              <a:t> </a:t>
            </a:r>
            <a:r>
              <a:rPr lang="en-US" dirty="0" err="1"/>
              <a:t>có</a:t>
            </a:r>
            <a:r>
              <a:rPr lang="en-US" dirty="0"/>
              <a:t> </a:t>
            </a:r>
            <a:r>
              <a:rPr lang="en-US" dirty="0" err="1"/>
              <a:t>thể</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dirty="0" err="1"/>
              <a:t>tham</a:t>
            </a:r>
            <a:r>
              <a:rPr lang="en-US" dirty="0"/>
              <a:t> </a:t>
            </a:r>
            <a:r>
              <a:rPr lang="en-US" dirty="0" err="1"/>
              <a:t>số</a:t>
            </a:r>
            <a:r>
              <a:rPr lang="en-US" dirty="0"/>
              <a:t>, </a:t>
            </a:r>
            <a:r>
              <a:rPr lang="en-US" dirty="0" err="1"/>
              <a:t>phân</a:t>
            </a:r>
            <a:r>
              <a:rPr lang="en-US" dirty="0"/>
              <a:t> </a:t>
            </a:r>
            <a:r>
              <a:rPr lang="en-US" dirty="0" err="1"/>
              <a:t>tách</a:t>
            </a:r>
            <a:r>
              <a:rPr lang="en-US" dirty="0"/>
              <a:t> </a:t>
            </a:r>
            <a:r>
              <a:rPr lang="en-US" dirty="0" err="1"/>
              <a:t>chúng</a:t>
            </a:r>
            <a:r>
              <a:rPr lang="en-US" dirty="0"/>
              <a:t> </a:t>
            </a:r>
            <a:r>
              <a:rPr lang="en-US" dirty="0" err="1"/>
              <a:t>bằng</a:t>
            </a:r>
            <a:r>
              <a:rPr lang="en-US" dirty="0"/>
              <a:t> </a:t>
            </a:r>
            <a:r>
              <a:rPr lang="en-US" dirty="0" err="1"/>
              <a:t>dấu</a:t>
            </a:r>
            <a:r>
              <a:rPr lang="en-US" dirty="0"/>
              <a:t> </a:t>
            </a:r>
            <a:r>
              <a:rPr lang="en-US" dirty="0" err="1"/>
              <a:t>phẩy</a:t>
            </a:r>
            <a:endParaRPr lang="en-US" dirty="0"/>
          </a:p>
        </p:txBody>
      </p:sp>
      <p:sp>
        <p:nvSpPr>
          <p:cNvPr id="3" name="Flowchart: Decision 2"/>
          <p:cNvSpPr/>
          <p:nvPr/>
        </p:nvSpPr>
        <p:spPr>
          <a:xfrm>
            <a:off x="710426" y="227345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Decision 14"/>
          <p:cNvSpPr/>
          <p:nvPr/>
        </p:nvSpPr>
        <p:spPr>
          <a:xfrm>
            <a:off x="710426" y="3008773"/>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Decision 17"/>
          <p:cNvSpPr/>
          <p:nvPr/>
        </p:nvSpPr>
        <p:spPr>
          <a:xfrm>
            <a:off x="710426" y="350850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5796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20</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6.3 </a:t>
            </a:r>
            <a:r>
              <a:rPr lang="en-US" dirty="0" smtClean="0"/>
              <a:t>function </a:t>
            </a:r>
            <a:r>
              <a:rPr lang="en-US" dirty="0" err="1" smtClean="0"/>
              <a:t>có</a:t>
            </a:r>
            <a:r>
              <a:rPr lang="en-US" dirty="0" smtClean="0"/>
              <a:t> </a:t>
            </a:r>
            <a:r>
              <a:rPr lang="en-US" dirty="0" err="1" smtClean="0"/>
              <a:t>chứa</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tham</a:t>
            </a:r>
            <a:r>
              <a:rPr lang="en-US" dirty="0" smtClean="0"/>
              <a:t> </a:t>
            </a:r>
            <a:r>
              <a:rPr lang="en-US" dirty="0" err="1" smtClean="0"/>
              <a:t>số</a:t>
            </a:r>
            <a:r>
              <a:rPr lang="en-US" dirty="0" smtClean="0"/>
              <a:t> </a:t>
            </a:r>
            <a:r>
              <a:rPr lang="en-US" dirty="0" err="1" smtClean="0"/>
              <a:t>tùy</a:t>
            </a:r>
            <a:r>
              <a:rPr lang="en-US" dirty="0" smtClean="0"/>
              <a:t> </a:t>
            </a:r>
            <a:r>
              <a:rPr lang="en-US" dirty="0" err="1" smtClean="0"/>
              <a:t>chọn</a:t>
            </a:r>
            <a:endParaRPr lang="en-US" dirty="0"/>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5018565" cy="369332"/>
          </a:xfrm>
          <a:prstGeom prst="rect">
            <a:avLst/>
          </a:prstGeom>
          <a:noFill/>
        </p:spPr>
        <p:txBody>
          <a:bodyPr wrap="square" rtlCol="0">
            <a:spAutoFit/>
          </a:bodyPr>
          <a:lstStyle/>
          <a:p>
            <a:r>
              <a:rPr lang="en-US" b="1" smtClean="0"/>
              <a:t>6.3.1 </a:t>
            </a:r>
            <a:r>
              <a:rPr lang="en-US" b="1" dirty="0" smtClean="0"/>
              <a:t>Function </a:t>
            </a:r>
            <a:r>
              <a:rPr lang="en-US" b="1" dirty="0" err="1" smtClean="0"/>
              <a:t>có</a:t>
            </a:r>
            <a:r>
              <a:rPr lang="en-US" b="1" dirty="0" smtClean="0"/>
              <a:t> </a:t>
            </a:r>
            <a:r>
              <a:rPr lang="en-US" b="1" dirty="0" err="1" smtClean="0"/>
              <a:t>chứa</a:t>
            </a:r>
            <a:r>
              <a:rPr lang="en-US" b="1" dirty="0" smtClean="0"/>
              <a:t> </a:t>
            </a:r>
            <a:r>
              <a:rPr lang="en-US" b="1" dirty="0" err="1" smtClean="0"/>
              <a:t>tham</a:t>
            </a:r>
            <a:r>
              <a:rPr lang="en-US" b="1" dirty="0" smtClean="0"/>
              <a:t> </a:t>
            </a:r>
            <a:r>
              <a:rPr lang="en-US" b="1" dirty="0" err="1" smtClean="0"/>
              <a:t>số</a:t>
            </a:r>
            <a:r>
              <a:rPr lang="en-US" b="1" dirty="0" smtClean="0"/>
              <a:t> (parameter)</a:t>
            </a:r>
            <a:endParaRPr lang="en-US" b="1" dirty="0">
              <a:solidFill>
                <a:srgbClr val="FF0000"/>
              </a:solidFill>
            </a:endParaRPr>
          </a:p>
        </p:txBody>
      </p:sp>
      <p:sp>
        <p:nvSpPr>
          <p:cNvPr id="16" name="Rectangle 15"/>
          <p:cNvSpPr/>
          <p:nvPr/>
        </p:nvSpPr>
        <p:spPr>
          <a:xfrm>
            <a:off x="910062" y="4151404"/>
            <a:ext cx="7846828" cy="233445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4284124"/>
            <a:ext cx="7110974" cy="2031325"/>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smtClean="0">
                <a:solidFill>
                  <a:schemeClr val="bg1"/>
                </a:solidFill>
              </a:rPr>
              <a:t>hello_name</a:t>
            </a:r>
            <a:r>
              <a:rPr lang="en-US" dirty="0" smtClean="0">
                <a:solidFill>
                  <a:srgbClr val="FFC000"/>
                </a:solidFill>
              </a:rPr>
              <a:t>(</a:t>
            </a:r>
            <a:r>
              <a:rPr lang="en-US" dirty="0" smtClean="0">
                <a:solidFill>
                  <a:schemeClr val="bg1"/>
                </a:solidFill>
              </a:rPr>
              <a:t>name</a:t>
            </a:r>
            <a:r>
              <a:rPr lang="en-US" dirty="0" smtClean="0">
                <a:solidFill>
                  <a:srgbClr val="FFC000"/>
                </a:solidFill>
              </a:rPr>
              <a:t>)</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print</a:t>
            </a:r>
            <a:r>
              <a:rPr lang="en-US" dirty="0" smtClean="0">
                <a:solidFill>
                  <a:srgbClr val="FFC000"/>
                </a:solidFill>
              </a:rPr>
              <a:t>(</a:t>
            </a:r>
            <a:r>
              <a:rPr lang="en-US" dirty="0" smtClean="0">
                <a:solidFill>
                  <a:schemeClr val="accent2">
                    <a:lumMod val="75000"/>
                  </a:schemeClr>
                </a:solidFill>
              </a:rPr>
              <a:t>“Hello “ + name</a:t>
            </a:r>
            <a:r>
              <a:rPr lang="en-US" dirty="0" smtClean="0">
                <a:solidFill>
                  <a:srgbClr val="FFC000"/>
                </a:solidFill>
              </a:rPr>
              <a:t>) </a:t>
            </a:r>
            <a:r>
              <a:rPr lang="en-US" dirty="0">
                <a:solidFill>
                  <a:srgbClr val="FFC000"/>
                </a:solidFill>
              </a:rPr>
              <a:t>	</a:t>
            </a:r>
            <a:endParaRPr lang="en-US" dirty="0" smtClean="0">
              <a:solidFill>
                <a:srgbClr val="FFC000"/>
              </a:solidFill>
            </a:endParaRPr>
          </a:p>
          <a:p>
            <a:r>
              <a:rPr lang="en-US" dirty="0">
                <a:solidFill>
                  <a:schemeClr val="bg1"/>
                </a:solidFill>
              </a:rPr>
              <a:t/>
            </a:r>
            <a:br>
              <a:rPr lang="en-US" dirty="0">
                <a:solidFill>
                  <a:schemeClr val="bg1"/>
                </a:solidFill>
              </a:rPr>
            </a:br>
            <a:r>
              <a:rPr lang="en-US" dirty="0" err="1" smtClean="0">
                <a:solidFill>
                  <a:schemeClr val="bg1"/>
                </a:solidFill>
              </a:rPr>
              <a:t>hello_name</a:t>
            </a:r>
            <a:r>
              <a:rPr lang="en-US" dirty="0" smtClean="0">
                <a:solidFill>
                  <a:srgbClr val="FFC000"/>
                </a:solidFill>
              </a:rPr>
              <a:t>(</a:t>
            </a:r>
            <a:r>
              <a:rPr lang="en-US" dirty="0" smtClean="0">
                <a:solidFill>
                  <a:schemeClr val="bg1"/>
                </a:solidFill>
              </a:rPr>
              <a:t>“</a:t>
            </a:r>
            <a:r>
              <a:rPr lang="en-US" dirty="0" err="1" smtClean="0">
                <a:solidFill>
                  <a:schemeClr val="bg1"/>
                </a:solidFill>
              </a:rPr>
              <a:t>Jonh</a:t>
            </a:r>
            <a:r>
              <a:rPr lang="en-US" dirty="0" smtClean="0">
                <a:solidFill>
                  <a:schemeClr val="bg1"/>
                </a:solidFill>
              </a:rPr>
              <a:t>”</a:t>
            </a:r>
            <a:r>
              <a:rPr lang="en-US" dirty="0" smtClean="0">
                <a:solidFill>
                  <a:srgbClr val="FFC000"/>
                </a:solidFill>
              </a:rPr>
              <a:t>) </a:t>
            </a:r>
            <a:r>
              <a:rPr lang="en-US" dirty="0" smtClean="0">
                <a:solidFill>
                  <a:schemeClr val="accent6">
                    <a:lumMod val="75000"/>
                  </a:schemeClr>
                </a:solidFill>
              </a:rPr>
              <a:t>#</a:t>
            </a:r>
            <a:r>
              <a:rPr lang="en-US" dirty="0" err="1" smtClean="0">
                <a:solidFill>
                  <a:schemeClr val="accent6">
                    <a:lumMod val="75000"/>
                  </a:schemeClr>
                </a:solidFill>
              </a:rPr>
              <a:t>Gọi</a:t>
            </a:r>
            <a:r>
              <a:rPr lang="en-US" dirty="0" smtClean="0">
                <a:solidFill>
                  <a:schemeClr val="accent6">
                    <a:lumMod val="75000"/>
                  </a:schemeClr>
                </a:solidFill>
              </a:rPr>
              <a:t> </a:t>
            </a:r>
            <a:r>
              <a:rPr lang="en-US" dirty="0" err="1" smtClean="0">
                <a:solidFill>
                  <a:schemeClr val="accent6">
                    <a:lumMod val="75000"/>
                  </a:schemeClr>
                </a:solidFill>
              </a:rPr>
              <a:t>hàm</a:t>
            </a:r>
            <a:r>
              <a:rPr lang="en-US" dirty="0" smtClean="0">
                <a:solidFill>
                  <a:schemeClr val="accent6">
                    <a:lumMod val="75000"/>
                  </a:schemeClr>
                </a:solidFill>
              </a:rPr>
              <a:t>, </a:t>
            </a:r>
            <a:r>
              <a:rPr lang="en-US" dirty="0" err="1" smtClean="0">
                <a:solidFill>
                  <a:schemeClr val="accent6">
                    <a:lumMod val="75000"/>
                  </a:schemeClr>
                </a:solidFill>
              </a:rPr>
              <a:t>cho</a:t>
            </a:r>
            <a:r>
              <a:rPr lang="en-US" dirty="0" smtClean="0">
                <a:solidFill>
                  <a:schemeClr val="accent6">
                    <a:lumMod val="75000"/>
                  </a:schemeClr>
                </a:solidFill>
              </a:rPr>
              <a:t> </a:t>
            </a:r>
            <a:r>
              <a:rPr lang="en-US" dirty="0" err="1" smtClean="0">
                <a:solidFill>
                  <a:schemeClr val="accent6">
                    <a:lumMod val="75000"/>
                  </a:schemeClr>
                </a:solidFill>
              </a:rPr>
              <a:t>hàm</a:t>
            </a:r>
            <a:r>
              <a:rPr lang="en-US" dirty="0" smtClean="0">
                <a:solidFill>
                  <a:schemeClr val="accent6">
                    <a:lumMod val="75000"/>
                  </a:schemeClr>
                </a:solidFill>
              </a:rPr>
              <a:t> </a:t>
            </a:r>
            <a:r>
              <a:rPr lang="en-US" dirty="0" err="1" smtClean="0">
                <a:solidFill>
                  <a:schemeClr val="accent6">
                    <a:lumMod val="75000"/>
                  </a:schemeClr>
                </a:solidFill>
              </a:rPr>
              <a:t>khởi</a:t>
            </a:r>
            <a:r>
              <a:rPr lang="en-US" dirty="0" smtClean="0">
                <a:solidFill>
                  <a:schemeClr val="accent6">
                    <a:lumMod val="75000"/>
                  </a:schemeClr>
                </a:solidFill>
              </a:rPr>
              <a:t> </a:t>
            </a:r>
            <a:r>
              <a:rPr lang="en-US" dirty="0" err="1" smtClean="0">
                <a:solidFill>
                  <a:schemeClr val="accent6">
                    <a:lumMod val="75000"/>
                  </a:schemeClr>
                </a:solidFill>
              </a:rPr>
              <a:t>chạy</a:t>
            </a:r>
            <a:endParaRPr lang="en-US" dirty="0" smtClean="0">
              <a:solidFill>
                <a:schemeClr val="accent6">
                  <a:lumMod val="75000"/>
                </a:schemeClr>
              </a:solidFill>
            </a:endParaRPr>
          </a:p>
          <a:p>
            <a:endParaRPr lang="en-US" dirty="0" smtClean="0">
              <a:solidFill>
                <a:schemeClr val="bg1"/>
              </a:solidFill>
            </a:endParaRPr>
          </a:p>
          <a:p>
            <a:r>
              <a:rPr lang="en-US" dirty="0" smtClean="0">
                <a:solidFill>
                  <a:schemeClr val="bg1"/>
                </a:solidFill>
              </a:rPr>
              <a:t>name =</a:t>
            </a:r>
            <a:r>
              <a:rPr lang="en-US" dirty="0" smtClean="0">
                <a:solidFill>
                  <a:schemeClr val="accent6">
                    <a:lumMod val="75000"/>
                  </a:schemeClr>
                </a:solidFill>
              </a:rPr>
              <a:t> </a:t>
            </a:r>
            <a:r>
              <a:rPr lang="en-US" dirty="0" smtClean="0">
                <a:solidFill>
                  <a:schemeClr val="accent2">
                    <a:lumMod val="75000"/>
                  </a:schemeClr>
                </a:solidFill>
              </a:rPr>
              <a:t>‘</a:t>
            </a:r>
            <a:r>
              <a:rPr lang="en-US" dirty="0" err="1" smtClean="0">
                <a:solidFill>
                  <a:schemeClr val="accent2">
                    <a:lumMod val="75000"/>
                  </a:schemeClr>
                </a:solidFill>
              </a:rPr>
              <a:t>Jonh</a:t>
            </a:r>
            <a:r>
              <a:rPr lang="en-US" dirty="0" smtClean="0">
                <a:solidFill>
                  <a:schemeClr val="accent2">
                    <a:lumMod val="75000"/>
                  </a:schemeClr>
                </a:solidFill>
              </a:rPr>
              <a:t>’</a:t>
            </a:r>
          </a:p>
          <a:p>
            <a:r>
              <a:rPr lang="en-US" dirty="0" err="1" smtClean="0">
                <a:solidFill>
                  <a:schemeClr val="bg1"/>
                </a:solidFill>
              </a:rPr>
              <a:t>hello_name</a:t>
            </a:r>
            <a:r>
              <a:rPr lang="en-US" dirty="0" smtClean="0">
                <a:solidFill>
                  <a:srgbClr val="FFC000"/>
                </a:solidFill>
              </a:rPr>
              <a:t>(</a:t>
            </a:r>
            <a:r>
              <a:rPr lang="en-US" dirty="0" smtClean="0">
                <a:solidFill>
                  <a:schemeClr val="bg1"/>
                </a:solidFill>
              </a:rPr>
              <a:t>name</a:t>
            </a:r>
            <a:r>
              <a:rPr lang="en-US" dirty="0" smtClean="0">
                <a:solidFill>
                  <a:srgbClr val="FFC000"/>
                </a:solidFill>
              </a:rPr>
              <a:t>) </a:t>
            </a:r>
            <a:r>
              <a:rPr lang="en-US" dirty="0" smtClean="0">
                <a:solidFill>
                  <a:schemeClr val="accent6">
                    <a:lumMod val="75000"/>
                  </a:schemeClr>
                </a:solidFill>
              </a:rPr>
              <a:t>#</a:t>
            </a:r>
            <a:r>
              <a:rPr lang="en-US" dirty="0" err="1" smtClean="0">
                <a:solidFill>
                  <a:schemeClr val="accent6">
                    <a:lumMod val="75000"/>
                  </a:schemeClr>
                </a:solidFill>
              </a:rPr>
              <a:t>đối</a:t>
            </a:r>
            <a:r>
              <a:rPr lang="en-US" dirty="0" smtClean="0">
                <a:solidFill>
                  <a:schemeClr val="accent6">
                    <a:lumMod val="75000"/>
                  </a:schemeClr>
                </a:solidFill>
              </a:rPr>
              <a:t> </a:t>
            </a:r>
            <a:r>
              <a:rPr lang="en-US" dirty="0" err="1" smtClean="0">
                <a:solidFill>
                  <a:schemeClr val="accent6">
                    <a:lumMod val="75000"/>
                  </a:schemeClr>
                </a:solidFill>
              </a:rPr>
              <a:t>số</a:t>
            </a:r>
            <a:r>
              <a:rPr lang="en-US" dirty="0" smtClean="0">
                <a:solidFill>
                  <a:schemeClr val="accent6">
                    <a:lumMod val="75000"/>
                  </a:schemeClr>
                </a:solidFill>
              </a:rPr>
              <a:t> </a:t>
            </a:r>
            <a:r>
              <a:rPr lang="en-US" dirty="0" err="1" smtClean="0">
                <a:solidFill>
                  <a:schemeClr val="accent6">
                    <a:lumMod val="75000"/>
                  </a:schemeClr>
                </a:solidFill>
              </a:rPr>
              <a:t>có</a:t>
            </a:r>
            <a:r>
              <a:rPr lang="en-US" dirty="0" smtClean="0">
                <a:solidFill>
                  <a:schemeClr val="accent6">
                    <a:lumMod val="75000"/>
                  </a:schemeClr>
                </a:solidFill>
              </a:rPr>
              <a:t> </a:t>
            </a:r>
            <a:r>
              <a:rPr lang="en-US" dirty="0" err="1" smtClean="0">
                <a:solidFill>
                  <a:schemeClr val="accent6">
                    <a:lumMod val="75000"/>
                  </a:schemeClr>
                </a:solidFill>
              </a:rPr>
              <a:t>thể</a:t>
            </a:r>
            <a:r>
              <a:rPr lang="en-US" dirty="0" smtClean="0">
                <a:solidFill>
                  <a:schemeClr val="accent6">
                    <a:lumMod val="75000"/>
                  </a:schemeClr>
                </a:solidFill>
              </a:rPr>
              <a:t> </a:t>
            </a:r>
            <a:r>
              <a:rPr lang="en-US" dirty="0" err="1" smtClean="0">
                <a:solidFill>
                  <a:schemeClr val="accent6">
                    <a:lumMod val="75000"/>
                  </a:schemeClr>
                </a:solidFill>
              </a:rPr>
              <a:t>là</a:t>
            </a:r>
            <a:r>
              <a:rPr lang="en-US" dirty="0" smtClean="0">
                <a:solidFill>
                  <a:schemeClr val="accent6">
                    <a:lumMod val="75000"/>
                  </a:schemeClr>
                </a:solidFill>
              </a:rPr>
              <a:t> </a:t>
            </a:r>
            <a:r>
              <a:rPr lang="en-US" dirty="0" err="1" smtClean="0">
                <a:solidFill>
                  <a:schemeClr val="accent6">
                    <a:lumMod val="75000"/>
                  </a:schemeClr>
                </a:solidFill>
              </a:rPr>
              <a:t>biến</a:t>
            </a:r>
            <a:endParaRPr lang="en-US" dirty="0">
              <a:solidFill>
                <a:schemeClr val="accent6">
                  <a:lumMod val="75000"/>
                </a:schemeClr>
              </a:solidFill>
            </a:endParaRPr>
          </a:p>
        </p:txBody>
      </p:sp>
      <p:sp>
        <p:nvSpPr>
          <p:cNvPr id="24" name="TextBox 23"/>
          <p:cNvSpPr txBox="1"/>
          <p:nvPr/>
        </p:nvSpPr>
        <p:spPr>
          <a:xfrm>
            <a:off x="910062" y="2163169"/>
            <a:ext cx="7670412" cy="646331"/>
          </a:xfrm>
          <a:prstGeom prst="rect">
            <a:avLst/>
          </a:prstGeom>
          <a:noFill/>
        </p:spPr>
        <p:txBody>
          <a:bodyPr wrap="square" rtlCol="0">
            <a:spAutoFit/>
          </a:bodyPr>
          <a:lstStyle/>
          <a:p>
            <a:r>
              <a:rPr lang="en-US" b="1" dirty="0" err="1"/>
              <a:t>Đối</a:t>
            </a:r>
            <a:r>
              <a:rPr lang="en-US" b="1" dirty="0"/>
              <a:t> </a:t>
            </a:r>
            <a:r>
              <a:rPr lang="en-US" b="1" dirty="0" err="1"/>
              <a:t>số</a:t>
            </a:r>
            <a:r>
              <a:rPr lang="en-US" b="1" dirty="0"/>
              <a:t> (Arguments</a:t>
            </a:r>
            <a:r>
              <a:rPr lang="en-US" b="1" dirty="0" smtClean="0"/>
              <a:t>):</a:t>
            </a:r>
            <a:r>
              <a:rPr lang="en-US" dirty="0" smtClean="0"/>
              <a:t> </a:t>
            </a:r>
            <a:r>
              <a:rPr lang="en-US" dirty="0" err="1" smtClean="0"/>
              <a:t>là</a:t>
            </a:r>
            <a:r>
              <a:rPr lang="en-US" dirty="0" smtClean="0"/>
              <a:t> </a:t>
            </a:r>
            <a:r>
              <a:rPr lang="vi-VN" dirty="0" smtClean="0"/>
              <a:t>các </a:t>
            </a:r>
            <a:r>
              <a:rPr lang="vi-VN" dirty="0"/>
              <a:t>giá trị cụ thể được truyền vào hàm khi bạn gọi nó</a:t>
            </a:r>
            <a:endParaRPr lang="en-US" dirty="0"/>
          </a:p>
        </p:txBody>
      </p:sp>
      <p:sp>
        <p:nvSpPr>
          <p:cNvPr id="10" name="TextBox 9"/>
          <p:cNvSpPr txBox="1"/>
          <p:nvPr/>
        </p:nvSpPr>
        <p:spPr>
          <a:xfrm>
            <a:off x="910062" y="2865644"/>
            <a:ext cx="7670412" cy="646331"/>
          </a:xfrm>
          <a:prstGeom prst="rect">
            <a:avLst/>
          </a:prstGeom>
          <a:noFill/>
        </p:spPr>
        <p:txBody>
          <a:bodyPr wrap="square" rtlCol="0">
            <a:spAutoFit/>
          </a:bodyPr>
          <a:lstStyle/>
          <a:p>
            <a:r>
              <a:rPr lang="vi-VN" dirty="0"/>
              <a:t>Số lượng và thứ tự của các đối số phải tương ứng với số lượng và thứ tự của các tham số tương ứng trong phần định nghĩa hàm</a:t>
            </a:r>
            <a:endParaRPr lang="en-US" dirty="0"/>
          </a:p>
        </p:txBody>
      </p:sp>
      <p:sp>
        <p:nvSpPr>
          <p:cNvPr id="14" name="TextBox 13"/>
          <p:cNvSpPr txBox="1"/>
          <p:nvPr/>
        </p:nvSpPr>
        <p:spPr>
          <a:xfrm>
            <a:off x="910062" y="3578024"/>
            <a:ext cx="7670412" cy="369332"/>
          </a:xfrm>
          <a:prstGeom prst="rect">
            <a:avLst/>
          </a:prstGeom>
          <a:noFill/>
        </p:spPr>
        <p:txBody>
          <a:bodyPr wrap="square" rtlCol="0">
            <a:spAutoFit/>
          </a:bodyPr>
          <a:lstStyle/>
          <a:p>
            <a:r>
              <a:rPr lang="en-US" dirty="0" err="1"/>
              <a:t>Bạn</a:t>
            </a:r>
            <a:r>
              <a:rPr lang="en-US" dirty="0"/>
              <a:t> </a:t>
            </a:r>
            <a:r>
              <a:rPr lang="en-US" dirty="0" err="1"/>
              <a:t>có</a:t>
            </a:r>
            <a:r>
              <a:rPr lang="en-US" dirty="0"/>
              <a:t> </a:t>
            </a:r>
            <a:r>
              <a:rPr lang="en-US" dirty="0" err="1"/>
              <a:t>thể</a:t>
            </a:r>
            <a:r>
              <a:rPr lang="en-US" dirty="0"/>
              <a:t> </a:t>
            </a:r>
            <a:r>
              <a:rPr lang="en-US" dirty="0" err="1"/>
              <a:t>truyền</a:t>
            </a:r>
            <a:r>
              <a:rPr lang="en-US" dirty="0"/>
              <a:t> </a:t>
            </a:r>
            <a:r>
              <a:rPr lang="en-US" dirty="0" err="1"/>
              <a:t>đối</a:t>
            </a:r>
            <a:r>
              <a:rPr lang="en-US" dirty="0"/>
              <a:t> </a:t>
            </a:r>
            <a:r>
              <a:rPr lang="en-US" dirty="0" err="1"/>
              <a:t>số</a:t>
            </a:r>
            <a:r>
              <a:rPr lang="en-US" dirty="0"/>
              <a:t> </a:t>
            </a:r>
            <a:r>
              <a:rPr lang="en-US" dirty="0" err="1"/>
              <a:t>bằng</a:t>
            </a:r>
            <a:r>
              <a:rPr lang="en-US" dirty="0"/>
              <a:t> </a:t>
            </a:r>
            <a:r>
              <a:rPr lang="en-US" dirty="0" err="1"/>
              <a:t>giá</a:t>
            </a:r>
            <a:r>
              <a:rPr lang="en-US" dirty="0"/>
              <a:t> </a:t>
            </a:r>
            <a:r>
              <a:rPr lang="en-US" dirty="0" err="1"/>
              <a:t>trị</a:t>
            </a:r>
            <a:r>
              <a:rPr lang="en-US" dirty="0"/>
              <a:t> </a:t>
            </a:r>
            <a:r>
              <a:rPr lang="en-US" dirty="0" err="1"/>
              <a:t>cụ</a:t>
            </a:r>
            <a:r>
              <a:rPr lang="en-US" dirty="0"/>
              <a:t> </a:t>
            </a:r>
            <a:r>
              <a:rPr lang="en-US" dirty="0" err="1"/>
              <a:t>thể</a:t>
            </a:r>
            <a:r>
              <a:rPr lang="en-US" dirty="0"/>
              <a:t> </a:t>
            </a:r>
            <a:r>
              <a:rPr lang="en-US" dirty="0" err="1"/>
              <a:t>hoặc</a:t>
            </a:r>
            <a:r>
              <a:rPr lang="en-US" dirty="0"/>
              <a:t> </a:t>
            </a:r>
            <a:r>
              <a:rPr lang="en-US" dirty="0" err="1"/>
              <a:t>biến</a:t>
            </a:r>
            <a:r>
              <a:rPr lang="en-US" dirty="0"/>
              <a:t> </a:t>
            </a:r>
            <a:r>
              <a:rPr lang="en-US" dirty="0" err="1"/>
              <a:t>chứa</a:t>
            </a:r>
            <a:r>
              <a:rPr lang="en-US" dirty="0"/>
              <a:t> </a:t>
            </a:r>
            <a:r>
              <a:rPr lang="en-US" dirty="0" err="1"/>
              <a:t>giá</a:t>
            </a:r>
            <a:r>
              <a:rPr lang="en-US" dirty="0"/>
              <a:t> </a:t>
            </a:r>
            <a:r>
              <a:rPr lang="en-US" dirty="0" err="1"/>
              <a:t>trị</a:t>
            </a:r>
            <a:endParaRPr lang="en-US" dirty="0"/>
          </a:p>
        </p:txBody>
      </p:sp>
      <p:sp>
        <p:nvSpPr>
          <p:cNvPr id="3" name="Flowchart: Decision 2"/>
          <p:cNvSpPr/>
          <p:nvPr/>
        </p:nvSpPr>
        <p:spPr>
          <a:xfrm>
            <a:off x="710426" y="227345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Decision 14"/>
          <p:cNvSpPr/>
          <p:nvPr/>
        </p:nvSpPr>
        <p:spPr>
          <a:xfrm>
            <a:off x="710426" y="297152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Decision 17"/>
          <p:cNvSpPr/>
          <p:nvPr/>
        </p:nvSpPr>
        <p:spPr>
          <a:xfrm>
            <a:off x="710426" y="3670068"/>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9903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21</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6.3 </a:t>
            </a:r>
            <a:r>
              <a:rPr lang="en-US" dirty="0" smtClean="0"/>
              <a:t>function </a:t>
            </a:r>
            <a:r>
              <a:rPr lang="en-US" dirty="0" err="1" smtClean="0"/>
              <a:t>có</a:t>
            </a:r>
            <a:r>
              <a:rPr lang="en-US" dirty="0" smtClean="0"/>
              <a:t> </a:t>
            </a:r>
            <a:r>
              <a:rPr lang="en-US" dirty="0" err="1" smtClean="0"/>
              <a:t>chứa</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tham</a:t>
            </a:r>
            <a:r>
              <a:rPr lang="en-US" dirty="0" smtClean="0"/>
              <a:t> </a:t>
            </a:r>
            <a:r>
              <a:rPr lang="en-US" dirty="0" err="1" smtClean="0"/>
              <a:t>số</a:t>
            </a:r>
            <a:r>
              <a:rPr lang="en-US" dirty="0" smtClean="0"/>
              <a:t> </a:t>
            </a:r>
            <a:r>
              <a:rPr lang="en-US" dirty="0" err="1" smtClean="0"/>
              <a:t>tùy</a:t>
            </a:r>
            <a:r>
              <a:rPr lang="en-US" dirty="0" smtClean="0"/>
              <a:t> </a:t>
            </a:r>
            <a:r>
              <a:rPr lang="en-US" dirty="0" err="1" smtClean="0"/>
              <a:t>chọn</a:t>
            </a:r>
            <a:endParaRPr lang="en-US" dirty="0"/>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7272667" cy="369332"/>
          </a:xfrm>
          <a:prstGeom prst="rect">
            <a:avLst/>
          </a:prstGeom>
          <a:noFill/>
        </p:spPr>
        <p:txBody>
          <a:bodyPr wrap="square" rtlCol="0">
            <a:spAutoFit/>
          </a:bodyPr>
          <a:lstStyle/>
          <a:p>
            <a:r>
              <a:rPr lang="en-US" b="1" smtClean="0"/>
              <a:t>6.3.1 </a:t>
            </a:r>
            <a:r>
              <a:rPr lang="en-US" b="1" dirty="0" smtClean="0"/>
              <a:t>Function </a:t>
            </a:r>
            <a:r>
              <a:rPr lang="en-US" b="1" dirty="0" err="1" smtClean="0"/>
              <a:t>có</a:t>
            </a:r>
            <a:r>
              <a:rPr lang="en-US" b="1" dirty="0" smtClean="0"/>
              <a:t> </a:t>
            </a:r>
            <a:r>
              <a:rPr lang="en-US" b="1" dirty="0" err="1" smtClean="0"/>
              <a:t>chứa</a:t>
            </a:r>
            <a:r>
              <a:rPr lang="en-US" b="1" dirty="0" smtClean="0"/>
              <a:t> </a:t>
            </a:r>
            <a:r>
              <a:rPr lang="en-US" b="1" dirty="0" err="1" smtClean="0"/>
              <a:t>tham</a:t>
            </a:r>
            <a:r>
              <a:rPr lang="en-US" b="1" dirty="0" smtClean="0"/>
              <a:t> </a:t>
            </a:r>
            <a:r>
              <a:rPr lang="en-US" b="1" dirty="0" err="1" smtClean="0"/>
              <a:t>số</a:t>
            </a:r>
            <a:r>
              <a:rPr lang="en-US" b="1" dirty="0" smtClean="0"/>
              <a:t> </a:t>
            </a:r>
            <a:r>
              <a:rPr lang="en-US" b="1" dirty="0" err="1" smtClean="0"/>
              <a:t>tùy</a:t>
            </a:r>
            <a:r>
              <a:rPr lang="en-US" b="1" dirty="0" smtClean="0"/>
              <a:t> </a:t>
            </a:r>
            <a:r>
              <a:rPr lang="en-US" b="1" dirty="0" err="1" smtClean="0"/>
              <a:t>chọn</a:t>
            </a:r>
            <a:r>
              <a:rPr lang="en-US" b="1" dirty="0" smtClean="0"/>
              <a:t>/</a:t>
            </a:r>
            <a:r>
              <a:rPr lang="en-US" b="1" dirty="0" err="1" smtClean="0"/>
              <a:t>mặc</a:t>
            </a:r>
            <a:r>
              <a:rPr lang="en-US" b="1" dirty="0" smtClean="0"/>
              <a:t> </a:t>
            </a:r>
            <a:r>
              <a:rPr lang="en-US" b="1" dirty="0" err="1" smtClean="0"/>
              <a:t>định</a:t>
            </a:r>
            <a:endParaRPr lang="en-US" b="1" dirty="0">
              <a:solidFill>
                <a:srgbClr val="FF0000"/>
              </a:solidFill>
            </a:endParaRPr>
          </a:p>
        </p:txBody>
      </p:sp>
      <p:sp>
        <p:nvSpPr>
          <p:cNvPr id="16" name="Rectangle 15"/>
          <p:cNvSpPr/>
          <p:nvPr/>
        </p:nvSpPr>
        <p:spPr>
          <a:xfrm>
            <a:off x="910062" y="3151944"/>
            <a:ext cx="7846828" cy="194031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3284664"/>
            <a:ext cx="7110974" cy="1477328"/>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smtClean="0">
                <a:solidFill>
                  <a:schemeClr val="bg1"/>
                </a:solidFill>
              </a:rPr>
              <a:t>hello_name</a:t>
            </a:r>
            <a:r>
              <a:rPr lang="en-US" dirty="0" smtClean="0">
                <a:solidFill>
                  <a:srgbClr val="FFC000"/>
                </a:solidFill>
              </a:rPr>
              <a:t>(</a:t>
            </a:r>
            <a:r>
              <a:rPr lang="en-US" dirty="0" smtClean="0">
                <a:solidFill>
                  <a:schemeClr val="bg1"/>
                </a:solidFill>
              </a:rPr>
              <a:t>name = </a:t>
            </a:r>
            <a:r>
              <a:rPr lang="en-US" dirty="0" smtClean="0">
                <a:solidFill>
                  <a:schemeClr val="accent2">
                    <a:lumMod val="75000"/>
                  </a:schemeClr>
                </a:solidFill>
              </a:rPr>
              <a:t>‘Guest’</a:t>
            </a:r>
            <a:r>
              <a:rPr lang="en-US" dirty="0" smtClean="0">
                <a:solidFill>
                  <a:srgbClr val="FFC000"/>
                </a:solidFill>
              </a:rPr>
              <a:t>)</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a:t>
            </a:r>
            <a:r>
              <a:rPr lang="en-US" dirty="0">
                <a:solidFill>
                  <a:schemeClr val="bg1"/>
                </a:solidFill>
              </a:rPr>
              <a:t>print</a:t>
            </a:r>
            <a:r>
              <a:rPr lang="en-US" dirty="0" smtClean="0">
                <a:solidFill>
                  <a:srgbClr val="FFC000"/>
                </a:solidFill>
              </a:rPr>
              <a:t>(</a:t>
            </a:r>
            <a:r>
              <a:rPr lang="en-US" dirty="0" smtClean="0">
                <a:solidFill>
                  <a:schemeClr val="accent2">
                    <a:lumMod val="75000"/>
                  </a:schemeClr>
                </a:solidFill>
              </a:rPr>
              <a:t>“Hello “ + name</a:t>
            </a:r>
            <a:r>
              <a:rPr lang="en-US" dirty="0" smtClean="0">
                <a:solidFill>
                  <a:srgbClr val="FFC000"/>
                </a:solidFill>
              </a:rPr>
              <a:t>) </a:t>
            </a:r>
            <a:r>
              <a:rPr lang="en-US" dirty="0">
                <a:solidFill>
                  <a:srgbClr val="FFC000"/>
                </a:solidFill>
              </a:rPr>
              <a:t>	</a:t>
            </a:r>
            <a:endParaRPr lang="en-US" dirty="0" smtClean="0">
              <a:solidFill>
                <a:srgbClr val="FFC000"/>
              </a:solidFill>
            </a:endParaRPr>
          </a:p>
          <a:p>
            <a:r>
              <a:rPr lang="en-US" dirty="0">
                <a:solidFill>
                  <a:schemeClr val="bg1"/>
                </a:solidFill>
              </a:rPr>
              <a:t/>
            </a:r>
            <a:br>
              <a:rPr lang="en-US" dirty="0">
                <a:solidFill>
                  <a:schemeClr val="bg1"/>
                </a:solidFill>
              </a:rPr>
            </a:br>
            <a:r>
              <a:rPr lang="en-US" dirty="0" err="1" smtClean="0">
                <a:solidFill>
                  <a:schemeClr val="bg1"/>
                </a:solidFill>
              </a:rPr>
              <a:t>hello_name</a:t>
            </a:r>
            <a:r>
              <a:rPr lang="en-US" dirty="0" smtClean="0">
                <a:solidFill>
                  <a:srgbClr val="FFC000"/>
                </a:solidFill>
              </a:rPr>
              <a:t>(</a:t>
            </a:r>
            <a:r>
              <a:rPr lang="en-US" dirty="0" smtClean="0">
                <a:solidFill>
                  <a:schemeClr val="bg1"/>
                </a:solidFill>
              </a:rPr>
              <a:t>“</a:t>
            </a:r>
            <a:r>
              <a:rPr lang="en-US" dirty="0" err="1" smtClean="0">
                <a:solidFill>
                  <a:schemeClr val="bg1"/>
                </a:solidFill>
              </a:rPr>
              <a:t>Jonh</a:t>
            </a:r>
            <a:r>
              <a:rPr lang="en-US" dirty="0" smtClean="0">
                <a:solidFill>
                  <a:schemeClr val="bg1"/>
                </a:solidFill>
              </a:rPr>
              <a:t>”</a:t>
            </a:r>
            <a:r>
              <a:rPr lang="en-US" dirty="0" smtClean="0">
                <a:solidFill>
                  <a:srgbClr val="FFC000"/>
                </a:solidFill>
              </a:rPr>
              <a:t>) </a:t>
            </a:r>
            <a:r>
              <a:rPr lang="en-US" dirty="0" smtClean="0">
                <a:solidFill>
                  <a:schemeClr val="accent6">
                    <a:lumMod val="75000"/>
                  </a:schemeClr>
                </a:solidFill>
              </a:rPr>
              <a:t>#</a:t>
            </a:r>
            <a:r>
              <a:rPr lang="en-US" dirty="0" err="1" smtClean="0">
                <a:solidFill>
                  <a:schemeClr val="accent6">
                    <a:lumMod val="75000"/>
                  </a:schemeClr>
                </a:solidFill>
              </a:rPr>
              <a:t>Kết</a:t>
            </a:r>
            <a:r>
              <a:rPr lang="en-US" dirty="0" smtClean="0">
                <a:solidFill>
                  <a:schemeClr val="accent6">
                    <a:lumMod val="75000"/>
                  </a:schemeClr>
                </a:solidFill>
              </a:rPr>
              <a:t> </a:t>
            </a:r>
            <a:r>
              <a:rPr lang="en-US" dirty="0" err="1" smtClean="0">
                <a:solidFill>
                  <a:schemeClr val="accent6">
                    <a:lumMod val="75000"/>
                  </a:schemeClr>
                </a:solidFill>
              </a:rPr>
              <a:t>quả</a:t>
            </a:r>
            <a:r>
              <a:rPr lang="en-US" dirty="0" smtClean="0">
                <a:solidFill>
                  <a:schemeClr val="accent6">
                    <a:lumMod val="75000"/>
                  </a:schemeClr>
                </a:solidFill>
              </a:rPr>
              <a:t>: Hello </a:t>
            </a:r>
            <a:r>
              <a:rPr lang="en-US" dirty="0" err="1" smtClean="0">
                <a:solidFill>
                  <a:schemeClr val="accent6">
                    <a:lumMod val="75000"/>
                  </a:schemeClr>
                </a:solidFill>
              </a:rPr>
              <a:t>Jonh</a:t>
            </a:r>
            <a:endParaRPr lang="en-US" dirty="0" smtClean="0">
              <a:solidFill>
                <a:schemeClr val="accent6">
                  <a:lumMod val="75000"/>
                </a:schemeClr>
              </a:solidFill>
            </a:endParaRPr>
          </a:p>
          <a:p>
            <a:r>
              <a:rPr lang="en-US" dirty="0" err="1" smtClean="0">
                <a:solidFill>
                  <a:schemeClr val="bg1"/>
                </a:solidFill>
              </a:rPr>
              <a:t>hello_name</a:t>
            </a:r>
            <a:r>
              <a:rPr lang="en-US" dirty="0" smtClean="0">
                <a:solidFill>
                  <a:srgbClr val="FFC000"/>
                </a:solidFill>
              </a:rPr>
              <a:t>() </a:t>
            </a:r>
            <a:r>
              <a:rPr lang="en-US" dirty="0" smtClean="0">
                <a:solidFill>
                  <a:schemeClr val="accent6">
                    <a:lumMod val="75000"/>
                  </a:schemeClr>
                </a:solidFill>
              </a:rPr>
              <a:t>#</a:t>
            </a:r>
            <a:r>
              <a:rPr lang="en-US" dirty="0" err="1" smtClean="0">
                <a:solidFill>
                  <a:schemeClr val="accent6">
                    <a:lumMod val="75000"/>
                  </a:schemeClr>
                </a:solidFill>
              </a:rPr>
              <a:t>Kết</a:t>
            </a:r>
            <a:r>
              <a:rPr lang="en-US" dirty="0" smtClean="0">
                <a:solidFill>
                  <a:schemeClr val="accent6">
                    <a:lumMod val="75000"/>
                  </a:schemeClr>
                </a:solidFill>
              </a:rPr>
              <a:t> </a:t>
            </a:r>
            <a:r>
              <a:rPr lang="en-US" dirty="0" err="1" smtClean="0">
                <a:solidFill>
                  <a:schemeClr val="accent6">
                    <a:lumMod val="75000"/>
                  </a:schemeClr>
                </a:solidFill>
              </a:rPr>
              <a:t>quả</a:t>
            </a:r>
            <a:r>
              <a:rPr lang="en-US" dirty="0" smtClean="0">
                <a:solidFill>
                  <a:schemeClr val="accent6">
                    <a:lumMod val="75000"/>
                  </a:schemeClr>
                </a:solidFill>
              </a:rPr>
              <a:t>: Hello Guest</a:t>
            </a:r>
            <a:endParaRPr lang="en-US" dirty="0">
              <a:solidFill>
                <a:schemeClr val="accent6">
                  <a:lumMod val="75000"/>
                </a:schemeClr>
              </a:solidFill>
            </a:endParaRPr>
          </a:p>
        </p:txBody>
      </p:sp>
      <p:sp>
        <p:nvSpPr>
          <p:cNvPr id="24" name="TextBox 23"/>
          <p:cNvSpPr txBox="1"/>
          <p:nvPr/>
        </p:nvSpPr>
        <p:spPr>
          <a:xfrm>
            <a:off x="910062" y="2163169"/>
            <a:ext cx="7670412" cy="646331"/>
          </a:xfrm>
          <a:prstGeom prst="rect">
            <a:avLst/>
          </a:prstGeom>
          <a:noFill/>
        </p:spPr>
        <p:txBody>
          <a:bodyPr wrap="square" rtlCol="0">
            <a:spAutoFit/>
          </a:bodyPr>
          <a:lstStyle/>
          <a:p>
            <a:r>
              <a:rPr lang="vi-VN" dirty="0"/>
              <a:t>Giá trị mặc định chỉ được sử dụng nếu không có đối số tương ứng được truyền vào khi gọi hàm</a:t>
            </a:r>
            <a:endParaRPr lang="en-US" dirty="0"/>
          </a:p>
        </p:txBody>
      </p:sp>
      <p:sp>
        <p:nvSpPr>
          <p:cNvPr id="3" name="Flowchart: Decision 2"/>
          <p:cNvSpPr/>
          <p:nvPr/>
        </p:nvSpPr>
        <p:spPr>
          <a:xfrm>
            <a:off x="710426" y="227345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10426" y="5235978"/>
            <a:ext cx="8046464" cy="923330"/>
          </a:xfrm>
          <a:prstGeom prst="rect">
            <a:avLst/>
          </a:prstGeom>
          <a:noFill/>
        </p:spPr>
        <p:txBody>
          <a:bodyPr wrap="square" rtlCol="0">
            <a:spAutoFit/>
          </a:bodyPr>
          <a:lstStyle/>
          <a:p>
            <a:r>
              <a:rPr lang="vi-VN" dirty="0"/>
              <a:t>Trong ví dụ trên, tham số name của hàm </a:t>
            </a:r>
            <a:r>
              <a:rPr lang="en-US" dirty="0" err="1" smtClean="0"/>
              <a:t>hello_name</a:t>
            </a:r>
            <a:r>
              <a:rPr lang="vi-VN" dirty="0" smtClean="0"/>
              <a:t>() </a:t>
            </a:r>
            <a:r>
              <a:rPr lang="vi-VN" dirty="0"/>
              <a:t>có giá trị mặc định là "Guest".</a:t>
            </a:r>
          </a:p>
          <a:p>
            <a:r>
              <a:rPr lang="vi-VN" dirty="0"/>
              <a:t>Nếu không có đối số được truyền, giá trị mặc định "Guest" sẽ được sử dụng</a:t>
            </a:r>
            <a:endParaRPr lang="en-US" dirty="0"/>
          </a:p>
        </p:txBody>
      </p:sp>
    </p:spTree>
    <p:extLst>
      <p:ext uri="{BB962C8B-B14F-4D97-AF65-F5344CB8AC3E}">
        <p14:creationId xmlns:p14="http://schemas.microsoft.com/office/powerpoint/2010/main" val="33107195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22</a:t>
            </a:fld>
            <a:endParaRPr lang="en-US"/>
          </a:p>
        </p:txBody>
      </p:sp>
      <p:sp>
        <p:nvSpPr>
          <p:cNvPr id="11" name="Text Placeholder 2"/>
          <p:cNvSpPr txBox="1">
            <a:spLocks/>
          </p:cNvSpPr>
          <p:nvPr/>
        </p:nvSpPr>
        <p:spPr>
          <a:xfrm>
            <a:off x="227558" y="828573"/>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6.3 </a:t>
            </a:r>
            <a:r>
              <a:rPr lang="en-US" dirty="0" smtClean="0"/>
              <a:t>function </a:t>
            </a:r>
            <a:r>
              <a:rPr lang="en-US" dirty="0" err="1" smtClean="0"/>
              <a:t>có</a:t>
            </a:r>
            <a:r>
              <a:rPr lang="en-US" dirty="0" smtClean="0"/>
              <a:t> </a:t>
            </a:r>
            <a:r>
              <a:rPr lang="en-US" dirty="0" err="1" smtClean="0"/>
              <a:t>chứa</a:t>
            </a:r>
            <a:r>
              <a:rPr lang="en-US" dirty="0" smtClean="0"/>
              <a:t> </a:t>
            </a:r>
            <a:r>
              <a:rPr lang="en-US" dirty="0" err="1" smtClean="0"/>
              <a:t>tham</a:t>
            </a:r>
            <a:r>
              <a:rPr lang="en-US" dirty="0" smtClean="0"/>
              <a:t> </a:t>
            </a:r>
            <a:r>
              <a:rPr lang="en-US" dirty="0" err="1" smtClean="0"/>
              <a:t>số</a:t>
            </a:r>
            <a:r>
              <a:rPr lang="en-US" dirty="0" smtClean="0"/>
              <a:t>, </a:t>
            </a:r>
            <a:r>
              <a:rPr lang="en-US" dirty="0" err="1" smtClean="0"/>
              <a:t>tham</a:t>
            </a:r>
            <a:r>
              <a:rPr lang="en-US" dirty="0" smtClean="0"/>
              <a:t> </a:t>
            </a:r>
            <a:r>
              <a:rPr lang="en-US" dirty="0" err="1" smtClean="0"/>
              <a:t>số</a:t>
            </a:r>
            <a:r>
              <a:rPr lang="en-US" dirty="0" smtClean="0"/>
              <a:t> </a:t>
            </a:r>
            <a:r>
              <a:rPr lang="en-US" dirty="0" err="1" smtClean="0"/>
              <a:t>tùy</a:t>
            </a:r>
            <a:r>
              <a:rPr lang="en-US" dirty="0" smtClean="0"/>
              <a:t> </a:t>
            </a:r>
            <a:r>
              <a:rPr lang="en-US" dirty="0" err="1" smtClean="0"/>
              <a:t>chọn</a:t>
            </a:r>
            <a:endParaRPr lang="en-US" dirty="0"/>
          </a:p>
        </p:txBody>
      </p:sp>
      <p:pic>
        <p:nvPicPr>
          <p:cNvPr id="12"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580670"/>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41993" y="1621244"/>
            <a:ext cx="7272667" cy="369332"/>
          </a:xfrm>
          <a:prstGeom prst="rect">
            <a:avLst/>
          </a:prstGeom>
          <a:noFill/>
        </p:spPr>
        <p:txBody>
          <a:bodyPr wrap="square" rtlCol="0">
            <a:spAutoFit/>
          </a:bodyPr>
          <a:lstStyle/>
          <a:p>
            <a:r>
              <a:rPr lang="en-US" b="1" smtClean="0"/>
              <a:t>6.3.1 </a:t>
            </a:r>
            <a:r>
              <a:rPr lang="en-US" b="1" dirty="0" smtClean="0"/>
              <a:t>Function </a:t>
            </a:r>
            <a:r>
              <a:rPr lang="en-US" b="1" dirty="0" err="1" smtClean="0"/>
              <a:t>có</a:t>
            </a:r>
            <a:r>
              <a:rPr lang="en-US" b="1" dirty="0" smtClean="0"/>
              <a:t> </a:t>
            </a:r>
            <a:r>
              <a:rPr lang="en-US" b="1" dirty="0" err="1" smtClean="0"/>
              <a:t>nhiều</a:t>
            </a:r>
            <a:r>
              <a:rPr lang="en-US" b="1" dirty="0" smtClean="0"/>
              <a:t> </a:t>
            </a:r>
            <a:r>
              <a:rPr lang="en-US" b="1" dirty="0" err="1" smtClean="0"/>
              <a:t>tham</a:t>
            </a:r>
            <a:r>
              <a:rPr lang="en-US" b="1" dirty="0" smtClean="0"/>
              <a:t> </a:t>
            </a:r>
            <a:r>
              <a:rPr lang="en-US" b="1" dirty="0" err="1" smtClean="0"/>
              <a:t>số</a:t>
            </a:r>
            <a:endParaRPr lang="en-US" b="1" dirty="0">
              <a:solidFill>
                <a:srgbClr val="FF0000"/>
              </a:solidFill>
            </a:endParaRPr>
          </a:p>
        </p:txBody>
      </p:sp>
      <p:sp>
        <p:nvSpPr>
          <p:cNvPr id="16" name="Rectangle 15"/>
          <p:cNvSpPr/>
          <p:nvPr/>
        </p:nvSpPr>
        <p:spPr>
          <a:xfrm>
            <a:off x="910062" y="2141765"/>
            <a:ext cx="7846828" cy="10692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2274485"/>
            <a:ext cx="7110974" cy="646331"/>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smtClean="0">
                <a:solidFill>
                  <a:schemeClr val="bg1"/>
                </a:solidFill>
              </a:rPr>
              <a:t>hello_name</a:t>
            </a:r>
            <a:r>
              <a:rPr lang="en-US" dirty="0" smtClean="0">
                <a:solidFill>
                  <a:srgbClr val="FFC000"/>
                </a:solidFill>
              </a:rPr>
              <a:t>(</a:t>
            </a:r>
            <a:r>
              <a:rPr lang="en-US" dirty="0" err="1" smtClean="0">
                <a:solidFill>
                  <a:schemeClr val="bg1"/>
                </a:solidFill>
              </a:rPr>
              <a:t>fname</a:t>
            </a:r>
            <a:r>
              <a:rPr lang="en-US" dirty="0" smtClean="0">
                <a:solidFill>
                  <a:schemeClr val="bg1"/>
                </a:solidFill>
              </a:rPr>
              <a:t>, </a:t>
            </a:r>
            <a:r>
              <a:rPr lang="en-US" dirty="0" err="1" smtClean="0">
                <a:solidFill>
                  <a:schemeClr val="bg1"/>
                </a:solidFill>
              </a:rPr>
              <a:t>lname</a:t>
            </a:r>
            <a:r>
              <a:rPr lang="en-US" dirty="0" smtClean="0">
                <a:solidFill>
                  <a:schemeClr val="bg1"/>
                </a:solidFill>
              </a:rPr>
              <a:t>, age = </a:t>
            </a:r>
            <a:r>
              <a:rPr lang="en-US" dirty="0" smtClean="0">
                <a:solidFill>
                  <a:schemeClr val="accent6">
                    <a:lumMod val="60000"/>
                    <a:lumOff val="40000"/>
                  </a:schemeClr>
                </a:solidFill>
              </a:rPr>
              <a:t>18</a:t>
            </a:r>
            <a:r>
              <a:rPr lang="en-US" dirty="0" smtClean="0">
                <a:solidFill>
                  <a:srgbClr val="FFC000"/>
                </a:solidFill>
              </a:rPr>
              <a:t>)</a:t>
            </a:r>
            <a:r>
              <a:rPr lang="en-US" dirty="0" smtClean="0">
                <a:solidFill>
                  <a:schemeClr val="bg1"/>
                </a:solidFill>
              </a:rPr>
              <a:t>:</a:t>
            </a:r>
            <a:r>
              <a:rPr lang="en-US" dirty="0">
                <a:solidFill>
                  <a:schemeClr val="bg1"/>
                </a:solidFill>
              </a:rPr>
              <a:t/>
            </a:r>
            <a:br>
              <a:rPr lang="en-US" dirty="0">
                <a:solidFill>
                  <a:schemeClr val="bg1"/>
                </a:solidFill>
              </a:rPr>
            </a:br>
            <a:r>
              <a:rPr lang="en-US" dirty="0">
                <a:solidFill>
                  <a:schemeClr val="bg1"/>
                </a:solidFill>
              </a:rPr>
              <a:t>  </a:t>
            </a:r>
            <a:r>
              <a:rPr lang="en-US" dirty="0" smtClean="0">
                <a:solidFill>
                  <a:schemeClr val="bg1"/>
                </a:solidFill>
              </a:rPr>
              <a:t>    print</a:t>
            </a:r>
            <a:r>
              <a:rPr lang="en-US" dirty="0" smtClean="0">
                <a:solidFill>
                  <a:srgbClr val="FFC000"/>
                </a:solidFill>
              </a:rPr>
              <a:t>(</a:t>
            </a:r>
            <a:r>
              <a:rPr lang="en-US" dirty="0" err="1" smtClean="0">
                <a:solidFill>
                  <a:schemeClr val="bg1"/>
                </a:solidFill>
              </a:rPr>
              <a:t>fname</a:t>
            </a:r>
            <a:r>
              <a:rPr lang="en-US" dirty="0" smtClean="0">
                <a:solidFill>
                  <a:schemeClr val="bg1"/>
                </a:solidFill>
              </a:rPr>
              <a:t> </a:t>
            </a:r>
            <a:r>
              <a:rPr lang="en-US" dirty="0">
                <a:solidFill>
                  <a:schemeClr val="bg1"/>
                </a:solidFill>
              </a:rPr>
              <a:t>+ </a:t>
            </a:r>
            <a:r>
              <a:rPr lang="en-US" dirty="0">
                <a:solidFill>
                  <a:schemeClr val="accent2">
                    <a:lumMod val="75000"/>
                  </a:schemeClr>
                </a:solidFill>
              </a:rPr>
              <a:t>" "</a:t>
            </a:r>
            <a:r>
              <a:rPr lang="en-US" dirty="0">
                <a:solidFill>
                  <a:schemeClr val="bg1"/>
                </a:solidFill>
              </a:rPr>
              <a:t> + </a:t>
            </a:r>
            <a:r>
              <a:rPr lang="en-US" dirty="0" err="1" smtClean="0">
                <a:solidFill>
                  <a:schemeClr val="bg1"/>
                </a:solidFill>
              </a:rPr>
              <a:t>lname</a:t>
            </a:r>
            <a:r>
              <a:rPr lang="en-US" dirty="0" smtClean="0">
                <a:solidFill>
                  <a:schemeClr val="bg1"/>
                </a:solidFill>
              </a:rPr>
              <a:t> , age</a:t>
            </a:r>
            <a:r>
              <a:rPr lang="en-US" dirty="0" smtClean="0">
                <a:solidFill>
                  <a:srgbClr val="FFC000"/>
                </a:solidFill>
              </a:rPr>
              <a:t>) </a:t>
            </a:r>
            <a:r>
              <a:rPr lang="en-US" dirty="0">
                <a:solidFill>
                  <a:srgbClr val="FFC000"/>
                </a:solidFill>
              </a:rPr>
              <a:t>	</a:t>
            </a:r>
            <a:endParaRPr lang="en-US" dirty="0" smtClean="0">
              <a:solidFill>
                <a:srgbClr val="FFC000"/>
              </a:solidFill>
            </a:endParaRPr>
          </a:p>
        </p:txBody>
      </p:sp>
      <p:sp>
        <p:nvSpPr>
          <p:cNvPr id="14" name="TextBox 13"/>
          <p:cNvSpPr txBox="1"/>
          <p:nvPr/>
        </p:nvSpPr>
        <p:spPr>
          <a:xfrm>
            <a:off x="910062" y="3377010"/>
            <a:ext cx="7670412" cy="646331"/>
          </a:xfrm>
          <a:prstGeom prst="rect">
            <a:avLst/>
          </a:prstGeom>
          <a:noFill/>
        </p:spPr>
        <p:txBody>
          <a:bodyPr wrap="square" rtlCol="0">
            <a:spAutoFit/>
          </a:bodyPr>
          <a:lstStyle/>
          <a:p>
            <a:r>
              <a:rPr lang="en-US" dirty="0" err="1"/>
              <a:t>Khi</a:t>
            </a:r>
            <a:r>
              <a:rPr lang="en-US" dirty="0"/>
              <a:t> </a:t>
            </a:r>
            <a:r>
              <a:rPr lang="en-US" dirty="0" err="1"/>
              <a:t>bạn</a:t>
            </a:r>
            <a:r>
              <a:rPr lang="en-US" dirty="0"/>
              <a:t> </a:t>
            </a:r>
            <a:r>
              <a:rPr lang="en-US" dirty="0" err="1"/>
              <a:t>định</a:t>
            </a:r>
            <a:r>
              <a:rPr lang="en-US" dirty="0"/>
              <a:t> </a:t>
            </a:r>
            <a:r>
              <a:rPr lang="en-US" dirty="0" err="1"/>
              <a:t>nghĩa</a:t>
            </a:r>
            <a:r>
              <a:rPr lang="en-US" dirty="0"/>
              <a:t> </a:t>
            </a:r>
            <a:r>
              <a:rPr lang="en-US" dirty="0" err="1"/>
              <a:t>hàm</a:t>
            </a:r>
            <a:r>
              <a:rPr lang="en-US" dirty="0"/>
              <a:t>, </a:t>
            </a:r>
            <a:r>
              <a:rPr lang="en-US" dirty="0" err="1"/>
              <a:t>bạn</a:t>
            </a:r>
            <a:r>
              <a:rPr lang="en-US" dirty="0"/>
              <a:t> </a:t>
            </a:r>
            <a:r>
              <a:rPr lang="en-US" dirty="0" err="1"/>
              <a:t>có</a:t>
            </a:r>
            <a:r>
              <a:rPr lang="en-US" dirty="0"/>
              <a:t> </a:t>
            </a:r>
            <a:r>
              <a:rPr lang="en-US" dirty="0" err="1"/>
              <a:t>thể</a:t>
            </a:r>
            <a:r>
              <a:rPr lang="en-US" dirty="0"/>
              <a:t> </a:t>
            </a:r>
            <a:r>
              <a:rPr lang="en-US" dirty="0" err="1"/>
              <a:t>khai</a:t>
            </a:r>
            <a:r>
              <a:rPr lang="en-US" dirty="0"/>
              <a:t> </a:t>
            </a:r>
            <a:r>
              <a:rPr lang="en-US" dirty="0" err="1"/>
              <a:t>báo</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dirty="0" err="1"/>
              <a:t>tham</a:t>
            </a:r>
            <a:r>
              <a:rPr lang="en-US" dirty="0"/>
              <a:t> </a:t>
            </a:r>
            <a:r>
              <a:rPr lang="en-US" dirty="0" err="1"/>
              <a:t>số</a:t>
            </a:r>
            <a:r>
              <a:rPr lang="en-US" dirty="0"/>
              <a:t>, </a:t>
            </a:r>
            <a:r>
              <a:rPr lang="en-US" dirty="0" err="1"/>
              <a:t>phân</a:t>
            </a:r>
            <a:r>
              <a:rPr lang="en-US" dirty="0"/>
              <a:t> </a:t>
            </a:r>
            <a:r>
              <a:rPr lang="en-US" dirty="0" err="1"/>
              <a:t>tách</a:t>
            </a:r>
            <a:r>
              <a:rPr lang="en-US" dirty="0"/>
              <a:t> </a:t>
            </a:r>
            <a:r>
              <a:rPr lang="en-US" dirty="0" err="1"/>
              <a:t>chúng</a:t>
            </a:r>
            <a:r>
              <a:rPr lang="en-US" dirty="0"/>
              <a:t> </a:t>
            </a:r>
            <a:r>
              <a:rPr lang="en-US" dirty="0" err="1"/>
              <a:t>bằng</a:t>
            </a:r>
            <a:r>
              <a:rPr lang="en-US" dirty="0"/>
              <a:t> </a:t>
            </a:r>
            <a:r>
              <a:rPr lang="en-US" dirty="0" err="1"/>
              <a:t>dấu</a:t>
            </a:r>
            <a:r>
              <a:rPr lang="en-US" dirty="0"/>
              <a:t> </a:t>
            </a:r>
            <a:r>
              <a:rPr lang="en-US" dirty="0" err="1"/>
              <a:t>phẩy</a:t>
            </a:r>
            <a:endParaRPr lang="en-US" dirty="0"/>
          </a:p>
        </p:txBody>
      </p:sp>
      <p:sp>
        <p:nvSpPr>
          <p:cNvPr id="15" name="Flowchart: Decision 14"/>
          <p:cNvSpPr/>
          <p:nvPr/>
        </p:nvSpPr>
        <p:spPr>
          <a:xfrm>
            <a:off x="710426" y="346905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10062" y="4216982"/>
            <a:ext cx="7670412" cy="369332"/>
          </a:xfrm>
          <a:prstGeom prst="rect">
            <a:avLst/>
          </a:prstGeom>
          <a:noFill/>
        </p:spPr>
        <p:txBody>
          <a:bodyPr wrap="square" rtlCol="0">
            <a:spAutoFit/>
          </a:bodyPr>
          <a:lstStyle/>
          <a:p>
            <a:r>
              <a:rPr lang="en-US" dirty="0" err="1" smtClean="0"/>
              <a:t>Tham</a:t>
            </a:r>
            <a:r>
              <a:rPr lang="en-US" dirty="0" smtClean="0"/>
              <a:t> </a:t>
            </a:r>
            <a:r>
              <a:rPr lang="en-US" dirty="0" err="1" smtClean="0"/>
              <a:t>số</a:t>
            </a:r>
            <a:r>
              <a:rPr lang="en-US" dirty="0" smtClean="0"/>
              <a:t> </a:t>
            </a:r>
            <a:r>
              <a:rPr lang="en-US" dirty="0" err="1" smtClean="0"/>
              <a:t>mặc</a:t>
            </a:r>
            <a:r>
              <a:rPr lang="en-US" dirty="0" smtClean="0"/>
              <a:t> </a:t>
            </a:r>
            <a:r>
              <a:rPr lang="en-US" dirty="0" err="1" smtClean="0"/>
              <a:t>định</a:t>
            </a:r>
            <a:r>
              <a:rPr lang="en-US" dirty="0" smtClean="0"/>
              <a:t> </a:t>
            </a:r>
            <a:r>
              <a:rPr lang="en-US" dirty="0" err="1" smtClean="0"/>
              <a:t>luôn</a:t>
            </a:r>
            <a:r>
              <a:rPr lang="en-US" dirty="0" smtClean="0"/>
              <a:t> </a:t>
            </a:r>
            <a:r>
              <a:rPr lang="en-US" dirty="0" err="1" smtClean="0"/>
              <a:t>luôn</a:t>
            </a:r>
            <a:r>
              <a:rPr lang="en-US" dirty="0" smtClean="0"/>
              <a:t> </a:t>
            </a:r>
            <a:r>
              <a:rPr lang="en-US" dirty="0" err="1" smtClean="0"/>
              <a:t>được</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sau</a:t>
            </a:r>
            <a:r>
              <a:rPr lang="en-US" dirty="0" smtClean="0"/>
              <a:t> </a:t>
            </a:r>
            <a:r>
              <a:rPr lang="en-US" dirty="0" err="1" smtClean="0"/>
              <a:t>cùng</a:t>
            </a:r>
            <a:endParaRPr lang="en-US" dirty="0"/>
          </a:p>
        </p:txBody>
      </p:sp>
      <p:sp>
        <p:nvSpPr>
          <p:cNvPr id="19" name="Flowchart: Decision 18"/>
          <p:cNvSpPr/>
          <p:nvPr/>
        </p:nvSpPr>
        <p:spPr>
          <a:xfrm>
            <a:off x="710426" y="4309026"/>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753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919049" y="6459048"/>
            <a:ext cx="837841" cy="209551"/>
          </a:xfrm>
        </p:spPr>
        <p:txBody>
          <a:bodyPr/>
          <a:lstStyle/>
          <a:p>
            <a:fld id="{7D9EC917-02A2-4152-9EE3-DFE2775A77C7}" type="slidenum">
              <a:rPr lang="en-US" smtClean="0"/>
              <a:pPr/>
              <a:t>23</a:t>
            </a:fld>
            <a:endParaRPr lang="en-US"/>
          </a:p>
        </p:txBody>
      </p:sp>
      <p:sp>
        <p:nvSpPr>
          <p:cNvPr id="3" name="Text Placeholder 2"/>
          <p:cNvSpPr>
            <a:spLocks noGrp="1"/>
          </p:cNvSpPr>
          <p:nvPr>
            <p:ph type="body" sz="quarter" idx="13"/>
          </p:nvPr>
        </p:nvSpPr>
        <p:spPr/>
        <p:txBody>
          <a:bodyPr/>
          <a:lstStyle/>
          <a:p>
            <a:r>
              <a:rPr lang="en-US" smtClean="0"/>
              <a:t>6.3 </a:t>
            </a:r>
            <a:r>
              <a:rPr lang="en-US" dirty="0"/>
              <a:t>function </a:t>
            </a:r>
            <a:r>
              <a:rPr lang="en-US" dirty="0" err="1" smtClean="0"/>
              <a:t>có</a:t>
            </a:r>
            <a:r>
              <a:rPr lang="en-US" dirty="0" smtClean="0"/>
              <a:t> </a:t>
            </a:r>
            <a:r>
              <a:rPr lang="en-US" dirty="0" err="1" smtClean="0"/>
              <a:t>trả</a:t>
            </a:r>
            <a:r>
              <a:rPr lang="en-US" dirty="0" smtClean="0"/>
              <a:t> </a:t>
            </a:r>
            <a:r>
              <a:rPr lang="en-US" dirty="0" err="1" smtClean="0"/>
              <a:t>về</a:t>
            </a:r>
            <a:r>
              <a:rPr lang="en-US" dirty="0" smtClean="0"/>
              <a:t> return</a:t>
            </a:r>
            <a:endParaRPr lang="en-US" dirty="0"/>
          </a:p>
        </p:txBody>
      </p:sp>
      <p:pic>
        <p:nvPicPr>
          <p:cNvPr id="4"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41993" y="1519761"/>
            <a:ext cx="7068814" cy="369332"/>
          </a:xfrm>
          <a:prstGeom prst="rect">
            <a:avLst/>
          </a:prstGeom>
          <a:noFill/>
        </p:spPr>
        <p:txBody>
          <a:bodyPr wrap="square" rtlCol="0">
            <a:spAutoFit/>
          </a:bodyPr>
          <a:lstStyle/>
          <a:p>
            <a:r>
              <a:rPr lang="en-US" b="1" dirty="0" err="1" smtClean="0"/>
              <a:t>Cách</a:t>
            </a:r>
            <a:r>
              <a:rPr lang="en-US" b="1" dirty="0" smtClean="0"/>
              <a:t> </a:t>
            </a:r>
            <a:r>
              <a:rPr lang="en-US" b="1" dirty="0" err="1" smtClean="0"/>
              <a:t>định</a:t>
            </a:r>
            <a:r>
              <a:rPr lang="en-US" b="1" dirty="0" smtClean="0"/>
              <a:t> </a:t>
            </a:r>
            <a:r>
              <a:rPr lang="en-US" b="1" dirty="0" err="1" smtClean="0"/>
              <a:t>nghĩa</a:t>
            </a:r>
            <a:endParaRPr lang="en-US" b="1" dirty="0">
              <a:solidFill>
                <a:srgbClr val="FF0000"/>
              </a:solidFill>
            </a:endParaRPr>
          </a:p>
        </p:txBody>
      </p:sp>
      <p:sp>
        <p:nvSpPr>
          <p:cNvPr id="14" name="Rectangle 13"/>
          <p:cNvSpPr/>
          <p:nvPr/>
        </p:nvSpPr>
        <p:spPr>
          <a:xfrm>
            <a:off x="910062" y="2141764"/>
            <a:ext cx="7846828" cy="129255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1090816" y="2274485"/>
            <a:ext cx="7110974" cy="923330"/>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smtClean="0">
                <a:solidFill>
                  <a:schemeClr val="bg1"/>
                </a:solidFill>
              </a:rPr>
              <a:t>sum</a:t>
            </a:r>
            <a:r>
              <a:rPr lang="en-US" dirty="0" smtClean="0">
                <a:solidFill>
                  <a:srgbClr val="FFC000"/>
                </a:solidFill>
              </a:rPr>
              <a:t>(</a:t>
            </a:r>
            <a:r>
              <a:rPr lang="en-US" dirty="0" smtClean="0">
                <a:solidFill>
                  <a:schemeClr val="bg1"/>
                </a:solidFill>
              </a:rPr>
              <a:t>a</a:t>
            </a:r>
            <a:r>
              <a:rPr lang="en-US" dirty="0">
                <a:solidFill>
                  <a:schemeClr val="bg1"/>
                </a:solidFill>
              </a:rPr>
              <a:t>, b</a:t>
            </a:r>
            <a:r>
              <a:rPr lang="en-US" dirty="0" smtClean="0">
                <a:solidFill>
                  <a:srgbClr val="FFC000"/>
                </a:solidFill>
              </a:rPr>
              <a:t>)</a:t>
            </a:r>
            <a:r>
              <a:rPr lang="en-US" dirty="0" smtClean="0">
                <a:solidFill>
                  <a:schemeClr val="bg1"/>
                </a:solidFill>
              </a:rPr>
              <a:t>:</a:t>
            </a:r>
          </a:p>
          <a:p>
            <a:pPr lvl="1"/>
            <a:r>
              <a:rPr lang="en-US" dirty="0" smtClean="0">
                <a:solidFill>
                  <a:schemeClr val="bg1"/>
                </a:solidFill>
              </a:rPr>
              <a:t>sum </a:t>
            </a:r>
            <a:r>
              <a:rPr lang="en-US" dirty="0">
                <a:solidFill>
                  <a:schemeClr val="bg1"/>
                </a:solidFill>
              </a:rPr>
              <a:t>= a + b </a:t>
            </a:r>
            <a:endParaRPr lang="en-US" dirty="0" smtClean="0">
              <a:solidFill>
                <a:schemeClr val="bg1"/>
              </a:solidFill>
            </a:endParaRPr>
          </a:p>
          <a:p>
            <a:pPr lvl="1"/>
            <a:r>
              <a:rPr lang="en-US" dirty="0" smtClean="0">
                <a:solidFill>
                  <a:srgbClr val="00B0F0"/>
                </a:solidFill>
              </a:rPr>
              <a:t>return</a:t>
            </a:r>
            <a:r>
              <a:rPr lang="en-US" dirty="0" smtClean="0">
                <a:solidFill>
                  <a:schemeClr val="bg1"/>
                </a:solidFill>
              </a:rPr>
              <a:t> </a:t>
            </a:r>
            <a:r>
              <a:rPr lang="en-US" dirty="0">
                <a:solidFill>
                  <a:schemeClr val="bg1"/>
                </a:solidFill>
              </a:rPr>
              <a:t>sum</a:t>
            </a:r>
            <a:endParaRPr lang="en-US" dirty="0" smtClean="0">
              <a:solidFill>
                <a:schemeClr val="bg1"/>
              </a:solidFill>
            </a:endParaRPr>
          </a:p>
        </p:txBody>
      </p:sp>
      <p:sp>
        <p:nvSpPr>
          <p:cNvPr id="16" name="TextBox 15"/>
          <p:cNvSpPr txBox="1"/>
          <p:nvPr/>
        </p:nvSpPr>
        <p:spPr>
          <a:xfrm>
            <a:off x="1041993" y="3653727"/>
            <a:ext cx="7670412" cy="369332"/>
          </a:xfrm>
          <a:prstGeom prst="rect">
            <a:avLst/>
          </a:prstGeom>
          <a:noFill/>
        </p:spPr>
        <p:txBody>
          <a:bodyPr wrap="square" rtlCol="0">
            <a:spAutoFit/>
          </a:bodyPr>
          <a:lstStyle/>
          <a:p>
            <a:r>
              <a:rPr lang="en-US" dirty="0" err="1" smtClean="0"/>
              <a:t>Hàm</a:t>
            </a:r>
            <a:r>
              <a:rPr lang="en-US" dirty="0" smtClean="0"/>
              <a:t> </a:t>
            </a:r>
            <a:r>
              <a:rPr lang="en-US" dirty="0" err="1" smtClean="0"/>
              <a:t>nhận</a:t>
            </a:r>
            <a:r>
              <a:rPr lang="en-US" dirty="0" smtClean="0"/>
              <a:t> a, b </a:t>
            </a:r>
            <a:r>
              <a:rPr lang="en-US" dirty="0" err="1" smtClean="0"/>
              <a:t>là</a:t>
            </a:r>
            <a:r>
              <a:rPr lang="en-US" dirty="0" smtClean="0"/>
              <a:t> </a:t>
            </a:r>
            <a:r>
              <a:rPr lang="en-US" dirty="0" err="1" smtClean="0"/>
              <a:t>tham</a:t>
            </a:r>
            <a:r>
              <a:rPr lang="en-US" dirty="0" smtClean="0"/>
              <a:t> </a:t>
            </a:r>
            <a:r>
              <a:rPr lang="en-US" dirty="0" err="1" smtClean="0"/>
              <a:t>số</a:t>
            </a:r>
            <a:r>
              <a:rPr lang="en-US" dirty="0" smtClean="0"/>
              <a:t> </a:t>
            </a:r>
            <a:r>
              <a:rPr lang="en-US" dirty="0" err="1" smtClean="0"/>
              <a:t>đầu</a:t>
            </a:r>
            <a:r>
              <a:rPr lang="en-US" dirty="0" smtClean="0"/>
              <a:t> </a:t>
            </a:r>
            <a:r>
              <a:rPr lang="en-US" dirty="0" err="1" smtClean="0"/>
              <a:t>vào</a:t>
            </a:r>
            <a:endParaRPr lang="en-US" dirty="0"/>
          </a:p>
        </p:txBody>
      </p:sp>
      <p:sp>
        <p:nvSpPr>
          <p:cNvPr id="17" name="Flowchart: Decision 16"/>
          <p:cNvSpPr/>
          <p:nvPr/>
        </p:nvSpPr>
        <p:spPr>
          <a:xfrm>
            <a:off x="842357" y="374577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041993" y="4121560"/>
            <a:ext cx="7670412" cy="369332"/>
          </a:xfrm>
          <a:prstGeom prst="rect">
            <a:avLst/>
          </a:prstGeom>
          <a:noFill/>
        </p:spPr>
        <p:txBody>
          <a:bodyPr wrap="square" rtlCol="0">
            <a:spAutoFit/>
          </a:bodyPr>
          <a:lstStyle/>
          <a:p>
            <a:r>
              <a:rPr lang="en-US" dirty="0" err="1" smtClean="0"/>
              <a:t>Hàm</a:t>
            </a:r>
            <a:r>
              <a:rPr lang="en-US" dirty="0" smtClean="0"/>
              <a:t> </a:t>
            </a:r>
            <a:r>
              <a:rPr lang="en-US" dirty="0" err="1" smtClean="0"/>
              <a:t>trả</a:t>
            </a:r>
            <a:r>
              <a:rPr lang="en-US" dirty="0" smtClean="0"/>
              <a:t> </a:t>
            </a:r>
            <a:r>
              <a:rPr lang="en-US" dirty="0" err="1" smtClean="0"/>
              <a:t>về</a:t>
            </a:r>
            <a:r>
              <a:rPr lang="en-US" dirty="0" smtClean="0"/>
              <a:t> (return) </a:t>
            </a:r>
            <a:r>
              <a:rPr lang="en-US" dirty="0" err="1" smtClean="0"/>
              <a:t>giá</a:t>
            </a:r>
            <a:r>
              <a:rPr lang="en-US" dirty="0" smtClean="0"/>
              <a:t> </a:t>
            </a:r>
            <a:r>
              <a:rPr lang="en-US" dirty="0" err="1" smtClean="0"/>
              <a:t>trị</a:t>
            </a:r>
            <a:r>
              <a:rPr lang="en-US" dirty="0" smtClean="0"/>
              <a:t> </a:t>
            </a:r>
            <a:r>
              <a:rPr lang="en-US" dirty="0" err="1" smtClean="0"/>
              <a:t>tổng</a:t>
            </a:r>
            <a:r>
              <a:rPr lang="en-US" dirty="0" smtClean="0"/>
              <a:t> </a:t>
            </a:r>
            <a:r>
              <a:rPr lang="en-US" dirty="0" err="1" smtClean="0"/>
              <a:t>của</a:t>
            </a:r>
            <a:r>
              <a:rPr lang="en-US" dirty="0" smtClean="0"/>
              <a:t> 2 </a:t>
            </a:r>
            <a:r>
              <a:rPr lang="en-US" dirty="0" err="1" smtClean="0"/>
              <a:t>số</a:t>
            </a:r>
            <a:r>
              <a:rPr lang="en-US" dirty="0" smtClean="0"/>
              <a:t> a </a:t>
            </a:r>
            <a:r>
              <a:rPr lang="en-US" dirty="0" err="1" smtClean="0"/>
              <a:t>và</a:t>
            </a:r>
            <a:r>
              <a:rPr lang="en-US" dirty="0" smtClean="0"/>
              <a:t> b</a:t>
            </a:r>
            <a:endParaRPr lang="en-US" dirty="0"/>
          </a:p>
        </p:txBody>
      </p:sp>
      <p:sp>
        <p:nvSpPr>
          <p:cNvPr id="19" name="Flowchart: Decision 18"/>
          <p:cNvSpPr/>
          <p:nvPr/>
        </p:nvSpPr>
        <p:spPr>
          <a:xfrm>
            <a:off x="842357" y="421360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839975" y="4653188"/>
            <a:ext cx="7670412" cy="369332"/>
          </a:xfrm>
          <a:prstGeom prst="rect">
            <a:avLst/>
          </a:prstGeom>
          <a:noFill/>
        </p:spPr>
        <p:txBody>
          <a:bodyPr wrap="square" rtlCol="0">
            <a:spAutoFit/>
          </a:bodyPr>
          <a:lstStyle/>
          <a:p>
            <a:r>
              <a:rPr lang="en-US" b="1" dirty="0" err="1"/>
              <a:t>Ví</a:t>
            </a:r>
            <a:r>
              <a:rPr lang="en-US" b="1" dirty="0"/>
              <a:t> </a:t>
            </a:r>
            <a:r>
              <a:rPr lang="en-US" b="1" dirty="0" err="1"/>
              <a:t>dụ</a:t>
            </a:r>
            <a:r>
              <a:rPr lang="en-US" b="1" dirty="0"/>
              <a:t> </a:t>
            </a:r>
            <a:r>
              <a:rPr lang="en-US" b="1" dirty="0" err="1"/>
              <a:t>gọi</a:t>
            </a:r>
            <a:r>
              <a:rPr lang="en-US" b="1" dirty="0"/>
              <a:t> </a:t>
            </a:r>
            <a:r>
              <a:rPr lang="en-US" b="1" dirty="0" err="1"/>
              <a:t>hàm</a:t>
            </a:r>
            <a:r>
              <a:rPr lang="en-US" b="1" dirty="0"/>
              <a:t> </a:t>
            </a:r>
            <a:r>
              <a:rPr lang="en-US" b="1" dirty="0" smtClean="0"/>
              <a:t>sum() </a:t>
            </a:r>
            <a:r>
              <a:rPr lang="en-US" b="1" dirty="0" err="1"/>
              <a:t>và</a:t>
            </a:r>
            <a:r>
              <a:rPr lang="en-US" b="1" dirty="0"/>
              <a:t> </a:t>
            </a:r>
            <a:r>
              <a:rPr lang="en-US" b="1" dirty="0" err="1"/>
              <a:t>sử</a:t>
            </a:r>
            <a:r>
              <a:rPr lang="en-US" b="1" dirty="0"/>
              <a:t> </a:t>
            </a:r>
            <a:r>
              <a:rPr lang="en-US" b="1" dirty="0" err="1"/>
              <a:t>dụng</a:t>
            </a:r>
            <a:r>
              <a:rPr lang="en-US" b="1" dirty="0"/>
              <a:t> </a:t>
            </a:r>
            <a:r>
              <a:rPr lang="en-US" b="1" dirty="0" err="1"/>
              <a:t>giá</a:t>
            </a:r>
            <a:r>
              <a:rPr lang="en-US" b="1" dirty="0"/>
              <a:t> </a:t>
            </a:r>
            <a:r>
              <a:rPr lang="en-US" b="1" dirty="0" err="1"/>
              <a:t>trị</a:t>
            </a:r>
            <a:r>
              <a:rPr lang="en-US" b="1" dirty="0"/>
              <a:t> </a:t>
            </a:r>
            <a:r>
              <a:rPr lang="en-US" b="1" dirty="0" err="1"/>
              <a:t>trả</a:t>
            </a:r>
            <a:r>
              <a:rPr lang="en-US" b="1" dirty="0"/>
              <a:t> </a:t>
            </a:r>
            <a:r>
              <a:rPr lang="en-US" b="1" dirty="0" err="1"/>
              <a:t>về</a:t>
            </a:r>
            <a:r>
              <a:rPr lang="en-US" b="1" dirty="0"/>
              <a:t>:</a:t>
            </a:r>
          </a:p>
        </p:txBody>
      </p:sp>
      <p:sp>
        <p:nvSpPr>
          <p:cNvPr id="6" name="Rectangle 1"/>
          <p:cNvSpPr>
            <a:spLocks noChangeArrowheads="1"/>
          </p:cNvSpPr>
          <p:nvPr/>
        </p:nvSpPr>
        <p:spPr bwMode="auto">
          <a:xfrm>
            <a:off x="0" y="0"/>
            <a:ext cx="9144000" cy="0"/>
          </a:xfrm>
          <a:prstGeom prst="rect">
            <a:avLst/>
          </a:prstGeom>
          <a:solidFill>
            <a:srgbClr val="44465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98375" rIns="9144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D1D5DB"/>
                </a:solidFill>
                <a:effectLst/>
                <a:latin typeface="Söhne"/>
              </a:rPr>
              <a:t>Ví dụ gọi hàm </a:t>
            </a:r>
            <a:r>
              <a:rPr kumimoji="0" lang="en-US" altLang="en-US" b="1" i="0" u="none" strike="noStrike" cap="none" normalizeH="0" baseline="0" smtClean="0">
                <a:ln>
                  <a:noFill/>
                </a:ln>
                <a:solidFill>
                  <a:schemeClr val="tx1"/>
                </a:solidFill>
                <a:effectLst/>
                <a:latin typeface="Söhne Mono"/>
              </a:rPr>
              <a:t>add_numbers()</a:t>
            </a:r>
            <a:r>
              <a:rPr kumimoji="0" lang="en-US" altLang="en-US" sz="1200" b="0" i="0" u="none" strike="noStrike" cap="none" normalizeH="0" baseline="0" smtClean="0">
                <a:ln>
                  <a:noFill/>
                </a:ln>
                <a:solidFill>
                  <a:srgbClr val="D1D5DB"/>
                </a:solidFill>
                <a:effectLst/>
                <a:latin typeface="Söhne"/>
              </a:rPr>
              <a:t> và sử dụng giá trị trả về:</a:t>
            </a:r>
            <a:r>
              <a:rPr kumimoji="0" lang="en-US" altLang="en-US" sz="6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22" name="Rectangle 21"/>
          <p:cNvSpPr/>
          <p:nvPr/>
        </p:nvSpPr>
        <p:spPr>
          <a:xfrm>
            <a:off x="910062" y="5182677"/>
            <a:ext cx="7846828" cy="116920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1090816" y="5315397"/>
            <a:ext cx="7110974" cy="646331"/>
          </a:xfrm>
          <a:prstGeom prst="rect">
            <a:avLst/>
          </a:prstGeom>
          <a:noFill/>
        </p:spPr>
        <p:txBody>
          <a:bodyPr wrap="square" rtlCol="0">
            <a:spAutoFit/>
          </a:bodyPr>
          <a:lstStyle/>
          <a:p>
            <a:r>
              <a:rPr lang="en-US" dirty="0">
                <a:solidFill>
                  <a:schemeClr val="bg1"/>
                </a:solidFill>
              </a:rPr>
              <a:t>result = </a:t>
            </a:r>
            <a:r>
              <a:rPr lang="en-US" dirty="0" smtClean="0">
                <a:solidFill>
                  <a:schemeClr val="bg1"/>
                </a:solidFill>
              </a:rPr>
              <a:t>sum</a:t>
            </a:r>
            <a:r>
              <a:rPr lang="en-US" dirty="0" smtClean="0">
                <a:solidFill>
                  <a:srgbClr val="FFC000"/>
                </a:solidFill>
              </a:rPr>
              <a:t>(</a:t>
            </a:r>
            <a:r>
              <a:rPr lang="en-US" dirty="0" smtClean="0">
                <a:solidFill>
                  <a:schemeClr val="accent6">
                    <a:lumMod val="60000"/>
                    <a:lumOff val="40000"/>
                  </a:schemeClr>
                </a:solidFill>
              </a:rPr>
              <a:t>5</a:t>
            </a:r>
            <a:r>
              <a:rPr lang="en-US" dirty="0">
                <a:solidFill>
                  <a:schemeClr val="bg1"/>
                </a:solidFill>
              </a:rPr>
              <a:t>, </a:t>
            </a:r>
            <a:r>
              <a:rPr lang="en-US" dirty="0" smtClean="0">
                <a:solidFill>
                  <a:schemeClr val="accent6">
                    <a:lumMod val="60000"/>
                    <a:lumOff val="40000"/>
                  </a:schemeClr>
                </a:solidFill>
              </a:rPr>
              <a:t>3</a:t>
            </a:r>
            <a:r>
              <a:rPr lang="en-US" dirty="0" smtClean="0">
                <a:solidFill>
                  <a:srgbClr val="FFC000"/>
                </a:solidFill>
              </a:rPr>
              <a:t>)</a:t>
            </a:r>
          </a:p>
          <a:p>
            <a:r>
              <a:rPr lang="en-US" dirty="0" smtClean="0">
                <a:solidFill>
                  <a:schemeClr val="bg1"/>
                </a:solidFill>
              </a:rPr>
              <a:t>print</a:t>
            </a:r>
            <a:r>
              <a:rPr lang="en-US" dirty="0" smtClean="0">
                <a:solidFill>
                  <a:srgbClr val="FFC000"/>
                </a:solidFill>
              </a:rPr>
              <a:t>(</a:t>
            </a:r>
            <a:r>
              <a:rPr lang="en-US" dirty="0" smtClean="0">
                <a:solidFill>
                  <a:schemeClr val="bg1"/>
                </a:solidFill>
              </a:rPr>
              <a:t>result</a:t>
            </a:r>
            <a:r>
              <a:rPr lang="en-US" dirty="0">
                <a:solidFill>
                  <a:srgbClr val="FFC000"/>
                </a:solidFill>
              </a:rPr>
              <a:t>)</a:t>
            </a:r>
            <a:r>
              <a:rPr lang="en-US" dirty="0">
                <a:solidFill>
                  <a:schemeClr val="bg1"/>
                </a:solidFill>
              </a:rPr>
              <a:t> </a:t>
            </a:r>
            <a:r>
              <a:rPr lang="en-US" dirty="0">
                <a:solidFill>
                  <a:schemeClr val="accent6">
                    <a:lumMod val="75000"/>
                  </a:schemeClr>
                </a:solidFill>
              </a:rPr>
              <a:t># </a:t>
            </a:r>
            <a:r>
              <a:rPr lang="en-US" dirty="0" err="1">
                <a:solidFill>
                  <a:schemeClr val="accent6">
                    <a:lumMod val="75000"/>
                  </a:schemeClr>
                </a:solidFill>
              </a:rPr>
              <a:t>Kết</a:t>
            </a:r>
            <a:r>
              <a:rPr lang="en-US" dirty="0">
                <a:solidFill>
                  <a:schemeClr val="accent6">
                    <a:lumMod val="75000"/>
                  </a:schemeClr>
                </a:solidFill>
              </a:rPr>
              <a:t> </a:t>
            </a:r>
            <a:r>
              <a:rPr lang="en-US" dirty="0" err="1">
                <a:solidFill>
                  <a:schemeClr val="accent6">
                    <a:lumMod val="75000"/>
                  </a:schemeClr>
                </a:solidFill>
              </a:rPr>
              <a:t>quả</a:t>
            </a:r>
            <a:r>
              <a:rPr lang="en-US" dirty="0">
                <a:solidFill>
                  <a:schemeClr val="accent6">
                    <a:lumMod val="75000"/>
                  </a:schemeClr>
                </a:solidFill>
              </a:rPr>
              <a:t>: 8</a:t>
            </a:r>
            <a:endParaRPr lang="en-US" dirty="0" smtClean="0">
              <a:solidFill>
                <a:schemeClr val="accent6">
                  <a:lumMod val="75000"/>
                </a:schemeClr>
              </a:solidFill>
            </a:endParaRPr>
          </a:p>
        </p:txBody>
      </p:sp>
    </p:spTree>
    <p:extLst>
      <p:ext uri="{BB962C8B-B14F-4D97-AF65-F5344CB8AC3E}">
        <p14:creationId xmlns:p14="http://schemas.microsoft.com/office/powerpoint/2010/main" val="2318742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24</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Phạm</a:t>
            </a:r>
            <a:r>
              <a:rPr lang="en-US" dirty="0" smtClean="0"/>
              <a:t> vi </a:t>
            </a:r>
            <a:r>
              <a:rPr lang="en-US" dirty="0" err="1" smtClean="0"/>
              <a:t>sử</a:t>
            </a:r>
            <a:r>
              <a:rPr lang="en-US" dirty="0" smtClean="0"/>
              <a:t> </a:t>
            </a:r>
            <a:r>
              <a:rPr lang="en-US" dirty="0" err="1" smtClean="0"/>
              <a:t>dụng</a:t>
            </a:r>
            <a:r>
              <a:rPr lang="en-US" dirty="0" smtClean="0"/>
              <a:t> </a:t>
            </a:r>
            <a:r>
              <a:rPr lang="en-US" dirty="0" err="1" smtClean="0"/>
              <a:t>biến</a:t>
            </a:r>
            <a:r>
              <a:rPr lang="en-US" dirty="0" smtClean="0"/>
              <a:t> </a:t>
            </a:r>
            <a:r>
              <a:rPr lang="en-US" dirty="0" err="1" smtClean="0"/>
              <a:t>trong</a:t>
            </a:r>
            <a:r>
              <a:rPr lang="en-US" dirty="0" smtClean="0"/>
              <a:t> Function</a:t>
            </a:r>
            <a:endParaRPr lang="en-US" dirty="0"/>
          </a:p>
        </p:txBody>
      </p:sp>
      <p:sp>
        <p:nvSpPr>
          <p:cNvPr id="4" name="TextBox 3"/>
          <p:cNvSpPr txBox="1"/>
          <p:nvPr/>
        </p:nvSpPr>
        <p:spPr>
          <a:xfrm>
            <a:off x="1041993" y="2037578"/>
            <a:ext cx="7670412" cy="646331"/>
          </a:xfrm>
          <a:prstGeom prst="rect">
            <a:avLst/>
          </a:prstGeom>
          <a:noFill/>
        </p:spPr>
        <p:txBody>
          <a:bodyPr wrap="square" rtlCol="0">
            <a:spAutoFit/>
          </a:bodyPr>
          <a:lstStyle/>
          <a:p>
            <a:r>
              <a:rPr lang="en-US" dirty="0" err="1" smtClean="0"/>
              <a:t>Biến</a:t>
            </a:r>
            <a:r>
              <a:rPr lang="en-US" dirty="0" smtClean="0"/>
              <a:t> </a:t>
            </a:r>
            <a:r>
              <a:rPr lang="en-US" dirty="0" err="1" smtClean="0"/>
              <a:t>được</a:t>
            </a:r>
            <a:r>
              <a:rPr lang="en-US" dirty="0" smtClean="0"/>
              <a:t> </a:t>
            </a:r>
            <a:r>
              <a:rPr lang="en-US" dirty="0" err="1" smtClean="0"/>
              <a:t>khai</a:t>
            </a:r>
            <a:r>
              <a:rPr lang="en-US" dirty="0" smtClean="0"/>
              <a:t> </a:t>
            </a:r>
            <a:r>
              <a:rPr lang="en-US" dirty="0" err="1" smtClean="0"/>
              <a:t>báo</a:t>
            </a:r>
            <a:r>
              <a:rPr lang="en-US" dirty="0" smtClean="0"/>
              <a:t> </a:t>
            </a:r>
            <a:r>
              <a:rPr lang="en-US" dirty="0" err="1" smtClean="0"/>
              <a:t>bên</a:t>
            </a:r>
            <a:r>
              <a:rPr lang="en-US" dirty="0" smtClean="0"/>
              <a:t> </a:t>
            </a:r>
            <a:r>
              <a:rPr lang="en-US" dirty="0" err="1" smtClean="0"/>
              <a:t>trong</a:t>
            </a:r>
            <a:r>
              <a:rPr lang="en-US" dirty="0" smtClean="0"/>
              <a:t> </a:t>
            </a:r>
            <a:r>
              <a:rPr lang="en-US" dirty="0" err="1" smtClean="0"/>
              <a:t>khối</a:t>
            </a:r>
            <a:r>
              <a:rPr lang="en-US" dirty="0" smtClean="0"/>
              <a:t> </a:t>
            </a:r>
            <a:r>
              <a:rPr lang="en-US" dirty="0" err="1" smtClean="0"/>
              <a:t>lệnh</a:t>
            </a:r>
            <a:r>
              <a:rPr lang="en-US" dirty="0" smtClean="0"/>
              <a:t> </a:t>
            </a:r>
            <a:r>
              <a:rPr lang="en-US" dirty="0" err="1" smtClean="0"/>
              <a:t>của</a:t>
            </a:r>
            <a:r>
              <a:rPr lang="en-US" dirty="0" smtClean="0"/>
              <a:t> </a:t>
            </a:r>
            <a:r>
              <a:rPr lang="en-US" dirty="0" err="1" smtClean="0"/>
              <a:t>hàm</a:t>
            </a:r>
            <a:r>
              <a:rPr lang="en-US" dirty="0" smtClean="0"/>
              <a:t> </a:t>
            </a:r>
            <a:r>
              <a:rPr lang="en-US" dirty="0" err="1" smtClean="0"/>
              <a:t>thì</a:t>
            </a:r>
            <a:r>
              <a:rPr lang="en-US" dirty="0" smtClean="0"/>
              <a:t> </a:t>
            </a:r>
            <a:r>
              <a:rPr lang="en-US" dirty="0" err="1" smtClean="0"/>
              <a:t>chỉ</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được</a:t>
            </a:r>
            <a:r>
              <a:rPr lang="en-US" dirty="0" smtClean="0"/>
              <a:t> </a:t>
            </a:r>
            <a:r>
              <a:rPr lang="en-US" dirty="0" err="1" smtClean="0"/>
              <a:t>bên</a:t>
            </a:r>
            <a:r>
              <a:rPr lang="en-US" dirty="0" smtClean="0"/>
              <a:t> </a:t>
            </a:r>
            <a:r>
              <a:rPr lang="en-US" dirty="0" err="1" smtClean="0"/>
              <a:t>trong</a:t>
            </a:r>
            <a:r>
              <a:rPr lang="en-US" dirty="0" smtClean="0"/>
              <a:t> </a:t>
            </a:r>
            <a:r>
              <a:rPr lang="en-US" dirty="0" err="1" smtClean="0"/>
              <a:t>phạm</a:t>
            </a:r>
            <a:r>
              <a:rPr lang="en-US" dirty="0" smtClean="0"/>
              <a:t> vi </a:t>
            </a:r>
            <a:r>
              <a:rPr lang="en-US" dirty="0" err="1" smtClean="0"/>
              <a:t>khối</a:t>
            </a:r>
            <a:r>
              <a:rPr lang="en-US" dirty="0" smtClean="0"/>
              <a:t> </a:t>
            </a:r>
            <a:r>
              <a:rPr lang="en-US" dirty="0" err="1" smtClean="0"/>
              <a:t>hàm</a:t>
            </a:r>
            <a:r>
              <a:rPr lang="en-US" dirty="0" smtClean="0"/>
              <a:t> </a:t>
            </a:r>
            <a:r>
              <a:rPr lang="en-US" dirty="0" err="1" smtClean="0"/>
              <a:t>đó</a:t>
            </a:r>
            <a:r>
              <a:rPr lang="en-US" dirty="0" smtClean="0"/>
              <a:t>, </a:t>
            </a:r>
            <a:r>
              <a:rPr lang="en-US" dirty="0" err="1" smtClean="0"/>
              <a:t>kể</a:t>
            </a:r>
            <a:r>
              <a:rPr lang="en-US" dirty="0" smtClean="0"/>
              <a:t> </a:t>
            </a:r>
            <a:r>
              <a:rPr lang="en-US" dirty="0" err="1" smtClean="0"/>
              <a:t>cả</a:t>
            </a:r>
            <a:r>
              <a:rPr lang="en-US" dirty="0" smtClean="0"/>
              <a:t> </a:t>
            </a:r>
            <a:r>
              <a:rPr lang="en-US" dirty="0" err="1" smtClean="0"/>
              <a:t>hàm</a:t>
            </a:r>
            <a:r>
              <a:rPr lang="en-US" dirty="0" smtClean="0"/>
              <a:t> con </a:t>
            </a:r>
            <a:r>
              <a:rPr lang="en-US" dirty="0" err="1" smtClean="0"/>
              <a:t>của</a:t>
            </a:r>
            <a:r>
              <a:rPr lang="en-US" dirty="0" smtClean="0"/>
              <a:t> </a:t>
            </a:r>
            <a:r>
              <a:rPr lang="en-US" dirty="0" err="1" smtClean="0"/>
              <a:t>nó</a:t>
            </a:r>
            <a:r>
              <a:rPr lang="en-US" dirty="0" smtClean="0"/>
              <a:t>.</a:t>
            </a:r>
            <a:endParaRPr lang="en-US" dirty="0"/>
          </a:p>
        </p:txBody>
      </p:sp>
      <p:pic>
        <p:nvPicPr>
          <p:cNvPr id="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1993" y="1519761"/>
            <a:ext cx="7068814" cy="369332"/>
          </a:xfrm>
          <a:prstGeom prst="rect">
            <a:avLst/>
          </a:prstGeom>
          <a:noFill/>
        </p:spPr>
        <p:txBody>
          <a:bodyPr wrap="square" rtlCol="0">
            <a:spAutoFit/>
          </a:bodyPr>
          <a:lstStyle/>
          <a:p>
            <a:r>
              <a:rPr lang="en-US" b="1" dirty="0" smtClean="0"/>
              <a:t>Local Scope (</a:t>
            </a:r>
            <a:r>
              <a:rPr lang="en-US" b="1" dirty="0" err="1" smtClean="0"/>
              <a:t>Phạm</a:t>
            </a:r>
            <a:r>
              <a:rPr lang="en-US" b="1" dirty="0" smtClean="0"/>
              <a:t> vi </a:t>
            </a:r>
            <a:r>
              <a:rPr lang="en-US" b="1" dirty="0" err="1" smtClean="0"/>
              <a:t>cục</a:t>
            </a:r>
            <a:r>
              <a:rPr lang="en-US" b="1" dirty="0" smtClean="0"/>
              <a:t> </a:t>
            </a:r>
            <a:r>
              <a:rPr lang="en-US" b="1" dirty="0" err="1" smtClean="0"/>
              <a:t>bộ</a:t>
            </a:r>
            <a:r>
              <a:rPr lang="en-US" b="1" dirty="0"/>
              <a:t>)</a:t>
            </a:r>
            <a:endParaRPr lang="en-US" b="1" dirty="0">
              <a:solidFill>
                <a:srgbClr val="FF0000"/>
              </a:solidFill>
            </a:endParaRPr>
          </a:p>
        </p:txBody>
      </p:sp>
      <p:sp>
        <p:nvSpPr>
          <p:cNvPr id="7" name="Rectangle 6"/>
          <p:cNvSpPr/>
          <p:nvPr/>
        </p:nvSpPr>
        <p:spPr>
          <a:xfrm>
            <a:off x="910062" y="2851080"/>
            <a:ext cx="7846828" cy="188704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1090816" y="2983801"/>
            <a:ext cx="7110974" cy="1754326"/>
          </a:xfrm>
          <a:prstGeom prst="rect">
            <a:avLst/>
          </a:prstGeom>
          <a:noFill/>
        </p:spPr>
        <p:txBody>
          <a:bodyPr wrap="square" rtlCol="0">
            <a:spAutoFit/>
          </a:bodyPr>
          <a:lstStyle/>
          <a:p>
            <a:r>
              <a:rPr lang="en-US" dirty="0" err="1">
                <a:solidFill>
                  <a:srgbClr val="00B0F0"/>
                </a:solidFill>
              </a:rPr>
              <a:t>def</a:t>
            </a:r>
            <a:r>
              <a:rPr lang="en-US" dirty="0">
                <a:solidFill>
                  <a:schemeClr val="bg1"/>
                </a:solidFill>
              </a:rPr>
              <a:t> </a:t>
            </a:r>
            <a:r>
              <a:rPr lang="en-US" dirty="0" err="1" smtClean="0">
                <a:solidFill>
                  <a:schemeClr val="bg1"/>
                </a:solidFill>
              </a:rPr>
              <a:t>myFunction</a:t>
            </a:r>
            <a:r>
              <a:rPr lang="en-US" dirty="0" smtClean="0">
                <a:solidFill>
                  <a:srgbClr val="FFC000"/>
                </a:solidFill>
              </a:rPr>
              <a:t>()</a:t>
            </a:r>
            <a:r>
              <a:rPr lang="en-US" dirty="0" smtClean="0">
                <a:solidFill>
                  <a:schemeClr val="bg1"/>
                </a:solidFill>
              </a:rPr>
              <a:t>:</a:t>
            </a:r>
          </a:p>
          <a:p>
            <a:pPr lvl="1"/>
            <a:r>
              <a:rPr lang="en-US" dirty="0" smtClean="0">
                <a:solidFill>
                  <a:schemeClr val="bg1"/>
                </a:solidFill>
              </a:rPr>
              <a:t>x </a:t>
            </a:r>
            <a:r>
              <a:rPr lang="en-US" dirty="0">
                <a:solidFill>
                  <a:schemeClr val="bg1"/>
                </a:solidFill>
              </a:rPr>
              <a:t>= </a:t>
            </a:r>
            <a:r>
              <a:rPr lang="en-US" dirty="0" smtClean="0">
                <a:solidFill>
                  <a:schemeClr val="bg1"/>
                </a:solidFill>
              </a:rPr>
              <a:t> </a:t>
            </a:r>
            <a:r>
              <a:rPr lang="en-US" dirty="0" smtClean="0">
                <a:solidFill>
                  <a:schemeClr val="accent6">
                    <a:lumMod val="60000"/>
                    <a:lumOff val="40000"/>
                  </a:schemeClr>
                </a:solidFill>
              </a:rPr>
              <a:t>3</a:t>
            </a:r>
            <a:r>
              <a:rPr lang="en-US" dirty="0" smtClean="0">
                <a:solidFill>
                  <a:schemeClr val="bg1"/>
                </a:solidFill>
              </a:rPr>
              <a:t>;</a:t>
            </a:r>
          </a:p>
          <a:p>
            <a:pPr lvl="1"/>
            <a:r>
              <a:rPr lang="en-US" dirty="0" smtClean="0">
                <a:solidFill>
                  <a:schemeClr val="bg1"/>
                </a:solidFill>
              </a:rPr>
              <a:t>print</a:t>
            </a:r>
            <a:r>
              <a:rPr lang="en-US" dirty="0" smtClean="0">
                <a:solidFill>
                  <a:srgbClr val="FFC000"/>
                </a:solidFill>
              </a:rPr>
              <a:t>(</a:t>
            </a:r>
            <a:r>
              <a:rPr lang="en-US" dirty="0" smtClean="0">
                <a:solidFill>
                  <a:schemeClr val="bg1"/>
                </a:solidFill>
              </a:rPr>
              <a:t>x</a:t>
            </a:r>
            <a:r>
              <a:rPr lang="en-US" dirty="0" smtClean="0">
                <a:solidFill>
                  <a:srgbClr val="FFC000"/>
                </a:solidFill>
              </a:rPr>
              <a:t>)</a:t>
            </a:r>
            <a:endParaRPr lang="en-US" dirty="0" smtClean="0">
              <a:solidFill>
                <a:schemeClr val="bg1"/>
              </a:solidFill>
            </a:endParaRPr>
          </a:p>
          <a:p>
            <a:pPr lvl="1"/>
            <a:r>
              <a:rPr lang="en-US" dirty="0" err="1" smtClean="0">
                <a:solidFill>
                  <a:srgbClr val="00B0F0"/>
                </a:solidFill>
              </a:rPr>
              <a:t>def</a:t>
            </a:r>
            <a:r>
              <a:rPr lang="en-US" dirty="0" smtClean="0">
                <a:solidFill>
                  <a:schemeClr val="bg1"/>
                </a:solidFill>
              </a:rPr>
              <a:t> </a:t>
            </a:r>
            <a:r>
              <a:rPr lang="en-US" dirty="0" err="1" smtClean="0">
                <a:solidFill>
                  <a:schemeClr val="bg1"/>
                </a:solidFill>
              </a:rPr>
              <a:t>subFunction</a:t>
            </a:r>
            <a:r>
              <a:rPr lang="en-US" dirty="0" smtClean="0">
                <a:solidFill>
                  <a:schemeClr val="bg1"/>
                </a:solidFill>
              </a:rPr>
              <a:t>():</a:t>
            </a:r>
          </a:p>
          <a:p>
            <a:pPr lvl="1"/>
            <a:r>
              <a:rPr lang="en-US" dirty="0">
                <a:solidFill>
                  <a:schemeClr val="bg1"/>
                </a:solidFill>
              </a:rPr>
              <a:t> </a:t>
            </a:r>
            <a:r>
              <a:rPr lang="en-US" dirty="0" smtClean="0">
                <a:solidFill>
                  <a:schemeClr val="bg1"/>
                </a:solidFill>
              </a:rPr>
              <a:t>      </a:t>
            </a:r>
            <a:r>
              <a:rPr lang="en-US" dirty="0">
                <a:solidFill>
                  <a:schemeClr val="bg1"/>
                </a:solidFill>
              </a:rPr>
              <a:t>print</a:t>
            </a:r>
            <a:r>
              <a:rPr lang="en-US" dirty="0">
                <a:solidFill>
                  <a:srgbClr val="FFC000"/>
                </a:solidFill>
              </a:rPr>
              <a:t>(</a:t>
            </a:r>
            <a:r>
              <a:rPr lang="en-US" dirty="0">
                <a:solidFill>
                  <a:schemeClr val="bg1"/>
                </a:solidFill>
              </a:rPr>
              <a:t>x</a:t>
            </a:r>
            <a:r>
              <a:rPr lang="en-US" dirty="0" smtClean="0">
                <a:solidFill>
                  <a:srgbClr val="FFC000"/>
                </a:solidFill>
              </a:rPr>
              <a:t>)</a:t>
            </a:r>
            <a:endParaRPr lang="en-US" dirty="0" smtClean="0">
              <a:solidFill>
                <a:schemeClr val="bg1"/>
              </a:solidFill>
            </a:endParaRPr>
          </a:p>
          <a:p>
            <a:pPr lvl="1"/>
            <a:endParaRPr lang="en-US" dirty="0" smtClean="0">
              <a:solidFill>
                <a:schemeClr val="bg1"/>
              </a:solidFill>
            </a:endParaRPr>
          </a:p>
        </p:txBody>
      </p:sp>
      <p:sp>
        <p:nvSpPr>
          <p:cNvPr id="9" name="TextBox 8"/>
          <p:cNvSpPr txBox="1"/>
          <p:nvPr/>
        </p:nvSpPr>
        <p:spPr>
          <a:xfrm>
            <a:off x="910062" y="4982796"/>
            <a:ext cx="7793663" cy="369332"/>
          </a:xfrm>
          <a:prstGeom prst="rect">
            <a:avLst/>
          </a:prstGeom>
          <a:noFill/>
        </p:spPr>
        <p:txBody>
          <a:bodyPr wrap="square" rtlCol="0">
            <a:spAutoFit/>
          </a:bodyPr>
          <a:lstStyle/>
          <a:p>
            <a:r>
              <a:rPr lang="en-US" dirty="0" smtClean="0"/>
              <a:t>Qua </a:t>
            </a:r>
            <a:r>
              <a:rPr lang="en-US" dirty="0" err="1" smtClean="0"/>
              <a:t>ví</a:t>
            </a:r>
            <a:r>
              <a:rPr lang="en-US" dirty="0" smtClean="0"/>
              <a:t> </a:t>
            </a:r>
            <a:r>
              <a:rPr lang="en-US" dirty="0" err="1" smtClean="0"/>
              <a:t>dụ</a:t>
            </a:r>
            <a:r>
              <a:rPr lang="en-US" dirty="0" smtClean="0"/>
              <a:t> </a:t>
            </a:r>
            <a:r>
              <a:rPr lang="en-US" dirty="0" err="1" smtClean="0"/>
              <a:t>trên</a:t>
            </a:r>
            <a:r>
              <a:rPr lang="en-US" dirty="0" smtClean="0"/>
              <a:t> </a:t>
            </a:r>
            <a:r>
              <a:rPr lang="en-US" dirty="0" err="1" smtClean="0"/>
              <a:t>biến</a:t>
            </a:r>
            <a:r>
              <a:rPr lang="en-US" dirty="0" smtClean="0"/>
              <a:t> </a:t>
            </a:r>
            <a:r>
              <a:rPr lang="en-US" b="1" dirty="0" smtClean="0"/>
              <a:t>x</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được</a:t>
            </a:r>
            <a:r>
              <a:rPr lang="en-US" dirty="0" smtClean="0"/>
              <a:t> </a:t>
            </a:r>
            <a:r>
              <a:rPr lang="en-US" dirty="0" err="1" smtClean="0"/>
              <a:t>cả</a:t>
            </a:r>
            <a:r>
              <a:rPr lang="en-US" dirty="0" smtClean="0"/>
              <a:t> </a:t>
            </a:r>
            <a:r>
              <a:rPr lang="en-US" dirty="0" err="1" smtClean="0"/>
              <a:t>trong</a:t>
            </a:r>
            <a:r>
              <a:rPr lang="en-US" dirty="0" smtClean="0"/>
              <a:t> </a:t>
            </a:r>
            <a:r>
              <a:rPr lang="en-US" dirty="0" err="1" smtClean="0"/>
              <a:t>hàm</a:t>
            </a:r>
            <a:r>
              <a:rPr lang="en-US" dirty="0" smtClean="0"/>
              <a:t> con </a:t>
            </a:r>
            <a:r>
              <a:rPr lang="en-US" dirty="0" err="1" smtClean="0"/>
              <a:t>subFunction</a:t>
            </a:r>
            <a:endParaRPr lang="en-US" dirty="0"/>
          </a:p>
        </p:txBody>
      </p:sp>
    </p:spTree>
    <p:extLst>
      <p:ext uri="{BB962C8B-B14F-4D97-AF65-F5344CB8AC3E}">
        <p14:creationId xmlns:p14="http://schemas.microsoft.com/office/powerpoint/2010/main" val="29266489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25</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Phạm</a:t>
            </a:r>
            <a:r>
              <a:rPr lang="en-US" dirty="0" smtClean="0"/>
              <a:t> vi </a:t>
            </a:r>
            <a:r>
              <a:rPr lang="en-US" dirty="0" err="1" smtClean="0"/>
              <a:t>sử</a:t>
            </a:r>
            <a:r>
              <a:rPr lang="en-US" dirty="0" smtClean="0"/>
              <a:t> </a:t>
            </a:r>
            <a:r>
              <a:rPr lang="en-US" dirty="0" err="1" smtClean="0"/>
              <a:t>dụng</a:t>
            </a:r>
            <a:r>
              <a:rPr lang="en-US" dirty="0" smtClean="0"/>
              <a:t> </a:t>
            </a:r>
            <a:r>
              <a:rPr lang="en-US" dirty="0" err="1" smtClean="0"/>
              <a:t>biến</a:t>
            </a:r>
            <a:r>
              <a:rPr lang="en-US" dirty="0" smtClean="0"/>
              <a:t> </a:t>
            </a:r>
            <a:r>
              <a:rPr lang="en-US" dirty="0" err="1" smtClean="0"/>
              <a:t>trong</a:t>
            </a:r>
            <a:r>
              <a:rPr lang="en-US" dirty="0" smtClean="0"/>
              <a:t> Function</a:t>
            </a:r>
            <a:endParaRPr lang="en-US" dirty="0"/>
          </a:p>
        </p:txBody>
      </p:sp>
      <p:sp>
        <p:nvSpPr>
          <p:cNvPr id="4" name="TextBox 3"/>
          <p:cNvSpPr txBox="1"/>
          <p:nvPr/>
        </p:nvSpPr>
        <p:spPr>
          <a:xfrm>
            <a:off x="811097" y="2132833"/>
            <a:ext cx="7670412" cy="369332"/>
          </a:xfrm>
          <a:prstGeom prst="rect">
            <a:avLst/>
          </a:prstGeom>
          <a:noFill/>
        </p:spPr>
        <p:txBody>
          <a:bodyPr wrap="square" rtlCol="0">
            <a:spAutoFit/>
          </a:bodyPr>
          <a:lstStyle/>
          <a:p>
            <a:r>
              <a:rPr lang="en-US" dirty="0" err="1" smtClean="0"/>
              <a:t>Ví</a:t>
            </a:r>
            <a:r>
              <a:rPr lang="en-US" dirty="0" smtClean="0"/>
              <a:t> </a:t>
            </a:r>
            <a:r>
              <a:rPr lang="en-US" dirty="0" err="1" smtClean="0"/>
              <a:t>dụ</a:t>
            </a:r>
            <a:r>
              <a:rPr lang="en-US" dirty="0" smtClean="0"/>
              <a:t> </a:t>
            </a:r>
            <a:r>
              <a:rPr lang="en-US" dirty="0" err="1" smtClean="0"/>
              <a:t>thứ</a:t>
            </a:r>
            <a:r>
              <a:rPr lang="en-US" dirty="0" smtClean="0"/>
              <a:t> 2: </a:t>
            </a:r>
            <a:r>
              <a:rPr lang="en-US" dirty="0" err="1" smtClean="0"/>
              <a:t>Biến</a:t>
            </a:r>
            <a:r>
              <a:rPr lang="en-US" dirty="0" smtClean="0"/>
              <a:t> </a:t>
            </a:r>
            <a:r>
              <a:rPr lang="en-US" dirty="0" err="1" smtClean="0"/>
              <a:t>toàn</a:t>
            </a:r>
            <a:r>
              <a:rPr lang="en-US" dirty="0" smtClean="0"/>
              <a:t> </a:t>
            </a:r>
            <a:r>
              <a:rPr lang="en-US" dirty="0" err="1" smtClean="0"/>
              <a:t>cục</a:t>
            </a:r>
            <a:r>
              <a:rPr lang="en-US" dirty="0" smtClean="0"/>
              <a:t> </a:t>
            </a:r>
            <a:r>
              <a:rPr lang="en-US" dirty="0" err="1" smtClean="0"/>
              <a:t>với</a:t>
            </a:r>
            <a:r>
              <a:rPr lang="en-US" dirty="0" smtClean="0"/>
              <a:t> </a:t>
            </a:r>
            <a:r>
              <a:rPr lang="en-US" dirty="0" err="1" smtClean="0"/>
              <a:t>từ</a:t>
            </a:r>
            <a:r>
              <a:rPr lang="en-US" dirty="0" smtClean="0"/>
              <a:t> </a:t>
            </a:r>
            <a:r>
              <a:rPr lang="en-US" dirty="0" err="1" smtClean="0"/>
              <a:t>khóa</a:t>
            </a:r>
            <a:r>
              <a:rPr lang="en-US" dirty="0" smtClean="0"/>
              <a:t> </a:t>
            </a:r>
            <a:r>
              <a:rPr lang="en-US" dirty="0" smtClean="0">
                <a:solidFill>
                  <a:srgbClr val="FF0000"/>
                </a:solidFill>
              </a:rPr>
              <a:t>global</a:t>
            </a:r>
            <a:endParaRPr lang="en-US" dirty="0">
              <a:solidFill>
                <a:srgbClr val="FF0000"/>
              </a:solidFill>
            </a:endParaRPr>
          </a:p>
        </p:txBody>
      </p:sp>
      <p:pic>
        <p:nvPicPr>
          <p:cNvPr id="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1993" y="1519761"/>
            <a:ext cx="7068814" cy="369332"/>
          </a:xfrm>
          <a:prstGeom prst="rect">
            <a:avLst/>
          </a:prstGeom>
          <a:noFill/>
        </p:spPr>
        <p:txBody>
          <a:bodyPr wrap="square" rtlCol="0">
            <a:spAutoFit/>
          </a:bodyPr>
          <a:lstStyle/>
          <a:p>
            <a:r>
              <a:rPr lang="en-US" b="1" dirty="0" smtClean="0"/>
              <a:t>Global Scope (</a:t>
            </a:r>
            <a:r>
              <a:rPr lang="en-US" b="1" dirty="0" err="1" smtClean="0"/>
              <a:t>Phạm</a:t>
            </a:r>
            <a:r>
              <a:rPr lang="en-US" b="1" dirty="0" smtClean="0"/>
              <a:t> vi </a:t>
            </a:r>
            <a:r>
              <a:rPr lang="en-US" b="1" dirty="0" err="1" smtClean="0"/>
              <a:t>toàn</a:t>
            </a:r>
            <a:r>
              <a:rPr lang="en-US" b="1" dirty="0" smtClean="0"/>
              <a:t> </a:t>
            </a:r>
            <a:r>
              <a:rPr lang="en-US" b="1" dirty="0" err="1" smtClean="0"/>
              <a:t>cục</a:t>
            </a:r>
            <a:r>
              <a:rPr lang="en-US" b="1" dirty="0" smtClean="0"/>
              <a:t>)</a:t>
            </a:r>
            <a:endParaRPr lang="en-US" b="1" dirty="0">
              <a:solidFill>
                <a:srgbClr val="FF0000"/>
              </a:solidFill>
            </a:endParaRPr>
          </a:p>
        </p:txBody>
      </p:sp>
      <p:sp>
        <p:nvSpPr>
          <p:cNvPr id="7" name="Rectangle 6"/>
          <p:cNvSpPr/>
          <p:nvPr/>
        </p:nvSpPr>
        <p:spPr>
          <a:xfrm>
            <a:off x="910062" y="2851081"/>
            <a:ext cx="7846828" cy="20960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1090816" y="2983801"/>
            <a:ext cx="7110974" cy="2031325"/>
          </a:xfrm>
          <a:prstGeom prst="rect">
            <a:avLst/>
          </a:prstGeom>
          <a:noFill/>
        </p:spPr>
        <p:txBody>
          <a:bodyPr wrap="square" rtlCol="0">
            <a:spAutoFit/>
          </a:bodyPr>
          <a:lstStyle/>
          <a:p>
            <a:r>
              <a:rPr lang="en-US" dirty="0" err="1" smtClean="0">
                <a:solidFill>
                  <a:srgbClr val="00B0F0"/>
                </a:solidFill>
              </a:rPr>
              <a:t>def</a:t>
            </a:r>
            <a:r>
              <a:rPr lang="en-US" dirty="0" smtClean="0">
                <a:solidFill>
                  <a:schemeClr val="bg1"/>
                </a:solidFill>
              </a:rPr>
              <a:t> </a:t>
            </a:r>
            <a:r>
              <a:rPr lang="en-US" dirty="0" err="1" smtClean="0">
                <a:solidFill>
                  <a:schemeClr val="bg1"/>
                </a:solidFill>
              </a:rPr>
              <a:t>myFunction</a:t>
            </a:r>
            <a:r>
              <a:rPr lang="en-US" dirty="0" smtClean="0">
                <a:solidFill>
                  <a:srgbClr val="FFC000"/>
                </a:solidFill>
              </a:rPr>
              <a:t>()</a:t>
            </a:r>
            <a:r>
              <a:rPr lang="en-US" dirty="0" smtClean="0">
                <a:solidFill>
                  <a:schemeClr val="bg1"/>
                </a:solidFill>
              </a:rPr>
              <a:t>:</a:t>
            </a:r>
            <a:endParaRPr lang="en-US" dirty="0">
              <a:solidFill>
                <a:schemeClr val="bg1"/>
              </a:solidFill>
            </a:endParaRPr>
          </a:p>
          <a:p>
            <a:pPr marL="0" lvl="1"/>
            <a:r>
              <a:rPr lang="en-US" dirty="0">
                <a:solidFill>
                  <a:schemeClr val="bg1"/>
                </a:solidFill>
              </a:rPr>
              <a:t> </a:t>
            </a:r>
            <a:r>
              <a:rPr lang="en-US" dirty="0" smtClean="0">
                <a:solidFill>
                  <a:schemeClr val="bg1"/>
                </a:solidFill>
              </a:rPr>
              <a:t>     global x</a:t>
            </a:r>
          </a:p>
          <a:p>
            <a:pPr marL="0" lvl="1"/>
            <a:r>
              <a:rPr lang="en-US" dirty="0">
                <a:solidFill>
                  <a:schemeClr val="bg1"/>
                </a:solidFill>
              </a:rPr>
              <a:t> </a:t>
            </a:r>
            <a:r>
              <a:rPr lang="en-US" dirty="0" smtClean="0">
                <a:solidFill>
                  <a:schemeClr val="bg1"/>
                </a:solidFill>
              </a:rPr>
              <a:t>     x  </a:t>
            </a:r>
            <a:r>
              <a:rPr lang="en-US" dirty="0">
                <a:solidFill>
                  <a:schemeClr val="bg1"/>
                </a:solidFill>
              </a:rPr>
              <a:t>=  </a:t>
            </a:r>
            <a:r>
              <a:rPr lang="en-US" dirty="0">
                <a:solidFill>
                  <a:schemeClr val="accent6">
                    <a:lumMod val="60000"/>
                    <a:lumOff val="40000"/>
                  </a:schemeClr>
                </a:solidFill>
              </a:rPr>
              <a:t>3</a:t>
            </a:r>
            <a:r>
              <a:rPr lang="en-US" dirty="0">
                <a:solidFill>
                  <a:schemeClr val="bg1"/>
                </a:solidFill>
              </a:rPr>
              <a:t>;</a:t>
            </a:r>
          </a:p>
          <a:p>
            <a:r>
              <a:rPr lang="en-US" dirty="0" smtClean="0">
                <a:solidFill>
                  <a:schemeClr val="bg1"/>
                </a:solidFill>
              </a:rPr>
              <a:t>      print</a:t>
            </a:r>
            <a:r>
              <a:rPr lang="en-US" dirty="0" smtClean="0">
                <a:solidFill>
                  <a:srgbClr val="FFC000"/>
                </a:solidFill>
              </a:rPr>
              <a:t>(</a:t>
            </a:r>
            <a:r>
              <a:rPr lang="en-US" dirty="0" smtClean="0">
                <a:solidFill>
                  <a:schemeClr val="bg1"/>
                </a:solidFill>
              </a:rPr>
              <a:t>x</a:t>
            </a:r>
            <a:r>
              <a:rPr lang="en-US" dirty="0" smtClean="0">
                <a:solidFill>
                  <a:srgbClr val="FFC000"/>
                </a:solidFill>
              </a:rPr>
              <a:t>)</a:t>
            </a:r>
          </a:p>
          <a:p>
            <a:endParaRPr lang="en-US" dirty="0">
              <a:solidFill>
                <a:srgbClr val="FFC000"/>
              </a:solidFill>
            </a:endParaRPr>
          </a:p>
          <a:p>
            <a:r>
              <a:rPr lang="en-US" dirty="0" smtClean="0">
                <a:solidFill>
                  <a:schemeClr val="bg1"/>
                </a:solidFill>
              </a:rPr>
              <a:t>print</a:t>
            </a:r>
            <a:r>
              <a:rPr lang="en-US" dirty="0" smtClean="0">
                <a:solidFill>
                  <a:srgbClr val="FFC000"/>
                </a:solidFill>
              </a:rPr>
              <a:t>(</a:t>
            </a:r>
            <a:r>
              <a:rPr lang="en-US" dirty="0" smtClean="0">
                <a:solidFill>
                  <a:schemeClr val="bg1"/>
                </a:solidFill>
              </a:rPr>
              <a:t>x</a:t>
            </a:r>
            <a:r>
              <a:rPr lang="en-US" dirty="0" smtClean="0">
                <a:solidFill>
                  <a:srgbClr val="FFC000"/>
                </a:solidFill>
              </a:rPr>
              <a:t>)</a:t>
            </a:r>
            <a:endParaRPr lang="en-US" dirty="0" smtClean="0">
              <a:solidFill>
                <a:schemeClr val="bg1"/>
              </a:solidFill>
            </a:endParaRPr>
          </a:p>
          <a:p>
            <a:pPr lvl="1"/>
            <a:endParaRPr lang="en-US" dirty="0" smtClean="0">
              <a:solidFill>
                <a:schemeClr val="bg1"/>
              </a:solidFill>
            </a:endParaRPr>
          </a:p>
        </p:txBody>
      </p:sp>
      <p:sp>
        <p:nvSpPr>
          <p:cNvPr id="9" name="TextBox 8"/>
          <p:cNvSpPr txBox="1"/>
          <p:nvPr/>
        </p:nvSpPr>
        <p:spPr>
          <a:xfrm>
            <a:off x="811097" y="5147846"/>
            <a:ext cx="7793663" cy="646331"/>
          </a:xfrm>
          <a:prstGeom prst="rect">
            <a:avLst/>
          </a:prstGeom>
          <a:noFill/>
        </p:spPr>
        <p:txBody>
          <a:bodyPr wrap="square" rtlCol="0">
            <a:spAutoFit/>
          </a:bodyPr>
          <a:lstStyle/>
          <a:p>
            <a:r>
              <a:rPr lang="en-US" dirty="0" smtClean="0"/>
              <a:t>Qua </a:t>
            </a:r>
            <a:r>
              <a:rPr lang="en-US" dirty="0" err="1" smtClean="0"/>
              <a:t>ví</a:t>
            </a:r>
            <a:r>
              <a:rPr lang="en-US" dirty="0" smtClean="0"/>
              <a:t> </a:t>
            </a:r>
            <a:r>
              <a:rPr lang="en-US" dirty="0" err="1" smtClean="0"/>
              <a:t>dụ</a:t>
            </a:r>
            <a:r>
              <a:rPr lang="en-US" dirty="0" smtClean="0"/>
              <a:t> </a:t>
            </a:r>
            <a:r>
              <a:rPr lang="en-US" dirty="0" err="1" smtClean="0"/>
              <a:t>trên</a:t>
            </a:r>
            <a:r>
              <a:rPr lang="en-US" dirty="0" smtClean="0"/>
              <a:t> </a:t>
            </a:r>
            <a:r>
              <a:rPr lang="en-US" dirty="0" err="1" smtClean="0"/>
              <a:t>biến</a:t>
            </a:r>
            <a:r>
              <a:rPr lang="en-US" dirty="0" smtClean="0"/>
              <a:t> </a:t>
            </a:r>
            <a:r>
              <a:rPr lang="en-US" b="1" dirty="0" smtClean="0"/>
              <a:t>x</a:t>
            </a:r>
            <a:r>
              <a:rPr lang="en-US" dirty="0" smtClean="0"/>
              <a:t> </a:t>
            </a:r>
            <a:r>
              <a:rPr lang="en-US" dirty="0" err="1" smtClean="0"/>
              <a:t>dùng</a:t>
            </a:r>
            <a:r>
              <a:rPr lang="en-US" dirty="0" smtClean="0"/>
              <a:t> </a:t>
            </a:r>
            <a:r>
              <a:rPr lang="en-US" dirty="0" err="1" smtClean="0"/>
              <a:t>được</a:t>
            </a:r>
            <a:r>
              <a:rPr lang="en-US" dirty="0" smtClean="0"/>
              <a:t> </a:t>
            </a:r>
            <a:r>
              <a:rPr lang="en-US" dirty="0" err="1" smtClean="0"/>
              <a:t>trong</a:t>
            </a:r>
            <a:r>
              <a:rPr lang="en-US" dirty="0" smtClean="0"/>
              <a:t> </a:t>
            </a:r>
            <a:r>
              <a:rPr lang="en-US" dirty="0" err="1" smtClean="0"/>
              <a:t>hàm</a:t>
            </a:r>
            <a:r>
              <a:rPr lang="en-US" dirty="0" smtClean="0"/>
              <a:t> </a:t>
            </a:r>
            <a:r>
              <a:rPr lang="en-US" dirty="0" err="1" smtClean="0"/>
              <a:t>myFunction</a:t>
            </a:r>
            <a:r>
              <a:rPr lang="en-US" dirty="0" smtClean="0"/>
              <a:t>, </a:t>
            </a:r>
            <a:r>
              <a:rPr lang="en-US" dirty="0" err="1" smtClean="0"/>
              <a:t>vừa</a:t>
            </a:r>
            <a:r>
              <a:rPr lang="en-US" dirty="0" smtClean="0"/>
              <a:t> </a:t>
            </a:r>
            <a:r>
              <a:rPr lang="en-US" dirty="0" err="1" smtClean="0"/>
              <a:t>dùng</a:t>
            </a:r>
            <a:r>
              <a:rPr lang="en-US" dirty="0" smtClean="0"/>
              <a:t> </a:t>
            </a:r>
            <a:r>
              <a:rPr lang="en-US" dirty="0" err="1" smtClean="0"/>
              <a:t>được</a:t>
            </a:r>
            <a:r>
              <a:rPr lang="en-US" dirty="0" smtClean="0"/>
              <a:t> </a:t>
            </a:r>
            <a:r>
              <a:rPr lang="en-US" dirty="0" err="1" smtClean="0"/>
              <a:t>bên</a:t>
            </a:r>
            <a:r>
              <a:rPr lang="en-US" dirty="0" smtClean="0"/>
              <a:t> </a:t>
            </a:r>
            <a:r>
              <a:rPr lang="en-US" dirty="0" err="1" smtClean="0"/>
              <a:t>ngoài</a:t>
            </a:r>
            <a:r>
              <a:rPr lang="en-US" dirty="0" smtClean="0"/>
              <a:t> </a:t>
            </a:r>
            <a:r>
              <a:rPr lang="en-US" dirty="0" err="1" smtClean="0"/>
              <a:t>hàm</a:t>
            </a:r>
            <a:r>
              <a:rPr lang="en-US" dirty="0" smtClean="0"/>
              <a:t> </a:t>
            </a:r>
            <a:r>
              <a:rPr lang="en-US" dirty="0" err="1" smtClean="0"/>
              <a:t>myFunction</a:t>
            </a:r>
            <a:endParaRPr lang="en-US" dirty="0"/>
          </a:p>
        </p:txBody>
      </p:sp>
    </p:spTree>
    <p:extLst>
      <p:ext uri="{BB962C8B-B14F-4D97-AF65-F5344CB8AC3E}">
        <p14:creationId xmlns:p14="http://schemas.microsoft.com/office/powerpoint/2010/main" val="35950897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26</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Phạm</a:t>
            </a:r>
            <a:r>
              <a:rPr lang="en-US" dirty="0" smtClean="0"/>
              <a:t> vi </a:t>
            </a:r>
            <a:r>
              <a:rPr lang="en-US" dirty="0" err="1" smtClean="0"/>
              <a:t>sử</a:t>
            </a:r>
            <a:r>
              <a:rPr lang="en-US" dirty="0" smtClean="0"/>
              <a:t> </a:t>
            </a:r>
            <a:r>
              <a:rPr lang="en-US" dirty="0" err="1" smtClean="0"/>
              <a:t>dụng</a:t>
            </a:r>
            <a:r>
              <a:rPr lang="en-US" dirty="0" smtClean="0"/>
              <a:t> </a:t>
            </a:r>
            <a:r>
              <a:rPr lang="en-US" dirty="0" err="1" smtClean="0"/>
              <a:t>biến</a:t>
            </a:r>
            <a:r>
              <a:rPr lang="en-US" dirty="0" smtClean="0"/>
              <a:t> </a:t>
            </a:r>
            <a:r>
              <a:rPr lang="en-US" dirty="0" err="1" smtClean="0"/>
              <a:t>trong</a:t>
            </a:r>
            <a:r>
              <a:rPr lang="en-US" dirty="0" smtClean="0"/>
              <a:t> Function</a:t>
            </a:r>
            <a:endParaRPr lang="en-US" dirty="0"/>
          </a:p>
        </p:txBody>
      </p:sp>
      <p:sp>
        <p:nvSpPr>
          <p:cNvPr id="4" name="TextBox 3"/>
          <p:cNvSpPr txBox="1"/>
          <p:nvPr/>
        </p:nvSpPr>
        <p:spPr>
          <a:xfrm>
            <a:off x="811097" y="2037578"/>
            <a:ext cx="7670412" cy="646331"/>
          </a:xfrm>
          <a:prstGeom prst="rect">
            <a:avLst/>
          </a:prstGeom>
          <a:noFill/>
        </p:spPr>
        <p:txBody>
          <a:bodyPr wrap="square" rtlCol="0">
            <a:spAutoFit/>
          </a:bodyPr>
          <a:lstStyle/>
          <a:p>
            <a:r>
              <a:rPr lang="en-US" dirty="0" err="1"/>
              <a:t>Đ</a:t>
            </a:r>
            <a:r>
              <a:rPr lang="en-US" dirty="0" err="1" smtClean="0"/>
              <a:t>ể</a:t>
            </a:r>
            <a:r>
              <a:rPr lang="en-US" dirty="0" smtClean="0"/>
              <a:t> </a:t>
            </a:r>
            <a:r>
              <a:rPr lang="en-US" dirty="0" err="1"/>
              <a:t>thay</a:t>
            </a:r>
            <a:r>
              <a:rPr lang="en-US" dirty="0"/>
              <a:t> </a:t>
            </a:r>
            <a:r>
              <a:rPr lang="en-US" dirty="0" err="1"/>
              <a:t>đổi</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một</a:t>
            </a:r>
            <a:r>
              <a:rPr lang="en-US" dirty="0"/>
              <a:t> </a:t>
            </a:r>
            <a:r>
              <a:rPr lang="en-US" dirty="0" err="1"/>
              <a:t>biến</a:t>
            </a:r>
            <a:r>
              <a:rPr lang="en-US" dirty="0"/>
              <a:t> </a:t>
            </a:r>
            <a:r>
              <a:rPr lang="en-US" dirty="0" err="1"/>
              <a:t>toàn</a:t>
            </a:r>
            <a:r>
              <a:rPr lang="en-US" dirty="0"/>
              <a:t> </a:t>
            </a:r>
            <a:r>
              <a:rPr lang="en-US" dirty="0" err="1"/>
              <a:t>cục</a:t>
            </a:r>
            <a:r>
              <a:rPr lang="en-US" dirty="0"/>
              <a:t> </a:t>
            </a:r>
            <a:r>
              <a:rPr lang="en-US" dirty="0" err="1"/>
              <a:t>bên</a:t>
            </a:r>
            <a:r>
              <a:rPr lang="en-US" dirty="0"/>
              <a:t> </a:t>
            </a:r>
            <a:r>
              <a:rPr lang="en-US" dirty="0" err="1"/>
              <a:t>trong</a:t>
            </a:r>
            <a:r>
              <a:rPr lang="en-US" dirty="0"/>
              <a:t> </a:t>
            </a:r>
            <a:r>
              <a:rPr lang="en-US" dirty="0" err="1"/>
              <a:t>một</a:t>
            </a:r>
            <a:r>
              <a:rPr lang="en-US" dirty="0"/>
              <a:t> </a:t>
            </a:r>
            <a:r>
              <a:rPr lang="en-US" dirty="0" err="1"/>
              <a:t>hàm</a:t>
            </a:r>
            <a:r>
              <a:rPr lang="en-US" dirty="0"/>
              <a:t>, </a:t>
            </a:r>
            <a:r>
              <a:rPr lang="en-US" dirty="0" err="1"/>
              <a:t>hãy</a:t>
            </a:r>
            <a:r>
              <a:rPr lang="en-US" dirty="0"/>
              <a:t> </a:t>
            </a:r>
            <a:r>
              <a:rPr lang="en-US" dirty="0" err="1"/>
              <a:t>tham</a:t>
            </a:r>
            <a:r>
              <a:rPr lang="en-US" dirty="0"/>
              <a:t> </a:t>
            </a:r>
            <a:r>
              <a:rPr lang="en-US" dirty="0" err="1"/>
              <a:t>chiếu</a:t>
            </a:r>
            <a:r>
              <a:rPr lang="en-US" dirty="0"/>
              <a:t> </a:t>
            </a:r>
            <a:r>
              <a:rPr lang="en-US" dirty="0" err="1"/>
              <a:t>đến</a:t>
            </a:r>
            <a:r>
              <a:rPr lang="en-US" dirty="0"/>
              <a:t> </a:t>
            </a:r>
            <a:r>
              <a:rPr lang="en-US" dirty="0" err="1"/>
              <a:t>biến</a:t>
            </a:r>
            <a:r>
              <a:rPr lang="en-US" dirty="0"/>
              <a:t> </a:t>
            </a:r>
            <a:r>
              <a:rPr lang="en-US" dirty="0" err="1"/>
              <a:t>đó</a:t>
            </a:r>
            <a:r>
              <a:rPr lang="en-US" dirty="0"/>
              <a:t> </a:t>
            </a:r>
            <a:r>
              <a:rPr lang="en-US" dirty="0" err="1"/>
              <a:t>bằng</a:t>
            </a:r>
            <a:r>
              <a:rPr lang="en-US" dirty="0"/>
              <a:t> </a:t>
            </a:r>
            <a:r>
              <a:rPr lang="en-US" dirty="0" err="1"/>
              <a:t>cách</a:t>
            </a:r>
            <a:r>
              <a:rPr lang="en-US" dirty="0"/>
              <a:t> </a:t>
            </a:r>
            <a:r>
              <a:rPr lang="en-US" dirty="0" err="1"/>
              <a:t>sử</a:t>
            </a:r>
            <a:r>
              <a:rPr lang="en-US" dirty="0"/>
              <a:t> </a:t>
            </a:r>
            <a:r>
              <a:rPr lang="en-US" dirty="0" err="1"/>
              <a:t>dụng</a:t>
            </a:r>
            <a:r>
              <a:rPr lang="en-US" dirty="0"/>
              <a:t> </a:t>
            </a:r>
            <a:r>
              <a:rPr lang="en-US" dirty="0" err="1"/>
              <a:t>từ</a:t>
            </a:r>
            <a:r>
              <a:rPr lang="en-US" dirty="0"/>
              <a:t> </a:t>
            </a:r>
            <a:r>
              <a:rPr lang="en-US" dirty="0" err="1"/>
              <a:t>khóa</a:t>
            </a:r>
            <a:r>
              <a:rPr lang="en-US" dirty="0"/>
              <a:t> </a:t>
            </a:r>
            <a:r>
              <a:rPr lang="en-US" dirty="0" err="1"/>
              <a:t>toàn</a:t>
            </a:r>
            <a:r>
              <a:rPr lang="en-US" dirty="0"/>
              <a:t> </a:t>
            </a:r>
            <a:r>
              <a:rPr lang="en-US" dirty="0" err="1"/>
              <a:t>cục</a:t>
            </a:r>
            <a:r>
              <a:rPr lang="en-US" dirty="0"/>
              <a:t>:</a:t>
            </a:r>
          </a:p>
        </p:txBody>
      </p:sp>
      <p:pic>
        <p:nvPicPr>
          <p:cNvPr id="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1993" y="1519761"/>
            <a:ext cx="7068814" cy="369332"/>
          </a:xfrm>
          <a:prstGeom prst="rect">
            <a:avLst/>
          </a:prstGeom>
          <a:noFill/>
        </p:spPr>
        <p:txBody>
          <a:bodyPr wrap="square" rtlCol="0">
            <a:spAutoFit/>
          </a:bodyPr>
          <a:lstStyle/>
          <a:p>
            <a:r>
              <a:rPr lang="en-US" b="1" dirty="0" smtClean="0"/>
              <a:t>Global Scope (</a:t>
            </a:r>
            <a:r>
              <a:rPr lang="en-US" b="1" dirty="0" err="1" smtClean="0"/>
              <a:t>Phạm</a:t>
            </a:r>
            <a:r>
              <a:rPr lang="en-US" b="1" dirty="0" smtClean="0"/>
              <a:t> vi </a:t>
            </a:r>
            <a:r>
              <a:rPr lang="en-US" b="1" dirty="0" err="1" smtClean="0"/>
              <a:t>toàn</a:t>
            </a:r>
            <a:r>
              <a:rPr lang="en-US" b="1" dirty="0" smtClean="0"/>
              <a:t> </a:t>
            </a:r>
            <a:r>
              <a:rPr lang="en-US" b="1" dirty="0" err="1" smtClean="0"/>
              <a:t>cục</a:t>
            </a:r>
            <a:r>
              <a:rPr lang="en-US" b="1" dirty="0" smtClean="0"/>
              <a:t>)</a:t>
            </a:r>
            <a:endParaRPr lang="en-US" b="1" dirty="0">
              <a:solidFill>
                <a:srgbClr val="FF0000"/>
              </a:solidFill>
            </a:endParaRPr>
          </a:p>
        </p:txBody>
      </p:sp>
      <p:sp>
        <p:nvSpPr>
          <p:cNvPr id="7" name="Rectangle 6"/>
          <p:cNvSpPr/>
          <p:nvPr/>
        </p:nvSpPr>
        <p:spPr>
          <a:xfrm>
            <a:off x="910062" y="2851081"/>
            <a:ext cx="7846828" cy="248646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1090816" y="2983801"/>
            <a:ext cx="7110974" cy="2308324"/>
          </a:xfrm>
          <a:prstGeom prst="rect">
            <a:avLst/>
          </a:prstGeom>
          <a:noFill/>
        </p:spPr>
        <p:txBody>
          <a:bodyPr wrap="square" rtlCol="0">
            <a:spAutoFit/>
          </a:bodyPr>
          <a:lstStyle/>
          <a:p>
            <a:pPr marL="0" lvl="1"/>
            <a:r>
              <a:rPr lang="en-US" dirty="0">
                <a:solidFill>
                  <a:schemeClr val="bg1"/>
                </a:solidFill>
              </a:rPr>
              <a:t>x =  </a:t>
            </a:r>
            <a:r>
              <a:rPr lang="en-US" dirty="0" smtClean="0">
                <a:solidFill>
                  <a:schemeClr val="accent6">
                    <a:lumMod val="60000"/>
                    <a:lumOff val="40000"/>
                  </a:schemeClr>
                </a:solidFill>
              </a:rPr>
              <a:t>2</a:t>
            </a:r>
            <a:r>
              <a:rPr lang="en-US" dirty="0" smtClean="0">
                <a:solidFill>
                  <a:schemeClr val="bg1"/>
                </a:solidFill>
              </a:rPr>
              <a:t>;</a:t>
            </a:r>
            <a:endParaRPr lang="en-US" dirty="0">
              <a:solidFill>
                <a:schemeClr val="bg1"/>
              </a:solidFill>
            </a:endParaRPr>
          </a:p>
          <a:p>
            <a:r>
              <a:rPr lang="en-US" dirty="0" err="1">
                <a:solidFill>
                  <a:srgbClr val="00B0F0"/>
                </a:solidFill>
              </a:rPr>
              <a:t>def</a:t>
            </a:r>
            <a:r>
              <a:rPr lang="en-US" dirty="0">
                <a:solidFill>
                  <a:schemeClr val="bg1"/>
                </a:solidFill>
              </a:rPr>
              <a:t> </a:t>
            </a:r>
            <a:r>
              <a:rPr lang="en-US" dirty="0" err="1">
                <a:solidFill>
                  <a:schemeClr val="bg1"/>
                </a:solidFill>
              </a:rPr>
              <a:t>myFunction</a:t>
            </a:r>
            <a:r>
              <a:rPr lang="en-US" dirty="0">
                <a:solidFill>
                  <a:srgbClr val="FFC000"/>
                </a:solidFill>
              </a:rPr>
              <a:t>()</a:t>
            </a:r>
            <a:r>
              <a:rPr lang="en-US" dirty="0">
                <a:solidFill>
                  <a:schemeClr val="bg1"/>
                </a:solidFill>
              </a:rPr>
              <a:t>:</a:t>
            </a:r>
          </a:p>
          <a:p>
            <a:pPr marL="0" lvl="1"/>
            <a:r>
              <a:rPr lang="en-US" dirty="0">
                <a:solidFill>
                  <a:schemeClr val="bg1"/>
                </a:solidFill>
              </a:rPr>
              <a:t>      </a:t>
            </a:r>
            <a:r>
              <a:rPr lang="en-US" dirty="0" smtClean="0">
                <a:solidFill>
                  <a:schemeClr val="bg1"/>
                </a:solidFill>
              </a:rPr>
              <a:t>global x </a:t>
            </a:r>
          </a:p>
          <a:p>
            <a:pPr marL="0" lvl="1"/>
            <a:r>
              <a:rPr lang="en-US" dirty="0">
                <a:solidFill>
                  <a:schemeClr val="bg1"/>
                </a:solidFill>
              </a:rPr>
              <a:t> </a:t>
            </a:r>
            <a:r>
              <a:rPr lang="en-US" dirty="0" smtClean="0">
                <a:solidFill>
                  <a:schemeClr val="bg1"/>
                </a:solidFill>
              </a:rPr>
              <a:t>     x </a:t>
            </a:r>
            <a:r>
              <a:rPr lang="en-US" dirty="0">
                <a:solidFill>
                  <a:schemeClr val="bg1"/>
                </a:solidFill>
              </a:rPr>
              <a:t>=  </a:t>
            </a:r>
            <a:r>
              <a:rPr lang="en-US" dirty="0">
                <a:solidFill>
                  <a:schemeClr val="accent6">
                    <a:lumMod val="60000"/>
                    <a:lumOff val="40000"/>
                  </a:schemeClr>
                </a:solidFill>
              </a:rPr>
              <a:t>3</a:t>
            </a:r>
            <a:r>
              <a:rPr lang="en-US" dirty="0">
                <a:solidFill>
                  <a:schemeClr val="bg1"/>
                </a:solidFill>
              </a:rPr>
              <a:t>;</a:t>
            </a:r>
          </a:p>
          <a:p>
            <a:r>
              <a:rPr lang="en-US" dirty="0">
                <a:solidFill>
                  <a:schemeClr val="bg1"/>
                </a:solidFill>
              </a:rPr>
              <a:t>      print</a:t>
            </a:r>
            <a:r>
              <a:rPr lang="en-US" dirty="0">
                <a:solidFill>
                  <a:srgbClr val="FFC000"/>
                </a:solidFill>
              </a:rPr>
              <a:t>(</a:t>
            </a:r>
            <a:r>
              <a:rPr lang="en-US" dirty="0">
                <a:solidFill>
                  <a:schemeClr val="bg1"/>
                </a:solidFill>
              </a:rPr>
              <a:t>x</a:t>
            </a:r>
            <a:r>
              <a:rPr lang="en-US" dirty="0">
                <a:solidFill>
                  <a:srgbClr val="FFC000"/>
                </a:solidFill>
              </a:rPr>
              <a:t>)</a:t>
            </a:r>
          </a:p>
          <a:p>
            <a:endParaRPr lang="en-US" dirty="0">
              <a:solidFill>
                <a:srgbClr val="FFC000"/>
              </a:solidFill>
            </a:endParaRPr>
          </a:p>
          <a:p>
            <a:r>
              <a:rPr lang="en-US" dirty="0">
                <a:solidFill>
                  <a:schemeClr val="bg1"/>
                </a:solidFill>
              </a:rPr>
              <a:t>print</a:t>
            </a:r>
            <a:r>
              <a:rPr lang="en-US" dirty="0">
                <a:solidFill>
                  <a:srgbClr val="FFC000"/>
                </a:solidFill>
              </a:rPr>
              <a:t>(</a:t>
            </a:r>
            <a:r>
              <a:rPr lang="en-US" dirty="0">
                <a:solidFill>
                  <a:schemeClr val="bg1"/>
                </a:solidFill>
              </a:rPr>
              <a:t>x</a:t>
            </a:r>
            <a:r>
              <a:rPr lang="en-US" dirty="0">
                <a:solidFill>
                  <a:srgbClr val="FFC000"/>
                </a:solidFill>
              </a:rPr>
              <a:t>)</a:t>
            </a:r>
            <a:endParaRPr lang="en-US" dirty="0">
              <a:solidFill>
                <a:schemeClr val="bg1"/>
              </a:solidFill>
            </a:endParaRPr>
          </a:p>
          <a:p>
            <a:pPr lvl="1"/>
            <a:endParaRPr lang="en-US" dirty="0" smtClean="0">
              <a:solidFill>
                <a:schemeClr val="bg1"/>
              </a:solidFill>
            </a:endParaRPr>
          </a:p>
        </p:txBody>
      </p:sp>
      <p:sp>
        <p:nvSpPr>
          <p:cNvPr id="9" name="TextBox 8"/>
          <p:cNvSpPr txBox="1"/>
          <p:nvPr/>
        </p:nvSpPr>
        <p:spPr>
          <a:xfrm>
            <a:off x="811097" y="5470264"/>
            <a:ext cx="7793663" cy="369332"/>
          </a:xfrm>
          <a:prstGeom prst="rect">
            <a:avLst/>
          </a:prstGeom>
          <a:noFill/>
        </p:spPr>
        <p:txBody>
          <a:bodyPr wrap="square" rtlCol="0">
            <a:spAutoFit/>
          </a:bodyPr>
          <a:lstStyle/>
          <a:p>
            <a:r>
              <a:rPr lang="en-US" dirty="0" smtClean="0"/>
              <a:t>Qua </a:t>
            </a:r>
            <a:r>
              <a:rPr lang="en-US" dirty="0" err="1" smtClean="0"/>
              <a:t>ví</a:t>
            </a:r>
            <a:r>
              <a:rPr lang="en-US" dirty="0" smtClean="0"/>
              <a:t> </a:t>
            </a:r>
            <a:r>
              <a:rPr lang="en-US" dirty="0" err="1" smtClean="0"/>
              <a:t>dụ</a:t>
            </a:r>
            <a:r>
              <a:rPr lang="en-US" dirty="0" smtClean="0"/>
              <a:t> </a:t>
            </a:r>
            <a:r>
              <a:rPr lang="en-US" dirty="0" err="1" smtClean="0"/>
              <a:t>trên</a:t>
            </a:r>
            <a:r>
              <a:rPr lang="en-US" dirty="0" smtClean="0"/>
              <a:t> </a:t>
            </a:r>
            <a:r>
              <a:rPr lang="en-US" dirty="0" err="1" smtClean="0"/>
              <a:t>biến</a:t>
            </a:r>
            <a:r>
              <a:rPr lang="en-US" dirty="0" smtClean="0"/>
              <a:t> </a:t>
            </a:r>
            <a:r>
              <a:rPr lang="en-US" b="1" dirty="0" smtClean="0"/>
              <a:t>x</a:t>
            </a:r>
            <a:r>
              <a:rPr lang="en-US" dirty="0" smtClean="0"/>
              <a:t> </a:t>
            </a:r>
            <a:r>
              <a:rPr lang="en-US" dirty="0" err="1" smtClean="0"/>
              <a:t>cuối</a:t>
            </a:r>
            <a:r>
              <a:rPr lang="en-US" dirty="0" smtClean="0"/>
              <a:t> </a:t>
            </a:r>
            <a:r>
              <a:rPr lang="en-US" dirty="0" err="1" smtClean="0"/>
              <a:t>cùng</a:t>
            </a:r>
            <a:r>
              <a:rPr lang="en-US" dirty="0" smtClean="0"/>
              <a:t> </a:t>
            </a:r>
            <a:r>
              <a:rPr lang="en-US" dirty="0" err="1" smtClean="0"/>
              <a:t>được</a:t>
            </a:r>
            <a:r>
              <a:rPr lang="en-US" dirty="0" smtClean="0"/>
              <a:t> in </a:t>
            </a:r>
            <a:r>
              <a:rPr lang="en-US" dirty="0" err="1" smtClean="0"/>
              <a:t>ra</a:t>
            </a:r>
            <a:r>
              <a:rPr lang="en-US" dirty="0" smtClean="0"/>
              <a:t> </a:t>
            </a:r>
            <a:r>
              <a:rPr lang="en-US" dirty="0" err="1" smtClean="0"/>
              <a:t>là</a:t>
            </a:r>
            <a:r>
              <a:rPr lang="en-US" dirty="0" smtClean="0"/>
              <a:t> x = 3</a:t>
            </a:r>
            <a:endParaRPr lang="en-US" dirty="0"/>
          </a:p>
        </p:txBody>
      </p:sp>
    </p:spTree>
    <p:extLst>
      <p:ext uri="{BB962C8B-B14F-4D97-AF65-F5344CB8AC3E}">
        <p14:creationId xmlns:p14="http://schemas.microsoft.com/office/powerpoint/2010/main" val="24690855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27</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Hàm</a:t>
            </a:r>
            <a:r>
              <a:rPr lang="en-US" dirty="0" smtClean="0"/>
              <a:t> </a:t>
            </a:r>
            <a:r>
              <a:rPr lang="en-US" dirty="0" err="1" smtClean="0"/>
              <a:t>nặc</a:t>
            </a:r>
            <a:r>
              <a:rPr lang="en-US" dirty="0" smtClean="0"/>
              <a:t> </a:t>
            </a:r>
            <a:r>
              <a:rPr lang="en-US" dirty="0" err="1" smtClean="0"/>
              <a:t>danh</a:t>
            </a:r>
            <a:r>
              <a:rPr lang="en-US" dirty="0"/>
              <a:t> </a:t>
            </a:r>
            <a:r>
              <a:rPr lang="en-US" dirty="0" smtClean="0"/>
              <a:t>(lambda function)</a:t>
            </a:r>
            <a:endParaRPr lang="en-US" dirty="0"/>
          </a:p>
        </p:txBody>
      </p:sp>
      <p:sp>
        <p:nvSpPr>
          <p:cNvPr id="4" name="TextBox 3"/>
          <p:cNvSpPr txBox="1"/>
          <p:nvPr/>
        </p:nvSpPr>
        <p:spPr>
          <a:xfrm>
            <a:off x="301925" y="1388991"/>
            <a:ext cx="8454964" cy="1477328"/>
          </a:xfrm>
          <a:prstGeom prst="rect">
            <a:avLst/>
          </a:prstGeom>
          <a:noFill/>
        </p:spPr>
        <p:txBody>
          <a:bodyPr wrap="square" rtlCol="0">
            <a:spAutoFit/>
          </a:bodyPr>
          <a:lstStyle/>
          <a:p>
            <a:r>
              <a:rPr lang="vi-VN" dirty="0"/>
              <a:t>Trong Python, Lambda function (còn được gọi là hàm vô danh) là một loại hàm đặc biệt mà không cần định nghĩa bằng từ khóa def như các hàm thông thường. Lambda function được tạo ra bằng cú pháp ngắn gọn và linh hoạt, thường được sử dụng trong các trường hợp đơn giản khi bạn chỉ cần một hàm nhỏ mà không cần đặt tên</a:t>
            </a:r>
            <a:endParaRPr lang="en-US" dirty="0"/>
          </a:p>
        </p:txBody>
      </p:sp>
      <p:sp>
        <p:nvSpPr>
          <p:cNvPr id="6" name="TextBox 5"/>
          <p:cNvSpPr txBox="1"/>
          <p:nvPr/>
        </p:nvSpPr>
        <p:spPr>
          <a:xfrm>
            <a:off x="301925" y="2979289"/>
            <a:ext cx="3555186" cy="369332"/>
          </a:xfrm>
          <a:prstGeom prst="rect">
            <a:avLst/>
          </a:prstGeom>
          <a:noFill/>
        </p:spPr>
        <p:txBody>
          <a:bodyPr wrap="square" rtlCol="0">
            <a:spAutoFit/>
          </a:bodyPr>
          <a:lstStyle/>
          <a:p>
            <a:r>
              <a:rPr lang="en-US" b="1" dirty="0" err="1" smtClean="0"/>
              <a:t>Cú</a:t>
            </a:r>
            <a:r>
              <a:rPr lang="en-US" b="1" dirty="0" smtClean="0"/>
              <a:t> </a:t>
            </a:r>
            <a:r>
              <a:rPr lang="en-US" b="1" dirty="0" err="1" smtClean="0"/>
              <a:t>pháp</a:t>
            </a:r>
            <a:endParaRPr lang="en-US" b="1" dirty="0">
              <a:solidFill>
                <a:srgbClr val="FF0000"/>
              </a:solidFill>
            </a:endParaRPr>
          </a:p>
        </p:txBody>
      </p:sp>
      <p:sp>
        <p:nvSpPr>
          <p:cNvPr id="7" name="TextBox 6"/>
          <p:cNvSpPr txBox="1"/>
          <p:nvPr/>
        </p:nvSpPr>
        <p:spPr>
          <a:xfrm>
            <a:off x="1907227" y="3348621"/>
            <a:ext cx="5244359" cy="492443"/>
          </a:xfrm>
          <a:prstGeom prst="rect">
            <a:avLst/>
          </a:prstGeom>
          <a:noFill/>
        </p:spPr>
        <p:txBody>
          <a:bodyPr wrap="square" rtlCol="0">
            <a:spAutoFit/>
          </a:bodyPr>
          <a:lstStyle/>
          <a:p>
            <a:r>
              <a:rPr lang="en-US" sz="2600" b="1" dirty="0">
                <a:solidFill>
                  <a:srgbClr val="FF0000"/>
                </a:solidFill>
              </a:rPr>
              <a:t>lambda</a:t>
            </a:r>
            <a:r>
              <a:rPr lang="en-US" sz="2600" b="1" dirty="0"/>
              <a:t> arguments: expression</a:t>
            </a:r>
            <a:endParaRPr lang="en-US" sz="2600" b="1" dirty="0">
              <a:solidFill>
                <a:schemeClr val="accent6">
                  <a:lumMod val="50000"/>
                </a:schemeClr>
              </a:solidFill>
            </a:endParaRPr>
          </a:p>
        </p:txBody>
      </p:sp>
      <p:sp>
        <p:nvSpPr>
          <p:cNvPr id="8" name="TextBox 7"/>
          <p:cNvSpPr txBox="1"/>
          <p:nvPr/>
        </p:nvSpPr>
        <p:spPr>
          <a:xfrm>
            <a:off x="780391" y="4132191"/>
            <a:ext cx="7670412" cy="369332"/>
          </a:xfrm>
          <a:prstGeom prst="rect">
            <a:avLst/>
          </a:prstGeom>
          <a:noFill/>
        </p:spPr>
        <p:txBody>
          <a:bodyPr wrap="square" rtlCol="0">
            <a:spAutoFit/>
          </a:bodyPr>
          <a:lstStyle/>
          <a:p>
            <a:r>
              <a:rPr lang="en-US" b="1" dirty="0"/>
              <a:t>lambda</a:t>
            </a:r>
            <a:r>
              <a:rPr lang="en-US" dirty="0"/>
              <a:t> </a:t>
            </a:r>
            <a:r>
              <a:rPr lang="en-US" dirty="0" err="1"/>
              <a:t>là</a:t>
            </a:r>
            <a:r>
              <a:rPr lang="en-US" dirty="0"/>
              <a:t> </a:t>
            </a:r>
            <a:r>
              <a:rPr lang="en-US" dirty="0" err="1"/>
              <a:t>từ</a:t>
            </a:r>
            <a:r>
              <a:rPr lang="en-US" dirty="0"/>
              <a:t> </a:t>
            </a:r>
            <a:r>
              <a:rPr lang="en-US" dirty="0" err="1"/>
              <a:t>khóa</a:t>
            </a:r>
            <a:r>
              <a:rPr lang="en-US" dirty="0"/>
              <a:t> </a:t>
            </a:r>
            <a:r>
              <a:rPr lang="en-US" dirty="0" err="1"/>
              <a:t>để</a:t>
            </a:r>
            <a:r>
              <a:rPr lang="en-US" dirty="0"/>
              <a:t> </a:t>
            </a:r>
            <a:r>
              <a:rPr lang="en-US" dirty="0" err="1"/>
              <a:t>định</a:t>
            </a:r>
            <a:r>
              <a:rPr lang="en-US" dirty="0"/>
              <a:t> </a:t>
            </a:r>
            <a:r>
              <a:rPr lang="en-US" dirty="0" err="1"/>
              <a:t>nghĩa</a:t>
            </a:r>
            <a:r>
              <a:rPr lang="en-US" dirty="0"/>
              <a:t> Lambda function</a:t>
            </a:r>
          </a:p>
        </p:txBody>
      </p:sp>
      <p:sp>
        <p:nvSpPr>
          <p:cNvPr id="10" name="Flowchart: Decision 9"/>
          <p:cNvSpPr/>
          <p:nvPr/>
        </p:nvSpPr>
        <p:spPr>
          <a:xfrm>
            <a:off x="555278" y="423179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80391" y="4631921"/>
            <a:ext cx="7670412" cy="646331"/>
          </a:xfrm>
          <a:prstGeom prst="rect">
            <a:avLst/>
          </a:prstGeom>
          <a:noFill/>
        </p:spPr>
        <p:txBody>
          <a:bodyPr wrap="square" rtlCol="0">
            <a:spAutoFit/>
          </a:bodyPr>
          <a:lstStyle/>
          <a:p>
            <a:r>
              <a:rPr lang="en-US" b="1" dirty="0"/>
              <a:t>arguments</a:t>
            </a:r>
            <a:r>
              <a:rPr lang="en-US" dirty="0"/>
              <a:t> </a:t>
            </a:r>
            <a:r>
              <a:rPr lang="en-US" dirty="0" err="1"/>
              <a:t>là</a:t>
            </a:r>
            <a:r>
              <a:rPr lang="en-US" dirty="0"/>
              <a:t> </a:t>
            </a:r>
            <a:r>
              <a:rPr lang="en-US" dirty="0" err="1"/>
              <a:t>danh</a:t>
            </a:r>
            <a:r>
              <a:rPr lang="en-US" dirty="0"/>
              <a:t> </a:t>
            </a:r>
            <a:r>
              <a:rPr lang="en-US" dirty="0" err="1"/>
              <a:t>sách</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có</a:t>
            </a:r>
            <a:r>
              <a:rPr lang="en-US" dirty="0"/>
              <a:t> </a:t>
            </a:r>
            <a:r>
              <a:rPr lang="en-US" dirty="0" err="1"/>
              <a:t>thể</a:t>
            </a:r>
            <a:r>
              <a:rPr lang="en-US" dirty="0"/>
              <a:t> </a:t>
            </a:r>
            <a:r>
              <a:rPr lang="en-US" dirty="0" err="1"/>
              <a:t>không</a:t>
            </a:r>
            <a:r>
              <a:rPr lang="en-US" dirty="0"/>
              <a:t> </a:t>
            </a:r>
            <a:r>
              <a:rPr lang="en-US" dirty="0" err="1"/>
              <a:t>có</a:t>
            </a:r>
            <a:r>
              <a:rPr lang="en-US" dirty="0"/>
              <a:t> </a:t>
            </a:r>
            <a:r>
              <a:rPr lang="en-US" dirty="0" err="1"/>
              <a:t>hoặc</a:t>
            </a:r>
            <a:r>
              <a:rPr lang="en-US" dirty="0"/>
              <a:t> </a:t>
            </a:r>
            <a:r>
              <a:rPr lang="en-US" dirty="0" err="1"/>
              <a:t>có</a:t>
            </a:r>
            <a:r>
              <a:rPr lang="en-US" dirty="0"/>
              <a:t> </a:t>
            </a:r>
            <a:r>
              <a:rPr lang="en-US" dirty="0" err="1"/>
              <a:t>nhiều</a:t>
            </a:r>
            <a:r>
              <a:rPr lang="en-US" dirty="0"/>
              <a:t> </a:t>
            </a:r>
            <a:r>
              <a:rPr lang="en-US" dirty="0" err="1"/>
              <a:t>tham</a:t>
            </a:r>
            <a:r>
              <a:rPr lang="en-US" dirty="0"/>
              <a:t> </a:t>
            </a:r>
            <a:r>
              <a:rPr lang="en-US" dirty="0" err="1"/>
              <a:t>số</a:t>
            </a:r>
            <a:r>
              <a:rPr lang="en-US" dirty="0"/>
              <a:t>)</a:t>
            </a:r>
          </a:p>
        </p:txBody>
      </p:sp>
      <p:sp>
        <p:nvSpPr>
          <p:cNvPr id="12" name="Flowchart: Decision 11"/>
          <p:cNvSpPr/>
          <p:nvPr/>
        </p:nvSpPr>
        <p:spPr>
          <a:xfrm>
            <a:off x="555278" y="4731527"/>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80391" y="5312405"/>
            <a:ext cx="7670412" cy="646331"/>
          </a:xfrm>
          <a:prstGeom prst="rect">
            <a:avLst/>
          </a:prstGeom>
          <a:noFill/>
        </p:spPr>
        <p:txBody>
          <a:bodyPr wrap="square" rtlCol="0">
            <a:spAutoFit/>
          </a:bodyPr>
          <a:lstStyle/>
          <a:p>
            <a:r>
              <a:rPr lang="en-US" b="1" dirty="0"/>
              <a:t>expression</a:t>
            </a:r>
            <a:r>
              <a:rPr lang="en-US" dirty="0"/>
              <a:t> </a:t>
            </a:r>
            <a:r>
              <a:rPr lang="en-US" dirty="0" err="1"/>
              <a:t>là</a:t>
            </a:r>
            <a:r>
              <a:rPr lang="en-US" dirty="0"/>
              <a:t> </a:t>
            </a:r>
            <a:r>
              <a:rPr lang="en-US" dirty="0" err="1"/>
              <a:t>biểu</a:t>
            </a:r>
            <a:r>
              <a:rPr lang="en-US" dirty="0"/>
              <a:t> </a:t>
            </a:r>
            <a:r>
              <a:rPr lang="en-US" dirty="0" err="1"/>
              <a:t>thức</a:t>
            </a:r>
            <a:r>
              <a:rPr lang="en-US" dirty="0"/>
              <a:t> </a:t>
            </a:r>
            <a:r>
              <a:rPr lang="en-US" dirty="0" err="1"/>
              <a:t>mà</a:t>
            </a:r>
            <a:r>
              <a:rPr lang="en-US" dirty="0"/>
              <a:t> Lambda function </a:t>
            </a:r>
            <a:r>
              <a:rPr lang="en-US" dirty="0" err="1"/>
              <a:t>sẽ</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trả</a:t>
            </a:r>
            <a:r>
              <a:rPr lang="en-US" dirty="0"/>
              <a:t> </a:t>
            </a:r>
            <a:r>
              <a:rPr lang="en-US" dirty="0" err="1"/>
              <a:t>về</a:t>
            </a:r>
            <a:r>
              <a:rPr lang="en-US" dirty="0"/>
              <a:t> </a:t>
            </a:r>
            <a:r>
              <a:rPr lang="en-US" dirty="0" err="1"/>
              <a:t>kết</a:t>
            </a:r>
            <a:r>
              <a:rPr lang="en-US" dirty="0"/>
              <a:t> </a:t>
            </a:r>
            <a:r>
              <a:rPr lang="en-US" dirty="0" err="1" smtClean="0"/>
              <a:t>quả</a:t>
            </a:r>
            <a:r>
              <a:rPr lang="en-US" dirty="0" smtClean="0"/>
              <a:t>, </a:t>
            </a:r>
            <a:r>
              <a:rPr lang="en-US" dirty="0" err="1" smtClean="0"/>
              <a:t>và</a:t>
            </a:r>
            <a:r>
              <a:rPr lang="en-US" dirty="0" smtClean="0"/>
              <a:t> </a:t>
            </a:r>
            <a:r>
              <a:rPr lang="en-US" dirty="0" err="1" smtClean="0"/>
              <a:t>chỉ</a:t>
            </a:r>
            <a:r>
              <a:rPr lang="en-US" dirty="0" smtClean="0"/>
              <a:t> </a:t>
            </a:r>
            <a:r>
              <a:rPr lang="en-US" dirty="0" err="1" smtClean="0"/>
              <a:t>duy</a:t>
            </a:r>
            <a:r>
              <a:rPr lang="en-US" dirty="0" smtClean="0"/>
              <a:t> </a:t>
            </a:r>
            <a:r>
              <a:rPr lang="en-US" dirty="0" err="1" smtClean="0"/>
              <a:t>nhất</a:t>
            </a:r>
            <a:r>
              <a:rPr lang="en-US" dirty="0" smtClean="0"/>
              <a:t> 1 </a:t>
            </a:r>
            <a:r>
              <a:rPr lang="en-US" dirty="0" err="1" smtClean="0"/>
              <a:t>dòng</a:t>
            </a:r>
            <a:r>
              <a:rPr lang="en-US" dirty="0" smtClean="0"/>
              <a:t> </a:t>
            </a:r>
            <a:r>
              <a:rPr lang="en-US" dirty="0" err="1" smtClean="0"/>
              <a:t>lệnh</a:t>
            </a:r>
            <a:endParaRPr lang="en-US" dirty="0"/>
          </a:p>
        </p:txBody>
      </p:sp>
      <p:sp>
        <p:nvSpPr>
          <p:cNvPr id="14" name="Flowchart: Decision 13"/>
          <p:cNvSpPr/>
          <p:nvPr/>
        </p:nvSpPr>
        <p:spPr>
          <a:xfrm>
            <a:off x="555278" y="5412011"/>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20009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28</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Hàm</a:t>
            </a:r>
            <a:r>
              <a:rPr lang="en-US" dirty="0" smtClean="0"/>
              <a:t> </a:t>
            </a:r>
            <a:r>
              <a:rPr lang="en-US" dirty="0" err="1" smtClean="0"/>
              <a:t>nặc</a:t>
            </a:r>
            <a:r>
              <a:rPr lang="en-US" dirty="0" smtClean="0"/>
              <a:t> </a:t>
            </a:r>
            <a:r>
              <a:rPr lang="en-US" dirty="0" err="1" smtClean="0"/>
              <a:t>danh</a:t>
            </a:r>
            <a:r>
              <a:rPr lang="en-US" dirty="0"/>
              <a:t> </a:t>
            </a:r>
            <a:r>
              <a:rPr lang="en-US" dirty="0" smtClean="0"/>
              <a:t>(lambda function)</a:t>
            </a:r>
            <a:endParaRPr lang="en-US" dirty="0"/>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041993" y="1519761"/>
            <a:ext cx="7068814"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lambda function</a:t>
            </a:r>
            <a:endParaRPr lang="en-US" b="1" dirty="0">
              <a:solidFill>
                <a:srgbClr val="FF0000"/>
              </a:solidFill>
            </a:endParaRPr>
          </a:p>
        </p:txBody>
      </p:sp>
      <p:sp>
        <p:nvSpPr>
          <p:cNvPr id="17" name="Rectangle 16"/>
          <p:cNvSpPr/>
          <p:nvPr/>
        </p:nvSpPr>
        <p:spPr>
          <a:xfrm>
            <a:off x="910062" y="2423461"/>
            <a:ext cx="7846828" cy="105605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1090816" y="2556180"/>
            <a:ext cx="7110974" cy="646331"/>
          </a:xfrm>
          <a:prstGeom prst="rect">
            <a:avLst/>
          </a:prstGeom>
          <a:noFill/>
        </p:spPr>
        <p:txBody>
          <a:bodyPr wrap="square" rtlCol="0">
            <a:spAutoFit/>
          </a:bodyPr>
          <a:lstStyle/>
          <a:p>
            <a:pPr marL="0" lvl="1"/>
            <a:r>
              <a:rPr lang="en-US" dirty="0">
                <a:solidFill>
                  <a:schemeClr val="bg1"/>
                </a:solidFill>
              </a:rPr>
              <a:t>x </a:t>
            </a:r>
            <a:r>
              <a:rPr lang="en-US" dirty="0" smtClean="0">
                <a:solidFill>
                  <a:schemeClr val="bg1"/>
                </a:solidFill>
              </a:rPr>
              <a:t>= </a:t>
            </a:r>
            <a:r>
              <a:rPr lang="en-US" dirty="0" smtClean="0">
                <a:solidFill>
                  <a:srgbClr val="00B0F0"/>
                </a:solidFill>
              </a:rPr>
              <a:t>lambda</a:t>
            </a:r>
            <a:r>
              <a:rPr lang="en-US" dirty="0" smtClean="0">
                <a:solidFill>
                  <a:schemeClr val="bg1"/>
                </a:solidFill>
              </a:rPr>
              <a:t> a : a + </a:t>
            </a:r>
            <a:r>
              <a:rPr lang="en-US" dirty="0" smtClean="0">
                <a:solidFill>
                  <a:schemeClr val="accent6">
                    <a:lumMod val="60000"/>
                    <a:lumOff val="40000"/>
                  </a:schemeClr>
                </a:solidFill>
              </a:rPr>
              <a:t>10</a:t>
            </a:r>
            <a:endParaRPr lang="en-US" dirty="0">
              <a:solidFill>
                <a:schemeClr val="accent6">
                  <a:lumMod val="60000"/>
                  <a:lumOff val="40000"/>
                </a:schemeClr>
              </a:solidFill>
            </a:endParaRPr>
          </a:p>
          <a:p>
            <a:r>
              <a:rPr lang="en-US" dirty="0" smtClean="0">
                <a:solidFill>
                  <a:schemeClr val="bg1"/>
                </a:solidFill>
              </a:rPr>
              <a:t>print</a:t>
            </a:r>
            <a:r>
              <a:rPr lang="en-US" dirty="0" smtClean="0">
                <a:solidFill>
                  <a:srgbClr val="FFC000"/>
                </a:solidFill>
              </a:rPr>
              <a:t>(</a:t>
            </a:r>
            <a:r>
              <a:rPr lang="en-US" dirty="0" smtClean="0">
                <a:solidFill>
                  <a:schemeClr val="bg1"/>
                </a:solidFill>
              </a:rPr>
              <a:t>x</a:t>
            </a:r>
            <a:r>
              <a:rPr lang="en-US" dirty="0" smtClean="0">
                <a:solidFill>
                  <a:srgbClr val="FF66CC"/>
                </a:solidFill>
              </a:rPr>
              <a:t>(</a:t>
            </a:r>
            <a:r>
              <a:rPr lang="en-US" dirty="0" smtClean="0">
                <a:solidFill>
                  <a:schemeClr val="accent6">
                    <a:lumMod val="60000"/>
                    <a:lumOff val="40000"/>
                  </a:schemeClr>
                </a:solidFill>
              </a:rPr>
              <a:t>5</a:t>
            </a:r>
            <a:r>
              <a:rPr lang="en-US" dirty="0" smtClean="0">
                <a:solidFill>
                  <a:srgbClr val="FF66CC"/>
                </a:solidFill>
              </a:rPr>
              <a:t>)</a:t>
            </a:r>
            <a:r>
              <a:rPr lang="en-US" dirty="0" smtClean="0">
                <a:solidFill>
                  <a:srgbClr val="FFC000"/>
                </a:solidFill>
              </a:rPr>
              <a:t>)</a:t>
            </a:r>
            <a:endParaRPr lang="en-US" dirty="0" smtClean="0">
              <a:solidFill>
                <a:schemeClr val="bg1"/>
              </a:solidFill>
            </a:endParaRPr>
          </a:p>
        </p:txBody>
      </p:sp>
      <p:sp>
        <p:nvSpPr>
          <p:cNvPr id="19" name="TextBox 18"/>
          <p:cNvSpPr txBox="1"/>
          <p:nvPr/>
        </p:nvSpPr>
        <p:spPr>
          <a:xfrm>
            <a:off x="780391" y="1971611"/>
            <a:ext cx="7670412" cy="369332"/>
          </a:xfrm>
          <a:prstGeom prst="rect">
            <a:avLst/>
          </a:prstGeom>
          <a:noFill/>
        </p:spPr>
        <p:txBody>
          <a:bodyPr wrap="square" rtlCol="0">
            <a:spAutoFit/>
          </a:bodyPr>
          <a:lstStyle/>
          <a:p>
            <a:r>
              <a:rPr lang="en-US" b="1" dirty="0"/>
              <a:t>lambda</a:t>
            </a:r>
            <a:r>
              <a:rPr lang="en-US" dirty="0"/>
              <a:t> </a:t>
            </a:r>
            <a:r>
              <a:rPr lang="en-US" dirty="0" err="1" smtClean="0"/>
              <a:t>với</a:t>
            </a:r>
            <a:r>
              <a:rPr lang="en-US" dirty="0" smtClean="0"/>
              <a:t> </a:t>
            </a:r>
            <a:r>
              <a:rPr lang="en-US" dirty="0" err="1" smtClean="0"/>
              <a:t>một</a:t>
            </a:r>
            <a:r>
              <a:rPr lang="en-US" dirty="0" smtClean="0"/>
              <a:t> </a:t>
            </a:r>
            <a:r>
              <a:rPr lang="en-US" dirty="0" err="1" smtClean="0"/>
              <a:t>tham</a:t>
            </a:r>
            <a:r>
              <a:rPr lang="en-US" dirty="0" smtClean="0"/>
              <a:t> </a:t>
            </a:r>
            <a:r>
              <a:rPr lang="en-US" dirty="0" err="1" smtClean="0"/>
              <a:t>số</a:t>
            </a:r>
            <a:r>
              <a:rPr lang="en-US" dirty="0" smtClean="0"/>
              <a:t> a, </a:t>
            </a:r>
            <a:r>
              <a:rPr lang="en-US" dirty="0" err="1" smtClean="0"/>
              <a:t>và</a:t>
            </a:r>
            <a:r>
              <a:rPr lang="en-US" dirty="0" smtClean="0"/>
              <a:t> </a:t>
            </a:r>
            <a:r>
              <a:rPr lang="en-US" dirty="0" err="1" smtClean="0"/>
              <a:t>khi</a:t>
            </a:r>
            <a:r>
              <a:rPr lang="en-US" dirty="0" smtClean="0"/>
              <a:t> </a:t>
            </a:r>
            <a:r>
              <a:rPr lang="en-US" dirty="0" err="1" smtClean="0"/>
              <a:t>đó</a:t>
            </a:r>
            <a:r>
              <a:rPr lang="en-US" dirty="0" smtClean="0"/>
              <a:t> a + 10 </a:t>
            </a:r>
            <a:r>
              <a:rPr lang="en-US" dirty="0" err="1" smtClean="0"/>
              <a:t>chính</a:t>
            </a:r>
            <a:r>
              <a:rPr lang="en-US" dirty="0" smtClean="0"/>
              <a:t> </a:t>
            </a:r>
            <a:r>
              <a:rPr lang="en-US" dirty="0" err="1" smtClean="0"/>
              <a:t>là</a:t>
            </a:r>
            <a:r>
              <a:rPr lang="en-US" dirty="0" smtClean="0"/>
              <a:t> return </a:t>
            </a:r>
            <a:r>
              <a:rPr lang="en-US" dirty="0" err="1" smtClean="0"/>
              <a:t>của</a:t>
            </a:r>
            <a:r>
              <a:rPr lang="en-US" dirty="0" smtClean="0"/>
              <a:t> </a:t>
            </a:r>
            <a:r>
              <a:rPr lang="en-US" dirty="0" err="1" smtClean="0"/>
              <a:t>hàm</a:t>
            </a:r>
            <a:endParaRPr lang="en-US" dirty="0"/>
          </a:p>
        </p:txBody>
      </p:sp>
      <p:sp>
        <p:nvSpPr>
          <p:cNvPr id="20" name="Rectangle 19"/>
          <p:cNvSpPr/>
          <p:nvPr/>
        </p:nvSpPr>
        <p:spPr>
          <a:xfrm>
            <a:off x="910062" y="4114038"/>
            <a:ext cx="7846828" cy="105605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p:cNvSpPr txBox="1"/>
          <p:nvPr/>
        </p:nvSpPr>
        <p:spPr>
          <a:xfrm>
            <a:off x="1090816" y="4246757"/>
            <a:ext cx="7110974" cy="646331"/>
          </a:xfrm>
          <a:prstGeom prst="rect">
            <a:avLst/>
          </a:prstGeom>
          <a:noFill/>
        </p:spPr>
        <p:txBody>
          <a:bodyPr wrap="square" rtlCol="0">
            <a:spAutoFit/>
          </a:bodyPr>
          <a:lstStyle/>
          <a:p>
            <a:pPr marL="0" lvl="1"/>
            <a:r>
              <a:rPr lang="en-US" dirty="0">
                <a:solidFill>
                  <a:schemeClr val="bg1"/>
                </a:solidFill>
              </a:rPr>
              <a:t>x </a:t>
            </a:r>
            <a:r>
              <a:rPr lang="en-US" dirty="0" smtClean="0">
                <a:solidFill>
                  <a:schemeClr val="bg1"/>
                </a:solidFill>
              </a:rPr>
              <a:t>= </a:t>
            </a:r>
            <a:r>
              <a:rPr lang="en-US" dirty="0" smtClean="0">
                <a:solidFill>
                  <a:srgbClr val="00B0F0"/>
                </a:solidFill>
              </a:rPr>
              <a:t>lambda</a:t>
            </a:r>
            <a:r>
              <a:rPr lang="en-US" dirty="0" smtClean="0">
                <a:solidFill>
                  <a:schemeClr val="bg1"/>
                </a:solidFill>
              </a:rPr>
              <a:t> a, b : a * b </a:t>
            </a:r>
            <a:br>
              <a:rPr lang="en-US" dirty="0" smtClean="0">
                <a:solidFill>
                  <a:schemeClr val="bg1"/>
                </a:solidFill>
              </a:rPr>
            </a:br>
            <a:r>
              <a:rPr lang="en-US" dirty="0" smtClean="0">
                <a:solidFill>
                  <a:schemeClr val="bg1"/>
                </a:solidFill>
              </a:rPr>
              <a:t>print</a:t>
            </a:r>
            <a:r>
              <a:rPr lang="en-US" dirty="0" smtClean="0">
                <a:solidFill>
                  <a:srgbClr val="FFC000"/>
                </a:solidFill>
              </a:rPr>
              <a:t>(</a:t>
            </a:r>
            <a:r>
              <a:rPr lang="en-US" dirty="0" smtClean="0">
                <a:solidFill>
                  <a:schemeClr val="bg1"/>
                </a:solidFill>
              </a:rPr>
              <a:t>x</a:t>
            </a:r>
            <a:r>
              <a:rPr lang="en-US" dirty="0" smtClean="0">
                <a:solidFill>
                  <a:srgbClr val="FF66CC"/>
                </a:solidFill>
              </a:rPr>
              <a:t>(</a:t>
            </a:r>
            <a:r>
              <a:rPr lang="en-US" dirty="0" smtClean="0">
                <a:solidFill>
                  <a:schemeClr val="accent6">
                    <a:lumMod val="60000"/>
                    <a:lumOff val="40000"/>
                  </a:schemeClr>
                </a:solidFill>
              </a:rPr>
              <a:t>5, 6</a:t>
            </a:r>
            <a:r>
              <a:rPr lang="en-US" dirty="0" smtClean="0">
                <a:solidFill>
                  <a:srgbClr val="FF66CC"/>
                </a:solidFill>
              </a:rPr>
              <a:t>)</a:t>
            </a:r>
            <a:r>
              <a:rPr lang="en-US" dirty="0" smtClean="0">
                <a:solidFill>
                  <a:srgbClr val="FFC000"/>
                </a:solidFill>
              </a:rPr>
              <a:t>)</a:t>
            </a:r>
            <a:endParaRPr lang="en-US" dirty="0" smtClean="0">
              <a:solidFill>
                <a:schemeClr val="bg1"/>
              </a:solidFill>
            </a:endParaRPr>
          </a:p>
        </p:txBody>
      </p:sp>
      <p:sp>
        <p:nvSpPr>
          <p:cNvPr id="22" name="TextBox 21"/>
          <p:cNvSpPr txBox="1"/>
          <p:nvPr/>
        </p:nvSpPr>
        <p:spPr>
          <a:xfrm>
            <a:off x="780391" y="3577493"/>
            <a:ext cx="7670412" cy="369332"/>
          </a:xfrm>
          <a:prstGeom prst="rect">
            <a:avLst/>
          </a:prstGeom>
          <a:noFill/>
        </p:spPr>
        <p:txBody>
          <a:bodyPr wrap="square" rtlCol="0">
            <a:spAutoFit/>
          </a:bodyPr>
          <a:lstStyle/>
          <a:p>
            <a:r>
              <a:rPr lang="en-US" b="1" dirty="0"/>
              <a:t>lambda</a:t>
            </a:r>
            <a:r>
              <a:rPr lang="en-US" dirty="0"/>
              <a:t> </a:t>
            </a:r>
            <a:r>
              <a:rPr lang="en-US" dirty="0" err="1" smtClean="0"/>
              <a:t>với</a:t>
            </a:r>
            <a:r>
              <a:rPr lang="en-US" dirty="0" smtClean="0"/>
              <a:t> </a:t>
            </a:r>
            <a:r>
              <a:rPr lang="en-US" dirty="0" err="1" smtClean="0"/>
              <a:t>hai</a:t>
            </a:r>
            <a:r>
              <a:rPr lang="en-US" dirty="0" smtClean="0"/>
              <a:t> </a:t>
            </a:r>
            <a:r>
              <a:rPr lang="en-US" dirty="0" err="1" smtClean="0"/>
              <a:t>tham</a:t>
            </a:r>
            <a:r>
              <a:rPr lang="en-US" dirty="0" smtClean="0"/>
              <a:t> </a:t>
            </a:r>
            <a:r>
              <a:rPr lang="en-US" dirty="0" err="1" smtClean="0"/>
              <a:t>số</a:t>
            </a:r>
            <a:r>
              <a:rPr lang="en-US" dirty="0" smtClean="0"/>
              <a:t> a, b – </a:t>
            </a:r>
            <a:r>
              <a:rPr lang="en-US" dirty="0" err="1" smtClean="0"/>
              <a:t>các</a:t>
            </a:r>
            <a:r>
              <a:rPr lang="en-US" dirty="0" smtClean="0"/>
              <a:t> </a:t>
            </a:r>
            <a:r>
              <a:rPr lang="en-US" dirty="0" err="1" smtClean="0"/>
              <a:t>tham</a:t>
            </a:r>
            <a:r>
              <a:rPr lang="en-US" dirty="0" smtClean="0"/>
              <a:t> </a:t>
            </a:r>
            <a:r>
              <a:rPr lang="en-US" dirty="0" err="1" smtClean="0"/>
              <a:t>số</a:t>
            </a:r>
            <a:r>
              <a:rPr lang="en-US" dirty="0" smtClean="0"/>
              <a:t> </a:t>
            </a:r>
            <a:r>
              <a:rPr lang="en-US" dirty="0" err="1" smtClean="0"/>
              <a:t>cách</a:t>
            </a:r>
            <a:r>
              <a:rPr lang="en-US" dirty="0" smtClean="0"/>
              <a:t> </a:t>
            </a:r>
            <a:r>
              <a:rPr lang="en-US" dirty="0" err="1" smtClean="0"/>
              <a:t>nhau</a:t>
            </a:r>
            <a:r>
              <a:rPr lang="en-US" dirty="0" smtClean="0"/>
              <a:t> </a:t>
            </a:r>
            <a:r>
              <a:rPr lang="en-US" dirty="0" err="1" smtClean="0"/>
              <a:t>bằng</a:t>
            </a:r>
            <a:r>
              <a:rPr lang="en-US" dirty="0" smtClean="0"/>
              <a:t> </a:t>
            </a:r>
            <a:r>
              <a:rPr lang="en-US" dirty="0" err="1" smtClean="0"/>
              <a:t>dấu</a:t>
            </a:r>
            <a:r>
              <a:rPr lang="en-US" dirty="0" smtClean="0"/>
              <a:t> </a:t>
            </a:r>
            <a:r>
              <a:rPr lang="en-US" dirty="0" err="1" smtClean="0"/>
              <a:t>phẩy</a:t>
            </a:r>
            <a:endParaRPr lang="en-US" dirty="0"/>
          </a:p>
        </p:txBody>
      </p:sp>
    </p:spTree>
    <p:extLst>
      <p:ext uri="{BB962C8B-B14F-4D97-AF65-F5344CB8AC3E}">
        <p14:creationId xmlns:p14="http://schemas.microsoft.com/office/powerpoint/2010/main" val="35313536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29</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Hàm</a:t>
            </a:r>
            <a:r>
              <a:rPr lang="en-US" dirty="0" smtClean="0"/>
              <a:t> </a:t>
            </a:r>
            <a:r>
              <a:rPr lang="en-US" dirty="0" err="1" smtClean="0"/>
              <a:t>nặc</a:t>
            </a:r>
            <a:r>
              <a:rPr lang="en-US" dirty="0" smtClean="0"/>
              <a:t> </a:t>
            </a:r>
            <a:r>
              <a:rPr lang="en-US" dirty="0" err="1" smtClean="0"/>
              <a:t>danh</a:t>
            </a:r>
            <a:r>
              <a:rPr lang="en-US" dirty="0"/>
              <a:t> </a:t>
            </a:r>
            <a:r>
              <a:rPr lang="en-US" dirty="0" smtClean="0"/>
              <a:t>(lambda function)</a:t>
            </a:r>
            <a:endParaRPr lang="en-US" dirty="0"/>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041993" y="1519761"/>
            <a:ext cx="7068814" cy="369332"/>
          </a:xfrm>
          <a:prstGeom prst="rect">
            <a:avLst/>
          </a:prstGeom>
          <a:noFill/>
        </p:spPr>
        <p:txBody>
          <a:bodyPr wrap="square" rtlCol="0">
            <a:spAutoFit/>
          </a:bodyPr>
          <a:lstStyle/>
          <a:p>
            <a:r>
              <a:rPr lang="en-US" b="1" dirty="0" err="1" smtClean="0"/>
              <a:t>Ví</a:t>
            </a:r>
            <a:r>
              <a:rPr lang="en-US" b="1" dirty="0" smtClean="0"/>
              <a:t> </a:t>
            </a:r>
            <a:r>
              <a:rPr lang="en-US" b="1" dirty="0" err="1" smtClean="0"/>
              <a:t>dụ</a:t>
            </a:r>
            <a:r>
              <a:rPr lang="en-US" b="1" dirty="0" smtClean="0"/>
              <a:t> </a:t>
            </a:r>
            <a:r>
              <a:rPr lang="en-US" b="1" dirty="0" err="1" smtClean="0"/>
              <a:t>về</a:t>
            </a:r>
            <a:r>
              <a:rPr lang="en-US" b="1" dirty="0" smtClean="0"/>
              <a:t> lambda function</a:t>
            </a:r>
            <a:endParaRPr lang="en-US" b="1" dirty="0">
              <a:solidFill>
                <a:srgbClr val="FF0000"/>
              </a:solidFill>
            </a:endParaRPr>
          </a:p>
        </p:txBody>
      </p:sp>
      <p:sp>
        <p:nvSpPr>
          <p:cNvPr id="17" name="Rectangle 16"/>
          <p:cNvSpPr/>
          <p:nvPr/>
        </p:nvSpPr>
        <p:spPr>
          <a:xfrm>
            <a:off x="910062" y="2423461"/>
            <a:ext cx="7846828" cy="188272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1090816" y="2556180"/>
            <a:ext cx="7110974" cy="1477328"/>
          </a:xfrm>
          <a:prstGeom prst="rect">
            <a:avLst/>
          </a:prstGeom>
          <a:noFill/>
        </p:spPr>
        <p:txBody>
          <a:bodyPr wrap="square" rtlCol="0">
            <a:spAutoFit/>
          </a:bodyPr>
          <a:lstStyle/>
          <a:p>
            <a:pPr marL="0" lvl="1"/>
            <a:r>
              <a:rPr lang="pt-BR" dirty="0">
                <a:solidFill>
                  <a:srgbClr val="00B0F0"/>
                </a:solidFill>
              </a:rPr>
              <a:t>def</a:t>
            </a:r>
            <a:r>
              <a:rPr lang="pt-BR" dirty="0">
                <a:solidFill>
                  <a:schemeClr val="bg1"/>
                </a:solidFill>
              </a:rPr>
              <a:t> myfunc</a:t>
            </a:r>
            <a:r>
              <a:rPr lang="pt-BR" dirty="0">
                <a:solidFill>
                  <a:schemeClr val="accent4">
                    <a:lumMod val="60000"/>
                    <a:lumOff val="40000"/>
                  </a:schemeClr>
                </a:solidFill>
              </a:rPr>
              <a:t>(</a:t>
            </a:r>
            <a:r>
              <a:rPr lang="pt-BR" dirty="0">
                <a:solidFill>
                  <a:schemeClr val="bg1"/>
                </a:solidFill>
              </a:rPr>
              <a:t>n</a:t>
            </a:r>
            <a:r>
              <a:rPr lang="pt-BR" dirty="0">
                <a:solidFill>
                  <a:schemeClr val="accent4">
                    <a:lumMod val="60000"/>
                    <a:lumOff val="40000"/>
                  </a:schemeClr>
                </a:solidFill>
              </a:rPr>
              <a:t>)</a:t>
            </a:r>
            <a:r>
              <a:rPr lang="pt-BR" dirty="0">
                <a:solidFill>
                  <a:schemeClr val="bg1"/>
                </a:solidFill>
              </a:rPr>
              <a:t>:</a:t>
            </a:r>
            <a:br>
              <a:rPr lang="pt-BR" dirty="0">
                <a:solidFill>
                  <a:schemeClr val="bg1"/>
                </a:solidFill>
              </a:rPr>
            </a:br>
            <a:r>
              <a:rPr lang="pt-BR" dirty="0">
                <a:solidFill>
                  <a:schemeClr val="bg1"/>
                </a:solidFill>
              </a:rPr>
              <a:t>  </a:t>
            </a:r>
            <a:r>
              <a:rPr lang="pt-BR" dirty="0">
                <a:solidFill>
                  <a:srgbClr val="00B0F0"/>
                </a:solidFill>
              </a:rPr>
              <a:t>return lambda</a:t>
            </a:r>
            <a:r>
              <a:rPr lang="pt-BR" dirty="0">
                <a:solidFill>
                  <a:schemeClr val="bg1"/>
                </a:solidFill>
              </a:rPr>
              <a:t> a : a * n</a:t>
            </a:r>
            <a:br>
              <a:rPr lang="pt-BR" dirty="0">
                <a:solidFill>
                  <a:schemeClr val="bg1"/>
                </a:solidFill>
              </a:rPr>
            </a:br>
            <a:r>
              <a:rPr lang="pt-BR" dirty="0">
                <a:solidFill>
                  <a:schemeClr val="bg1"/>
                </a:solidFill>
              </a:rPr>
              <a:t/>
            </a:r>
            <a:br>
              <a:rPr lang="pt-BR" dirty="0">
                <a:solidFill>
                  <a:schemeClr val="bg1"/>
                </a:solidFill>
              </a:rPr>
            </a:br>
            <a:r>
              <a:rPr lang="pt-BR" dirty="0">
                <a:solidFill>
                  <a:schemeClr val="bg1"/>
                </a:solidFill>
              </a:rPr>
              <a:t>mydoubler = myfunc</a:t>
            </a:r>
            <a:r>
              <a:rPr lang="pt-BR" dirty="0">
                <a:solidFill>
                  <a:schemeClr val="accent4">
                    <a:lumMod val="60000"/>
                    <a:lumOff val="40000"/>
                  </a:schemeClr>
                </a:solidFill>
              </a:rPr>
              <a:t>(</a:t>
            </a:r>
            <a:r>
              <a:rPr lang="pt-BR" dirty="0">
                <a:solidFill>
                  <a:schemeClr val="accent6">
                    <a:lumMod val="60000"/>
                    <a:lumOff val="40000"/>
                  </a:schemeClr>
                </a:solidFill>
              </a:rPr>
              <a:t>2</a:t>
            </a:r>
            <a:r>
              <a:rPr lang="pt-BR" dirty="0" smtClean="0">
                <a:solidFill>
                  <a:schemeClr val="accent4">
                    <a:lumMod val="60000"/>
                    <a:lumOff val="40000"/>
                  </a:schemeClr>
                </a:solidFill>
              </a:rPr>
              <a:t>)</a:t>
            </a:r>
          </a:p>
          <a:p>
            <a:pPr marL="0" lvl="1"/>
            <a:r>
              <a:rPr lang="en-US" dirty="0" smtClean="0">
                <a:solidFill>
                  <a:schemeClr val="bg1"/>
                </a:solidFill>
              </a:rPr>
              <a:t>print</a:t>
            </a:r>
            <a:r>
              <a:rPr lang="en-US" dirty="0" smtClean="0">
                <a:solidFill>
                  <a:srgbClr val="FFC000"/>
                </a:solidFill>
              </a:rPr>
              <a:t>(</a:t>
            </a:r>
            <a:r>
              <a:rPr lang="pt-BR" dirty="0">
                <a:solidFill>
                  <a:schemeClr val="bg1"/>
                </a:solidFill>
              </a:rPr>
              <a:t>mydoubler</a:t>
            </a:r>
            <a:r>
              <a:rPr lang="en-US" dirty="0" smtClean="0">
                <a:solidFill>
                  <a:srgbClr val="FF66CC"/>
                </a:solidFill>
              </a:rPr>
              <a:t>(</a:t>
            </a:r>
            <a:r>
              <a:rPr lang="en-US" dirty="0" smtClean="0">
                <a:solidFill>
                  <a:schemeClr val="accent6">
                    <a:lumMod val="60000"/>
                    <a:lumOff val="40000"/>
                  </a:schemeClr>
                </a:solidFill>
              </a:rPr>
              <a:t>12</a:t>
            </a:r>
            <a:r>
              <a:rPr lang="en-US" dirty="0" smtClean="0">
                <a:solidFill>
                  <a:srgbClr val="FF66CC"/>
                </a:solidFill>
              </a:rPr>
              <a:t>)</a:t>
            </a:r>
            <a:r>
              <a:rPr lang="en-US" dirty="0" smtClean="0">
                <a:solidFill>
                  <a:srgbClr val="FFC000"/>
                </a:solidFill>
              </a:rPr>
              <a:t>)</a:t>
            </a:r>
            <a:endParaRPr lang="en-US" dirty="0" smtClean="0">
              <a:solidFill>
                <a:schemeClr val="bg1"/>
              </a:solidFill>
            </a:endParaRPr>
          </a:p>
        </p:txBody>
      </p:sp>
      <p:sp>
        <p:nvSpPr>
          <p:cNvPr id="19" name="TextBox 18"/>
          <p:cNvSpPr txBox="1"/>
          <p:nvPr/>
        </p:nvSpPr>
        <p:spPr>
          <a:xfrm>
            <a:off x="780391" y="1971611"/>
            <a:ext cx="7670412" cy="369332"/>
          </a:xfrm>
          <a:prstGeom prst="rect">
            <a:avLst/>
          </a:prstGeom>
          <a:noFill/>
        </p:spPr>
        <p:txBody>
          <a:bodyPr wrap="square" rtlCol="0">
            <a:spAutoFit/>
          </a:bodyPr>
          <a:lstStyle/>
          <a:p>
            <a:r>
              <a:rPr lang="en-US" b="1" dirty="0"/>
              <a:t>lambda</a:t>
            </a:r>
            <a:r>
              <a:rPr lang="en-US" dirty="0"/>
              <a:t> </a:t>
            </a:r>
            <a:r>
              <a:rPr lang="en-US" dirty="0" err="1" smtClean="0"/>
              <a:t>bên</a:t>
            </a:r>
            <a:r>
              <a:rPr lang="en-US" dirty="0" smtClean="0"/>
              <a:t> </a:t>
            </a:r>
            <a:r>
              <a:rPr lang="en-US" dirty="0" err="1" smtClean="0"/>
              <a:t>trong</a:t>
            </a:r>
            <a:r>
              <a:rPr lang="en-US" dirty="0" smtClean="0"/>
              <a:t> </a:t>
            </a:r>
            <a:r>
              <a:rPr lang="en-US" dirty="0" err="1" smtClean="0"/>
              <a:t>một</a:t>
            </a:r>
            <a:r>
              <a:rPr lang="en-US" dirty="0" smtClean="0"/>
              <a:t> function </a:t>
            </a:r>
            <a:r>
              <a:rPr lang="en-US" dirty="0" err="1" smtClean="0"/>
              <a:t>khác</a:t>
            </a:r>
            <a:endParaRPr lang="en-US" dirty="0"/>
          </a:p>
        </p:txBody>
      </p:sp>
      <p:sp>
        <p:nvSpPr>
          <p:cNvPr id="12" name="TextBox 11"/>
          <p:cNvSpPr txBox="1"/>
          <p:nvPr/>
        </p:nvSpPr>
        <p:spPr>
          <a:xfrm>
            <a:off x="780391" y="4512793"/>
            <a:ext cx="7670412" cy="369332"/>
          </a:xfrm>
          <a:prstGeom prst="rect">
            <a:avLst/>
          </a:prstGeom>
          <a:noFill/>
        </p:spPr>
        <p:txBody>
          <a:bodyPr wrap="square" rtlCol="0">
            <a:spAutoFit/>
          </a:bodyPr>
          <a:lstStyle/>
          <a:p>
            <a:r>
              <a:rPr lang="en-US" dirty="0" smtClean="0"/>
              <a:t>Qua </a:t>
            </a:r>
            <a:r>
              <a:rPr lang="en-US" dirty="0" err="1" smtClean="0"/>
              <a:t>ví</a:t>
            </a:r>
            <a:r>
              <a:rPr lang="en-US" dirty="0" smtClean="0"/>
              <a:t> </a:t>
            </a:r>
            <a:r>
              <a:rPr lang="en-US" dirty="0" err="1" smtClean="0"/>
              <a:t>vụ</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phải</a:t>
            </a:r>
            <a:r>
              <a:rPr lang="en-US" dirty="0" smtClean="0"/>
              <a:t> </a:t>
            </a:r>
            <a:r>
              <a:rPr lang="en-US" dirty="0" err="1" smtClean="0"/>
              <a:t>gọi</a:t>
            </a:r>
            <a:r>
              <a:rPr lang="en-US" dirty="0" smtClean="0"/>
              <a:t> 2 </a:t>
            </a:r>
            <a:r>
              <a:rPr lang="en-US" dirty="0" err="1" smtClean="0"/>
              <a:t>lần</a:t>
            </a:r>
            <a:r>
              <a:rPr lang="en-US" dirty="0" smtClean="0"/>
              <a:t> </a:t>
            </a:r>
            <a:r>
              <a:rPr lang="en-US" dirty="0" err="1" smtClean="0"/>
              <a:t>để</a:t>
            </a:r>
            <a:r>
              <a:rPr lang="en-US" dirty="0" smtClean="0"/>
              <a:t> </a:t>
            </a:r>
            <a:r>
              <a:rPr lang="en-US" dirty="0" err="1" smtClean="0"/>
              <a:t>thực</a:t>
            </a:r>
            <a:r>
              <a:rPr lang="en-US" dirty="0" smtClean="0"/>
              <a:t> </a:t>
            </a:r>
            <a:r>
              <a:rPr lang="en-US" dirty="0" err="1" smtClean="0"/>
              <a:t>thi</a:t>
            </a:r>
            <a:r>
              <a:rPr lang="en-US" dirty="0" smtClean="0"/>
              <a:t> </a:t>
            </a:r>
            <a:r>
              <a:rPr lang="en-US" dirty="0" err="1" smtClean="0"/>
              <a:t>được</a:t>
            </a:r>
            <a:r>
              <a:rPr lang="en-US" dirty="0" smtClean="0"/>
              <a:t> </a:t>
            </a:r>
            <a:r>
              <a:rPr lang="en-US" dirty="0" err="1" smtClean="0"/>
              <a:t>chương</a:t>
            </a:r>
            <a:r>
              <a:rPr lang="en-US" dirty="0" smtClean="0"/>
              <a:t> </a:t>
            </a:r>
            <a:r>
              <a:rPr lang="en-US" dirty="0" err="1" smtClean="0"/>
              <a:t>trình</a:t>
            </a:r>
            <a:endParaRPr lang="en-US" dirty="0"/>
          </a:p>
        </p:txBody>
      </p:sp>
    </p:spTree>
    <p:extLst>
      <p:ext uri="{BB962C8B-B14F-4D97-AF65-F5344CB8AC3E}">
        <p14:creationId xmlns:p14="http://schemas.microsoft.com/office/powerpoint/2010/main" val="19992675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30</a:t>
            </a:fld>
            <a:endParaRPr lang="en-US"/>
          </a:p>
        </p:txBody>
      </p:sp>
      <p:sp>
        <p:nvSpPr>
          <p:cNvPr id="3" name="Text Placeholder 2"/>
          <p:cNvSpPr>
            <a:spLocks noGrp="1"/>
          </p:cNvSpPr>
          <p:nvPr>
            <p:ph type="body" sz="quarter" idx="13"/>
          </p:nvPr>
        </p:nvSpPr>
        <p:spPr/>
        <p:txBody>
          <a:bodyPr/>
          <a:lstStyle/>
          <a:p>
            <a:r>
              <a:rPr lang="en-US" smtClean="0"/>
              <a:t>6.3  </a:t>
            </a:r>
            <a:r>
              <a:rPr lang="en-US" dirty="0" err="1" smtClean="0"/>
              <a:t>Hàm</a:t>
            </a:r>
            <a:r>
              <a:rPr lang="en-US" dirty="0" smtClean="0"/>
              <a:t> </a:t>
            </a:r>
            <a:r>
              <a:rPr lang="en-US" dirty="0" err="1" smtClean="0"/>
              <a:t>nặc</a:t>
            </a:r>
            <a:r>
              <a:rPr lang="en-US" dirty="0" smtClean="0"/>
              <a:t> </a:t>
            </a:r>
            <a:r>
              <a:rPr lang="en-US" dirty="0" err="1" smtClean="0"/>
              <a:t>danh</a:t>
            </a:r>
            <a:r>
              <a:rPr lang="en-US" dirty="0"/>
              <a:t> </a:t>
            </a:r>
            <a:r>
              <a:rPr lang="en-US" dirty="0" smtClean="0"/>
              <a:t>(lambda function)</a:t>
            </a:r>
            <a:endParaRPr lang="en-US" dirty="0"/>
          </a:p>
        </p:txBody>
      </p:sp>
      <p:pic>
        <p:nvPicPr>
          <p:cNvPr id="1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79187"/>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1041993" y="1519761"/>
            <a:ext cx="7068814" cy="369332"/>
          </a:xfrm>
          <a:prstGeom prst="rect">
            <a:avLst/>
          </a:prstGeom>
          <a:noFill/>
        </p:spPr>
        <p:txBody>
          <a:bodyPr wrap="square" rtlCol="0">
            <a:spAutoFit/>
          </a:bodyPr>
          <a:lstStyle/>
          <a:p>
            <a:r>
              <a:rPr lang="en-US" b="1" dirty="0" err="1" smtClean="0"/>
              <a:t>Nguồn</a:t>
            </a:r>
            <a:r>
              <a:rPr lang="en-US" b="1" dirty="0" smtClean="0"/>
              <a:t> </a:t>
            </a:r>
            <a:r>
              <a:rPr lang="en-US" b="1" dirty="0" err="1" smtClean="0"/>
              <a:t>tham</a:t>
            </a:r>
            <a:r>
              <a:rPr lang="en-US" b="1" dirty="0" smtClean="0"/>
              <a:t> </a:t>
            </a:r>
            <a:r>
              <a:rPr lang="en-US" b="1" dirty="0" err="1" smtClean="0"/>
              <a:t>chiếu</a:t>
            </a:r>
            <a:endParaRPr lang="en-US" b="1" dirty="0">
              <a:solidFill>
                <a:srgbClr val="FF0000"/>
              </a:solidFill>
            </a:endParaRPr>
          </a:p>
        </p:txBody>
      </p:sp>
      <p:sp>
        <p:nvSpPr>
          <p:cNvPr id="19" name="TextBox 18"/>
          <p:cNvSpPr txBox="1"/>
          <p:nvPr/>
        </p:nvSpPr>
        <p:spPr>
          <a:xfrm>
            <a:off x="936910" y="2033873"/>
            <a:ext cx="7670412" cy="369332"/>
          </a:xfrm>
          <a:prstGeom prst="rect">
            <a:avLst/>
          </a:prstGeom>
          <a:noFill/>
        </p:spPr>
        <p:txBody>
          <a:bodyPr wrap="square" rtlCol="0">
            <a:spAutoFit/>
          </a:bodyPr>
          <a:lstStyle/>
          <a:p>
            <a:r>
              <a:rPr lang="en-US" dirty="0" err="1" smtClean="0"/>
              <a:t>Tổng</a:t>
            </a:r>
            <a:r>
              <a:rPr lang="en-US" dirty="0" smtClean="0"/>
              <a:t> </a:t>
            </a:r>
            <a:r>
              <a:rPr lang="en-US" dirty="0" err="1" smtClean="0"/>
              <a:t>quan</a:t>
            </a:r>
            <a:r>
              <a:rPr lang="en-US" dirty="0" smtClean="0"/>
              <a:t> </a:t>
            </a:r>
            <a:r>
              <a:rPr lang="en-US" dirty="0" err="1" smtClean="0"/>
              <a:t>về</a:t>
            </a:r>
            <a:r>
              <a:rPr lang="en-US" dirty="0" smtClean="0"/>
              <a:t> Function</a:t>
            </a:r>
            <a:endParaRPr lang="en-US" dirty="0"/>
          </a:p>
        </p:txBody>
      </p:sp>
      <p:sp>
        <p:nvSpPr>
          <p:cNvPr id="12" name="TextBox 11"/>
          <p:cNvSpPr txBox="1"/>
          <p:nvPr/>
        </p:nvSpPr>
        <p:spPr>
          <a:xfrm>
            <a:off x="936910" y="2547985"/>
            <a:ext cx="7670412" cy="369332"/>
          </a:xfrm>
          <a:prstGeom prst="rect">
            <a:avLst/>
          </a:prstGeom>
          <a:noFill/>
        </p:spPr>
        <p:txBody>
          <a:bodyPr wrap="square" rtlCol="0">
            <a:spAutoFit/>
          </a:bodyPr>
          <a:lstStyle/>
          <a:p>
            <a:r>
              <a:rPr lang="en-US" dirty="0">
                <a:hlinkClick r:id="rId3"/>
              </a:rPr>
              <a:t>https://www.w3schools.com/python/python_functions.asp</a:t>
            </a:r>
            <a:endParaRPr lang="en-US" dirty="0"/>
          </a:p>
        </p:txBody>
      </p:sp>
      <p:sp>
        <p:nvSpPr>
          <p:cNvPr id="10" name="Flowchart: Decision 9"/>
          <p:cNvSpPr/>
          <p:nvPr/>
        </p:nvSpPr>
        <p:spPr>
          <a:xfrm>
            <a:off x="699793" y="213283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936910" y="3195408"/>
            <a:ext cx="7670412" cy="369332"/>
          </a:xfrm>
          <a:prstGeom prst="rect">
            <a:avLst/>
          </a:prstGeom>
          <a:noFill/>
        </p:spPr>
        <p:txBody>
          <a:bodyPr wrap="square" rtlCol="0">
            <a:spAutoFit/>
          </a:bodyPr>
          <a:lstStyle/>
          <a:p>
            <a:r>
              <a:rPr lang="en-US" dirty="0" err="1" smtClean="0"/>
              <a:t>Hàm</a:t>
            </a:r>
            <a:r>
              <a:rPr lang="en-US" dirty="0" smtClean="0"/>
              <a:t> </a:t>
            </a:r>
            <a:r>
              <a:rPr lang="en-US" dirty="0" err="1" smtClean="0"/>
              <a:t>nặc</a:t>
            </a:r>
            <a:r>
              <a:rPr lang="en-US" dirty="0" smtClean="0"/>
              <a:t> </a:t>
            </a:r>
            <a:r>
              <a:rPr lang="en-US" dirty="0" err="1" smtClean="0"/>
              <a:t>danh</a:t>
            </a:r>
            <a:r>
              <a:rPr lang="en-US" dirty="0" smtClean="0"/>
              <a:t> Lambda</a:t>
            </a:r>
            <a:endParaRPr lang="en-US" dirty="0"/>
          </a:p>
        </p:txBody>
      </p:sp>
      <p:sp>
        <p:nvSpPr>
          <p:cNvPr id="13" name="TextBox 12"/>
          <p:cNvSpPr txBox="1"/>
          <p:nvPr/>
        </p:nvSpPr>
        <p:spPr>
          <a:xfrm>
            <a:off x="936910" y="3709520"/>
            <a:ext cx="7670412" cy="369332"/>
          </a:xfrm>
          <a:prstGeom prst="rect">
            <a:avLst/>
          </a:prstGeom>
          <a:noFill/>
        </p:spPr>
        <p:txBody>
          <a:bodyPr wrap="square" rtlCol="0">
            <a:spAutoFit/>
          </a:bodyPr>
          <a:lstStyle/>
          <a:p>
            <a:r>
              <a:rPr lang="en-US" dirty="0">
                <a:hlinkClick r:id="rId4"/>
              </a:rPr>
              <a:t>https://www.w3schools.com/python/python_lambda.asp</a:t>
            </a:r>
            <a:endParaRPr lang="en-US" dirty="0"/>
          </a:p>
        </p:txBody>
      </p:sp>
      <p:sp>
        <p:nvSpPr>
          <p:cNvPr id="14" name="Flowchart: Decision 13"/>
          <p:cNvSpPr/>
          <p:nvPr/>
        </p:nvSpPr>
        <p:spPr>
          <a:xfrm>
            <a:off x="699793" y="3294369"/>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936910" y="4282803"/>
            <a:ext cx="7670412" cy="369332"/>
          </a:xfrm>
          <a:prstGeom prst="rect">
            <a:avLst/>
          </a:prstGeom>
          <a:noFill/>
        </p:spPr>
        <p:txBody>
          <a:bodyPr wrap="square" rtlCol="0">
            <a:spAutoFit/>
          </a:bodyPr>
          <a:lstStyle/>
          <a:p>
            <a:r>
              <a:rPr lang="en-US" dirty="0" err="1" smtClean="0"/>
              <a:t>Danh</a:t>
            </a:r>
            <a:r>
              <a:rPr lang="en-US" dirty="0" smtClean="0"/>
              <a:t> </a:t>
            </a:r>
            <a:r>
              <a:rPr lang="en-US" dirty="0" err="1" smtClean="0"/>
              <a:t>mục</a:t>
            </a:r>
            <a:r>
              <a:rPr lang="en-US" dirty="0" smtClean="0"/>
              <a:t> </a:t>
            </a:r>
            <a:r>
              <a:rPr lang="en-US" dirty="0" err="1" smtClean="0"/>
              <a:t>các</a:t>
            </a:r>
            <a:r>
              <a:rPr lang="en-US" dirty="0" smtClean="0"/>
              <a:t> </a:t>
            </a:r>
            <a:r>
              <a:rPr lang="en-US" dirty="0" err="1" smtClean="0"/>
              <a:t>hàm</a:t>
            </a:r>
            <a:r>
              <a:rPr lang="en-US" dirty="0" smtClean="0"/>
              <a:t> </a:t>
            </a:r>
            <a:r>
              <a:rPr lang="en-US" dirty="0" err="1" smtClean="0"/>
              <a:t>dựng</a:t>
            </a:r>
            <a:r>
              <a:rPr lang="en-US" dirty="0" smtClean="0"/>
              <a:t> </a:t>
            </a:r>
            <a:r>
              <a:rPr lang="en-US" dirty="0" err="1" smtClean="0"/>
              <a:t>sẵn</a:t>
            </a:r>
            <a:r>
              <a:rPr lang="en-US" dirty="0" smtClean="0"/>
              <a:t> - </a:t>
            </a:r>
            <a:r>
              <a:rPr lang="en-US" dirty="0"/>
              <a:t>Built in </a:t>
            </a:r>
            <a:r>
              <a:rPr lang="en-US" dirty="0" smtClean="0"/>
              <a:t>Functions</a:t>
            </a:r>
            <a:endParaRPr lang="en-US" dirty="0"/>
          </a:p>
        </p:txBody>
      </p:sp>
      <p:sp>
        <p:nvSpPr>
          <p:cNvPr id="21" name="Flowchart: Decision 20"/>
          <p:cNvSpPr/>
          <p:nvPr/>
        </p:nvSpPr>
        <p:spPr>
          <a:xfrm>
            <a:off x="699793" y="4381764"/>
            <a:ext cx="148856" cy="170120"/>
          </a:xfrm>
          <a:prstGeom prst="flowChartDecision">
            <a:avLst/>
          </a:prstGeom>
          <a:solidFill>
            <a:srgbClr val="3A75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936910" y="4838104"/>
            <a:ext cx="7670412" cy="369332"/>
          </a:xfrm>
          <a:prstGeom prst="rect">
            <a:avLst/>
          </a:prstGeom>
          <a:noFill/>
        </p:spPr>
        <p:txBody>
          <a:bodyPr wrap="square" rtlCol="0">
            <a:spAutoFit/>
          </a:bodyPr>
          <a:lstStyle/>
          <a:p>
            <a:r>
              <a:rPr lang="en-US" dirty="0">
                <a:hlinkClick r:id="rId5"/>
              </a:rPr>
              <a:t>https://www.w3schools.com/python/python_ref_functions.asp</a:t>
            </a:r>
            <a:endParaRPr lang="en-US" dirty="0"/>
          </a:p>
        </p:txBody>
      </p:sp>
    </p:spTree>
    <p:extLst>
      <p:ext uri="{BB962C8B-B14F-4D97-AF65-F5344CB8AC3E}">
        <p14:creationId xmlns:p14="http://schemas.microsoft.com/office/powerpoint/2010/main" val="12041340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a:spLocks/>
          </p:cNvSpPr>
          <p:nvPr/>
        </p:nvSpPr>
        <p:spPr>
          <a:xfrm>
            <a:off x="1571538" y="986929"/>
            <a:ext cx="3840434" cy="424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err="1" smtClean="0">
                <a:solidFill>
                  <a:schemeClr val="bg1"/>
                </a:solidFill>
              </a:rPr>
              <a:t>Tổng</a:t>
            </a:r>
            <a:r>
              <a:rPr lang="en-US" b="1" dirty="0" smtClean="0">
                <a:solidFill>
                  <a:schemeClr val="bg1"/>
                </a:solidFill>
              </a:rPr>
              <a:t> </a:t>
            </a:r>
            <a:r>
              <a:rPr lang="en-US" b="1" dirty="0" err="1" smtClean="0">
                <a:solidFill>
                  <a:schemeClr val="bg1"/>
                </a:solidFill>
              </a:rPr>
              <a:t>kết</a:t>
            </a:r>
            <a:r>
              <a:rPr lang="en-US" b="1" dirty="0" smtClean="0">
                <a:solidFill>
                  <a:schemeClr val="bg1"/>
                </a:solidFill>
              </a:rPr>
              <a:t> </a:t>
            </a:r>
            <a:r>
              <a:rPr lang="en-US" b="1" dirty="0" err="1" smtClean="0">
                <a:solidFill>
                  <a:schemeClr val="bg1"/>
                </a:solidFill>
              </a:rPr>
              <a:t>lại</a:t>
            </a:r>
            <a:r>
              <a:rPr lang="en-US" b="1" dirty="0" smtClean="0">
                <a:solidFill>
                  <a:schemeClr val="bg1"/>
                </a:solidFill>
              </a:rPr>
              <a:t> </a:t>
            </a:r>
            <a:r>
              <a:rPr lang="en-US" b="1" dirty="0" err="1" smtClean="0">
                <a:solidFill>
                  <a:schemeClr val="bg1"/>
                </a:solidFill>
              </a:rPr>
              <a:t>bài</a:t>
            </a:r>
            <a:endParaRPr lang="en-US" b="1" dirty="0">
              <a:solidFill>
                <a:schemeClr val="bg1"/>
              </a:solidFill>
            </a:endParaRPr>
          </a:p>
        </p:txBody>
      </p:sp>
      <p:sp>
        <p:nvSpPr>
          <p:cNvPr id="5" name="Oval 4"/>
          <p:cNvSpPr/>
          <p:nvPr/>
        </p:nvSpPr>
        <p:spPr>
          <a:xfrm>
            <a:off x="1731027" y="1822655"/>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60B659"/>
                </a:solidFill>
              </a:rPr>
              <a:t>1</a:t>
            </a:r>
            <a:endParaRPr lang="en-US" b="1" dirty="0">
              <a:solidFill>
                <a:srgbClr val="60B659"/>
              </a:solidFill>
            </a:endParaRPr>
          </a:p>
        </p:txBody>
      </p:sp>
      <p:sp>
        <p:nvSpPr>
          <p:cNvPr id="6" name="Oval 5"/>
          <p:cNvSpPr/>
          <p:nvPr/>
        </p:nvSpPr>
        <p:spPr>
          <a:xfrm>
            <a:off x="1731027" y="26597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60B659"/>
                </a:solidFill>
              </a:rPr>
              <a:t>2</a:t>
            </a:r>
          </a:p>
        </p:txBody>
      </p:sp>
      <p:cxnSp>
        <p:nvCxnSpPr>
          <p:cNvPr id="16" name="Straight Connector 15"/>
          <p:cNvCxnSpPr/>
          <p:nvPr/>
        </p:nvCxnSpPr>
        <p:spPr>
          <a:xfrm>
            <a:off x="1731027" y="1528857"/>
            <a:ext cx="61476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54101" y="1831593"/>
            <a:ext cx="6485861" cy="369332"/>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thế</a:t>
            </a:r>
            <a:r>
              <a:rPr lang="en-US" dirty="0" smtClean="0">
                <a:solidFill>
                  <a:schemeClr val="bg1"/>
                </a:solidFill>
              </a:rPr>
              <a:t> </a:t>
            </a:r>
            <a:r>
              <a:rPr lang="en-US" dirty="0" err="1" smtClean="0">
                <a:solidFill>
                  <a:schemeClr val="bg1"/>
                </a:solidFill>
              </a:rPr>
              <a:t>nào</a:t>
            </a:r>
            <a:r>
              <a:rPr lang="en-US" dirty="0" smtClean="0">
                <a:solidFill>
                  <a:schemeClr val="bg1"/>
                </a:solidFill>
              </a:rPr>
              <a:t> </a:t>
            </a:r>
            <a:r>
              <a:rPr lang="en-US" dirty="0" err="1" smtClean="0">
                <a:solidFill>
                  <a:schemeClr val="bg1"/>
                </a:solidFill>
              </a:rPr>
              <a:t>là</a:t>
            </a:r>
            <a:r>
              <a:rPr lang="en-US" dirty="0" smtClean="0">
                <a:solidFill>
                  <a:schemeClr val="bg1"/>
                </a:solidFill>
              </a:rPr>
              <a:t> </a:t>
            </a:r>
            <a:r>
              <a:rPr lang="en-US" dirty="0" err="1" smtClean="0">
                <a:solidFill>
                  <a:schemeClr val="bg1"/>
                </a:solidFill>
              </a:rPr>
              <a:t>kiểu</a:t>
            </a:r>
            <a:r>
              <a:rPr lang="en-US" dirty="0" smtClean="0">
                <a:solidFill>
                  <a:schemeClr val="bg1"/>
                </a:solidFill>
              </a:rPr>
              <a:t> </a:t>
            </a:r>
            <a:r>
              <a:rPr lang="en-US" dirty="0" err="1" smtClean="0">
                <a:solidFill>
                  <a:schemeClr val="bg1"/>
                </a:solidFill>
              </a:rPr>
              <a:t>dữ</a:t>
            </a:r>
            <a:r>
              <a:rPr lang="en-US" dirty="0" smtClean="0">
                <a:solidFill>
                  <a:schemeClr val="bg1"/>
                </a:solidFill>
              </a:rPr>
              <a:t> </a:t>
            </a:r>
            <a:r>
              <a:rPr lang="en-US" dirty="0" err="1" smtClean="0">
                <a:solidFill>
                  <a:schemeClr val="bg1"/>
                </a:solidFill>
              </a:rPr>
              <a:t>liệu</a:t>
            </a:r>
            <a:r>
              <a:rPr lang="en-US" dirty="0" smtClean="0">
                <a:solidFill>
                  <a:schemeClr val="bg1"/>
                </a:solidFill>
              </a:rPr>
              <a:t> </a:t>
            </a:r>
            <a:r>
              <a:rPr lang="en-US" dirty="0" err="1" smtClean="0">
                <a:solidFill>
                  <a:schemeClr val="bg1"/>
                </a:solidFill>
              </a:rPr>
              <a:t>từ</a:t>
            </a:r>
            <a:r>
              <a:rPr lang="en-US" dirty="0" smtClean="0">
                <a:solidFill>
                  <a:schemeClr val="bg1"/>
                </a:solidFill>
              </a:rPr>
              <a:t> </a:t>
            </a:r>
            <a:r>
              <a:rPr lang="en-US" dirty="0" err="1" smtClean="0">
                <a:solidFill>
                  <a:schemeClr val="bg1"/>
                </a:solidFill>
              </a:rPr>
              <a:t>điển</a:t>
            </a:r>
            <a:r>
              <a:rPr lang="en-US" dirty="0" smtClean="0">
                <a:solidFill>
                  <a:schemeClr val="bg1"/>
                </a:solidFill>
              </a:rPr>
              <a:t> Dictionaries</a:t>
            </a:r>
            <a:endParaRPr lang="en-US" dirty="0">
              <a:solidFill>
                <a:schemeClr val="bg1"/>
              </a:solidFill>
            </a:endParaRPr>
          </a:p>
        </p:txBody>
      </p:sp>
      <p:sp>
        <p:nvSpPr>
          <p:cNvPr id="18" name="TextBox 17"/>
          <p:cNvSpPr txBox="1"/>
          <p:nvPr/>
        </p:nvSpPr>
        <p:spPr>
          <a:xfrm>
            <a:off x="2254101" y="2730275"/>
            <a:ext cx="5178056" cy="646331"/>
          </a:xfrm>
          <a:prstGeom prst="rect">
            <a:avLst/>
          </a:prstGeom>
          <a:noFill/>
        </p:spPr>
        <p:txBody>
          <a:bodyPr wrap="square" rtlCol="0">
            <a:spAutoFit/>
          </a:bodyPr>
          <a:lstStyle/>
          <a:p>
            <a:r>
              <a:rPr lang="en-US" dirty="0" err="1" smtClean="0">
                <a:solidFill>
                  <a:schemeClr val="bg1"/>
                </a:solidFill>
              </a:rPr>
              <a:t>Nắm</a:t>
            </a:r>
            <a:r>
              <a:rPr lang="en-US" dirty="0" smtClean="0">
                <a:solidFill>
                  <a:schemeClr val="bg1"/>
                </a:solidFill>
              </a:rPr>
              <a:t> </a:t>
            </a:r>
            <a:r>
              <a:rPr lang="en-US" dirty="0" err="1" smtClean="0">
                <a:solidFill>
                  <a:schemeClr val="bg1"/>
                </a:solidFill>
              </a:rPr>
              <a:t>được</a:t>
            </a:r>
            <a:r>
              <a:rPr lang="en-US" dirty="0" smtClean="0">
                <a:solidFill>
                  <a:schemeClr val="bg1"/>
                </a:solidFill>
              </a:rPr>
              <a:t> </a:t>
            </a:r>
            <a:r>
              <a:rPr lang="en-US" dirty="0" err="1" smtClean="0">
                <a:solidFill>
                  <a:schemeClr val="bg1"/>
                </a:solidFill>
              </a:rPr>
              <a:t>các</a:t>
            </a:r>
            <a:r>
              <a:rPr lang="en-US" smtClean="0">
                <a:solidFill>
                  <a:schemeClr val="bg1"/>
                </a:solidFill>
              </a:rPr>
              <a:t> p</a:t>
            </a:r>
            <a:r>
              <a:rPr lang="vi-VN" smtClean="0">
                <a:solidFill>
                  <a:schemeClr val="bg1"/>
                </a:solidFill>
              </a:rPr>
              <a:t>hương </a:t>
            </a:r>
            <a:r>
              <a:rPr lang="vi-VN" dirty="0">
                <a:solidFill>
                  <a:schemeClr val="bg1"/>
                </a:solidFill>
              </a:rPr>
              <a:t>thức xử lý với từ điển Dictionaries</a:t>
            </a:r>
            <a:endParaRPr lang="en-US" dirty="0" smtClean="0">
              <a:solidFill>
                <a:schemeClr val="bg1"/>
              </a:solidFill>
            </a:endParaRPr>
          </a:p>
        </p:txBody>
      </p:sp>
      <p:sp>
        <p:nvSpPr>
          <p:cNvPr id="8" name="Oval 7"/>
          <p:cNvSpPr/>
          <p:nvPr/>
        </p:nvSpPr>
        <p:spPr>
          <a:xfrm>
            <a:off x="1731027" y="3726559"/>
            <a:ext cx="439848" cy="4398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rgbClr val="60B659"/>
                </a:solidFill>
              </a:rPr>
              <a:t>3</a:t>
            </a:r>
            <a:endParaRPr lang="en-US" b="1" dirty="0">
              <a:solidFill>
                <a:srgbClr val="60B659"/>
              </a:solidFill>
            </a:endParaRPr>
          </a:p>
        </p:txBody>
      </p:sp>
      <p:sp>
        <p:nvSpPr>
          <p:cNvPr id="9" name="TextBox 8"/>
          <p:cNvSpPr txBox="1"/>
          <p:nvPr/>
        </p:nvSpPr>
        <p:spPr>
          <a:xfrm>
            <a:off x="2254101" y="3797075"/>
            <a:ext cx="5178056" cy="646331"/>
          </a:xfrm>
          <a:prstGeom prst="rect">
            <a:avLst/>
          </a:prstGeom>
          <a:noFill/>
        </p:spPr>
        <p:txBody>
          <a:bodyPr wrap="square" rtlCol="0">
            <a:spAutoFit/>
          </a:bodyPr>
          <a:lstStyle/>
          <a:p>
            <a:r>
              <a:rPr lang="en-US" err="1" smtClean="0">
                <a:solidFill>
                  <a:schemeClr val="bg1"/>
                </a:solidFill>
              </a:rPr>
              <a:t>Nắm</a:t>
            </a:r>
            <a:r>
              <a:rPr lang="en-US" smtClean="0">
                <a:solidFill>
                  <a:schemeClr val="bg1"/>
                </a:solidFill>
              </a:rPr>
              <a:t> </a:t>
            </a:r>
            <a:r>
              <a:rPr lang="en-US" smtClean="0">
                <a:solidFill>
                  <a:schemeClr val="bg1"/>
                </a:solidFill>
              </a:rPr>
              <a:t>được</a:t>
            </a:r>
            <a:r>
              <a:rPr lang="en-US" smtClean="0">
                <a:solidFill>
                  <a:schemeClr val="bg1"/>
                </a:solidFill>
              </a:rPr>
              <a:t> </a:t>
            </a:r>
            <a:r>
              <a:rPr lang="en-US" smtClean="0">
                <a:solidFill>
                  <a:schemeClr val="bg1"/>
                </a:solidFill>
              </a:rPr>
              <a:t>tổng quan về Hàm, các loại hàm, cách  sử dụng hàm</a:t>
            </a:r>
            <a:endParaRPr lang="en-US" dirty="0" smtClean="0">
              <a:solidFill>
                <a:schemeClr val="bg1"/>
              </a:solidFill>
            </a:endParaRPr>
          </a:p>
        </p:txBody>
      </p:sp>
    </p:spTree>
    <p:extLst>
      <p:ext uri="{BB962C8B-B14F-4D97-AF65-F5344CB8AC3E}">
        <p14:creationId xmlns:p14="http://schemas.microsoft.com/office/powerpoint/2010/main" val="26719927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2246</TotalTime>
  <Words>2290</Words>
  <Application>Microsoft Office PowerPoint</Application>
  <PresentationFormat>On-screen Show (4:3)</PresentationFormat>
  <Paragraphs>288</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Roboto</vt:lpstr>
      <vt:lpstr>Söhne</vt:lpstr>
      <vt:lpstr>Söhne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Microsoft account</cp:lastModifiedBy>
  <cp:revision>1223</cp:revision>
  <dcterms:created xsi:type="dcterms:W3CDTF">2023-04-21T02:43:36Z</dcterms:created>
  <dcterms:modified xsi:type="dcterms:W3CDTF">2025-10-30T02:33:37Z</dcterms:modified>
</cp:coreProperties>
</file>