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56" r:id="rId2"/>
    <p:sldId id="258" r:id="rId3"/>
    <p:sldId id="274" r:id="rId4"/>
    <p:sldId id="275" r:id="rId5"/>
    <p:sldId id="276" r:id="rId6"/>
    <p:sldId id="277" r:id="rId7"/>
    <p:sldId id="278" r:id="rId8"/>
    <p:sldId id="279" r:id="rId9"/>
    <p:sldId id="280" r:id="rId10"/>
    <p:sldId id="281" r:id="rId11"/>
    <p:sldId id="288" r:id="rId12"/>
    <p:sldId id="291" r:id="rId13"/>
    <p:sldId id="266"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772A2"/>
    <a:srgbClr val="FFC500"/>
    <a:srgbClr val="FECC36"/>
    <a:srgbClr val="FF66CC"/>
    <a:srgbClr val="64C0A7"/>
    <a:srgbClr val="67C7DF"/>
    <a:srgbClr val="5EB130"/>
    <a:srgbClr val="346E9E"/>
    <a:srgbClr val="60B659"/>
    <a:srgbClr val="CD006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85" autoAdjust="0"/>
    <p:restoredTop sz="94280" autoAdjust="0"/>
  </p:normalViewPr>
  <p:slideViewPr>
    <p:cSldViewPr snapToGrid="0">
      <p:cViewPr varScale="1">
        <p:scale>
          <a:sx n="113" d="100"/>
          <a:sy n="113" d="100"/>
        </p:scale>
        <p:origin x="154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BDF935-9821-4834-9D99-7DEFA719F44D}" type="datetimeFigureOut">
              <a:rPr lang="en-US" smtClean="0"/>
              <a:t>10/30/2025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76C599-AFDD-4E70-A5D7-287F6F8DCAAF}" type="slidenum">
              <a:rPr lang="en-US" smtClean="0"/>
              <a:t>‹#›</a:t>
            </a:fld>
            <a:endParaRPr lang="en-US"/>
          </a:p>
        </p:txBody>
      </p:sp>
    </p:spTree>
    <p:extLst>
      <p:ext uri="{BB962C8B-B14F-4D97-AF65-F5344CB8AC3E}">
        <p14:creationId xmlns:p14="http://schemas.microsoft.com/office/powerpoint/2010/main" val="2195903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0" y="0"/>
            <a:ext cx="9144000" cy="6858000"/>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43576" y="2133600"/>
            <a:ext cx="3400425" cy="4724400"/>
          </a:xfrm>
          <a:prstGeom prst="rect">
            <a:avLst/>
          </a:prstGeom>
        </p:spPr>
      </p:pic>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 y="0"/>
            <a:ext cx="1704975" cy="4724400"/>
          </a:xfrm>
          <a:prstGeom prst="rect">
            <a:avLst/>
          </a:prstGeom>
        </p:spPr>
      </p:pic>
    </p:spTree>
    <p:extLst>
      <p:ext uri="{BB962C8B-B14F-4D97-AF65-F5344CB8AC3E}">
        <p14:creationId xmlns:p14="http://schemas.microsoft.com/office/powerpoint/2010/main" val="221593065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7" name="Rectangle 6"/>
          <p:cNvSpPr/>
          <p:nvPr userDrawn="1"/>
        </p:nvSpPr>
        <p:spPr>
          <a:xfrm>
            <a:off x="0" y="2"/>
            <a:ext cx="9144000" cy="669849"/>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userDrawn="1"/>
        </p:nvSpPr>
        <p:spPr>
          <a:xfrm>
            <a:off x="0" y="6648450"/>
            <a:ext cx="9144000" cy="209550"/>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Slide Number Placeholder 5"/>
          <p:cNvSpPr>
            <a:spLocks noGrp="1"/>
          </p:cNvSpPr>
          <p:nvPr>
            <p:ph type="sldNum" sz="quarter" idx="12"/>
          </p:nvPr>
        </p:nvSpPr>
        <p:spPr>
          <a:xfrm>
            <a:off x="7919049" y="6648451"/>
            <a:ext cx="837841" cy="209551"/>
          </a:xfrm>
        </p:spPr>
        <p:txBody>
          <a:bodyPr/>
          <a:lstStyle>
            <a:lvl1pPr>
              <a:defRPr>
                <a:solidFill>
                  <a:schemeClr val="bg1"/>
                </a:solidFill>
              </a:defRPr>
            </a:lvl1pPr>
          </a:lstStyle>
          <a:p>
            <a:fld id="{7D9EC917-02A2-4152-9EE3-DFE2775A77C7}" type="slidenum">
              <a:rPr lang="en-US" smtClean="0"/>
              <a:pPr/>
              <a:t>‹#›</a:t>
            </a:fld>
            <a:endParaRPr lang="en-US"/>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524626" y="-1"/>
            <a:ext cx="2619375" cy="361950"/>
          </a:xfrm>
          <a:prstGeom prst="rect">
            <a:avLst/>
          </a:prstGeom>
        </p:spPr>
      </p:pic>
      <p:sp>
        <p:nvSpPr>
          <p:cNvPr id="12" name="TextBox 11"/>
          <p:cNvSpPr txBox="1"/>
          <p:nvPr userDrawn="1"/>
        </p:nvSpPr>
        <p:spPr>
          <a:xfrm>
            <a:off x="2862565" y="134871"/>
            <a:ext cx="3662060" cy="400110"/>
          </a:xfrm>
          <a:prstGeom prst="rect">
            <a:avLst/>
          </a:prstGeom>
          <a:noFill/>
        </p:spPr>
        <p:txBody>
          <a:bodyPr wrap="square" rtlCol="0">
            <a:spAutoFit/>
          </a:bodyPr>
          <a:lstStyle/>
          <a:p>
            <a:r>
              <a:rPr lang="en-US" sz="2000" b="0" dirty="0" smtClean="0">
                <a:solidFill>
                  <a:schemeClr val="bg1"/>
                </a:solidFill>
                <a:latin typeface="+mj-lt"/>
                <a:ea typeface="Roboto" pitchFamily="2" charset="0"/>
                <a:cs typeface="Arial" panose="020B0604020202020204" pitchFamily="34" charset="0"/>
              </a:rPr>
              <a:t>Học</a:t>
            </a:r>
            <a:r>
              <a:rPr lang="en-US" sz="2000" b="0" baseline="0" dirty="0" smtClean="0">
                <a:solidFill>
                  <a:schemeClr val="bg1"/>
                </a:solidFill>
                <a:latin typeface="+mj-lt"/>
                <a:ea typeface="Roboto" pitchFamily="2" charset="0"/>
                <a:cs typeface="Arial" panose="020B0604020202020204" pitchFamily="34" charset="0"/>
              </a:rPr>
              <a:t> l</a:t>
            </a:r>
            <a:r>
              <a:rPr lang="en-US" sz="2000" b="0" dirty="0" smtClean="0">
                <a:solidFill>
                  <a:schemeClr val="bg1"/>
                </a:solidFill>
                <a:latin typeface="+mj-lt"/>
                <a:ea typeface="Roboto" pitchFamily="2" charset="0"/>
                <a:cs typeface="Arial" panose="020B0604020202020204" pitchFamily="34" charset="0"/>
              </a:rPr>
              <a:t>ập</a:t>
            </a:r>
            <a:r>
              <a:rPr lang="en-US" sz="2000" b="0" baseline="0" dirty="0" smtClean="0">
                <a:solidFill>
                  <a:schemeClr val="bg1"/>
                </a:solidFill>
                <a:latin typeface="+mj-lt"/>
                <a:ea typeface="Roboto" pitchFamily="2" charset="0"/>
                <a:cs typeface="Arial" panose="020B0604020202020204" pitchFamily="34" charset="0"/>
              </a:rPr>
              <a:t> </a:t>
            </a:r>
            <a:r>
              <a:rPr lang="en-US" sz="2000" b="0" baseline="0" dirty="0" err="1" smtClean="0">
                <a:solidFill>
                  <a:schemeClr val="bg1"/>
                </a:solidFill>
                <a:latin typeface="+mj-lt"/>
                <a:ea typeface="Roboto" pitchFamily="2" charset="0"/>
                <a:cs typeface="Arial" panose="020B0604020202020204" pitchFamily="34" charset="0"/>
              </a:rPr>
              <a:t>trình</a:t>
            </a:r>
            <a:r>
              <a:rPr lang="en-US" sz="2000" b="0" baseline="0" dirty="0" smtClean="0">
                <a:solidFill>
                  <a:schemeClr val="bg1"/>
                </a:solidFill>
                <a:latin typeface="+mj-lt"/>
                <a:ea typeface="Roboto" pitchFamily="2" charset="0"/>
                <a:cs typeface="Arial" panose="020B0604020202020204" pitchFamily="34" charset="0"/>
              </a:rPr>
              <a:t> Python </a:t>
            </a:r>
            <a:r>
              <a:rPr lang="en-US" sz="2000" b="0" baseline="0" dirty="0" err="1" smtClean="0">
                <a:solidFill>
                  <a:schemeClr val="bg1"/>
                </a:solidFill>
                <a:latin typeface="+mj-lt"/>
                <a:ea typeface="Roboto" pitchFamily="2" charset="0"/>
                <a:cs typeface="Arial" panose="020B0604020202020204" pitchFamily="34" charset="0"/>
              </a:rPr>
              <a:t>Cơ</a:t>
            </a:r>
            <a:r>
              <a:rPr lang="en-US" sz="2000" b="0" baseline="0" dirty="0" smtClean="0">
                <a:solidFill>
                  <a:schemeClr val="bg1"/>
                </a:solidFill>
                <a:latin typeface="+mj-lt"/>
                <a:ea typeface="Roboto" pitchFamily="2" charset="0"/>
                <a:cs typeface="Arial" panose="020B0604020202020204" pitchFamily="34" charset="0"/>
              </a:rPr>
              <a:t> </a:t>
            </a:r>
            <a:r>
              <a:rPr lang="en-US" sz="2000" b="0" baseline="0" dirty="0" err="1" smtClean="0">
                <a:solidFill>
                  <a:schemeClr val="bg1"/>
                </a:solidFill>
                <a:latin typeface="+mj-lt"/>
                <a:ea typeface="Roboto" pitchFamily="2" charset="0"/>
                <a:cs typeface="Arial" panose="020B0604020202020204" pitchFamily="34" charset="0"/>
              </a:rPr>
              <a:t>Bản</a:t>
            </a:r>
            <a:endParaRPr lang="en-US" sz="2000" b="0" dirty="0">
              <a:solidFill>
                <a:schemeClr val="bg1"/>
              </a:solidFill>
              <a:latin typeface="+mj-lt"/>
              <a:ea typeface="Roboto" pitchFamily="2" charset="0"/>
              <a:cs typeface="Arial" panose="020B0604020202020204" pitchFamily="34" charset="0"/>
            </a:endParaRPr>
          </a:p>
        </p:txBody>
      </p:sp>
      <p:pic>
        <p:nvPicPr>
          <p:cNvPr id="1026" name="Picture 2" descr="https://aptech-danang.edu.vn/Content/ace/images/banner-sm.jp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 y="4739"/>
            <a:ext cx="2727799" cy="665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902947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7" name="Rectangle 6"/>
          <p:cNvSpPr/>
          <p:nvPr userDrawn="1"/>
        </p:nvSpPr>
        <p:spPr>
          <a:xfrm>
            <a:off x="0" y="2"/>
            <a:ext cx="9144000" cy="669849"/>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userDrawn="1"/>
        </p:nvSpPr>
        <p:spPr>
          <a:xfrm>
            <a:off x="0" y="6648450"/>
            <a:ext cx="9144000" cy="209550"/>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Slide Number Placeholder 5"/>
          <p:cNvSpPr>
            <a:spLocks noGrp="1"/>
          </p:cNvSpPr>
          <p:nvPr>
            <p:ph type="sldNum" sz="quarter" idx="12"/>
          </p:nvPr>
        </p:nvSpPr>
        <p:spPr>
          <a:xfrm>
            <a:off x="7919049" y="6648451"/>
            <a:ext cx="837841" cy="209551"/>
          </a:xfrm>
        </p:spPr>
        <p:txBody>
          <a:bodyPr/>
          <a:lstStyle>
            <a:lvl1pPr>
              <a:defRPr>
                <a:solidFill>
                  <a:schemeClr val="bg1"/>
                </a:solidFill>
              </a:defRPr>
            </a:lvl1pPr>
          </a:lstStyle>
          <a:p>
            <a:fld id="{7D9EC917-02A2-4152-9EE3-DFE2775A77C7}" type="slidenum">
              <a:rPr lang="en-US" smtClean="0"/>
              <a:pPr/>
              <a:t>‹#›</a:t>
            </a:fld>
            <a:endParaRPr lang="en-US"/>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524626" y="-1"/>
            <a:ext cx="2619375" cy="361950"/>
          </a:xfrm>
          <a:prstGeom prst="rect">
            <a:avLst/>
          </a:prstGeom>
        </p:spPr>
      </p:pic>
      <p:sp>
        <p:nvSpPr>
          <p:cNvPr id="12" name="TextBox 11"/>
          <p:cNvSpPr txBox="1"/>
          <p:nvPr userDrawn="1"/>
        </p:nvSpPr>
        <p:spPr>
          <a:xfrm>
            <a:off x="2862565" y="134871"/>
            <a:ext cx="3662060" cy="400110"/>
          </a:xfrm>
          <a:prstGeom prst="rect">
            <a:avLst/>
          </a:prstGeom>
          <a:noFill/>
        </p:spPr>
        <p:txBody>
          <a:bodyPr wrap="square" rtlCol="0">
            <a:spAutoFit/>
          </a:bodyPr>
          <a:lstStyle/>
          <a:p>
            <a:r>
              <a:rPr lang="en-US" sz="2000" b="1" dirty="0" smtClean="0">
                <a:solidFill>
                  <a:schemeClr val="bg1"/>
                </a:solidFill>
                <a:latin typeface="+mj-lt"/>
                <a:ea typeface="Roboto" pitchFamily="2" charset="0"/>
                <a:cs typeface="Arial" panose="020B0604020202020204" pitchFamily="34" charset="0"/>
              </a:rPr>
              <a:t>Học</a:t>
            </a:r>
            <a:r>
              <a:rPr lang="en-US" sz="2000" b="1" baseline="0" dirty="0" smtClean="0">
                <a:solidFill>
                  <a:schemeClr val="bg1"/>
                </a:solidFill>
                <a:latin typeface="+mj-lt"/>
                <a:ea typeface="Roboto" pitchFamily="2" charset="0"/>
                <a:cs typeface="Arial" panose="020B0604020202020204" pitchFamily="34" charset="0"/>
              </a:rPr>
              <a:t> l</a:t>
            </a:r>
            <a:r>
              <a:rPr lang="en-US" sz="2000" b="1" dirty="0" smtClean="0">
                <a:solidFill>
                  <a:schemeClr val="bg1"/>
                </a:solidFill>
                <a:latin typeface="+mj-lt"/>
                <a:ea typeface="Roboto" pitchFamily="2" charset="0"/>
                <a:cs typeface="Arial" panose="020B0604020202020204" pitchFamily="34" charset="0"/>
              </a:rPr>
              <a:t>ập</a:t>
            </a:r>
            <a:r>
              <a:rPr lang="en-US" sz="2000" b="1" baseline="0" dirty="0" smtClean="0">
                <a:solidFill>
                  <a:schemeClr val="bg1"/>
                </a:solidFill>
                <a:latin typeface="+mj-lt"/>
                <a:ea typeface="Roboto" pitchFamily="2" charset="0"/>
                <a:cs typeface="Arial" panose="020B0604020202020204" pitchFamily="34" charset="0"/>
              </a:rPr>
              <a:t> </a:t>
            </a:r>
            <a:r>
              <a:rPr lang="en-US" sz="2000" b="1" baseline="0" dirty="0" err="1" smtClean="0">
                <a:solidFill>
                  <a:schemeClr val="bg1"/>
                </a:solidFill>
                <a:latin typeface="+mj-lt"/>
                <a:ea typeface="Roboto" pitchFamily="2" charset="0"/>
                <a:cs typeface="Arial" panose="020B0604020202020204" pitchFamily="34" charset="0"/>
              </a:rPr>
              <a:t>trình</a:t>
            </a:r>
            <a:r>
              <a:rPr lang="en-US" sz="2000" b="1" baseline="0" dirty="0" smtClean="0">
                <a:solidFill>
                  <a:schemeClr val="bg1"/>
                </a:solidFill>
                <a:latin typeface="+mj-lt"/>
                <a:ea typeface="Roboto" pitchFamily="2" charset="0"/>
                <a:cs typeface="Arial" panose="020B0604020202020204" pitchFamily="34" charset="0"/>
              </a:rPr>
              <a:t> Python </a:t>
            </a:r>
            <a:r>
              <a:rPr lang="en-US" sz="2000" b="1" baseline="0" dirty="0" err="1" smtClean="0">
                <a:solidFill>
                  <a:schemeClr val="bg1"/>
                </a:solidFill>
                <a:latin typeface="+mj-lt"/>
                <a:ea typeface="Roboto" pitchFamily="2" charset="0"/>
                <a:cs typeface="Arial" panose="020B0604020202020204" pitchFamily="34" charset="0"/>
              </a:rPr>
              <a:t>Cơ</a:t>
            </a:r>
            <a:r>
              <a:rPr lang="en-US" sz="2000" b="1" baseline="0" dirty="0" smtClean="0">
                <a:solidFill>
                  <a:schemeClr val="bg1"/>
                </a:solidFill>
                <a:latin typeface="+mj-lt"/>
                <a:ea typeface="Roboto" pitchFamily="2" charset="0"/>
                <a:cs typeface="Arial" panose="020B0604020202020204" pitchFamily="34" charset="0"/>
              </a:rPr>
              <a:t> </a:t>
            </a:r>
            <a:r>
              <a:rPr lang="en-US" sz="2000" b="1" baseline="0" dirty="0" err="1" smtClean="0">
                <a:solidFill>
                  <a:schemeClr val="bg1"/>
                </a:solidFill>
                <a:latin typeface="+mj-lt"/>
                <a:ea typeface="Roboto" pitchFamily="2" charset="0"/>
                <a:cs typeface="Arial" panose="020B0604020202020204" pitchFamily="34" charset="0"/>
              </a:rPr>
              <a:t>Bản</a:t>
            </a:r>
            <a:endParaRPr lang="en-US" sz="2000" b="1" dirty="0">
              <a:solidFill>
                <a:schemeClr val="bg1"/>
              </a:solidFill>
              <a:latin typeface="+mj-lt"/>
              <a:ea typeface="Roboto" pitchFamily="2" charset="0"/>
              <a:cs typeface="Arial" panose="020B0604020202020204" pitchFamily="34" charset="0"/>
            </a:endParaRPr>
          </a:p>
        </p:txBody>
      </p:sp>
      <p:pic>
        <p:nvPicPr>
          <p:cNvPr id="1026" name="Picture 2" descr="https://aptech-danang.edu.vn/Content/ace/images/banner-sm.jp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 y="4739"/>
            <a:ext cx="2727799" cy="665112"/>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userDrawn="1"/>
        </p:nvSpPr>
        <p:spPr>
          <a:xfrm>
            <a:off x="301925" y="1290010"/>
            <a:ext cx="8454964" cy="27432"/>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sz="quarter" idx="13" hasCustomPrompt="1"/>
          </p:nvPr>
        </p:nvSpPr>
        <p:spPr>
          <a:xfrm>
            <a:off x="301925" y="851289"/>
            <a:ext cx="8454964" cy="424732"/>
          </a:xfrm>
          <a:noFill/>
        </p:spPr>
        <p:txBody>
          <a:bodyPr wrap="square" rtlCol="0">
            <a:spAutoFit/>
          </a:bodyPr>
          <a:lstStyle>
            <a:lvl1pPr marL="0" indent="0">
              <a:buNone/>
              <a:defRPr lang="en-US" sz="2400" b="1" dirty="0" smtClean="0">
                <a:solidFill>
                  <a:srgbClr val="64C7E9"/>
                </a:solidFill>
                <a:ea typeface="Roboto" pitchFamily="2" charset="0"/>
              </a:defRPr>
            </a:lvl1pPr>
          </a:lstStyle>
          <a:p>
            <a:pPr marL="0" lvl="0"/>
            <a:r>
              <a:rPr lang="en-US" dirty="0" smtClean="0"/>
              <a:t>Tittle</a:t>
            </a:r>
          </a:p>
        </p:txBody>
      </p:sp>
    </p:spTree>
    <p:extLst>
      <p:ext uri="{BB962C8B-B14F-4D97-AF65-F5344CB8AC3E}">
        <p14:creationId xmlns:p14="http://schemas.microsoft.com/office/powerpoint/2010/main" val="351256245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7" name="Rectangle 6"/>
          <p:cNvSpPr/>
          <p:nvPr userDrawn="1"/>
        </p:nvSpPr>
        <p:spPr>
          <a:xfrm>
            <a:off x="0" y="2"/>
            <a:ext cx="9144000" cy="669849"/>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userDrawn="1"/>
        </p:nvSpPr>
        <p:spPr>
          <a:xfrm>
            <a:off x="0" y="6648450"/>
            <a:ext cx="9144000" cy="209550"/>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Slide Number Placeholder 5"/>
          <p:cNvSpPr>
            <a:spLocks noGrp="1"/>
          </p:cNvSpPr>
          <p:nvPr>
            <p:ph type="sldNum" sz="quarter" idx="12"/>
          </p:nvPr>
        </p:nvSpPr>
        <p:spPr>
          <a:xfrm>
            <a:off x="7919049" y="6648451"/>
            <a:ext cx="837841" cy="209551"/>
          </a:xfrm>
        </p:spPr>
        <p:txBody>
          <a:bodyPr/>
          <a:lstStyle>
            <a:lvl1pPr>
              <a:defRPr>
                <a:solidFill>
                  <a:schemeClr val="bg1"/>
                </a:solidFill>
              </a:defRPr>
            </a:lvl1pPr>
          </a:lstStyle>
          <a:p>
            <a:fld id="{7D9EC917-02A2-4152-9EE3-DFE2775A77C7}" type="slidenum">
              <a:rPr lang="en-US" smtClean="0"/>
              <a:pPr/>
              <a:t>‹#›</a:t>
            </a:fld>
            <a:endParaRPr lang="en-US"/>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524626" y="-1"/>
            <a:ext cx="2619375" cy="361950"/>
          </a:xfrm>
          <a:prstGeom prst="rect">
            <a:avLst/>
          </a:prstGeom>
        </p:spPr>
      </p:pic>
      <p:sp>
        <p:nvSpPr>
          <p:cNvPr id="12" name="TextBox 11"/>
          <p:cNvSpPr txBox="1"/>
          <p:nvPr userDrawn="1"/>
        </p:nvSpPr>
        <p:spPr>
          <a:xfrm>
            <a:off x="5169831" y="134871"/>
            <a:ext cx="3662060" cy="400110"/>
          </a:xfrm>
          <a:prstGeom prst="rect">
            <a:avLst/>
          </a:prstGeom>
          <a:noFill/>
        </p:spPr>
        <p:txBody>
          <a:bodyPr wrap="square" rtlCol="0">
            <a:spAutoFit/>
          </a:bodyPr>
          <a:lstStyle/>
          <a:p>
            <a:r>
              <a:rPr lang="en-US" sz="2000" b="1" dirty="0" smtClean="0">
                <a:solidFill>
                  <a:schemeClr val="bg1"/>
                </a:solidFill>
                <a:latin typeface="+mj-lt"/>
                <a:ea typeface="Roboto" pitchFamily="2" charset="0"/>
                <a:cs typeface="Arial" panose="020B0604020202020204" pitchFamily="34" charset="0"/>
              </a:rPr>
              <a:t>Học</a:t>
            </a:r>
            <a:r>
              <a:rPr lang="en-US" sz="2000" b="1" baseline="0" dirty="0" smtClean="0">
                <a:solidFill>
                  <a:schemeClr val="bg1"/>
                </a:solidFill>
                <a:latin typeface="+mj-lt"/>
                <a:ea typeface="Roboto" pitchFamily="2" charset="0"/>
                <a:cs typeface="Arial" panose="020B0604020202020204" pitchFamily="34" charset="0"/>
              </a:rPr>
              <a:t> l</a:t>
            </a:r>
            <a:r>
              <a:rPr lang="en-US" sz="2000" b="1" dirty="0" smtClean="0">
                <a:solidFill>
                  <a:schemeClr val="bg1"/>
                </a:solidFill>
                <a:latin typeface="+mj-lt"/>
                <a:ea typeface="Roboto" pitchFamily="2" charset="0"/>
                <a:cs typeface="Arial" panose="020B0604020202020204" pitchFamily="34" charset="0"/>
              </a:rPr>
              <a:t>ập</a:t>
            </a:r>
            <a:r>
              <a:rPr lang="en-US" sz="2000" b="1" baseline="0" dirty="0" smtClean="0">
                <a:solidFill>
                  <a:schemeClr val="bg1"/>
                </a:solidFill>
                <a:latin typeface="+mj-lt"/>
                <a:ea typeface="Roboto" pitchFamily="2" charset="0"/>
                <a:cs typeface="Arial" panose="020B0604020202020204" pitchFamily="34" charset="0"/>
              </a:rPr>
              <a:t> </a:t>
            </a:r>
            <a:r>
              <a:rPr lang="en-US" sz="2000" b="1" baseline="0" dirty="0" err="1" smtClean="0">
                <a:solidFill>
                  <a:schemeClr val="bg1"/>
                </a:solidFill>
                <a:latin typeface="+mj-lt"/>
                <a:ea typeface="Roboto" pitchFamily="2" charset="0"/>
                <a:cs typeface="Arial" panose="020B0604020202020204" pitchFamily="34" charset="0"/>
              </a:rPr>
              <a:t>trình</a:t>
            </a:r>
            <a:r>
              <a:rPr lang="en-US" sz="2000" b="1" baseline="0" dirty="0" smtClean="0">
                <a:solidFill>
                  <a:schemeClr val="bg1"/>
                </a:solidFill>
                <a:latin typeface="+mj-lt"/>
                <a:ea typeface="Roboto" pitchFamily="2" charset="0"/>
                <a:cs typeface="Arial" panose="020B0604020202020204" pitchFamily="34" charset="0"/>
              </a:rPr>
              <a:t> Python </a:t>
            </a:r>
            <a:r>
              <a:rPr lang="en-US" sz="2000" b="1" baseline="0" dirty="0" err="1" smtClean="0">
                <a:solidFill>
                  <a:schemeClr val="bg1"/>
                </a:solidFill>
                <a:latin typeface="+mj-lt"/>
                <a:ea typeface="Roboto" pitchFamily="2" charset="0"/>
                <a:cs typeface="Arial" panose="020B0604020202020204" pitchFamily="34" charset="0"/>
              </a:rPr>
              <a:t>Cơ</a:t>
            </a:r>
            <a:r>
              <a:rPr lang="en-US" sz="2000" b="1" baseline="0" dirty="0" smtClean="0">
                <a:solidFill>
                  <a:schemeClr val="bg1"/>
                </a:solidFill>
                <a:latin typeface="+mj-lt"/>
                <a:ea typeface="Roboto" pitchFamily="2" charset="0"/>
                <a:cs typeface="Arial" panose="020B0604020202020204" pitchFamily="34" charset="0"/>
              </a:rPr>
              <a:t> </a:t>
            </a:r>
            <a:r>
              <a:rPr lang="en-US" sz="2000" b="1" baseline="0" dirty="0" err="1" smtClean="0">
                <a:solidFill>
                  <a:schemeClr val="bg1"/>
                </a:solidFill>
                <a:latin typeface="+mj-lt"/>
                <a:ea typeface="Roboto" pitchFamily="2" charset="0"/>
                <a:cs typeface="Arial" panose="020B0604020202020204" pitchFamily="34" charset="0"/>
              </a:rPr>
              <a:t>Bản</a:t>
            </a:r>
            <a:endParaRPr lang="en-US" sz="2000" b="1" dirty="0">
              <a:solidFill>
                <a:schemeClr val="bg1"/>
              </a:solidFill>
              <a:latin typeface="+mj-lt"/>
              <a:ea typeface="Roboto" pitchFamily="2" charset="0"/>
              <a:cs typeface="Arial" panose="020B0604020202020204" pitchFamily="34" charset="0"/>
            </a:endParaRPr>
          </a:p>
        </p:txBody>
      </p:sp>
      <p:sp>
        <p:nvSpPr>
          <p:cNvPr id="9" name="Rectangle 8"/>
          <p:cNvSpPr/>
          <p:nvPr userDrawn="1"/>
        </p:nvSpPr>
        <p:spPr>
          <a:xfrm>
            <a:off x="301925" y="1290010"/>
            <a:ext cx="8454964" cy="27432"/>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sz="quarter" idx="13" hasCustomPrompt="1"/>
          </p:nvPr>
        </p:nvSpPr>
        <p:spPr>
          <a:xfrm>
            <a:off x="301925" y="851289"/>
            <a:ext cx="8454964" cy="424732"/>
          </a:xfrm>
          <a:noFill/>
        </p:spPr>
        <p:txBody>
          <a:bodyPr wrap="square" rtlCol="0">
            <a:spAutoFit/>
          </a:bodyPr>
          <a:lstStyle>
            <a:lvl1pPr marL="0" indent="0">
              <a:buNone/>
              <a:defRPr lang="en-US" sz="2400" b="1" dirty="0" smtClean="0">
                <a:solidFill>
                  <a:srgbClr val="64C7E9"/>
                </a:solidFill>
                <a:ea typeface="Roboto" pitchFamily="2" charset="0"/>
              </a:defRPr>
            </a:lvl1pPr>
          </a:lstStyle>
          <a:p>
            <a:pPr marL="0" lvl="0"/>
            <a:r>
              <a:rPr lang="en-US" dirty="0" smtClean="0"/>
              <a:t>Tittle</a:t>
            </a:r>
          </a:p>
        </p:txBody>
      </p:sp>
      <p:grpSp>
        <p:nvGrpSpPr>
          <p:cNvPr id="4" name="Group 3"/>
          <p:cNvGrpSpPr/>
          <p:nvPr userDrawn="1"/>
        </p:nvGrpSpPr>
        <p:grpSpPr>
          <a:xfrm>
            <a:off x="-1" y="0"/>
            <a:ext cx="4016198" cy="669849"/>
            <a:chOff x="-1" y="0"/>
            <a:chExt cx="4016198" cy="669849"/>
          </a:xfrm>
        </p:grpSpPr>
        <p:sp>
          <p:nvSpPr>
            <p:cNvPr id="11" name="Rectangle 10"/>
            <p:cNvSpPr/>
            <p:nvPr userDrawn="1"/>
          </p:nvSpPr>
          <p:spPr>
            <a:xfrm>
              <a:off x="-1" y="0"/>
              <a:ext cx="3346347" cy="669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Right Triangle 1"/>
            <p:cNvSpPr/>
            <p:nvPr userDrawn="1"/>
          </p:nvSpPr>
          <p:spPr>
            <a:xfrm>
              <a:off x="3346348" y="0"/>
              <a:ext cx="669849" cy="669849"/>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7517" y="134871"/>
            <a:ext cx="2696722" cy="534978"/>
          </a:xfrm>
          <a:prstGeom prst="rect">
            <a:avLst/>
          </a:prstGeom>
        </p:spPr>
      </p:pic>
    </p:spTree>
    <p:extLst>
      <p:ext uri="{BB962C8B-B14F-4D97-AF65-F5344CB8AC3E}">
        <p14:creationId xmlns:p14="http://schemas.microsoft.com/office/powerpoint/2010/main" val="3014288838"/>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EC917-02A2-4152-9EE3-DFE2775A77C7}" type="slidenum">
              <a:rPr lang="en-US" smtClean="0"/>
              <a:t>‹#›</a:t>
            </a:fld>
            <a:endParaRPr lang="en-US"/>
          </a:p>
        </p:txBody>
      </p:sp>
    </p:spTree>
    <p:extLst>
      <p:ext uri="{BB962C8B-B14F-4D97-AF65-F5344CB8AC3E}">
        <p14:creationId xmlns:p14="http://schemas.microsoft.com/office/powerpoint/2010/main" val="2732116784"/>
      </p:ext>
    </p:extLst>
  </p:cSld>
  <p:clrMap bg1="lt1" tx1="dk1" bg2="lt2" tx2="dk2" accent1="accent1" accent2="accent2" accent3="accent3" accent4="accent4" accent5="accent5" accent6="accent6" hlink="hlink" folHlink="folHlink"/>
  <p:sldLayoutIdLst>
    <p:sldLayoutId id="2147483661" r:id="rId1"/>
    <p:sldLayoutId id="2147483673" r:id="rId2"/>
    <p:sldLayoutId id="2147483674" r:id="rId3"/>
    <p:sldLayoutId id="2147483675" r:id="rId4"/>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www.w3schools.com/python/python_conditions.asp" TargetMode="External"/><Relationship Id="rId2" Type="http://schemas.openxmlformats.org/officeDocument/2006/relationships/image" Target="../media/image6.png"/><Relationship Id="rId1" Type="http://schemas.openxmlformats.org/officeDocument/2006/relationships/slideLayout" Target="../slideLayouts/slideLayout3.xml"/><Relationship Id="rId4" Type="http://schemas.openxmlformats.org/officeDocument/2006/relationships/hyperlink" Target="https://www.w3schools.com/python/python_booleans.asp"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882502"/>
            <a:ext cx="9144000" cy="1924493"/>
          </a:xfrm>
          <a:prstGeom prst="rect">
            <a:avLst/>
          </a:prstGeom>
          <a:solidFill>
            <a:srgbClr val="FFC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3032185" y="3398810"/>
            <a:ext cx="3079630" cy="646331"/>
          </a:xfrm>
          <a:prstGeom prst="rect">
            <a:avLst/>
          </a:prstGeom>
          <a:noFill/>
        </p:spPr>
        <p:txBody>
          <a:bodyPr wrap="square" rtlCol="0">
            <a:spAutoFit/>
          </a:bodyPr>
          <a:lstStyle/>
          <a:p>
            <a:pPr algn="ctr"/>
            <a:r>
              <a:rPr lang="en-US" sz="3600" b="1" dirty="0">
                <a:solidFill>
                  <a:schemeClr val="bg1"/>
                </a:solidFill>
              </a:rPr>
              <a:t>BÀI </a:t>
            </a:r>
            <a:r>
              <a:rPr lang="en-US" sz="3600" b="1" dirty="0" smtClean="0">
                <a:solidFill>
                  <a:schemeClr val="bg1"/>
                </a:solidFill>
              </a:rPr>
              <a:t>3</a:t>
            </a:r>
            <a:endParaRPr lang="en-US" sz="3600" b="1" dirty="0">
              <a:solidFill>
                <a:schemeClr val="bg1"/>
              </a:solidFill>
            </a:endParaRPr>
          </a:p>
        </p:txBody>
      </p:sp>
      <p:sp>
        <p:nvSpPr>
          <p:cNvPr id="7" name="TextBox 6"/>
          <p:cNvSpPr txBox="1"/>
          <p:nvPr/>
        </p:nvSpPr>
        <p:spPr>
          <a:xfrm>
            <a:off x="1137019" y="4179138"/>
            <a:ext cx="6869962" cy="1323439"/>
          </a:xfrm>
          <a:prstGeom prst="rect">
            <a:avLst/>
          </a:prstGeom>
          <a:noFill/>
        </p:spPr>
        <p:txBody>
          <a:bodyPr wrap="square" rtlCol="0">
            <a:spAutoFit/>
          </a:bodyPr>
          <a:lstStyle/>
          <a:p>
            <a:pPr algn="ctr"/>
            <a:r>
              <a:rPr lang="en-US" sz="4000" b="1" dirty="0" err="1" smtClean="0">
                <a:solidFill>
                  <a:schemeClr val="bg1"/>
                </a:solidFill>
                <a:ea typeface="Roboto" pitchFamily="2" charset="0"/>
              </a:rPr>
              <a:t>Kiểu</a:t>
            </a:r>
            <a:r>
              <a:rPr lang="en-US" sz="4000" b="1" dirty="0" smtClean="0">
                <a:solidFill>
                  <a:schemeClr val="bg1"/>
                </a:solidFill>
                <a:ea typeface="Roboto" pitchFamily="2" charset="0"/>
              </a:rPr>
              <a:t> </a:t>
            </a:r>
            <a:r>
              <a:rPr lang="en-US" sz="4000" b="1" dirty="0" err="1" smtClean="0">
                <a:solidFill>
                  <a:schemeClr val="bg1"/>
                </a:solidFill>
                <a:ea typeface="Roboto" pitchFamily="2" charset="0"/>
              </a:rPr>
              <a:t>dữ</a:t>
            </a:r>
            <a:r>
              <a:rPr lang="en-US" sz="4000" b="1" dirty="0" smtClean="0">
                <a:solidFill>
                  <a:schemeClr val="bg1"/>
                </a:solidFill>
                <a:ea typeface="Roboto" pitchFamily="2" charset="0"/>
              </a:rPr>
              <a:t> </a:t>
            </a:r>
            <a:r>
              <a:rPr lang="en-US" sz="4000" b="1" dirty="0" err="1" smtClean="0">
                <a:solidFill>
                  <a:schemeClr val="bg1"/>
                </a:solidFill>
                <a:ea typeface="Roboto" pitchFamily="2" charset="0"/>
              </a:rPr>
              <a:t>liệu</a:t>
            </a:r>
            <a:r>
              <a:rPr lang="en-US" sz="4000" b="1" dirty="0" smtClean="0">
                <a:solidFill>
                  <a:schemeClr val="bg1"/>
                </a:solidFill>
                <a:ea typeface="Roboto" pitchFamily="2" charset="0"/>
              </a:rPr>
              <a:t> Logical </a:t>
            </a:r>
            <a:r>
              <a:rPr lang="en-US" sz="4000" b="1" dirty="0" err="1" smtClean="0">
                <a:solidFill>
                  <a:schemeClr val="bg1"/>
                </a:solidFill>
                <a:ea typeface="Roboto" pitchFamily="2" charset="0"/>
              </a:rPr>
              <a:t>và</a:t>
            </a:r>
            <a:r>
              <a:rPr lang="en-US" sz="4000" b="1" dirty="0" smtClean="0">
                <a:solidFill>
                  <a:schemeClr val="bg1"/>
                </a:solidFill>
                <a:ea typeface="Roboto" pitchFamily="2" charset="0"/>
              </a:rPr>
              <a:t> </a:t>
            </a:r>
          </a:p>
          <a:p>
            <a:pPr algn="ctr"/>
            <a:r>
              <a:rPr lang="en-US" sz="4000" b="1" dirty="0" err="1" smtClean="0">
                <a:solidFill>
                  <a:schemeClr val="bg1"/>
                </a:solidFill>
                <a:ea typeface="Roboto" pitchFamily="2" charset="0"/>
              </a:rPr>
              <a:t>Câu</a:t>
            </a:r>
            <a:r>
              <a:rPr lang="en-US" sz="4000" b="1" dirty="0" smtClean="0">
                <a:solidFill>
                  <a:schemeClr val="bg1"/>
                </a:solidFill>
                <a:ea typeface="Roboto" pitchFamily="2" charset="0"/>
              </a:rPr>
              <a:t> lệnh If else</a:t>
            </a:r>
            <a:endParaRPr lang="en-US" sz="4000" b="1" dirty="0">
              <a:solidFill>
                <a:schemeClr val="bg1"/>
              </a:solidFill>
              <a:ea typeface="Roboto" pitchFamily="2" charset="0"/>
            </a:endParaRPr>
          </a:p>
        </p:txBody>
      </p:sp>
      <p:pic>
        <p:nvPicPr>
          <p:cNvPr id="2050" name="Picture 2" descr="https://aptech-danang.edu.vn/Content/ace/images/banner-sm.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8978" y="1263702"/>
            <a:ext cx="4766044" cy="11620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34682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a:t>
            </a:fld>
            <a:endParaRPr lang="en-US"/>
          </a:p>
        </p:txBody>
      </p:sp>
      <p:sp>
        <p:nvSpPr>
          <p:cNvPr id="3" name="Text Placeholder 2"/>
          <p:cNvSpPr>
            <a:spLocks noGrp="1"/>
          </p:cNvSpPr>
          <p:nvPr>
            <p:ph type="body" sz="quarter" idx="13"/>
          </p:nvPr>
        </p:nvSpPr>
        <p:spPr>
          <a:xfrm>
            <a:off x="301926" y="797441"/>
            <a:ext cx="8454964" cy="424732"/>
          </a:xfrm>
        </p:spPr>
        <p:txBody>
          <a:bodyPr/>
          <a:lstStyle/>
          <a:p>
            <a:r>
              <a:rPr lang="en-US" dirty="0" err="1" smtClean="0"/>
              <a:t>Tóm</a:t>
            </a:r>
            <a:r>
              <a:rPr lang="en-US" dirty="0" smtClean="0"/>
              <a:t> </a:t>
            </a:r>
            <a:r>
              <a:rPr lang="en-US" dirty="0" err="1" smtClean="0"/>
              <a:t>Tắt</a:t>
            </a:r>
            <a:r>
              <a:rPr lang="en-US" dirty="0" smtClean="0"/>
              <a:t> </a:t>
            </a:r>
            <a:r>
              <a:rPr lang="en-US" dirty="0" err="1" smtClean="0"/>
              <a:t>Nội</a:t>
            </a:r>
            <a:r>
              <a:rPr lang="en-US" dirty="0" smtClean="0"/>
              <a:t> Dung</a:t>
            </a:r>
            <a:endParaRPr lang="en-US" dirty="0"/>
          </a:p>
        </p:txBody>
      </p:sp>
      <p:sp>
        <p:nvSpPr>
          <p:cNvPr id="4" name="Oval 3"/>
          <p:cNvSpPr/>
          <p:nvPr/>
        </p:nvSpPr>
        <p:spPr>
          <a:xfrm>
            <a:off x="602143" y="2356514"/>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1</a:t>
            </a:r>
            <a:endParaRPr lang="en-US" b="1" dirty="0"/>
          </a:p>
        </p:txBody>
      </p:sp>
      <p:sp>
        <p:nvSpPr>
          <p:cNvPr id="7" name="Oval 6"/>
          <p:cNvSpPr/>
          <p:nvPr/>
        </p:nvSpPr>
        <p:spPr>
          <a:xfrm>
            <a:off x="602143" y="3100793"/>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2</a:t>
            </a:r>
          </a:p>
        </p:txBody>
      </p:sp>
      <p:sp>
        <p:nvSpPr>
          <p:cNvPr id="8" name="TextBox 7"/>
          <p:cNvSpPr txBox="1"/>
          <p:nvPr/>
        </p:nvSpPr>
        <p:spPr>
          <a:xfrm>
            <a:off x="1201479" y="2427030"/>
            <a:ext cx="5178056" cy="369332"/>
          </a:xfrm>
          <a:prstGeom prst="rect">
            <a:avLst/>
          </a:prstGeom>
          <a:noFill/>
        </p:spPr>
        <p:txBody>
          <a:bodyPr wrap="square" rtlCol="0">
            <a:spAutoFit/>
          </a:bodyPr>
          <a:lstStyle/>
          <a:p>
            <a:r>
              <a:rPr lang="en-US" dirty="0" err="1" smtClean="0"/>
              <a:t>Tìm</a:t>
            </a:r>
            <a:r>
              <a:rPr lang="en-US" dirty="0" smtClean="0"/>
              <a:t> </a:t>
            </a:r>
            <a:r>
              <a:rPr lang="en-US" dirty="0" err="1" smtClean="0"/>
              <a:t>hiểu</a:t>
            </a:r>
            <a:r>
              <a:rPr lang="en-US" dirty="0" smtClean="0"/>
              <a:t> </a:t>
            </a:r>
            <a:r>
              <a:rPr lang="en-US" dirty="0" err="1" smtClean="0"/>
              <a:t>về</a:t>
            </a:r>
            <a:r>
              <a:rPr lang="en-US" dirty="0" smtClean="0"/>
              <a:t> </a:t>
            </a:r>
            <a:r>
              <a:rPr lang="en-US" dirty="0" err="1" smtClean="0"/>
              <a:t>toán</a:t>
            </a:r>
            <a:r>
              <a:rPr lang="en-US" dirty="0" smtClean="0"/>
              <a:t> </a:t>
            </a:r>
            <a:r>
              <a:rPr lang="en-US" dirty="0" err="1" smtClean="0"/>
              <a:t>tử</a:t>
            </a:r>
            <a:r>
              <a:rPr lang="en-US" dirty="0" smtClean="0"/>
              <a:t> Logical </a:t>
            </a:r>
            <a:r>
              <a:rPr lang="en-US" dirty="0" err="1" smtClean="0"/>
              <a:t>trong</a:t>
            </a:r>
            <a:r>
              <a:rPr lang="en-US" dirty="0" smtClean="0"/>
              <a:t> Python</a:t>
            </a:r>
            <a:endParaRPr lang="en-US" dirty="0"/>
          </a:p>
        </p:txBody>
      </p:sp>
      <p:sp>
        <p:nvSpPr>
          <p:cNvPr id="11" name="Oval 10"/>
          <p:cNvSpPr/>
          <p:nvPr/>
        </p:nvSpPr>
        <p:spPr>
          <a:xfrm>
            <a:off x="602143" y="3823807"/>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3</a:t>
            </a:r>
            <a:endParaRPr lang="en-US" b="1" dirty="0"/>
          </a:p>
        </p:txBody>
      </p:sp>
      <p:sp>
        <p:nvSpPr>
          <p:cNvPr id="12" name="TextBox 11"/>
          <p:cNvSpPr txBox="1"/>
          <p:nvPr/>
        </p:nvSpPr>
        <p:spPr>
          <a:xfrm>
            <a:off x="1201479" y="3136051"/>
            <a:ext cx="5178056" cy="369332"/>
          </a:xfrm>
          <a:prstGeom prst="rect">
            <a:avLst/>
          </a:prstGeom>
          <a:noFill/>
        </p:spPr>
        <p:txBody>
          <a:bodyPr wrap="square" rtlCol="0">
            <a:spAutoFit/>
          </a:bodyPr>
          <a:lstStyle/>
          <a:p>
            <a:r>
              <a:rPr lang="en-US" dirty="0" err="1" smtClean="0"/>
              <a:t>Tìm</a:t>
            </a:r>
            <a:r>
              <a:rPr lang="en-US" dirty="0" smtClean="0"/>
              <a:t> </a:t>
            </a:r>
            <a:r>
              <a:rPr lang="en-US" dirty="0" err="1" smtClean="0"/>
              <a:t>hiểu</a:t>
            </a:r>
            <a:r>
              <a:rPr lang="en-US" dirty="0" smtClean="0"/>
              <a:t> </a:t>
            </a:r>
            <a:r>
              <a:rPr lang="en-US" dirty="0" err="1" smtClean="0"/>
              <a:t>về</a:t>
            </a:r>
            <a:r>
              <a:rPr lang="en-US" dirty="0" smtClean="0"/>
              <a:t> </a:t>
            </a:r>
            <a:r>
              <a:rPr lang="en-US" dirty="0" err="1" smtClean="0"/>
              <a:t>câu</a:t>
            </a:r>
            <a:r>
              <a:rPr lang="en-US" dirty="0" smtClean="0"/>
              <a:t> </a:t>
            </a:r>
            <a:r>
              <a:rPr lang="en-US" dirty="0" err="1" smtClean="0"/>
              <a:t>lệnh</a:t>
            </a:r>
            <a:r>
              <a:rPr lang="en-US" dirty="0" smtClean="0"/>
              <a:t> </a:t>
            </a:r>
            <a:r>
              <a:rPr lang="en-US" dirty="0" err="1" smtClean="0"/>
              <a:t>điểu</a:t>
            </a:r>
            <a:r>
              <a:rPr lang="en-US" dirty="0" smtClean="0"/>
              <a:t> </a:t>
            </a:r>
            <a:r>
              <a:rPr lang="en-US" dirty="0" err="1" smtClean="0"/>
              <a:t>kiện</a:t>
            </a:r>
            <a:r>
              <a:rPr lang="en-US" dirty="0" smtClean="0"/>
              <a:t> </a:t>
            </a:r>
            <a:r>
              <a:rPr lang="en-US" dirty="0" err="1" smtClean="0"/>
              <a:t>rẻ</a:t>
            </a:r>
            <a:r>
              <a:rPr lang="en-US" dirty="0" smtClean="0"/>
              <a:t> </a:t>
            </a:r>
            <a:r>
              <a:rPr lang="en-US" dirty="0" err="1" smtClean="0"/>
              <a:t>nhánh</a:t>
            </a:r>
            <a:r>
              <a:rPr lang="en-US" dirty="0"/>
              <a:t> </a:t>
            </a:r>
            <a:r>
              <a:rPr lang="en-US" dirty="0" smtClean="0"/>
              <a:t>if else</a:t>
            </a:r>
            <a:endParaRPr lang="en-US" dirty="0"/>
          </a:p>
        </p:txBody>
      </p:sp>
      <p:sp>
        <p:nvSpPr>
          <p:cNvPr id="14" name="TextBox 13"/>
          <p:cNvSpPr txBox="1"/>
          <p:nvPr/>
        </p:nvSpPr>
        <p:spPr>
          <a:xfrm>
            <a:off x="516657" y="1526604"/>
            <a:ext cx="8240233" cy="369332"/>
          </a:xfrm>
          <a:prstGeom prst="rect">
            <a:avLst/>
          </a:prstGeom>
          <a:noFill/>
        </p:spPr>
        <p:txBody>
          <a:bodyPr wrap="square" rtlCol="0">
            <a:spAutoFit/>
          </a:bodyPr>
          <a:lstStyle/>
          <a:p>
            <a:r>
              <a:rPr lang="en-US" dirty="0" err="1" smtClean="0"/>
              <a:t>Trong</a:t>
            </a:r>
            <a:r>
              <a:rPr lang="en-US" dirty="0" smtClean="0"/>
              <a:t> </a:t>
            </a:r>
            <a:r>
              <a:rPr lang="en-US" dirty="0" err="1" smtClean="0"/>
              <a:t>bài</a:t>
            </a:r>
            <a:r>
              <a:rPr lang="en-US" dirty="0" smtClean="0"/>
              <a:t> </a:t>
            </a:r>
            <a:r>
              <a:rPr lang="en-US" dirty="0" err="1" smtClean="0"/>
              <a:t>học</a:t>
            </a:r>
            <a:r>
              <a:rPr lang="en-US" dirty="0" smtClean="0"/>
              <a:t> </a:t>
            </a:r>
            <a:r>
              <a:rPr lang="en-US" dirty="0" err="1" smtClean="0"/>
              <a:t>này</a:t>
            </a:r>
            <a:r>
              <a:rPr lang="en-US" dirty="0" smtClean="0"/>
              <a:t> </a:t>
            </a:r>
            <a:r>
              <a:rPr lang="en-US" dirty="0" err="1" smtClean="0"/>
              <a:t>chúng</a:t>
            </a:r>
            <a:r>
              <a:rPr lang="en-US" dirty="0" smtClean="0"/>
              <a:t> ta </a:t>
            </a:r>
            <a:r>
              <a:rPr lang="en-US" dirty="0" err="1" smtClean="0"/>
              <a:t>sẽ</a:t>
            </a:r>
            <a:r>
              <a:rPr lang="en-US" dirty="0" smtClean="0"/>
              <a:t> </a:t>
            </a:r>
            <a:r>
              <a:rPr lang="en-US" dirty="0" err="1" smtClean="0"/>
              <a:t>đi</a:t>
            </a:r>
            <a:r>
              <a:rPr lang="en-US" dirty="0" smtClean="0"/>
              <a:t> </a:t>
            </a:r>
            <a:r>
              <a:rPr lang="en-US" dirty="0" err="1" smtClean="0"/>
              <a:t>tìm</a:t>
            </a:r>
            <a:r>
              <a:rPr lang="en-US" dirty="0" smtClean="0"/>
              <a:t> </a:t>
            </a:r>
            <a:r>
              <a:rPr lang="en-US" dirty="0" err="1" smtClean="0"/>
              <a:t>hiều</a:t>
            </a:r>
            <a:r>
              <a:rPr lang="en-US" dirty="0" smtClean="0"/>
              <a:t> </a:t>
            </a:r>
            <a:r>
              <a:rPr lang="en-US" dirty="0" err="1" smtClean="0"/>
              <a:t>lần</a:t>
            </a:r>
            <a:r>
              <a:rPr lang="en-US" dirty="0" smtClean="0"/>
              <a:t> </a:t>
            </a:r>
            <a:r>
              <a:rPr lang="en-US" dirty="0" err="1" smtClean="0"/>
              <a:t>lượt</a:t>
            </a:r>
            <a:r>
              <a:rPr lang="en-US" dirty="0" smtClean="0"/>
              <a:t> </a:t>
            </a:r>
            <a:r>
              <a:rPr lang="en-US" dirty="0" err="1" smtClean="0"/>
              <a:t>các</a:t>
            </a:r>
            <a:r>
              <a:rPr lang="en-US" dirty="0" smtClean="0"/>
              <a:t> </a:t>
            </a:r>
            <a:r>
              <a:rPr lang="en-US" dirty="0" err="1" smtClean="0"/>
              <a:t>nội</a:t>
            </a:r>
            <a:r>
              <a:rPr lang="en-US" dirty="0" smtClean="0"/>
              <a:t> dung</a:t>
            </a:r>
            <a:endParaRPr lang="en-US" dirty="0"/>
          </a:p>
        </p:txBody>
      </p:sp>
      <p:sp>
        <p:nvSpPr>
          <p:cNvPr id="13" name="TextBox 12"/>
          <p:cNvSpPr txBox="1"/>
          <p:nvPr/>
        </p:nvSpPr>
        <p:spPr>
          <a:xfrm>
            <a:off x="1201479" y="3889585"/>
            <a:ext cx="5178056" cy="369332"/>
          </a:xfrm>
          <a:prstGeom prst="rect">
            <a:avLst/>
          </a:prstGeom>
          <a:noFill/>
        </p:spPr>
        <p:txBody>
          <a:bodyPr wrap="square" rtlCol="0">
            <a:spAutoFit/>
          </a:bodyPr>
          <a:lstStyle/>
          <a:p>
            <a:r>
              <a:rPr lang="en-US"/>
              <a:t>Câu lệnh </a:t>
            </a:r>
            <a:r>
              <a:rPr lang="en-US" b="1"/>
              <a:t>pass</a:t>
            </a:r>
            <a:r>
              <a:rPr lang="en-US"/>
              <a:t> trong Python</a:t>
            </a:r>
          </a:p>
        </p:txBody>
      </p:sp>
    </p:spTree>
    <p:extLst>
      <p:ext uri="{BB962C8B-B14F-4D97-AF65-F5344CB8AC3E}">
        <p14:creationId xmlns:p14="http://schemas.microsoft.com/office/powerpoint/2010/main" val="193581382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3</a:t>
            </a:fld>
            <a:endParaRPr lang="en-US"/>
          </a:p>
        </p:txBody>
      </p:sp>
      <p:sp>
        <p:nvSpPr>
          <p:cNvPr id="3" name="Text Placeholder 2"/>
          <p:cNvSpPr>
            <a:spLocks noGrp="1"/>
          </p:cNvSpPr>
          <p:nvPr>
            <p:ph type="body" sz="quarter" idx="13"/>
          </p:nvPr>
        </p:nvSpPr>
        <p:spPr/>
        <p:txBody>
          <a:bodyPr/>
          <a:lstStyle/>
          <a:p>
            <a:r>
              <a:rPr lang="en-US" dirty="0" smtClean="0"/>
              <a:t>3.2 </a:t>
            </a:r>
            <a:r>
              <a:rPr lang="en-US" dirty="0" err="1" smtClean="0"/>
              <a:t>Toán</a:t>
            </a:r>
            <a:r>
              <a:rPr lang="en-US" dirty="0" smtClean="0"/>
              <a:t> </a:t>
            </a:r>
            <a:r>
              <a:rPr lang="en-US" dirty="0" err="1" smtClean="0"/>
              <a:t>tử</a:t>
            </a:r>
            <a:r>
              <a:rPr lang="en-US" dirty="0" smtClean="0"/>
              <a:t> Logic </a:t>
            </a:r>
            <a:r>
              <a:rPr lang="en-US" dirty="0" err="1" smtClean="0"/>
              <a:t>trong</a:t>
            </a:r>
            <a:r>
              <a:rPr lang="en-US" dirty="0" smtClean="0"/>
              <a:t> Python</a:t>
            </a:r>
            <a:endParaRPr lang="en-US" dirty="0"/>
          </a:p>
        </p:txBody>
      </p:sp>
      <p:pic>
        <p:nvPicPr>
          <p:cNvPr id="4"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80670"/>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041993" y="1621244"/>
            <a:ext cx="7068814" cy="369332"/>
          </a:xfrm>
          <a:prstGeom prst="rect">
            <a:avLst/>
          </a:prstGeom>
          <a:noFill/>
        </p:spPr>
        <p:txBody>
          <a:bodyPr wrap="square" rtlCol="0">
            <a:spAutoFit/>
          </a:bodyPr>
          <a:lstStyle/>
          <a:p>
            <a:r>
              <a:rPr lang="en-US" b="1" dirty="0" err="1" smtClean="0"/>
              <a:t>Dữ</a:t>
            </a:r>
            <a:r>
              <a:rPr lang="en-US" b="1" dirty="0" smtClean="0"/>
              <a:t> </a:t>
            </a:r>
            <a:r>
              <a:rPr lang="en-US" b="1" dirty="0" err="1" smtClean="0"/>
              <a:t>liệu</a:t>
            </a:r>
            <a:r>
              <a:rPr lang="en-US" b="1" dirty="0" smtClean="0"/>
              <a:t> </a:t>
            </a:r>
            <a:r>
              <a:rPr lang="en-US" b="1" dirty="0" smtClean="0">
                <a:solidFill>
                  <a:srgbClr val="FF0000"/>
                </a:solidFill>
              </a:rPr>
              <a:t>Logic</a:t>
            </a:r>
            <a:r>
              <a:rPr lang="en-US" b="1" dirty="0" smtClean="0"/>
              <a:t> </a:t>
            </a:r>
            <a:r>
              <a:rPr lang="en-US" b="1" dirty="0" err="1" smtClean="0"/>
              <a:t>là</a:t>
            </a:r>
            <a:r>
              <a:rPr lang="en-US" b="1" dirty="0" smtClean="0"/>
              <a:t> </a:t>
            </a:r>
            <a:r>
              <a:rPr lang="en-US" b="1" dirty="0" err="1" smtClean="0"/>
              <a:t>gì</a:t>
            </a:r>
            <a:r>
              <a:rPr lang="en-US" b="1" dirty="0" smtClean="0"/>
              <a:t> ?</a:t>
            </a:r>
            <a:endParaRPr lang="en-US" b="1" dirty="0">
              <a:solidFill>
                <a:srgbClr val="FF0000"/>
              </a:solidFill>
            </a:endParaRPr>
          </a:p>
        </p:txBody>
      </p:sp>
      <p:sp>
        <p:nvSpPr>
          <p:cNvPr id="6" name="TextBox 5"/>
          <p:cNvSpPr txBox="1"/>
          <p:nvPr/>
        </p:nvSpPr>
        <p:spPr>
          <a:xfrm>
            <a:off x="423467" y="2099432"/>
            <a:ext cx="8333421" cy="646331"/>
          </a:xfrm>
          <a:prstGeom prst="rect">
            <a:avLst/>
          </a:prstGeom>
          <a:noFill/>
        </p:spPr>
        <p:txBody>
          <a:bodyPr wrap="square" rtlCol="0">
            <a:spAutoFit/>
          </a:bodyPr>
          <a:lstStyle/>
          <a:p>
            <a:r>
              <a:rPr lang="en-US" dirty="0" err="1" smtClean="0"/>
              <a:t>Dữ</a:t>
            </a:r>
            <a:r>
              <a:rPr lang="en-US" dirty="0" smtClean="0"/>
              <a:t> </a:t>
            </a:r>
            <a:r>
              <a:rPr lang="en-US" dirty="0" err="1" smtClean="0"/>
              <a:t>liệu</a:t>
            </a:r>
            <a:r>
              <a:rPr lang="en-US" dirty="0" smtClean="0"/>
              <a:t> logic (bool) </a:t>
            </a:r>
            <a:r>
              <a:rPr lang="en-US" dirty="0" err="1" smtClean="0"/>
              <a:t>là</a:t>
            </a:r>
            <a:r>
              <a:rPr lang="en-US" dirty="0" smtClean="0"/>
              <a:t> </a:t>
            </a:r>
            <a:r>
              <a:rPr lang="en-US" dirty="0" err="1" smtClean="0"/>
              <a:t>loại</a:t>
            </a:r>
            <a:r>
              <a:rPr lang="en-US" dirty="0" smtClean="0"/>
              <a:t> </a:t>
            </a:r>
            <a:r>
              <a:rPr lang="en-US" dirty="0" err="1" smtClean="0"/>
              <a:t>dữ</a:t>
            </a:r>
            <a:r>
              <a:rPr lang="en-US" dirty="0" smtClean="0"/>
              <a:t> </a:t>
            </a:r>
            <a:r>
              <a:rPr lang="en-US" dirty="0" err="1" smtClean="0"/>
              <a:t>liệu</a:t>
            </a:r>
            <a:r>
              <a:rPr lang="en-US" dirty="0" smtClean="0"/>
              <a:t> </a:t>
            </a:r>
            <a:r>
              <a:rPr lang="en-US" dirty="0" err="1" smtClean="0"/>
              <a:t>chỉ</a:t>
            </a:r>
            <a:r>
              <a:rPr lang="en-US" dirty="0" smtClean="0"/>
              <a:t> </a:t>
            </a:r>
            <a:r>
              <a:rPr lang="en-US" dirty="0" err="1" smtClean="0"/>
              <a:t>có</a:t>
            </a:r>
            <a:r>
              <a:rPr lang="en-US" dirty="0" smtClean="0"/>
              <a:t> 2 </a:t>
            </a:r>
            <a:r>
              <a:rPr lang="en-US" dirty="0" err="1" smtClean="0"/>
              <a:t>giá</a:t>
            </a:r>
            <a:r>
              <a:rPr lang="en-US" dirty="0" smtClean="0"/>
              <a:t> </a:t>
            </a:r>
            <a:r>
              <a:rPr lang="en-US" dirty="0" err="1" smtClean="0"/>
              <a:t>trị</a:t>
            </a:r>
            <a:r>
              <a:rPr lang="en-US" dirty="0" smtClean="0"/>
              <a:t> </a:t>
            </a:r>
            <a:r>
              <a:rPr lang="en-US" dirty="0" err="1" smtClean="0"/>
              <a:t>Đúng</a:t>
            </a:r>
            <a:r>
              <a:rPr lang="en-US" dirty="0" smtClean="0"/>
              <a:t> (True) </a:t>
            </a:r>
            <a:r>
              <a:rPr lang="en-US" dirty="0" err="1" smtClean="0"/>
              <a:t>và</a:t>
            </a:r>
            <a:r>
              <a:rPr lang="en-US" dirty="0" smtClean="0"/>
              <a:t> Sai (False).</a:t>
            </a:r>
          </a:p>
          <a:p>
            <a:r>
              <a:rPr lang="en-US" dirty="0" err="1" smtClean="0"/>
              <a:t>Dữ</a:t>
            </a:r>
            <a:r>
              <a:rPr lang="en-US" dirty="0" smtClean="0"/>
              <a:t> </a:t>
            </a:r>
            <a:r>
              <a:rPr lang="en-US" dirty="0" err="1" smtClean="0"/>
              <a:t>liệu</a:t>
            </a:r>
            <a:r>
              <a:rPr lang="en-US" dirty="0" smtClean="0"/>
              <a:t> </a:t>
            </a:r>
            <a:r>
              <a:rPr lang="en-US" dirty="0"/>
              <a:t>logic</a:t>
            </a:r>
            <a:r>
              <a:rPr lang="en-US" dirty="0" smtClean="0"/>
              <a:t> </a:t>
            </a:r>
            <a:r>
              <a:rPr lang="en-US" dirty="0" err="1" smtClean="0"/>
              <a:t>được</a:t>
            </a:r>
            <a:r>
              <a:rPr lang="en-US" dirty="0" smtClean="0"/>
              <a:t> </a:t>
            </a:r>
            <a:r>
              <a:rPr lang="en-US" dirty="0" err="1" smtClean="0"/>
              <a:t>dùng</a:t>
            </a:r>
            <a:r>
              <a:rPr lang="en-US" dirty="0" smtClean="0"/>
              <a:t> </a:t>
            </a:r>
            <a:r>
              <a:rPr lang="en-US" dirty="0" err="1" smtClean="0"/>
              <a:t>khi</a:t>
            </a:r>
            <a:r>
              <a:rPr lang="en-US" dirty="0" smtClean="0"/>
              <a:t> </a:t>
            </a:r>
            <a:r>
              <a:rPr lang="en-US" dirty="0" err="1" smtClean="0"/>
              <a:t>mô</a:t>
            </a:r>
            <a:r>
              <a:rPr lang="en-US" dirty="0" smtClean="0"/>
              <a:t> </a:t>
            </a:r>
            <a:r>
              <a:rPr lang="en-US" dirty="0" err="1" smtClean="0"/>
              <a:t>tả</a:t>
            </a:r>
            <a:r>
              <a:rPr lang="en-US" dirty="0" smtClean="0"/>
              <a:t> </a:t>
            </a:r>
            <a:r>
              <a:rPr lang="en-US" dirty="0" err="1" smtClean="0"/>
              <a:t>các</a:t>
            </a:r>
            <a:r>
              <a:rPr lang="en-US" dirty="0" smtClean="0"/>
              <a:t> </a:t>
            </a:r>
            <a:r>
              <a:rPr lang="en-US" dirty="0" err="1" smtClean="0"/>
              <a:t>điều</a:t>
            </a:r>
            <a:r>
              <a:rPr lang="en-US" dirty="0" smtClean="0"/>
              <a:t> </a:t>
            </a:r>
            <a:r>
              <a:rPr lang="en-US" dirty="0" err="1" smtClean="0"/>
              <a:t>kiện</a:t>
            </a:r>
            <a:r>
              <a:rPr lang="en-US" dirty="0" smtClean="0"/>
              <a:t> </a:t>
            </a:r>
            <a:r>
              <a:rPr lang="en-US" dirty="0" err="1" smtClean="0"/>
              <a:t>hoặc</a:t>
            </a:r>
            <a:r>
              <a:rPr lang="en-US" dirty="0" smtClean="0"/>
              <a:t> </a:t>
            </a:r>
            <a:r>
              <a:rPr lang="en-US" dirty="0" err="1" smtClean="0"/>
              <a:t>phép</a:t>
            </a:r>
            <a:r>
              <a:rPr lang="en-US" dirty="0" smtClean="0"/>
              <a:t> so </a:t>
            </a:r>
            <a:r>
              <a:rPr lang="en-US" dirty="0" err="1" smtClean="0"/>
              <a:t>sánh</a:t>
            </a:r>
            <a:r>
              <a:rPr lang="en-US" dirty="0" smtClean="0"/>
              <a:t> </a:t>
            </a:r>
            <a:r>
              <a:rPr lang="en-US" dirty="0" err="1" smtClean="0"/>
              <a:t>số</a:t>
            </a:r>
            <a:r>
              <a:rPr lang="en-US" dirty="0" smtClean="0"/>
              <a:t> </a:t>
            </a:r>
            <a:r>
              <a:rPr lang="en-US" dirty="0" err="1" smtClean="0"/>
              <a:t>hoặc</a:t>
            </a:r>
            <a:r>
              <a:rPr lang="en-US" dirty="0" smtClean="0"/>
              <a:t> </a:t>
            </a:r>
            <a:r>
              <a:rPr lang="en-US" dirty="0" err="1" smtClean="0"/>
              <a:t>chữ</a:t>
            </a:r>
            <a:endParaRPr lang="en-US" dirty="0"/>
          </a:p>
        </p:txBody>
      </p:sp>
      <p:sp>
        <p:nvSpPr>
          <p:cNvPr id="7" name="TextBox 6"/>
          <p:cNvSpPr txBox="1"/>
          <p:nvPr/>
        </p:nvSpPr>
        <p:spPr>
          <a:xfrm>
            <a:off x="423467" y="2864977"/>
            <a:ext cx="8333421" cy="369332"/>
          </a:xfrm>
          <a:prstGeom prst="rect">
            <a:avLst/>
          </a:prstGeom>
          <a:noFill/>
        </p:spPr>
        <p:txBody>
          <a:bodyPr wrap="square" rtlCol="0">
            <a:spAutoFit/>
          </a:bodyPr>
          <a:lstStyle/>
          <a:p>
            <a:r>
              <a:rPr lang="en-US" dirty="0" err="1" smtClean="0"/>
              <a:t>Hàm</a:t>
            </a:r>
            <a:r>
              <a:rPr lang="en-US" dirty="0" smtClean="0"/>
              <a:t> </a:t>
            </a:r>
            <a:r>
              <a:rPr lang="en-US" b="1" dirty="0" smtClean="0"/>
              <a:t>bool() </a:t>
            </a:r>
            <a:r>
              <a:rPr lang="en-US" dirty="0" err="1" smtClean="0"/>
              <a:t>sẽ</a:t>
            </a:r>
            <a:r>
              <a:rPr lang="en-US" dirty="0" smtClean="0"/>
              <a:t> </a:t>
            </a:r>
            <a:r>
              <a:rPr lang="en-US" dirty="0" err="1" smtClean="0"/>
              <a:t>kiểm</a:t>
            </a:r>
            <a:r>
              <a:rPr lang="en-US" dirty="0" smtClean="0"/>
              <a:t> </a:t>
            </a:r>
            <a:r>
              <a:rPr lang="en-US" dirty="0" err="1" smtClean="0"/>
              <a:t>tra</a:t>
            </a:r>
            <a:r>
              <a:rPr lang="en-US" dirty="0" smtClean="0"/>
              <a:t> </a:t>
            </a:r>
            <a:r>
              <a:rPr lang="en-US" dirty="0" err="1" smtClean="0"/>
              <a:t>xem</a:t>
            </a:r>
            <a:r>
              <a:rPr lang="en-US" dirty="0" smtClean="0"/>
              <a:t> </a:t>
            </a:r>
            <a:r>
              <a:rPr lang="en-US" dirty="0" err="1" smtClean="0"/>
              <a:t>giá</a:t>
            </a:r>
            <a:r>
              <a:rPr lang="en-US" dirty="0" smtClean="0"/>
              <a:t> </a:t>
            </a:r>
            <a:r>
              <a:rPr lang="en-US" dirty="0" err="1" smtClean="0"/>
              <a:t>trị</a:t>
            </a:r>
            <a:r>
              <a:rPr lang="en-US" dirty="0" smtClean="0"/>
              <a:t> </a:t>
            </a:r>
            <a:r>
              <a:rPr lang="en-US" dirty="0" err="1" smtClean="0"/>
              <a:t>của</a:t>
            </a:r>
            <a:r>
              <a:rPr lang="en-US" dirty="0" smtClean="0"/>
              <a:t> </a:t>
            </a:r>
            <a:r>
              <a:rPr lang="en-US" dirty="0" err="1" smtClean="0"/>
              <a:t>đối</a:t>
            </a:r>
            <a:r>
              <a:rPr lang="en-US" dirty="0" smtClean="0"/>
              <a:t> </a:t>
            </a:r>
            <a:r>
              <a:rPr lang="en-US" dirty="0" err="1" smtClean="0"/>
              <a:t>số</a:t>
            </a:r>
            <a:r>
              <a:rPr lang="en-US" dirty="0" smtClean="0"/>
              <a:t> </a:t>
            </a:r>
            <a:r>
              <a:rPr lang="en-US" dirty="0" err="1" smtClean="0"/>
              <a:t>truyền</a:t>
            </a:r>
            <a:r>
              <a:rPr lang="en-US" dirty="0" smtClean="0"/>
              <a:t> </a:t>
            </a:r>
            <a:r>
              <a:rPr lang="en-US" dirty="0" err="1" smtClean="0"/>
              <a:t>vào</a:t>
            </a:r>
            <a:r>
              <a:rPr lang="en-US" dirty="0" smtClean="0"/>
              <a:t> </a:t>
            </a:r>
            <a:r>
              <a:rPr lang="en-US" dirty="0" err="1" smtClean="0"/>
              <a:t>là</a:t>
            </a:r>
            <a:r>
              <a:rPr lang="en-US" dirty="0" smtClean="0"/>
              <a:t> True hay False</a:t>
            </a:r>
            <a:endParaRPr lang="en-US" dirty="0"/>
          </a:p>
        </p:txBody>
      </p:sp>
      <p:sp>
        <p:nvSpPr>
          <p:cNvPr id="8" name="Rectangle 7"/>
          <p:cNvSpPr/>
          <p:nvPr/>
        </p:nvSpPr>
        <p:spPr>
          <a:xfrm>
            <a:off x="563525" y="3344403"/>
            <a:ext cx="7899991" cy="109117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63710" y="3495823"/>
            <a:ext cx="7347097" cy="646331"/>
          </a:xfrm>
          <a:prstGeom prst="rect">
            <a:avLst/>
          </a:prstGeom>
          <a:noFill/>
        </p:spPr>
        <p:txBody>
          <a:bodyPr wrap="square" rtlCol="0">
            <a:spAutoFit/>
          </a:bodyPr>
          <a:lstStyle/>
          <a:p>
            <a:r>
              <a:rPr lang="en-US" dirty="0" smtClean="0">
                <a:solidFill>
                  <a:schemeClr val="bg1"/>
                </a:solidFill>
              </a:rPr>
              <a:t>print</a:t>
            </a:r>
            <a:r>
              <a:rPr lang="en-US" dirty="0" smtClean="0">
                <a:solidFill>
                  <a:srgbClr val="FFC500"/>
                </a:solidFill>
              </a:rPr>
              <a:t>(</a:t>
            </a:r>
            <a:r>
              <a:rPr lang="en-US" dirty="0" smtClean="0">
                <a:solidFill>
                  <a:schemeClr val="bg1"/>
                </a:solidFill>
              </a:rPr>
              <a:t>3 &gt; 2</a:t>
            </a:r>
            <a:r>
              <a:rPr lang="en-US" dirty="0" smtClean="0">
                <a:solidFill>
                  <a:srgbClr val="FFC500"/>
                </a:solidFill>
              </a:rPr>
              <a:t>) </a:t>
            </a:r>
          </a:p>
          <a:p>
            <a:r>
              <a:rPr lang="en-US" dirty="0" smtClean="0">
                <a:solidFill>
                  <a:schemeClr val="accent6">
                    <a:lumMod val="75000"/>
                  </a:schemeClr>
                </a:solidFill>
              </a:rPr>
              <a:t># </a:t>
            </a:r>
            <a:r>
              <a:rPr lang="en-US" dirty="0" err="1">
                <a:solidFill>
                  <a:schemeClr val="accent6">
                    <a:lumMod val="75000"/>
                  </a:schemeClr>
                </a:solidFill>
              </a:rPr>
              <a:t>kết</a:t>
            </a:r>
            <a:r>
              <a:rPr lang="en-US" dirty="0">
                <a:solidFill>
                  <a:schemeClr val="accent6">
                    <a:lumMod val="75000"/>
                  </a:schemeClr>
                </a:solidFill>
              </a:rPr>
              <a:t> </a:t>
            </a:r>
            <a:r>
              <a:rPr lang="en-US" dirty="0" err="1">
                <a:solidFill>
                  <a:schemeClr val="accent6">
                    <a:lumMod val="75000"/>
                  </a:schemeClr>
                </a:solidFill>
              </a:rPr>
              <a:t>quả</a:t>
            </a:r>
            <a:r>
              <a:rPr lang="en-US" dirty="0">
                <a:solidFill>
                  <a:schemeClr val="accent6">
                    <a:lumMod val="75000"/>
                  </a:schemeClr>
                </a:solidFill>
              </a:rPr>
              <a:t> </a:t>
            </a:r>
            <a:r>
              <a:rPr lang="en-US" dirty="0" err="1">
                <a:solidFill>
                  <a:schemeClr val="accent6">
                    <a:lumMod val="75000"/>
                  </a:schemeClr>
                </a:solidFill>
              </a:rPr>
              <a:t>cho</a:t>
            </a:r>
            <a:r>
              <a:rPr lang="en-US" dirty="0">
                <a:solidFill>
                  <a:schemeClr val="accent6">
                    <a:lumMod val="75000"/>
                  </a:schemeClr>
                </a:solidFill>
              </a:rPr>
              <a:t> </a:t>
            </a:r>
            <a:r>
              <a:rPr lang="en-US" dirty="0" err="1">
                <a:solidFill>
                  <a:schemeClr val="accent6">
                    <a:lumMod val="75000"/>
                  </a:schemeClr>
                </a:solidFill>
              </a:rPr>
              <a:t>ra</a:t>
            </a:r>
            <a:r>
              <a:rPr lang="en-US" dirty="0">
                <a:solidFill>
                  <a:schemeClr val="accent6">
                    <a:lumMod val="75000"/>
                  </a:schemeClr>
                </a:solidFill>
              </a:rPr>
              <a:t> </a:t>
            </a:r>
            <a:r>
              <a:rPr lang="en-US" dirty="0" err="1">
                <a:solidFill>
                  <a:schemeClr val="accent6">
                    <a:lumMod val="75000"/>
                  </a:schemeClr>
                </a:solidFill>
              </a:rPr>
              <a:t>một</a:t>
            </a:r>
            <a:r>
              <a:rPr lang="en-US" dirty="0">
                <a:solidFill>
                  <a:schemeClr val="accent6">
                    <a:lumMod val="75000"/>
                  </a:schemeClr>
                </a:solidFill>
              </a:rPr>
              <a:t> </a:t>
            </a:r>
            <a:r>
              <a:rPr lang="en-US" dirty="0" err="1">
                <a:solidFill>
                  <a:schemeClr val="accent6">
                    <a:lumMod val="75000"/>
                  </a:schemeClr>
                </a:solidFill>
              </a:rPr>
              <a:t>số</a:t>
            </a:r>
            <a:r>
              <a:rPr lang="en-US" dirty="0">
                <a:solidFill>
                  <a:schemeClr val="accent6">
                    <a:lumMod val="75000"/>
                  </a:schemeClr>
                </a:solidFill>
              </a:rPr>
              <a:t> : </a:t>
            </a:r>
            <a:r>
              <a:rPr lang="en-US" dirty="0" smtClean="0">
                <a:solidFill>
                  <a:schemeClr val="accent6">
                    <a:lumMod val="75000"/>
                  </a:schemeClr>
                </a:solidFill>
              </a:rPr>
              <a:t>True</a:t>
            </a:r>
          </a:p>
        </p:txBody>
      </p:sp>
      <p:sp>
        <p:nvSpPr>
          <p:cNvPr id="10" name="Rectangle 9"/>
          <p:cNvSpPr/>
          <p:nvPr/>
        </p:nvSpPr>
        <p:spPr>
          <a:xfrm>
            <a:off x="563525" y="4790430"/>
            <a:ext cx="7899991" cy="97241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763710" y="4941851"/>
            <a:ext cx="7347097" cy="923330"/>
          </a:xfrm>
          <a:prstGeom prst="rect">
            <a:avLst/>
          </a:prstGeom>
          <a:noFill/>
        </p:spPr>
        <p:txBody>
          <a:bodyPr wrap="square" rtlCol="0">
            <a:spAutoFit/>
          </a:bodyPr>
          <a:lstStyle/>
          <a:p>
            <a:r>
              <a:rPr lang="en-US" dirty="0" smtClean="0">
                <a:solidFill>
                  <a:schemeClr val="bg1"/>
                </a:solidFill>
              </a:rPr>
              <a:t>x = 2 &gt; 3</a:t>
            </a:r>
          </a:p>
          <a:p>
            <a:r>
              <a:rPr lang="en-US" dirty="0" smtClean="0">
                <a:solidFill>
                  <a:schemeClr val="bg1"/>
                </a:solidFill>
              </a:rPr>
              <a:t>print</a:t>
            </a:r>
            <a:r>
              <a:rPr lang="en-US" dirty="0" smtClean="0">
                <a:solidFill>
                  <a:srgbClr val="FFC500"/>
                </a:solidFill>
              </a:rPr>
              <a:t>(</a:t>
            </a:r>
            <a:r>
              <a:rPr lang="en-US" dirty="0" smtClean="0">
                <a:solidFill>
                  <a:schemeClr val="bg1"/>
                </a:solidFill>
              </a:rPr>
              <a:t>bool</a:t>
            </a:r>
            <a:r>
              <a:rPr lang="en-US" dirty="0" smtClean="0">
                <a:solidFill>
                  <a:srgbClr val="FF66CC"/>
                </a:solidFill>
              </a:rPr>
              <a:t>(</a:t>
            </a:r>
            <a:r>
              <a:rPr lang="en-US" dirty="0" smtClean="0">
                <a:solidFill>
                  <a:schemeClr val="bg1"/>
                </a:solidFill>
              </a:rPr>
              <a:t>x</a:t>
            </a:r>
            <a:r>
              <a:rPr lang="en-US" dirty="0" smtClean="0">
                <a:solidFill>
                  <a:srgbClr val="FF66CC"/>
                </a:solidFill>
              </a:rPr>
              <a:t>)</a:t>
            </a:r>
            <a:r>
              <a:rPr lang="en-US" dirty="0" smtClean="0">
                <a:solidFill>
                  <a:srgbClr val="FFC500"/>
                </a:solidFill>
              </a:rPr>
              <a:t>) </a:t>
            </a:r>
            <a:r>
              <a:rPr lang="en-US" dirty="0">
                <a:solidFill>
                  <a:schemeClr val="accent6">
                    <a:lumMod val="75000"/>
                  </a:schemeClr>
                </a:solidFill>
              </a:rPr>
              <a:t># </a:t>
            </a:r>
            <a:r>
              <a:rPr lang="en-US" dirty="0" err="1">
                <a:solidFill>
                  <a:schemeClr val="accent6">
                    <a:lumMod val="75000"/>
                  </a:schemeClr>
                </a:solidFill>
              </a:rPr>
              <a:t>kết</a:t>
            </a:r>
            <a:r>
              <a:rPr lang="en-US" dirty="0">
                <a:solidFill>
                  <a:schemeClr val="accent6">
                    <a:lumMod val="75000"/>
                  </a:schemeClr>
                </a:solidFill>
              </a:rPr>
              <a:t> </a:t>
            </a:r>
            <a:r>
              <a:rPr lang="en-US" dirty="0" err="1">
                <a:solidFill>
                  <a:schemeClr val="accent6">
                    <a:lumMod val="75000"/>
                  </a:schemeClr>
                </a:solidFill>
              </a:rPr>
              <a:t>quả</a:t>
            </a:r>
            <a:r>
              <a:rPr lang="en-US" dirty="0">
                <a:solidFill>
                  <a:schemeClr val="accent6">
                    <a:lumMod val="75000"/>
                  </a:schemeClr>
                </a:solidFill>
              </a:rPr>
              <a:t> </a:t>
            </a:r>
            <a:r>
              <a:rPr lang="en-US" dirty="0" err="1">
                <a:solidFill>
                  <a:schemeClr val="accent6">
                    <a:lumMod val="75000"/>
                  </a:schemeClr>
                </a:solidFill>
              </a:rPr>
              <a:t>cho</a:t>
            </a:r>
            <a:r>
              <a:rPr lang="en-US" dirty="0">
                <a:solidFill>
                  <a:schemeClr val="accent6">
                    <a:lumMod val="75000"/>
                  </a:schemeClr>
                </a:solidFill>
              </a:rPr>
              <a:t> </a:t>
            </a:r>
            <a:r>
              <a:rPr lang="en-US" dirty="0" err="1">
                <a:solidFill>
                  <a:schemeClr val="accent6">
                    <a:lumMod val="75000"/>
                  </a:schemeClr>
                </a:solidFill>
              </a:rPr>
              <a:t>ra</a:t>
            </a:r>
            <a:r>
              <a:rPr lang="en-US" dirty="0">
                <a:solidFill>
                  <a:schemeClr val="accent6">
                    <a:lumMod val="75000"/>
                  </a:schemeClr>
                </a:solidFill>
              </a:rPr>
              <a:t> </a:t>
            </a:r>
            <a:r>
              <a:rPr lang="en-US" dirty="0" err="1">
                <a:solidFill>
                  <a:schemeClr val="accent6">
                    <a:lumMod val="75000"/>
                  </a:schemeClr>
                </a:solidFill>
              </a:rPr>
              <a:t>một</a:t>
            </a:r>
            <a:r>
              <a:rPr lang="en-US" dirty="0">
                <a:solidFill>
                  <a:schemeClr val="accent6">
                    <a:lumMod val="75000"/>
                  </a:schemeClr>
                </a:solidFill>
              </a:rPr>
              <a:t> </a:t>
            </a:r>
            <a:r>
              <a:rPr lang="en-US" dirty="0" err="1">
                <a:solidFill>
                  <a:schemeClr val="accent6">
                    <a:lumMod val="75000"/>
                  </a:schemeClr>
                </a:solidFill>
              </a:rPr>
              <a:t>số</a:t>
            </a:r>
            <a:r>
              <a:rPr lang="en-US" dirty="0">
                <a:solidFill>
                  <a:schemeClr val="accent6">
                    <a:lumMod val="75000"/>
                  </a:schemeClr>
                </a:solidFill>
              </a:rPr>
              <a:t> : </a:t>
            </a:r>
            <a:r>
              <a:rPr lang="en-US" dirty="0" smtClean="0">
                <a:solidFill>
                  <a:schemeClr val="accent6">
                    <a:lumMod val="75000"/>
                  </a:schemeClr>
                </a:solidFill>
              </a:rPr>
              <a:t>False</a:t>
            </a:r>
            <a:endParaRPr lang="en-US" dirty="0">
              <a:solidFill>
                <a:schemeClr val="accent6">
                  <a:lumMod val="75000"/>
                </a:schemeClr>
              </a:solidFill>
            </a:endParaRPr>
          </a:p>
          <a:p>
            <a:endParaRPr lang="en-US" dirty="0" smtClean="0">
              <a:solidFill>
                <a:srgbClr val="FFC500"/>
              </a:solidFill>
            </a:endParaRPr>
          </a:p>
        </p:txBody>
      </p:sp>
    </p:spTree>
    <p:extLst>
      <p:ext uri="{BB962C8B-B14F-4D97-AF65-F5344CB8AC3E}">
        <p14:creationId xmlns:p14="http://schemas.microsoft.com/office/powerpoint/2010/main" val="39104582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4</a:t>
            </a:fld>
            <a:endParaRPr lang="en-US"/>
          </a:p>
        </p:txBody>
      </p:sp>
      <p:sp>
        <p:nvSpPr>
          <p:cNvPr id="3" name="Text Placeholder 2"/>
          <p:cNvSpPr>
            <a:spLocks noGrp="1"/>
          </p:cNvSpPr>
          <p:nvPr>
            <p:ph type="body" sz="quarter" idx="13"/>
          </p:nvPr>
        </p:nvSpPr>
        <p:spPr/>
        <p:txBody>
          <a:bodyPr/>
          <a:lstStyle/>
          <a:p>
            <a:r>
              <a:rPr lang="en-US" dirty="0" smtClean="0"/>
              <a:t>3.2 </a:t>
            </a:r>
            <a:r>
              <a:rPr lang="en-US" dirty="0" err="1" smtClean="0"/>
              <a:t>Toán</a:t>
            </a:r>
            <a:r>
              <a:rPr lang="en-US" dirty="0" smtClean="0"/>
              <a:t> </a:t>
            </a:r>
            <a:r>
              <a:rPr lang="en-US" dirty="0" err="1" smtClean="0"/>
              <a:t>tử</a:t>
            </a:r>
            <a:r>
              <a:rPr lang="en-US" dirty="0" smtClean="0"/>
              <a:t> Logic </a:t>
            </a:r>
            <a:r>
              <a:rPr lang="en-US" dirty="0" err="1" smtClean="0"/>
              <a:t>trong</a:t>
            </a:r>
            <a:r>
              <a:rPr lang="en-US" dirty="0" smtClean="0"/>
              <a:t> Python</a:t>
            </a:r>
            <a:endParaRPr lang="en-US" dirty="0"/>
          </a:p>
        </p:txBody>
      </p:sp>
      <p:pic>
        <p:nvPicPr>
          <p:cNvPr id="4"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2750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041993" y="1568079"/>
            <a:ext cx="7068814" cy="369332"/>
          </a:xfrm>
          <a:prstGeom prst="rect">
            <a:avLst/>
          </a:prstGeom>
          <a:noFill/>
        </p:spPr>
        <p:txBody>
          <a:bodyPr wrap="square" rtlCol="0">
            <a:spAutoFit/>
          </a:bodyPr>
          <a:lstStyle/>
          <a:p>
            <a:r>
              <a:rPr lang="en-US" b="1" dirty="0" err="1" smtClean="0"/>
              <a:t>Toán</a:t>
            </a:r>
            <a:r>
              <a:rPr lang="en-US" b="1" dirty="0" smtClean="0"/>
              <a:t> </a:t>
            </a:r>
            <a:r>
              <a:rPr lang="en-US" b="1" dirty="0" err="1" smtClean="0"/>
              <a:t>tử</a:t>
            </a:r>
            <a:r>
              <a:rPr lang="en-US" b="1" dirty="0" smtClean="0"/>
              <a:t> So </a:t>
            </a:r>
            <a:r>
              <a:rPr lang="en-US" b="1" dirty="0" err="1" smtClean="0"/>
              <a:t>Sánh</a:t>
            </a:r>
            <a:endParaRPr lang="en-US" b="1" dirty="0">
              <a:solidFill>
                <a:srgbClr val="FF0000"/>
              </a:solidFill>
            </a:endParaRPr>
          </a:p>
        </p:txBody>
      </p:sp>
      <p:sp>
        <p:nvSpPr>
          <p:cNvPr id="13" name="TextBox 12"/>
          <p:cNvSpPr txBox="1"/>
          <p:nvPr/>
        </p:nvSpPr>
        <p:spPr>
          <a:xfrm>
            <a:off x="423467" y="4889296"/>
            <a:ext cx="8333421" cy="369332"/>
          </a:xfrm>
          <a:prstGeom prst="rect">
            <a:avLst/>
          </a:prstGeom>
          <a:noFill/>
        </p:spPr>
        <p:txBody>
          <a:bodyPr wrap="square" rtlCol="0">
            <a:spAutoFit/>
          </a:bodyPr>
          <a:lstStyle/>
          <a:p>
            <a:r>
              <a:rPr lang="en-US" dirty="0" err="1" smtClean="0"/>
              <a:t>Toán</a:t>
            </a:r>
            <a:r>
              <a:rPr lang="en-US" dirty="0" smtClean="0"/>
              <a:t> </a:t>
            </a:r>
            <a:r>
              <a:rPr lang="en-US" dirty="0" err="1" smtClean="0"/>
              <a:t>tử</a:t>
            </a:r>
            <a:r>
              <a:rPr lang="en-US" dirty="0" smtClean="0"/>
              <a:t> so </a:t>
            </a:r>
            <a:r>
              <a:rPr lang="en-US" dirty="0" err="1" smtClean="0"/>
              <a:t>sánh</a:t>
            </a:r>
            <a:r>
              <a:rPr lang="en-US" dirty="0" smtClean="0"/>
              <a:t> </a:t>
            </a:r>
            <a:r>
              <a:rPr lang="en-US" dirty="0" err="1" smtClean="0"/>
              <a:t>trên</a:t>
            </a:r>
            <a:r>
              <a:rPr lang="en-US" dirty="0" smtClean="0"/>
              <a:t> </a:t>
            </a:r>
            <a:r>
              <a:rPr lang="en-US" dirty="0" err="1" smtClean="0"/>
              <a:t>sẽ</a:t>
            </a:r>
            <a:r>
              <a:rPr lang="en-US" dirty="0" smtClean="0"/>
              <a:t> </a:t>
            </a:r>
            <a:r>
              <a:rPr lang="en-US" dirty="0" err="1" smtClean="0"/>
              <a:t>tạo</a:t>
            </a:r>
            <a:r>
              <a:rPr lang="en-US" dirty="0" smtClean="0"/>
              <a:t> </a:t>
            </a:r>
            <a:r>
              <a:rPr lang="en-US" dirty="0" err="1" smtClean="0"/>
              <a:t>ra</a:t>
            </a:r>
            <a:r>
              <a:rPr lang="en-US" dirty="0" smtClean="0"/>
              <a:t> </a:t>
            </a:r>
            <a:r>
              <a:rPr lang="en-US" dirty="0" err="1" smtClean="0"/>
              <a:t>kiểu</a:t>
            </a:r>
            <a:r>
              <a:rPr lang="en-US" dirty="0" smtClean="0"/>
              <a:t> </a:t>
            </a:r>
            <a:r>
              <a:rPr lang="en-US" dirty="0" err="1" smtClean="0"/>
              <a:t>dữ</a:t>
            </a:r>
            <a:r>
              <a:rPr lang="en-US" dirty="0" smtClean="0"/>
              <a:t> </a:t>
            </a:r>
            <a:r>
              <a:rPr lang="en-US" dirty="0" err="1" smtClean="0"/>
              <a:t>liệu</a:t>
            </a:r>
            <a:r>
              <a:rPr lang="en-US" dirty="0" smtClean="0"/>
              <a:t> Logic: True </a:t>
            </a:r>
            <a:r>
              <a:rPr lang="en-US" dirty="0" err="1" smtClean="0"/>
              <a:t>hoặc</a:t>
            </a:r>
            <a:r>
              <a:rPr lang="en-US" dirty="0" smtClean="0"/>
              <a:t> False</a:t>
            </a:r>
            <a:endParaRPr lang="en-US" dirty="0"/>
          </a:p>
        </p:txBody>
      </p:sp>
      <p:sp>
        <p:nvSpPr>
          <p:cNvPr id="14" name="Rectangle 13"/>
          <p:cNvSpPr/>
          <p:nvPr/>
        </p:nvSpPr>
        <p:spPr>
          <a:xfrm>
            <a:off x="563525" y="5388456"/>
            <a:ext cx="7899991" cy="927284"/>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763710" y="5481368"/>
            <a:ext cx="7347097" cy="646331"/>
          </a:xfrm>
          <a:prstGeom prst="rect">
            <a:avLst/>
          </a:prstGeom>
          <a:noFill/>
        </p:spPr>
        <p:txBody>
          <a:bodyPr wrap="square" rtlCol="0">
            <a:spAutoFit/>
          </a:bodyPr>
          <a:lstStyle/>
          <a:p>
            <a:r>
              <a:rPr lang="en-US" dirty="0" smtClean="0">
                <a:solidFill>
                  <a:schemeClr val="bg1"/>
                </a:solidFill>
              </a:rPr>
              <a:t>print</a:t>
            </a:r>
            <a:r>
              <a:rPr lang="en-US" dirty="0" smtClean="0">
                <a:solidFill>
                  <a:srgbClr val="FFC500"/>
                </a:solidFill>
              </a:rPr>
              <a:t>(</a:t>
            </a:r>
            <a:r>
              <a:rPr lang="en-US" dirty="0" smtClean="0">
                <a:solidFill>
                  <a:schemeClr val="bg1"/>
                </a:solidFill>
              </a:rPr>
              <a:t>3 &gt; 2</a:t>
            </a:r>
            <a:r>
              <a:rPr lang="en-US" dirty="0" smtClean="0">
                <a:solidFill>
                  <a:srgbClr val="FFC500"/>
                </a:solidFill>
              </a:rPr>
              <a:t>) </a:t>
            </a:r>
          </a:p>
          <a:p>
            <a:r>
              <a:rPr lang="en-US" dirty="0" smtClean="0">
                <a:solidFill>
                  <a:schemeClr val="accent6">
                    <a:lumMod val="75000"/>
                  </a:schemeClr>
                </a:solidFill>
              </a:rPr>
              <a:t># </a:t>
            </a:r>
            <a:r>
              <a:rPr lang="en-US" dirty="0" err="1">
                <a:solidFill>
                  <a:schemeClr val="accent6">
                    <a:lumMod val="75000"/>
                  </a:schemeClr>
                </a:solidFill>
              </a:rPr>
              <a:t>kết</a:t>
            </a:r>
            <a:r>
              <a:rPr lang="en-US" dirty="0">
                <a:solidFill>
                  <a:schemeClr val="accent6">
                    <a:lumMod val="75000"/>
                  </a:schemeClr>
                </a:solidFill>
              </a:rPr>
              <a:t> </a:t>
            </a:r>
            <a:r>
              <a:rPr lang="en-US" dirty="0" err="1">
                <a:solidFill>
                  <a:schemeClr val="accent6">
                    <a:lumMod val="75000"/>
                  </a:schemeClr>
                </a:solidFill>
              </a:rPr>
              <a:t>quả</a:t>
            </a:r>
            <a:r>
              <a:rPr lang="en-US" dirty="0">
                <a:solidFill>
                  <a:schemeClr val="accent6">
                    <a:lumMod val="75000"/>
                  </a:schemeClr>
                </a:solidFill>
              </a:rPr>
              <a:t> </a:t>
            </a:r>
            <a:r>
              <a:rPr lang="en-US" dirty="0" err="1">
                <a:solidFill>
                  <a:schemeClr val="accent6">
                    <a:lumMod val="75000"/>
                  </a:schemeClr>
                </a:solidFill>
              </a:rPr>
              <a:t>cho</a:t>
            </a:r>
            <a:r>
              <a:rPr lang="en-US" dirty="0">
                <a:solidFill>
                  <a:schemeClr val="accent6">
                    <a:lumMod val="75000"/>
                  </a:schemeClr>
                </a:solidFill>
              </a:rPr>
              <a:t> </a:t>
            </a:r>
            <a:r>
              <a:rPr lang="en-US" dirty="0" err="1">
                <a:solidFill>
                  <a:schemeClr val="accent6">
                    <a:lumMod val="75000"/>
                  </a:schemeClr>
                </a:solidFill>
              </a:rPr>
              <a:t>ra</a:t>
            </a:r>
            <a:r>
              <a:rPr lang="en-US" dirty="0">
                <a:solidFill>
                  <a:schemeClr val="accent6">
                    <a:lumMod val="75000"/>
                  </a:schemeClr>
                </a:solidFill>
              </a:rPr>
              <a:t> </a:t>
            </a:r>
            <a:r>
              <a:rPr lang="en-US" dirty="0" err="1">
                <a:solidFill>
                  <a:schemeClr val="accent6">
                    <a:lumMod val="75000"/>
                  </a:schemeClr>
                </a:solidFill>
              </a:rPr>
              <a:t>một</a:t>
            </a:r>
            <a:r>
              <a:rPr lang="en-US" dirty="0">
                <a:solidFill>
                  <a:schemeClr val="accent6">
                    <a:lumMod val="75000"/>
                  </a:schemeClr>
                </a:solidFill>
              </a:rPr>
              <a:t> </a:t>
            </a:r>
            <a:r>
              <a:rPr lang="en-US" dirty="0" err="1">
                <a:solidFill>
                  <a:schemeClr val="accent6">
                    <a:lumMod val="75000"/>
                  </a:schemeClr>
                </a:solidFill>
              </a:rPr>
              <a:t>số</a:t>
            </a:r>
            <a:r>
              <a:rPr lang="en-US" dirty="0">
                <a:solidFill>
                  <a:schemeClr val="accent6">
                    <a:lumMod val="75000"/>
                  </a:schemeClr>
                </a:solidFill>
              </a:rPr>
              <a:t> : </a:t>
            </a:r>
            <a:r>
              <a:rPr lang="en-US" dirty="0" smtClean="0">
                <a:solidFill>
                  <a:schemeClr val="accent6">
                    <a:lumMod val="75000"/>
                  </a:schemeClr>
                </a:solidFill>
              </a:rPr>
              <a:t>True</a:t>
            </a:r>
          </a:p>
        </p:txBody>
      </p:sp>
      <p:graphicFrame>
        <p:nvGraphicFramePr>
          <p:cNvPr id="16" name="Table 15"/>
          <p:cNvGraphicFramePr>
            <a:graphicFrameLocks noGrp="1"/>
          </p:cNvGraphicFramePr>
          <p:nvPr>
            <p:extLst>
              <p:ext uri="{D42A27DB-BD31-4B8C-83A1-F6EECF244321}">
                <p14:modId xmlns:p14="http://schemas.microsoft.com/office/powerpoint/2010/main" val="241984455"/>
              </p:ext>
            </p:extLst>
          </p:nvPr>
        </p:nvGraphicFramePr>
        <p:xfrm>
          <a:off x="563525" y="2058452"/>
          <a:ext cx="8207907" cy="2595880"/>
        </p:xfrm>
        <a:graphic>
          <a:graphicData uri="http://schemas.openxmlformats.org/drawingml/2006/table">
            <a:tbl>
              <a:tblPr firstRow="1" bandRow="1">
                <a:tableStyleId>{5C22544A-7EE6-4342-B048-85BDC9FD1C3A}</a:tableStyleId>
              </a:tblPr>
              <a:tblGrid>
                <a:gridCol w="1180215">
                  <a:extLst>
                    <a:ext uri="{9D8B030D-6E8A-4147-A177-3AD203B41FA5}">
                      <a16:colId xmlns="" xmlns:a16="http://schemas.microsoft.com/office/drawing/2014/main" val="3997104067"/>
                    </a:ext>
                  </a:extLst>
                </a:gridCol>
                <a:gridCol w="2413590">
                  <a:extLst>
                    <a:ext uri="{9D8B030D-6E8A-4147-A177-3AD203B41FA5}">
                      <a16:colId xmlns="" xmlns:a16="http://schemas.microsoft.com/office/drawing/2014/main" val="3971698187"/>
                    </a:ext>
                  </a:extLst>
                </a:gridCol>
                <a:gridCol w="1020726">
                  <a:extLst>
                    <a:ext uri="{9D8B030D-6E8A-4147-A177-3AD203B41FA5}">
                      <a16:colId xmlns="" xmlns:a16="http://schemas.microsoft.com/office/drawing/2014/main" val="666240830"/>
                    </a:ext>
                  </a:extLst>
                </a:gridCol>
                <a:gridCol w="3593376">
                  <a:extLst>
                    <a:ext uri="{9D8B030D-6E8A-4147-A177-3AD203B41FA5}">
                      <a16:colId xmlns="" xmlns:a16="http://schemas.microsoft.com/office/drawing/2014/main" val="163135137"/>
                    </a:ext>
                  </a:extLst>
                </a:gridCol>
              </a:tblGrid>
              <a:tr h="370840">
                <a:tc>
                  <a:txBody>
                    <a:bodyPr/>
                    <a:lstStyle/>
                    <a:p>
                      <a:r>
                        <a:rPr lang="en-US" dirty="0" err="1" smtClean="0"/>
                        <a:t>Toán</a:t>
                      </a:r>
                      <a:r>
                        <a:rPr lang="en-US" baseline="0" dirty="0" smtClean="0"/>
                        <a:t> </a:t>
                      </a:r>
                      <a:r>
                        <a:rPr lang="en-US" baseline="0" dirty="0" err="1" smtClean="0"/>
                        <a:t>tử</a:t>
                      </a:r>
                      <a:endParaRPr lang="en-US" dirty="0"/>
                    </a:p>
                  </a:txBody>
                  <a:tcPr/>
                </a:tc>
                <a:tc>
                  <a:txBody>
                    <a:bodyPr/>
                    <a:lstStyle/>
                    <a:p>
                      <a:r>
                        <a:rPr lang="en-US" dirty="0" smtClean="0"/>
                        <a:t>Ý</a:t>
                      </a:r>
                      <a:r>
                        <a:rPr lang="en-US" baseline="0" dirty="0" smtClean="0"/>
                        <a:t> </a:t>
                      </a:r>
                      <a:r>
                        <a:rPr lang="en-US" baseline="0" dirty="0" err="1" smtClean="0"/>
                        <a:t>Nghĩa</a:t>
                      </a:r>
                      <a:endParaRPr lang="en-US" dirty="0"/>
                    </a:p>
                  </a:txBody>
                  <a:tcPr/>
                </a:tc>
                <a:tc>
                  <a:txBody>
                    <a:bodyPr/>
                    <a:lstStyle/>
                    <a:p>
                      <a:r>
                        <a:rPr lang="en-US" dirty="0" err="1" smtClean="0"/>
                        <a:t>Ví</a:t>
                      </a:r>
                      <a:r>
                        <a:rPr lang="en-US" baseline="0" dirty="0" smtClean="0"/>
                        <a:t> </a:t>
                      </a:r>
                      <a:r>
                        <a:rPr lang="en-US" baseline="0" dirty="0" err="1" smtClean="0"/>
                        <a:t>dụ</a:t>
                      </a:r>
                      <a:endParaRPr lang="en-US" dirty="0"/>
                    </a:p>
                  </a:txBody>
                  <a:tcPr/>
                </a:tc>
                <a:tc>
                  <a:txBody>
                    <a:bodyPr/>
                    <a:lstStyle/>
                    <a:p>
                      <a:r>
                        <a:rPr lang="en-US" dirty="0" err="1" smtClean="0"/>
                        <a:t>Diễn</a:t>
                      </a:r>
                      <a:r>
                        <a:rPr lang="en-US" baseline="0" dirty="0" smtClean="0"/>
                        <a:t> </a:t>
                      </a:r>
                      <a:r>
                        <a:rPr lang="en-US" baseline="0" dirty="0" err="1" smtClean="0"/>
                        <a:t>giải</a:t>
                      </a:r>
                      <a:r>
                        <a:rPr lang="en-US" baseline="0" dirty="0" smtClean="0"/>
                        <a:t> </a:t>
                      </a:r>
                      <a:r>
                        <a:rPr lang="en-US" baseline="0" dirty="0" err="1" smtClean="0"/>
                        <a:t>Phép</a:t>
                      </a:r>
                      <a:r>
                        <a:rPr lang="en-US" baseline="0" dirty="0" smtClean="0"/>
                        <a:t> so </a:t>
                      </a:r>
                      <a:r>
                        <a:rPr lang="en-US" baseline="0" dirty="0" err="1" smtClean="0"/>
                        <a:t>sánh</a:t>
                      </a:r>
                      <a:endParaRPr lang="en-US" dirty="0"/>
                    </a:p>
                  </a:txBody>
                  <a:tcPr/>
                </a:tc>
                <a:extLst>
                  <a:ext uri="{0D108BD9-81ED-4DB2-BD59-A6C34878D82A}">
                    <a16:rowId xmlns="" xmlns:a16="http://schemas.microsoft.com/office/drawing/2014/main" val="2671286944"/>
                  </a:ext>
                </a:extLst>
              </a:tr>
              <a:tr h="370840">
                <a:tc>
                  <a:txBody>
                    <a:bodyPr/>
                    <a:lstStyle/>
                    <a:p>
                      <a:r>
                        <a:rPr lang="en-US" dirty="0" smtClean="0"/>
                        <a:t>== </a:t>
                      </a:r>
                      <a:endParaRPr lang="en-US" dirty="0"/>
                    </a:p>
                  </a:txBody>
                  <a:tcPr/>
                </a:tc>
                <a:tc>
                  <a:txBody>
                    <a:bodyPr/>
                    <a:lstStyle/>
                    <a:p>
                      <a:r>
                        <a:rPr lang="en-US" dirty="0" smtClean="0"/>
                        <a:t>So </a:t>
                      </a:r>
                      <a:r>
                        <a:rPr lang="en-US" dirty="0" err="1" smtClean="0"/>
                        <a:t>sánh</a:t>
                      </a:r>
                      <a:r>
                        <a:rPr lang="en-US" baseline="0" dirty="0" smtClean="0"/>
                        <a:t> </a:t>
                      </a:r>
                      <a:r>
                        <a:rPr lang="en-US" baseline="0" dirty="0" err="1" smtClean="0"/>
                        <a:t>bằng</a:t>
                      </a:r>
                      <a:endParaRPr lang="en-US" dirty="0"/>
                    </a:p>
                  </a:txBody>
                  <a:tcPr/>
                </a:tc>
                <a:tc>
                  <a:txBody>
                    <a:bodyPr/>
                    <a:lstStyle/>
                    <a:p>
                      <a:r>
                        <a:rPr lang="en-US" dirty="0" smtClean="0"/>
                        <a:t>x == y</a:t>
                      </a:r>
                      <a:endParaRPr lang="en-US" dirty="0"/>
                    </a:p>
                  </a:txBody>
                  <a:tcPr/>
                </a:tc>
                <a:tc>
                  <a:txBody>
                    <a:bodyPr/>
                    <a:lstStyle/>
                    <a:p>
                      <a:r>
                        <a:rPr lang="en-US" baseline="0" dirty="0" smtClean="0"/>
                        <a:t>x </a:t>
                      </a:r>
                      <a:r>
                        <a:rPr lang="en-US" baseline="0" dirty="0" err="1" smtClean="0"/>
                        <a:t>có</a:t>
                      </a:r>
                      <a:r>
                        <a:rPr lang="en-US" baseline="0" dirty="0" smtClean="0"/>
                        <a:t> </a:t>
                      </a:r>
                      <a:r>
                        <a:rPr lang="en-US" baseline="0" dirty="0" err="1" smtClean="0"/>
                        <a:t>bằng</a:t>
                      </a:r>
                      <a:r>
                        <a:rPr lang="en-US" baseline="0" dirty="0" smtClean="0"/>
                        <a:t> y hay </a:t>
                      </a:r>
                      <a:r>
                        <a:rPr lang="en-US" baseline="0" dirty="0" err="1" smtClean="0"/>
                        <a:t>không</a:t>
                      </a:r>
                      <a:r>
                        <a:rPr lang="en-US" baseline="0" dirty="0" smtClean="0"/>
                        <a:t> ?</a:t>
                      </a:r>
                      <a:endParaRPr lang="en-US" dirty="0"/>
                    </a:p>
                  </a:txBody>
                  <a:tcPr/>
                </a:tc>
                <a:extLst>
                  <a:ext uri="{0D108BD9-81ED-4DB2-BD59-A6C34878D82A}">
                    <a16:rowId xmlns="" xmlns:a16="http://schemas.microsoft.com/office/drawing/2014/main" val="1081427535"/>
                  </a:ext>
                </a:extLst>
              </a:tr>
              <a:tr h="370840">
                <a:tc>
                  <a:txBody>
                    <a:bodyPr/>
                    <a:lstStyle/>
                    <a:p>
                      <a:r>
                        <a:rPr lang="en-US" dirty="0" smtClean="0"/>
                        <a:t>!=</a:t>
                      </a:r>
                      <a:endParaRPr lang="en-US" dirty="0"/>
                    </a:p>
                  </a:txBody>
                  <a:tcPr/>
                </a:tc>
                <a:tc>
                  <a:txBody>
                    <a:bodyPr/>
                    <a:lstStyle/>
                    <a:p>
                      <a:r>
                        <a:rPr lang="en-US" dirty="0" smtClean="0"/>
                        <a:t>So </a:t>
                      </a:r>
                      <a:r>
                        <a:rPr lang="en-US" dirty="0" err="1" smtClean="0"/>
                        <a:t>sánh</a:t>
                      </a:r>
                      <a:r>
                        <a:rPr lang="en-US" baseline="0" dirty="0" smtClean="0"/>
                        <a:t> </a:t>
                      </a:r>
                      <a:r>
                        <a:rPr lang="en-US" baseline="0" dirty="0" err="1" smtClean="0"/>
                        <a:t>không</a:t>
                      </a:r>
                      <a:r>
                        <a:rPr lang="en-US" baseline="0" dirty="0" smtClean="0"/>
                        <a:t> </a:t>
                      </a:r>
                      <a:r>
                        <a:rPr lang="en-US" baseline="0" dirty="0" err="1" smtClean="0"/>
                        <a:t>bằng</a:t>
                      </a:r>
                      <a:endParaRPr lang="en-US" dirty="0"/>
                    </a:p>
                  </a:txBody>
                  <a:tcPr/>
                </a:tc>
                <a:tc>
                  <a:txBody>
                    <a:bodyPr/>
                    <a:lstStyle/>
                    <a:p>
                      <a:r>
                        <a:rPr lang="en-US" baseline="0" dirty="0" smtClean="0"/>
                        <a:t>x </a:t>
                      </a:r>
                      <a:r>
                        <a:rPr lang="en-US" dirty="0" smtClean="0"/>
                        <a:t>!=</a:t>
                      </a:r>
                      <a:r>
                        <a:rPr lang="en-US" baseline="0" dirty="0" smtClean="0"/>
                        <a:t> y</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x </a:t>
                      </a:r>
                      <a:r>
                        <a:rPr lang="en-US" baseline="0" dirty="0" err="1" smtClean="0"/>
                        <a:t>khác</a:t>
                      </a:r>
                      <a:r>
                        <a:rPr lang="en-US" baseline="0" dirty="0" smtClean="0"/>
                        <a:t> y hay </a:t>
                      </a:r>
                      <a:r>
                        <a:rPr lang="en-US" baseline="0" dirty="0" err="1" smtClean="0"/>
                        <a:t>không</a:t>
                      </a:r>
                      <a:r>
                        <a:rPr lang="en-US" baseline="0" dirty="0" smtClean="0"/>
                        <a:t> ?</a:t>
                      </a:r>
                      <a:endParaRPr lang="en-US" dirty="0" smtClean="0"/>
                    </a:p>
                  </a:txBody>
                  <a:tcPr/>
                </a:tc>
                <a:extLst>
                  <a:ext uri="{0D108BD9-81ED-4DB2-BD59-A6C34878D82A}">
                    <a16:rowId xmlns="" xmlns:a16="http://schemas.microsoft.com/office/drawing/2014/main" val="327816759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&gt;</a:t>
                      </a:r>
                      <a:endParaRPr lang="en-US" dirty="0" smtClean="0"/>
                    </a:p>
                  </a:txBody>
                  <a:tcPr/>
                </a:tc>
                <a:tc>
                  <a:txBody>
                    <a:bodyPr/>
                    <a:lstStyle/>
                    <a:p>
                      <a:r>
                        <a:rPr lang="en-US" dirty="0" smtClean="0"/>
                        <a:t>So </a:t>
                      </a:r>
                      <a:r>
                        <a:rPr lang="en-US" dirty="0" err="1" smtClean="0"/>
                        <a:t>sánh</a:t>
                      </a:r>
                      <a:r>
                        <a:rPr lang="en-US" baseline="0" dirty="0" smtClean="0"/>
                        <a:t> </a:t>
                      </a:r>
                      <a:r>
                        <a:rPr lang="en-US" baseline="0" dirty="0" err="1" smtClean="0"/>
                        <a:t>lớn</a:t>
                      </a:r>
                      <a:r>
                        <a:rPr lang="en-US" baseline="0" dirty="0" smtClean="0"/>
                        <a:t> </a:t>
                      </a:r>
                      <a:r>
                        <a:rPr lang="en-US" baseline="0" dirty="0" err="1" smtClean="0"/>
                        <a:t>hơn</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x &gt; y</a:t>
                      </a:r>
                      <a:endParaRPr lang="en-US" dirty="0" smtClean="0"/>
                    </a:p>
                  </a:txBody>
                  <a:tcPr/>
                </a:tc>
                <a:tc>
                  <a:txBody>
                    <a:bodyPr/>
                    <a:lstStyle/>
                    <a:p>
                      <a:r>
                        <a:rPr lang="en-US" dirty="0" smtClean="0"/>
                        <a:t>x </a:t>
                      </a:r>
                      <a:r>
                        <a:rPr lang="en-US" dirty="0" err="1" smtClean="0"/>
                        <a:t>lớn</a:t>
                      </a:r>
                      <a:r>
                        <a:rPr lang="en-US" baseline="0" dirty="0" smtClean="0"/>
                        <a:t> </a:t>
                      </a:r>
                      <a:r>
                        <a:rPr lang="en-US" baseline="0" dirty="0" err="1" smtClean="0"/>
                        <a:t>hơn</a:t>
                      </a:r>
                      <a:r>
                        <a:rPr lang="en-US" baseline="0" dirty="0" smtClean="0"/>
                        <a:t> y hay </a:t>
                      </a:r>
                      <a:r>
                        <a:rPr lang="en-US" baseline="0" dirty="0" err="1" smtClean="0"/>
                        <a:t>không</a:t>
                      </a:r>
                      <a:endParaRPr lang="en-US" dirty="0"/>
                    </a:p>
                  </a:txBody>
                  <a:tcPr/>
                </a:tc>
                <a:extLst>
                  <a:ext uri="{0D108BD9-81ED-4DB2-BD59-A6C34878D82A}">
                    <a16:rowId xmlns="" xmlns:a16="http://schemas.microsoft.com/office/drawing/2014/main" val="343457959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&gt;=</a:t>
                      </a:r>
                      <a:endParaRPr lang="en-US" dirty="0" smtClean="0"/>
                    </a:p>
                  </a:txBody>
                  <a:tcPr/>
                </a:tc>
                <a:tc>
                  <a:txBody>
                    <a:bodyPr/>
                    <a:lstStyle/>
                    <a:p>
                      <a:r>
                        <a:rPr lang="en-US" dirty="0" err="1" smtClean="0"/>
                        <a:t>Lớn</a:t>
                      </a:r>
                      <a:r>
                        <a:rPr lang="en-US" baseline="0" dirty="0" smtClean="0"/>
                        <a:t> </a:t>
                      </a:r>
                      <a:r>
                        <a:rPr lang="en-US" baseline="0" dirty="0" err="1" smtClean="0"/>
                        <a:t>hơn</a:t>
                      </a:r>
                      <a:r>
                        <a:rPr lang="en-US" baseline="0" dirty="0" smtClean="0"/>
                        <a:t> </a:t>
                      </a:r>
                      <a:r>
                        <a:rPr lang="en-US" baseline="0" dirty="0" err="1" smtClean="0"/>
                        <a:t>hoặc</a:t>
                      </a:r>
                      <a:r>
                        <a:rPr lang="en-US" baseline="0" dirty="0" smtClean="0"/>
                        <a:t> </a:t>
                      </a:r>
                      <a:r>
                        <a:rPr lang="en-US" baseline="0" dirty="0" err="1" smtClean="0"/>
                        <a:t>bằng</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x &gt;= y</a:t>
                      </a:r>
                      <a:endParaRPr lang="en-US"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x </a:t>
                      </a:r>
                      <a:r>
                        <a:rPr lang="en-US" dirty="0" err="1" smtClean="0"/>
                        <a:t>lớn</a:t>
                      </a:r>
                      <a:r>
                        <a:rPr lang="en-US" baseline="0" dirty="0" smtClean="0"/>
                        <a:t> </a:t>
                      </a:r>
                      <a:r>
                        <a:rPr lang="en-US" baseline="0" dirty="0" err="1" smtClean="0"/>
                        <a:t>hơn</a:t>
                      </a:r>
                      <a:r>
                        <a:rPr lang="en-US" baseline="0" dirty="0" smtClean="0"/>
                        <a:t> </a:t>
                      </a:r>
                      <a:r>
                        <a:rPr lang="en-US" baseline="0" dirty="0" err="1" smtClean="0"/>
                        <a:t>hoặc</a:t>
                      </a:r>
                      <a:r>
                        <a:rPr lang="en-US" baseline="0" dirty="0" smtClean="0"/>
                        <a:t> </a:t>
                      </a:r>
                      <a:r>
                        <a:rPr lang="en-US" baseline="0" dirty="0" err="1" smtClean="0"/>
                        <a:t>bằng</a:t>
                      </a:r>
                      <a:r>
                        <a:rPr lang="en-US" baseline="0" dirty="0" smtClean="0"/>
                        <a:t> y hay </a:t>
                      </a:r>
                      <a:r>
                        <a:rPr lang="en-US" baseline="0" dirty="0" err="1" smtClean="0"/>
                        <a:t>không</a:t>
                      </a:r>
                      <a:endParaRPr lang="en-US" dirty="0" smtClean="0"/>
                    </a:p>
                  </a:txBody>
                  <a:tcPr/>
                </a:tc>
                <a:extLst>
                  <a:ext uri="{0D108BD9-81ED-4DB2-BD59-A6C34878D82A}">
                    <a16:rowId xmlns="" xmlns:a16="http://schemas.microsoft.com/office/drawing/2014/main" val="819324418"/>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&lt; </a:t>
                      </a:r>
                      <a:endParaRPr lang="en-US" dirty="0" smtClean="0"/>
                    </a:p>
                  </a:txBody>
                  <a:tcPr/>
                </a:tc>
                <a:tc>
                  <a:txBody>
                    <a:bodyPr/>
                    <a:lstStyle/>
                    <a:p>
                      <a:r>
                        <a:rPr lang="en-US" dirty="0" smtClean="0"/>
                        <a:t>So</a:t>
                      </a:r>
                      <a:r>
                        <a:rPr lang="en-US" baseline="0" dirty="0" smtClean="0"/>
                        <a:t> </a:t>
                      </a:r>
                      <a:r>
                        <a:rPr lang="en-US" baseline="0" dirty="0" err="1" smtClean="0"/>
                        <a:t>sánh</a:t>
                      </a:r>
                      <a:r>
                        <a:rPr lang="en-US" baseline="0" dirty="0" smtClean="0"/>
                        <a:t> </a:t>
                      </a:r>
                      <a:r>
                        <a:rPr lang="en-US" baseline="0" dirty="0" err="1" smtClean="0"/>
                        <a:t>bé</a:t>
                      </a:r>
                      <a:r>
                        <a:rPr lang="en-US" baseline="0" dirty="0" smtClean="0"/>
                        <a:t> </a:t>
                      </a:r>
                      <a:r>
                        <a:rPr lang="en-US" baseline="0" dirty="0" err="1" smtClean="0"/>
                        <a:t>hơn</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x &lt; y</a:t>
                      </a:r>
                      <a:endParaRPr lang="en-US"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x </a:t>
                      </a:r>
                      <a:r>
                        <a:rPr lang="en-US" dirty="0" err="1" smtClean="0"/>
                        <a:t>bé</a:t>
                      </a:r>
                      <a:r>
                        <a:rPr lang="en-US" baseline="0" dirty="0" smtClean="0"/>
                        <a:t> </a:t>
                      </a:r>
                      <a:r>
                        <a:rPr lang="en-US" baseline="0" dirty="0" err="1" smtClean="0"/>
                        <a:t>hơn</a:t>
                      </a:r>
                      <a:r>
                        <a:rPr lang="en-US" baseline="0" dirty="0" smtClean="0"/>
                        <a:t> </a:t>
                      </a:r>
                      <a:r>
                        <a:rPr lang="en-US" baseline="0" dirty="0" err="1" smtClean="0"/>
                        <a:t>hoặc</a:t>
                      </a:r>
                      <a:r>
                        <a:rPr lang="en-US" baseline="0" dirty="0" smtClean="0"/>
                        <a:t> </a:t>
                      </a:r>
                      <a:r>
                        <a:rPr lang="en-US" baseline="0" dirty="0" err="1" smtClean="0"/>
                        <a:t>bằng</a:t>
                      </a:r>
                      <a:r>
                        <a:rPr lang="en-US" baseline="0" dirty="0" smtClean="0"/>
                        <a:t> y hay </a:t>
                      </a:r>
                      <a:r>
                        <a:rPr lang="en-US" baseline="0" dirty="0" err="1" smtClean="0"/>
                        <a:t>không</a:t>
                      </a:r>
                      <a:endParaRPr lang="en-US" dirty="0" smtClean="0"/>
                    </a:p>
                  </a:txBody>
                  <a:tcPr/>
                </a:tc>
                <a:extLst>
                  <a:ext uri="{0D108BD9-81ED-4DB2-BD59-A6C34878D82A}">
                    <a16:rowId xmlns="" xmlns:a16="http://schemas.microsoft.com/office/drawing/2014/main" val="276562335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&lt;=</a:t>
                      </a:r>
                      <a:endParaRPr lang="en-US" dirty="0"/>
                    </a:p>
                  </a:txBody>
                  <a:tcPr/>
                </a:tc>
                <a:tc>
                  <a:txBody>
                    <a:bodyPr/>
                    <a:lstStyle/>
                    <a:p>
                      <a:r>
                        <a:rPr lang="en-US" dirty="0" err="1" smtClean="0"/>
                        <a:t>Bé</a:t>
                      </a:r>
                      <a:r>
                        <a:rPr lang="en-US" baseline="0" dirty="0" smtClean="0"/>
                        <a:t> </a:t>
                      </a:r>
                      <a:r>
                        <a:rPr lang="en-US" baseline="0" dirty="0" err="1" smtClean="0"/>
                        <a:t>hơn</a:t>
                      </a:r>
                      <a:r>
                        <a:rPr lang="en-US" baseline="0" dirty="0" smtClean="0"/>
                        <a:t> </a:t>
                      </a:r>
                      <a:r>
                        <a:rPr lang="en-US" baseline="0" dirty="0" err="1" smtClean="0"/>
                        <a:t>hoặc</a:t>
                      </a:r>
                      <a:r>
                        <a:rPr lang="en-US" baseline="0" dirty="0" smtClean="0"/>
                        <a:t> </a:t>
                      </a:r>
                      <a:r>
                        <a:rPr lang="en-US" baseline="0" dirty="0" err="1" smtClean="0"/>
                        <a:t>bằng</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x &lt;= y</a:t>
                      </a:r>
                      <a:endParaRPr lang="en-US"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x </a:t>
                      </a:r>
                      <a:r>
                        <a:rPr lang="en-US" dirty="0" err="1" smtClean="0"/>
                        <a:t>bé</a:t>
                      </a:r>
                      <a:r>
                        <a:rPr lang="en-US" baseline="0" dirty="0" smtClean="0"/>
                        <a:t> </a:t>
                      </a:r>
                      <a:r>
                        <a:rPr lang="en-US" baseline="0" dirty="0" err="1" smtClean="0"/>
                        <a:t>hơn</a:t>
                      </a:r>
                      <a:r>
                        <a:rPr lang="en-US" baseline="0" dirty="0" smtClean="0"/>
                        <a:t> </a:t>
                      </a:r>
                      <a:r>
                        <a:rPr lang="en-US" baseline="0" dirty="0" err="1" smtClean="0"/>
                        <a:t>hoặc</a:t>
                      </a:r>
                      <a:r>
                        <a:rPr lang="en-US" baseline="0" dirty="0" smtClean="0"/>
                        <a:t> </a:t>
                      </a:r>
                      <a:r>
                        <a:rPr lang="en-US" baseline="0" dirty="0" err="1" smtClean="0"/>
                        <a:t>bằng</a:t>
                      </a:r>
                      <a:r>
                        <a:rPr lang="en-US" baseline="0" dirty="0" smtClean="0"/>
                        <a:t> y hay </a:t>
                      </a:r>
                      <a:r>
                        <a:rPr lang="en-US" baseline="0" dirty="0" err="1" smtClean="0"/>
                        <a:t>không</a:t>
                      </a:r>
                      <a:endParaRPr lang="en-US" dirty="0" smtClean="0"/>
                    </a:p>
                  </a:txBody>
                  <a:tcPr/>
                </a:tc>
                <a:extLst>
                  <a:ext uri="{0D108BD9-81ED-4DB2-BD59-A6C34878D82A}">
                    <a16:rowId xmlns="" xmlns:a16="http://schemas.microsoft.com/office/drawing/2014/main" val="242429545"/>
                  </a:ext>
                </a:extLst>
              </a:tr>
            </a:tbl>
          </a:graphicData>
        </a:graphic>
      </p:graphicFrame>
    </p:spTree>
    <p:extLst>
      <p:ext uri="{BB962C8B-B14F-4D97-AF65-F5344CB8AC3E}">
        <p14:creationId xmlns:p14="http://schemas.microsoft.com/office/powerpoint/2010/main" val="302599953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5</a:t>
            </a:fld>
            <a:endParaRPr lang="en-US"/>
          </a:p>
        </p:txBody>
      </p:sp>
      <p:sp>
        <p:nvSpPr>
          <p:cNvPr id="3" name="Text Placeholder 2"/>
          <p:cNvSpPr>
            <a:spLocks noGrp="1"/>
          </p:cNvSpPr>
          <p:nvPr>
            <p:ph type="body" sz="quarter" idx="13"/>
          </p:nvPr>
        </p:nvSpPr>
        <p:spPr/>
        <p:txBody>
          <a:bodyPr/>
          <a:lstStyle/>
          <a:p>
            <a:r>
              <a:rPr lang="en-US" dirty="0" smtClean="0"/>
              <a:t>3.2 </a:t>
            </a:r>
            <a:r>
              <a:rPr lang="en-US" dirty="0" err="1" smtClean="0"/>
              <a:t>Toán</a:t>
            </a:r>
            <a:r>
              <a:rPr lang="en-US" dirty="0" smtClean="0"/>
              <a:t> </a:t>
            </a:r>
            <a:r>
              <a:rPr lang="en-US" dirty="0" err="1" smtClean="0"/>
              <a:t>tử</a:t>
            </a:r>
            <a:r>
              <a:rPr lang="en-US" dirty="0" smtClean="0"/>
              <a:t> Logic </a:t>
            </a:r>
            <a:r>
              <a:rPr lang="en-US" dirty="0" err="1" smtClean="0"/>
              <a:t>trong</a:t>
            </a:r>
            <a:r>
              <a:rPr lang="en-US" dirty="0" smtClean="0"/>
              <a:t> Python</a:t>
            </a:r>
            <a:endParaRPr lang="en-US" dirty="0"/>
          </a:p>
        </p:txBody>
      </p:sp>
      <p:pic>
        <p:nvPicPr>
          <p:cNvPr id="4"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79187"/>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041993" y="1519761"/>
            <a:ext cx="7068814" cy="369332"/>
          </a:xfrm>
          <a:prstGeom prst="rect">
            <a:avLst/>
          </a:prstGeom>
          <a:noFill/>
        </p:spPr>
        <p:txBody>
          <a:bodyPr wrap="square" rtlCol="0">
            <a:spAutoFit/>
          </a:bodyPr>
          <a:lstStyle/>
          <a:p>
            <a:r>
              <a:rPr lang="en-US" b="1" dirty="0" err="1" smtClean="0"/>
              <a:t>Toán</a:t>
            </a:r>
            <a:r>
              <a:rPr lang="en-US" b="1" dirty="0" smtClean="0"/>
              <a:t> </a:t>
            </a:r>
            <a:r>
              <a:rPr lang="en-US" b="1" dirty="0" err="1" smtClean="0"/>
              <a:t>tử</a:t>
            </a:r>
            <a:r>
              <a:rPr lang="en-US" b="1" dirty="0" smtClean="0"/>
              <a:t> Logic</a:t>
            </a:r>
            <a:endParaRPr lang="en-US" b="1" dirty="0">
              <a:solidFill>
                <a:srgbClr val="FF0000"/>
              </a:solidFill>
            </a:endParaRPr>
          </a:p>
        </p:txBody>
      </p:sp>
      <p:graphicFrame>
        <p:nvGraphicFramePr>
          <p:cNvPr id="12" name="Table 11"/>
          <p:cNvGraphicFramePr>
            <a:graphicFrameLocks noGrp="1"/>
          </p:cNvGraphicFramePr>
          <p:nvPr>
            <p:extLst>
              <p:ext uri="{D42A27DB-BD31-4B8C-83A1-F6EECF244321}">
                <p14:modId xmlns:p14="http://schemas.microsoft.com/office/powerpoint/2010/main" val="1658812907"/>
              </p:ext>
            </p:extLst>
          </p:nvPr>
        </p:nvGraphicFramePr>
        <p:xfrm>
          <a:off x="563525" y="2434416"/>
          <a:ext cx="8207907" cy="1483360"/>
        </p:xfrm>
        <a:graphic>
          <a:graphicData uri="http://schemas.openxmlformats.org/drawingml/2006/table">
            <a:tbl>
              <a:tblPr firstRow="1" bandRow="1">
                <a:tableStyleId>{5C22544A-7EE6-4342-B048-85BDC9FD1C3A}</a:tableStyleId>
              </a:tblPr>
              <a:tblGrid>
                <a:gridCol w="1180215">
                  <a:extLst>
                    <a:ext uri="{9D8B030D-6E8A-4147-A177-3AD203B41FA5}">
                      <a16:colId xmlns="" xmlns:a16="http://schemas.microsoft.com/office/drawing/2014/main" val="3997104067"/>
                    </a:ext>
                  </a:extLst>
                </a:gridCol>
                <a:gridCol w="1286539">
                  <a:extLst>
                    <a:ext uri="{9D8B030D-6E8A-4147-A177-3AD203B41FA5}">
                      <a16:colId xmlns="" xmlns:a16="http://schemas.microsoft.com/office/drawing/2014/main" val="3971698187"/>
                    </a:ext>
                  </a:extLst>
                </a:gridCol>
                <a:gridCol w="2147777">
                  <a:extLst>
                    <a:ext uri="{9D8B030D-6E8A-4147-A177-3AD203B41FA5}">
                      <a16:colId xmlns="" xmlns:a16="http://schemas.microsoft.com/office/drawing/2014/main" val="666240830"/>
                    </a:ext>
                  </a:extLst>
                </a:gridCol>
                <a:gridCol w="3593376">
                  <a:extLst>
                    <a:ext uri="{9D8B030D-6E8A-4147-A177-3AD203B41FA5}">
                      <a16:colId xmlns="" xmlns:a16="http://schemas.microsoft.com/office/drawing/2014/main" val="163135137"/>
                    </a:ext>
                  </a:extLst>
                </a:gridCol>
              </a:tblGrid>
              <a:tr h="370840">
                <a:tc>
                  <a:txBody>
                    <a:bodyPr/>
                    <a:lstStyle/>
                    <a:p>
                      <a:r>
                        <a:rPr lang="en-US" dirty="0" err="1" smtClean="0"/>
                        <a:t>Toán</a:t>
                      </a:r>
                      <a:r>
                        <a:rPr lang="en-US" baseline="0" dirty="0" smtClean="0"/>
                        <a:t> </a:t>
                      </a:r>
                      <a:r>
                        <a:rPr lang="en-US" baseline="0" dirty="0" err="1" smtClean="0"/>
                        <a:t>tử</a:t>
                      </a:r>
                      <a:endParaRPr lang="en-US" dirty="0"/>
                    </a:p>
                  </a:txBody>
                  <a:tcPr/>
                </a:tc>
                <a:tc>
                  <a:txBody>
                    <a:bodyPr/>
                    <a:lstStyle/>
                    <a:p>
                      <a:r>
                        <a:rPr lang="en-US" dirty="0" smtClean="0"/>
                        <a:t>Ý</a:t>
                      </a:r>
                      <a:r>
                        <a:rPr lang="en-US" baseline="0" dirty="0" smtClean="0"/>
                        <a:t> </a:t>
                      </a:r>
                      <a:r>
                        <a:rPr lang="en-US" baseline="0" dirty="0" err="1" smtClean="0"/>
                        <a:t>Nghĩa</a:t>
                      </a:r>
                      <a:endParaRPr lang="en-US" dirty="0"/>
                    </a:p>
                  </a:txBody>
                  <a:tcPr/>
                </a:tc>
                <a:tc>
                  <a:txBody>
                    <a:bodyPr/>
                    <a:lstStyle/>
                    <a:p>
                      <a:r>
                        <a:rPr lang="en-US" dirty="0" err="1" smtClean="0"/>
                        <a:t>Ví</a:t>
                      </a:r>
                      <a:r>
                        <a:rPr lang="en-US" baseline="0" dirty="0" smtClean="0"/>
                        <a:t> </a:t>
                      </a:r>
                      <a:r>
                        <a:rPr lang="en-US" baseline="0" dirty="0" err="1" smtClean="0"/>
                        <a:t>dụ</a:t>
                      </a:r>
                      <a:endParaRPr lang="en-US" dirty="0"/>
                    </a:p>
                  </a:txBody>
                  <a:tcPr/>
                </a:tc>
                <a:tc>
                  <a:txBody>
                    <a:bodyPr/>
                    <a:lstStyle/>
                    <a:p>
                      <a:r>
                        <a:rPr lang="en-US" dirty="0" err="1" smtClean="0"/>
                        <a:t>Kết</a:t>
                      </a:r>
                      <a:r>
                        <a:rPr lang="en-US" baseline="0" dirty="0" smtClean="0"/>
                        <a:t> </a:t>
                      </a:r>
                      <a:r>
                        <a:rPr lang="en-US" baseline="0" dirty="0" err="1" smtClean="0"/>
                        <a:t>quả</a:t>
                      </a:r>
                      <a:endParaRPr lang="en-US" dirty="0"/>
                    </a:p>
                  </a:txBody>
                  <a:tcPr/>
                </a:tc>
                <a:extLst>
                  <a:ext uri="{0D108BD9-81ED-4DB2-BD59-A6C34878D82A}">
                    <a16:rowId xmlns="" xmlns:a16="http://schemas.microsoft.com/office/drawing/2014/main" val="2671286944"/>
                  </a:ext>
                </a:extLst>
              </a:tr>
              <a:tr h="370840">
                <a:tc>
                  <a:txBody>
                    <a:bodyPr/>
                    <a:lstStyle/>
                    <a:p>
                      <a:r>
                        <a:rPr lang="en-US" dirty="0" smtClean="0"/>
                        <a:t>and </a:t>
                      </a:r>
                      <a:endParaRPr lang="en-US" dirty="0"/>
                    </a:p>
                  </a:txBody>
                  <a:tcPr/>
                </a:tc>
                <a:tc>
                  <a:txBody>
                    <a:bodyPr/>
                    <a:lstStyle/>
                    <a:p>
                      <a:r>
                        <a:rPr lang="en-US" dirty="0" err="1" smtClean="0"/>
                        <a:t>và</a:t>
                      </a:r>
                      <a:endParaRPr lang="en-US" dirty="0"/>
                    </a:p>
                  </a:txBody>
                  <a:tcPr/>
                </a:tc>
                <a:tc>
                  <a:txBody>
                    <a:bodyPr/>
                    <a:lstStyle/>
                    <a:p>
                      <a:r>
                        <a:rPr lang="en-US" dirty="0" smtClean="0"/>
                        <a:t>x &gt; 3 and y &gt; 5</a:t>
                      </a:r>
                      <a:endParaRPr lang="en-US" dirty="0"/>
                    </a:p>
                  </a:txBody>
                  <a:tcPr/>
                </a:tc>
                <a:tc>
                  <a:txBody>
                    <a:bodyPr/>
                    <a:lstStyle/>
                    <a:p>
                      <a:r>
                        <a:rPr lang="en-US" baseline="0" dirty="0" smtClean="0"/>
                        <a:t>True and True = True</a:t>
                      </a:r>
                      <a:endParaRPr lang="en-US" dirty="0"/>
                    </a:p>
                  </a:txBody>
                  <a:tcPr/>
                </a:tc>
                <a:extLst>
                  <a:ext uri="{0D108BD9-81ED-4DB2-BD59-A6C34878D82A}">
                    <a16:rowId xmlns="" xmlns:a16="http://schemas.microsoft.com/office/drawing/2014/main" val="1081427535"/>
                  </a:ext>
                </a:extLst>
              </a:tr>
              <a:tr h="370840">
                <a:tc>
                  <a:txBody>
                    <a:bodyPr/>
                    <a:lstStyle/>
                    <a:p>
                      <a:r>
                        <a:rPr lang="en-US" dirty="0" smtClean="0"/>
                        <a:t>or</a:t>
                      </a:r>
                      <a:endParaRPr lang="en-US" dirty="0"/>
                    </a:p>
                  </a:txBody>
                  <a:tcPr/>
                </a:tc>
                <a:tc>
                  <a:txBody>
                    <a:bodyPr/>
                    <a:lstStyle/>
                    <a:p>
                      <a:r>
                        <a:rPr lang="en-US" dirty="0" err="1" smtClean="0"/>
                        <a:t>Hoặc</a:t>
                      </a:r>
                      <a:endParaRPr lang="en-US" dirty="0"/>
                    </a:p>
                  </a:txBody>
                  <a:tcPr/>
                </a:tc>
                <a:tc>
                  <a:txBody>
                    <a:bodyPr/>
                    <a:lstStyle/>
                    <a:p>
                      <a:r>
                        <a:rPr lang="en-US" baseline="0" dirty="0" smtClean="0"/>
                        <a:t>x &gt; 3 or y &gt; 9</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True and False = False</a:t>
                      </a:r>
                      <a:endParaRPr lang="en-US" dirty="0" smtClean="0"/>
                    </a:p>
                  </a:txBody>
                  <a:tcPr/>
                </a:tc>
                <a:extLst>
                  <a:ext uri="{0D108BD9-81ED-4DB2-BD59-A6C34878D82A}">
                    <a16:rowId xmlns="" xmlns:a16="http://schemas.microsoft.com/office/drawing/2014/main" val="327816759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a:t>
                      </a:r>
                      <a:endParaRPr lang="en-US" dirty="0" smtClean="0"/>
                    </a:p>
                  </a:txBody>
                  <a:tcPr/>
                </a:tc>
                <a:tc>
                  <a:txBody>
                    <a:bodyPr/>
                    <a:lstStyle/>
                    <a:p>
                      <a:r>
                        <a:rPr lang="en-US" dirty="0" err="1" smtClean="0"/>
                        <a:t>Phủ</a:t>
                      </a:r>
                      <a:r>
                        <a:rPr lang="en-US" baseline="0" dirty="0" smtClean="0"/>
                        <a:t> </a:t>
                      </a:r>
                      <a:r>
                        <a:rPr lang="en-US" baseline="0" dirty="0" err="1" smtClean="0"/>
                        <a:t>định</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not(x &gt; 3)</a:t>
                      </a:r>
                      <a:endParaRPr lang="en-US" dirty="0" smtClean="0"/>
                    </a:p>
                  </a:txBody>
                  <a:tcPr/>
                </a:tc>
                <a:tc>
                  <a:txBody>
                    <a:bodyPr/>
                    <a:lstStyle/>
                    <a:p>
                      <a:r>
                        <a:rPr lang="en-US" dirty="0" smtClean="0"/>
                        <a:t>not(True) = False</a:t>
                      </a:r>
                      <a:endParaRPr lang="en-US" dirty="0"/>
                    </a:p>
                  </a:txBody>
                  <a:tcPr/>
                </a:tc>
                <a:extLst>
                  <a:ext uri="{0D108BD9-81ED-4DB2-BD59-A6C34878D82A}">
                    <a16:rowId xmlns="" xmlns:a16="http://schemas.microsoft.com/office/drawing/2014/main" val="3434579592"/>
                  </a:ext>
                </a:extLst>
              </a:tr>
            </a:tbl>
          </a:graphicData>
        </a:graphic>
      </p:graphicFrame>
      <p:sp>
        <p:nvSpPr>
          <p:cNvPr id="13" name="TextBox 12"/>
          <p:cNvSpPr txBox="1"/>
          <p:nvPr/>
        </p:nvSpPr>
        <p:spPr>
          <a:xfrm>
            <a:off x="500767" y="3985484"/>
            <a:ext cx="8333421" cy="369332"/>
          </a:xfrm>
          <a:prstGeom prst="rect">
            <a:avLst/>
          </a:prstGeom>
          <a:noFill/>
        </p:spPr>
        <p:txBody>
          <a:bodyPr wrap="square" rtlCol="0">
            <a:spAutoFit/>
          </a:bodyPr>
          <a:lstStyle/>
          <a:p>
            <a:r>
              <a:rPr lang="en-US" dirty="0" err="1" smtClean="0"/>
              <a:t>Bảng</a:t>
            </a:r>
            <a:r>
              <a:rPr lang="en-US" dirty="0" smtClean="0"/>
              <a:t> </a:t>
            </a:r>
            <a:r>
              <a:rPr lang="en-US" dirty="0" err="1" smtClean="0"/>
              <a:t>định</a:t>
            </a:r>
            <a:r>
              <a:rPr lang="en-US" dirty="0" smtClean="0"/>
              <a:t> </a:t>
            </a:r>
            <a:r>
              <a:rPr lang="en-US" dirty="0" err="1" smtClean="0"/>
              <a:t>nghĩa</a:t>
            </a:r>
            <a:r>
              <a:rPr lang="en-US" dirty="0" smtClean="0"/>
              <a:t> </a:t>
            </a:r>
            <a:r>
              <a:rPr lang="en-US" dirty="0" err="1" smtClean="0"/>
              <a:t>giá</a:t>
            </a:r>
            <a:r>
              <a:rPr lang="en-US" dirty="0" smtClean="0"/>
              <a:t> </a:t>
            </a:r>
            <a:r>
              <a:rPr lang="en-US" dirty="0" err="1" smtClean="0"/>
              <a:t>trị</a:t>
            </a:r>
            <a:r>
              <a:rPr lang="en-US" dirty="0" smtClean="0"/>
              <a:t> </a:t>
            </a:r>
            <a:r>
              <a:rPr lang="en-US" dirty="0" err="1" smtClean="0"/>
              <a:t>của</a:t>
            </a:r>
            <a:r>
              <a:rPr lang="en-US" dirty="0" smtClean="0"/>
              <a:t> </a:t>
            </a:r>
            <a:r>
              <a:rPr lang="en-US" dirty="0" err="1" smtClean="0"/>
              <a:t>toán</a:t>
            </a:r>
            <a:r>
              <a:rPr lang="en-US" dirty="0" smtClean="0"/>
              <a:t> </a:t>
            </a:r>
            <a:r>
              <a:rPr lang="en-US" dirty="0" err="1" smtClean="0"/>
              <a:t>tử</a:t>
            </a:r>
            <a:r>
              <a:rPr lang="en-US" dirty="0" smtClean="0"/>
              <a:t> </a:t>
            </a:r>
            <a:r>
              <a:rPr lang="en-US" b="1" dirty="0" smtClean="0"/>
              <a:t>and</a:t>
            </a:r>
            <a:r>
              <a:rPr lang="en-US" dirty="0" smtClean="0"/>
              <a:t> </a:t>
            </a:r>
            <a:r>
              <a:rPr lang="en-US" dirty="0" err="1" smtClean="0"/>
              <a:t>và</a:t>
            </a:r>
            <a:r>
              <a:rPr lang="en-US" dirty="0" smtClean="0"/>
              <a:t> </a:t>
            </a:r>
            <a:r>
              <a:rPr lang="en-US" b="1" dirty="0" smtClean="0"/>
              <a:t>or</a:t>
            </a:r>
            <a:endParaRPr lang="en-US" b="1" dirty="0"/>
          </a:p>
        </p:txBody>
      </p:sp>
      <p:sp>
        <p:nvSpPr>
          <p:cNvPr id="10" name="TextBox 9"/>
          <p:cNvSpPr txBox="1"/>
          <p:nvPr/>
        </p:nvSpPr>
        <p:spPr>
          <a:xfrm>
            <a:off x="500767" y="1997376"/>
            <a:ext cx="8333421" cy="369332"/>
          </a:xfrm>
          <a:prstGeom prst="rect">
            <a:avLst/>
          </a:prstGeom>
          <a:noFill/>
        </p:spPr>
        <p:txBody>
          <a:bodyPr wrap="square" rtlCol="0">
            <a:spAutoFit/>
          </a:bodyPr>
          <a:lstStyle/>
          <a:p>
            <a:r>
              <a:rPr lang="en-US" dirty="0" err="1" smtClean="0"/>
              <a:t>Ví</a:t>
            </a:r>
            <a:r>
              <a:rPr lang="en-US" dirty="0" smtClean="0"/>
              <a:t> </a:t>
            </a:r>
            <a:r>
              <a:rPr lang="en-US" dirty="0" err="1" smtClean="0"/>
              <a:t>dụ</a:t>
            </a:r>
            <a:r>
              <a:rPr lang="en-US" dirty="0" smtClean="0"/>
              <a:t>: Cho x = 5, y = 8</a:t>
            </a:r>
            <a:endParaRPr lang="en-US" dirty="0"/>
          </a:p>
        </p:txBody>
      </p:sp>
      <p:graphicFrame>
        <p:nvGraphicFramePr>
          <p:cNvPr id="11" name="Table 10"/>
          <p:cNvGraphicFramePr>
            <a:graphicFrameLocks noGrp="1"/>
          </p:cNvGraphicFramePr>
          <p:nvPr>
            <p:extLst>
              <p:ext uri="{D42A27DB-BD31-4B8C-83A1-F6EECF244321}">
                <p14:modId xmlns:p14="http://schemas.microsoft.com/office/powerpoint/2010/main" val="857259044"/>
              </p:ext>
            </p:extLst>
          </p:nvPr>
        </p:nvGraphicFramePr>
        <p:xfrm>
          <a:off x="563523" y="4488852"/>
          <a:ext cx="3965947" cy="1854200"/>
        </p:xfrm>
        <a:graphic>
          <a:graphicData uri="http://schemas.openxmlformats.org/drawingml/2006/table">
            <a:tbl>
              <a:tblPr firstRow="1" bandRow="1">
                <a:tableStyleId>{5C22544A-7EE6-4342-B048-85BDC9FD1C3A}</a:tableStyleId>
              </a:tblPr>
              <a:tblGrid>
                <a:gridCol w="741763">
                  <a:extLst>
                    <a:ext uri="{9D8B030D-6E8A-4147-A177-3AD203B41FA5}">
                      <a16:colId xmlns="" xmlns:a16="http://schemas.microsoft.com/office/drawing/2014/main" val="3997104067"/>
                    </a:ext>
                  </a:extLst>
                </a:gridCol>
                <a:gridCol w="949454">
                  <a:extLst>
                    <a:ext uri="{9D8B030D-6E8A-4147-A177-3AD203B41FA5}">
                      <a16:colId xmlns="" xmlns:a16="http://schemas.microsoft.com/office/drawing/2014/main" val="3971698187"/>
                    </a:ext>
                  </a:extLst>
                </a:gridCol>
                <a:gridCol w="860442">
                  <a:extLst>
                    <a:ext uri="{9D8B030D-6E8A-4147-A177-3AD203B41FA5}">
                      <a16:colId xmlns="" xmlns:a16="http://schemas.microsoft.com/office/drawing/2014/main" val="666240830"/>
                    </a:ext>
                  </a:extLst>
                </a:gridCol>
                <a:gridCol w="1414288">
                  <a:extLst>
                    <a:ext uri="{9D8B030D-6E8A-4147-A177-3AD203B41FA5}">
                      <a16:colId xmlns="" xmlns:a16="http://schemas.microsoft.com/office/drawing/2014/main" val="163135137"/>
                    </a:ext>
                  </a:extLst>
                </a:gridCol>
              </a:tblGrid>
              <a:tr h="370840">
                <a:tc>
                  <a:txBody>
                    <a:bodyPr/>
                    <a:lstStyle/>
                    <a:p>
                      <a:r>
                        <a:rPr lang="en-US" dirty="0" smtClean="0"/>
                        <a:t>x</a:t>
                      </a:r>
                      <a:endParaRPr lang="en-US" dirty="0"/>
                    </a:p>
                  </a:txBody>
                  <a:tcPr/>
                </a:tc>
                <a:tc>
                  <a:txBody>
                    <a:bodyPr/>
                    <a:lstStyle/>
                    <a:p>
                      <a:pPr algn="ctr"/>
                      <a:r>
                        <a:rPr lang="en-US" dirty="0" smtClean="0"/>
                        <a:t>and</a:t>
                      </a:r>
                      <a:endParaRPr lang="en-US" dirty="0"/>
                    </a:p>
                  </a:txBody>
                  <a:tcPr/>
                </a:tc>
                <a:tc>
                  <a:txBody>
                    <a:bodyPr/>
                    <a:lstStyle/>
                    <a:p>
                      <a:r>
                        <a:rPr lang="en-US" dirty="0" smtClean="0"/>
                        <a:t>y</a:t>
                      </a:r>
                      <a:endParaRPr lang="en-US" dirty="0"/>
                    </a:p>
                  </a:txBody>
                  <a:tcPr/>
                </a:tc>
                <a:tc>
                  <a:txBody>
                    <a:bodyPr/>
                    <a:lstStyle/>
                    <a:p>
                      <a:r>
                        <a:rPr lang="en-US" dirty="0" err="1" smtClean="0"/>
                        <a:t>Kết</a:t>
                      </a:r>
                      <a:r>
                        <a:rPr lang="en-US" baseline="0" dirty="0" smtClean="0"/>
                        <a:t> </a:t>
                      </a:r>
                      <a:r>
                        <a:rPr lang="en-US" baseline="0" dirty="0" err="1" smtClean="0"/>
                        <a:t>quả</a:t>
                      </a:r>
                      <a:endParaRPr lang="en-US" dirty="0"/>
                    </a:p>
                  </a:txBody>
                  <a:tcPr/>
                </a:tc>
                <a:extLst>
                  <a:ext uri="{0D108BD9-81ED-4DB2-BD59-A6C34878D82A}">
                    <a16:rowId xmlns="" xmlns:a16="http://schemas.microsoft.com/office/drawing/2014/main" val="2671286944"/>
                  </a:ext>
                </a:extLst>
              </a:tr>
              <a:tr h="370840">
                <a:tc>
                  <a:txBody>
                    <a:bodyPr/>
                    <a:lstStyle/>
                    <a:p>
                      <a:r>
                        <a:rPr lang="en-US" dirty="0" smtClean="0"/>
                        <a:t>True </a:t>
                      </a:r>
                      <a:endParaRPr lang="en-US" dirty="0"/>
                    </a:p>
                  </a:txBody>
                  <a:tcPr/>
                </a:tc>
                <a:tc>
                  <a:txBody>
                    <a:bodyPr/>
                    <a:lstStyle/>
                    <a:p>
                      <a:pPr algn="ctr"/>
                      <a:r>
                        <a:rPr lang="en-US" dirty="0" smtClean="0"/>
                        <a:t>and</a:t>
                      </a:r>
                      <a:endParaRPr lang="en-US" dirty="0"/>
                    </a:p>
                  </a:txBody>
                  <a:tcPr/>
                </a:tc>
                <a:tc>
                  <a:txBody>
                    <a:bodyPr/>
                    <a:lstStyle/>
                    <a:p>
                      <a:r>
                        <a:rPr lang="en-US" dirty="0" smtClean="0"/>
                        <a:t>True</a:t>
                      </a:r>
                      <a:endParaRPr lang="en-US" dirty="0"/>
                    </a:p>
                  </a:txBody>
                  <a:tcPr/>
                </a:tc>
                <a:tc>
                  <a:txBody>
                    <a:bodyPr/>
                    <a:lstStyle/>
                    <a:p>
                      <a:r>
                        <a:rPr lang="en-US" baseline="0" dirty="0" smtClean="0"/>
                        <a:t>True</a:t>
                      </a:r>
                      <a:endParaRPr lang="en-US" dirty="0"/>
                    </a:p>
                  </a:txBody>
                  <a:tcPr/>
                </a:tc>
                <a:extLst>
                  <a:ext uri="{0D108BD9-81ED-4DB2-BD59-A6C34878D82A}">
                    <a16:rowId xmlns="" xmlns:a16="http://schemas.microsoft.com/office/drawing/2014/main" val="1081427535"/>
                  </a:ext>
                </a:extLst>
              </a:tr>
              <a:tr h="370840">
                <a:tc>
                  <a:txBody>
                    <a:bodyPr/>
                    <a:lstStyle/>
                    <a:p>
                      <a:r>
                        <a:rPr lang="en-US" dirty="0" smtClean="0"/>
                        <a:t>True</a:t>
                      </a:r>
                      <a:endParaRPr lang="en-US" dirty="0"/>
                    </a:p>
                  </a:txBody>
                  <a:tcPr/>
                </a:tc>
                <a:tc>
                  <a:txBody>
                    <a:bodyPr/>
                    <a:lstStyle/>
                    <a:p>
                      <a:pPr algn="ctr"/>
                      <a:r>
                        <a:rPr lang="en-US" dirty="0" smtClean="0"/>
                        <a:t>and</a:t>
                      </a:r>
                      <a:endParaRPr lang="en-US" dirty="0"/>
                    </a:p>
                  </a:txBody>
                  <a:tcPr/>
                </a:tc>
                <a:tc>
                  <a:txBody>
                    <a:bodyPr/>
                    <a:lstStyle/>
                    <a:p>
                      <a:r>
                        <a:rPr lang="en-US" dirty="0" smtClean="0"/>
                        <a:t>False</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False</a:t>
                      </a:r>
                    </a:p>
                  </a:txBody>
                  <a:tcPr/>
                </a:tc>
                <a:extLst>
                  <a:ext uri="{0D108BD9-81ED-4DB2-BD59-A6C34878D82A}">
                    <a16:rowId xmlns="" xmlns:a16="http://schemas.microsoft.com/office/drawing/2014/main" val="327816759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False</a:t>
                      </a:r>
                      <a:endParaRPr lang="en-US" dirty="0" smtClean="0"/>
                    </a:p>
                  </a:txBody>
                  <a:tcPr/>
                </a:tc>
                <a:tc>
                  <a:txBody>
                    <a:bodyPr/>
                    <a:lstStyle/>
                    <a:p>
                      <a:pPr algn="ctr"/>
                      <a:r>
                        <a:rPr lang="en-US" dirty="0" smtClean="0"/>
                        <a:t>and</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False</a:t>
                      </a:r>
                    </a:p>
                  </a:txBody>
                  <a:tcPr/>
                </a:tc>
                <a:tc>
                  <a:txBody>
                    <a:bodyPr/>
                    <a:lstStyle/>
                    <a:p>
                      <a:r>
                        <a:rPr lang="en-US" dirty="0" smtClean="0"/>
                        <a:t>False</a:t>
                      </a:r>
                      <a:endParaRPr lang="en-US" dirty="0"/>
                    </a:p>
                  </a:txBody>
                  <a:tcPr/>
                </a:tc>
                <a:extLst>
                  <a:ext uri="{0D108BD9-81ED-4DB2-BD59-A6C34878D82A}">
                    <a16:rowId xmlns="" xmlns:a16="http://schemas.microsoft.com/office/drawing/2014/main" val="343457959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False</a:t>
                      </a:r>
                    </a:p>
                  </a:txBody>
                  <a:tcPr/>
                </a:tc>
                <a:tc>
                  <a:txBody>
                    <a:bodyPr/>
                    <a:lstStyle/>
                    <a:p>
                      <a:pPr algn="ctr"/>
                      <a:r>
                        <a:rPr lang="en-US" dirty="0" smtClean="0"/>
                        <a:t>and</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True</a:t>
                      </a:r>
                    </a:p>
                  </a:txBody>
                  <a:tcPr/>
                </a:tc>
                <a:tc>
                  <a:txBody>
                    <a:bodyPr/>
                    <a:lstStyle/>
                    <a:p>
                      <a:r>
                        <a:rPr lang="en-US" dirty="0" smtClean="0"/>
                        <a:t>False</a:t>
                      </a:r>
                      <a:endParaRPr lang="en-US" dirty="0"/>
                    </a:p>
                  </a:txBody>
                  <a:tcPr/>
                </a:tc>
                <a:extLst>
                  <a:ext uri="{0D108BD9-81ED-4DB2-BD59-A6C34878D82A}">
                    <a16:rowId xmlns="" xmlns:a16="http://schemas.microsoft.com/office/drawing/2014/main" val="1109417126"/>
                  </a:ext>
                </a:extLst>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2967843779"/>
              </p:ext>
            </p:extLst>
          </p:nvPr>
        </p:nvGraphicFramePr>
        <p:xfrm>
          <a:off x="4763384" y="4488852"/>
          <a:ext cx="3965947" cy="1854200"/>
        </p:xfrm>
        <a:graphic>
          <a:graphicData uri="http://schemas.openxmlformats.org/drawingml/2006/table">
            <a:tbl>
              <a:tblPr firstRow="1" bandRow="1">
                <a:tableStyleId>{5C22544A-7EE6-4342-B048-85BDC9FD1C3A}</a:tableStyleId>
              </a:tblPr>
              <a:tblGrid>
                <a:gridCol w="741763">
                  <a:extLst>
                    <a:ext uri="{9D8B030D-6E8A-4147-A177-3AD203B41FA5}">
                      <a16:colId xmlns="" xmlns:a16="http://schemas.microsoft.com/office/drawing/2014/main" val="3997104067"/>
                    </a:ext>
                  </a:extLst>
                </a:gridCol>
                <a:gridCol w="949454">
                  <a:extLst>
                    <a:ext uri="{9D8B030D-6E8A-4147-A177-3AD203B41FA5}">
                      <a16:colId xmlns="" xmlns:a16="http://schemas.microsoft.com/office/drawing/2014/main" val="3971698187"/>
                    </a:ext>
                  </a:extLst>
                </a:gridCol>
                <a:gridCol w="860442">
                  <a:extLst>
                    <a:ext uri="{9D8B030D-6E8A-4147-A177-3AD203B41FA5}">
                      <a16:colId xmlns="" xmlns:a16="http://schemas.microsoft.com/office/drawing/2014/main" val="666240830"/>
                    </a:ext>
                  </a:extLst>
                </a:gridCol>
                <a:gridCol w="1414288">
                  <a:extLst>
                    <a:ext uri="{9D8B030D-6E8A-4147-A177-3AD203B41FA5}">
                      <a16:colId xmlns="" xmlns:a16="http://schemas.microsoft.com/office/drawing/2014/main" val="163135137"/>
                    </a:ext>
                  </a:extLst>
                </a:gridCol>
              </a:tblGrid>
              <a:tr h="370840">
                <a:tc>
                  <a:txBody>
                    <a:bodyPr/>
                    <a:lstStyle/>
                    <a:p>
                      <a:r>
                        <a:rPr lang="en-US" dirty="0" smtClean="0"/>
                        <a:t>x</a:t>
                      </a:r>
                      <a:endParaRPr lang="en-US" dirty="0"/>
                    </a:p>
                  </a:txBody>
                  <a:tcPr/>
                </a:tc>
                <a:tc>
                  <a:txBody>
                    <a:bodyPr/>
                    <a:lstStyle/>
                    <a:p>
                      <a:pPr algn="ctr"/>
                      <a:r>
                        <a:rPr lang="en-US" dirty="0" smtClean="0"/>
                        <a:t>or</a:t>
                      </a:r>
                      <a:endParaRPr lang="en-US" dirty="0"/>
                    </a:p>
                  </a:txBody>
                  <a:tcPr/>
                </a:tc>
                <a:tc>
                  <a:txBody>
                    <a:bodyPr/>
                    <a:lstStyle/>
                    <a:p>
                      <a:r>
                        <a:rPr lang="en-US" dirty="0" smtClean="0"/>
                        <a:t>y</a:t>
                      </a:r>
                      <a:endParaRPr lang="en-US" dirty="0"/>
                    </a:p>
                  </a:txBody>
                  <a:tcPr/>
                </a:tc>
                <a:tc>
                  <a:txBody>
                    <a:bodyPr/>
                    <a:lstStyle/>
                    <a:p>
                      <a:r>
                        <a:rPr lang="en-US" dirty="0" err="1" smtClean="0"/>
                        <a:t>Kết</a:t>
                      </a:r>
                      <a:r>
                        <a:rPr lang="en-US" baseline="0" dirty="0" smtClean="0"/>
                        <a:t> </a:t>
                      </a:r>
                      <a:r>
                        <a:rPr lang="en-US" baseline="0" dirty="0" err="1" smtClean="0"/>
                        <a:t>quả</a:t>
                      </a:r>
                      <a:endParaRPr lang="en-US" dirty="0"/>
                    </a:p>
                  </a:txBody>
                  <a:tcPr/>
                </a:tc>
                <a:extLst>
                  <a:ext uri="{0D108BD9-81ED-4DB2-BD59-A6C34878D82A}">
                    <a16:rowId xmlns="" xmlns:a16="http://schemas.microsoft.com/office/drawing/2014/main" val="2671286944"/>
                  </a:ext>
                </a:extLst>
              </a:tr>
              <a:tr h="370840">
                <a:tc>
                  <a:txBody>
                    <a:bodyPr/>
                    <a:lstStyle/>
                    <a:p>
                      <a:r>
                        <a:rPr lang="en-US" dirty="0" smtClean="0"/>
                        <a:t>True </a:t>
                      </a:r>
                      <a:endParaRPr lang="en-US" dirty="0"/>
                    </a:p>
                  </a:txBody>
                  <a:tcPr/>
                </a:tc>
                <a:tc>
                  <a:txBody>
                    <a:bodyPr/>
                    <a:lstStyle/>
                    <a:p>
                      <a:pPr algn="ctr"/>
                      <a:r>
                        <a:rPr lang="en-US" dirty="0" smtClean="0"/>
                        <a:t>or</a:t>
                      </a:r>
                      <a:endParaRPr lang="en-US" dirty="0"/>
                    </a:p>
                  </a:txBody>
                  <a:tcPr/>
                </a:tc>
                <a:tc>
                  <a:txBody>
                    <a:bodyPr/>
                    <a:lstStyle/>
                    <a:p>
                      <a:r>
                        <a:rPr lang="en-US" dirty="0" smtClean="0"/>
                        <a:t>True</a:t>
                      </a:r>
                      <a:endParaRPr lang="en-US" dirty="0"/>
                    </a:p>
                  </a:txBody>
                  <a:tcPr/>
                </a:tc>
                <a:tc>
                  <a:txBody>
                    <a:bodyPr/>
                    <a:lstStyle/>
                    <a:p>
                      <a:r>
                        <a:rPr lang="en-US" baseline="0" dirty="0" smtClean="0"/>
                        <a:t>True</a:t>
                      </a:r>
                      <a:endParaRPr lang="en-US" dirty="0"/>
                    </a:p>
                  </a:txBody>
                  <a:tcPr/>
                </a:tc>
                <a:extLst>
                  <a:ext uri="{0D108BD9-81ED-4DB2-BD59-A6C34878D82A}">
                    <a16:rowId xmlns="" xmlns:a16="http://schemas.microsoft.com/office/drawing/2014/main" val="1081427535"/>
                  </a:ext>
                </a:extLst>
              </a:tr>
              <a:tr h="370840">
                <a:tc>
                  <a:txBody>
                    <a:bodyPr/>
                    <a:lstStyle/>
                    <a:p>
                      <a:r>
                        <a:rPr lang="en-US" dirty="0" smtClean="0"/>
                        <a:t>True</a:t>
                      </a:r>
                      <a:endParaRPr lang="en-US" dirty="0"/>
                    </a:p>
                  </a:txBody>
                  <a:tcPr/>
                </a:tc>
                <a:tc>
                  <a:txBody>
                    <a:bodyPr/>
                    <a:lstStyle/>
                    <a:p>
                      <a:pPr algn="ctr"/>
                      <a:r>
                        <a:rPr lang="en-US" dirty="0" smtClean="0"/>
                        <a:t>or</a:t>
                      </a:r>
                      <a:endParaRPr lang="en-US" dirty="0"/>
                    </a:p>
                  </a:txBody>
                  <a:tcPr/>
                </a:tc>
                <a:tc>
                  <a:txBody>
                    <a:bodyPr/>
                    <a:lstStyle/>
                    <a:p>
                      <a:r>
                        <a:rPr lang="en-US" dirty="0" smtClean="0"/>
                        <a:t>False</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True</a:t>
                      </a:r>
                    </a:p>
                  </a:txBody>
                  <a:tcPr/>
                </a:tc>
                <a:extLst>
                  <a:ext uri="{0D108BD9-81ED-4DB2-BD59-A6C34878D82A}">
                    <a16:rowId xmlns="" xmlns:a16="http://schemas.microsoft.com/office/drawing/2014/main" val="327816759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False</a:t>
                      </a:r>
                      <a:endParaRPr lang="en-US" dirty="0" smtClean="0"/>
                    </a:p>
                  </a:txBody>
                  <a:tcPr/>
                </a:tc>
                <a:tc>
                  <a:txBody>
                    <a:bodyPr/>
                    <a:lstStyle/>
                    <a:p>
                      <a:pPr algn="ctr"/>
                      <a:r>
                        <a:rPr lang="en-US" dirty="0" smtClean="0"/>
                        <a:t>or</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False</a:t>
                      </a:r>
                    </a:p>
                  </a:txBody>
                  <a:tcPr/>
                </a:tc>
                <a:tc>
                  <a:txBody>
                    <a:bodyPr/>
                    <a:lstStyle/>
                    <a:p>
                      <a:r>
                        <a:rPr lang="en-US" dirty="0" smtClean="0"/>
                        <a:t>False</a:t>
                      </a:r>
                      <a:endParaRPr lang="en-US" dirty="0"/>
                    </a:p>
                  </a:txBody>
                  <a:tcPr/>
                </a:tc>
                <a:extLst>
                  <a:ext uri="{0D108BD9-81ED-4DB2-BD59-A6C34878D82A}">
                    <a16:rowId xmlns="" xmlns:a16="http://schemas.microsoft.com/office/drawing/2014/main" val="343457959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False</a:t>
                      </a:r>
                    </a:p>
                  </a:txBody>
                  <a:tcPr/>
                </a:tc>
                <a:tc>
                  <a:txBody>
                    <a:bodyPr/>
                    <a:lstStyle/>
                    <a:p>
                      <a:pPr algn="ctr"/>
                      <a:r>
                        <a:rPr lang="en-US" dirty="0" smtClean="0"/>
                        <a:t>or</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True</a:t>
                      </a:r>
                    </a:p>
                  </a:txBody>
                  <a:tcPr/>
                </a:tc>
                <a:tc>
                  <a:txBody>
                    <a:bodyPr/>
                    <a:lstStyle/>
                    <a:p>
                      <a:r>
                        <a:rPr lang="en-US" dirty="0" smtClean="0"/>
                        <a:t>True</a:t>
                      </a:r>
                      <a:endParaRPr lang="en-US" dirty="0"/>
                    </a:p>
                  </a:txBody>
                  <a:tcPr/>
                </a:tc>
                <a:extLst>
                  <a:ext uri="{0D108BD9-81ED-4DB2-BD59-A6C34878D82A}">
                    <a16:rowId xmlns="" xmlns:a16="http://schemas.microsoft.com/office/drawing/2014/main" val="1109417126"/>
                  </a:ext>
                </a:extLst>
              </a:tr>
            </a:tbl>
          </a:graphicData>
        </a:graphic>
      </p:graphicFrame>
    </p:spTree>
    <p:extLst>
      <p:ext uri="{BB962C8B-B14F-4D97-AF65-F5344CB8AC3E}">
        <p14:creationId xmlns:p14="http://schemas.microsoft.com/office/powerpoint/2010/main" val="396466467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6</a:t>
            </a:fld>
            <a:endParaRPr lang="en-US"/>
          </a:p>
        </p:txBody>
      </p:sp>
      <p:sp>
        <p:nvSpPr>
          <p:cNvPr id="3" name="Text Placeholder 2"/>
          <p:cNvSpPr>
            <a:spLocks noGrp="1"/>
          </p:cNvSpPr>
          <p:nvPr>
            <p:ph type="body" sz="quarter" idx="13"/>
          </p:nvPr>
        </p:nvSpPr>
        <p:spPr/>
        <p:txBody>
          <a:bodyPr/>
          <a:lstStyle/>
          <a:p>
            <a:r>
              <a:rPr lang="en-US" dirty="0" smtClean="0"/>
              <a:t>3.3 </a:t>
            </a:r>
            <a:r>
              <a:rPr lang="en-US" dirty="0" err="1" smtClean="0"/>
              <a:t>Câu</a:t>
            </a:r>
            <a:r>
              <a:rPr lang="en-US" dirty="0" smtClean="0"/>
              <a:t> </a:t>
            </a:r>
            <a:r>
              <a:rPr lang="en-US" dirty="0" err="1" smtClean="0"/>
              <a:t>lệnh</a:t>
            </a:r>
            <a:r>
              <a:rPr lang="en-US" dirty="0" smtClean="0"/>
              <a:t> if, else, </a:t>
            </a:r>
            <a:r>
              <a:rPr lang="en-US" dirty="0" err="1" smtClean="0"/>
              <a:t>elif</a:t>
            </a:r>
            <a:endParaRPr lang="en-US" dirty="0"/>
          </a:p>
        </p:txBody>
      </p:sp>
      <p:pic>
        <p:nvPicPr>
          <p:cNvPr id="4"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79187"/>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041993" y="1519761"/>
            <a:ext cx="7068814" cy="369332"/>
          </a:xfrm>
          <a:prstGeom prst="rect">
            <a:avLst/>
          </a:prstGeom>
          <a:noFill/>
        </p:spPr>
        <p:txBody>
          <a:bodyPr wrap="square" rtlCol="0">
            <a:spAutoFit/>
          </a:bodyPr>
          <a:lstStyle/>
          <a:p>
            <a:r>
              <a:rPr lang="en-US" b="1" dirty="0" err="1" smtClean="0"/>
              <a:t>Từ</a:t>
            </a:r>
            <a:r>
              <a:rPr lang="en-US" b="1" dirty="0" smtClean="0"/>
              <a:t> </a:t>
            </a:r>
            <a:r>
              <a:rPr lang="en-US" b="1" dirty="0" err="1" smtClean="0"/>
              <a:t>thực</a:t>
            </a:r>
            <a:r>
              <a:rPr lang="en-US" b="1" dirty="0" smtClean="0"/>
              <a:t> </a:t>
            </a:r>
            <a:r>
              <a:rPr lang="en-US" b="1" dirty="0" err="1" smtClean="0"/>
              <a:t>tế</a:t>
            </a:r>
            <a:r>
              <a:rPr lang="en-US" b="1" dirty="0" smtClean="0"/>
              <a:t> </a:t>
            </a:r>
            <a:r>
              <a:rPr lang="en-US" b="1" dirty="0" err="1" smtClean="0"/>
              <a:t>đến</a:t>
            </a:r>
            <a:r>
              <a:rPr lang="en-US" b="1" dirty="0" smtClean="0"/>
              <a:t> </a:t>
            </a:r>
            <a:r>
              <a:rPr lang="en-US" b="1" dirty="0" err="1" smtClean="0"/>
              <a:t>ngôn</a:t>
            </a:r>
            <a:r>
              <a:rPr lang="en-US" b="1" dirty="0" smtClean="0"/>
              <a:t> </a:t>
            </a:r>
            <a:r>
              <a:rPr lang="en-US" b="1" dirty="0" err="1" smtClean="0"/>
              <a:t>ngữ</a:t>
            </a:r>
            <a:r>
              <a:rPr lang="en-US" b="1" dirty="0" smtClean="0"/>
              <a:t> </a:t>
            </a:r>
            <a:r>
              <a:rPr lang="en-US" b="1" dirty="0" err="1" smtClean="0"/>
              <a:t>lập</a:t>
            </a:r>
            <a:r>
              <a:rPr lang="en-US" b="1" dirty="0" smtClean="0"/>
              <a:t> </a:t>
            </a:r>
            <a:r>
              <a:rPr lang="en-US" b="1" dirty="0" err="1" smtClean="0"/>
              <a:t>trình</a:t>
            </a:r>
            <a:endParaRPr lang="en-US" b="1" dirty="0">
              <a:solidFill>
                <a:srgbClr val="FF0000"/>
              </a:solidFill>
            </a:endParaRPr>
          </a:p>
        </p:txBody>
      </p:sp>
      <p:sp>
        <p:nvSpPr>
          <p:cNvPr id="6" name="Rectangle 5"/>
          <p:cNvSpPr/>
          <p:nvPr/>
        </p:nvSpPr>
        <p:spPr>
          <a:xfrm>
            <a:off x="774221" y="2037140"/>
            <a:ext cx="7336586" cy="931299"/>
          </a:xfrm>
          <a:prstGeom prst="rect">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t>“</a:t>
            </a:r>
            <a:r>
              <a:rPr lang="en-US" sz="2000" b="1" dirty="0" err="1" smtClean="0">
                <a:solidFill>
                  <a:srgbClr val="FFFF00"/>
                </a:solidFill>
              </a:rPr>
              <a:t>Nếu</a:t>
            </a:r>
            <a:r>
              <a:rPr lang="en-US" sz="2000" b="1" dirty="0" smtClean="0"/>
              <a:t> </a:t>
            </a:r>
            <a:r>
              <a:rPr lang="en-US" sz="2000" b="1" dirty="0" err="1" smtClean="0"/>
              <a:t>trời</a:t>
            </a:r>
            <a:r>
              <a:rPr lang="en-US" sz="2000" b="1" dirty="0" smtClean="0"/>
              <a:t> </a:t>
            </a:r>
            <a:r>
              <a:rPr lang="en-US" sz="2000" b="1" dirty="0" err="1" smtClean="0"/>
              <a:t>tạnh</a:t>
            </a:r>
            <a:r>
              <a:rPr lang="en-US" sz="2000" b="1" dirty="0" smtClean="0"/>
              <a:t> </a:t>
            </a:r>
            <a:r>
              <a:rPr lang="en-US" sz="2000" b="1" dirty="0" err="1" smtClean="0"/>
              <a:t>mưa</a:t>
            </a:r>
            <a:r>
              <a:rPr lang="en-US" sz="2000" b="1" dirty="0" smtClean="0"/>
              <a:t> </a:t>
            </a:r>
            <a:r>
              <a:rPr lang="en-US" sz="2000" b="1" dirty="0" err="1" smtClean="0"/>
              <a:t>thì</a:t>
            </a:r>
            <a:r>
              <a:rPr lang="en-US" sz="2000" b="1" dirty="0" smtClean="0"/>
              <a:t> </a:t>
            </a:r>
            <a:r>
              <a:rPr lang="en-US" sz="2000" b="1" dirty="0" err="1" smtClean="0"/>
              <a:t>tôi</a:t>
            </a:r>
            <a:r>
              <a:rPr lang="en-US" sz="2000" b="1" dirty="0" smtClean="0"/>
              <a:t> </a:t>
            </a:r>
            <a:r>
              <a:rPr lang="en-US" sz="2000" b="1" dirty="0" err="1" smtClean="0"/>
              <a:t>sẽ</a:t>
            </a:r>
            <a:r>
              <a:rPr lang="en-US" sz="2000" b="1" dirty="0" smtClean="0"/>
              <a:t> </a:t>
            </a:r>
            <a:r>
              <a:rPr lang="en-US" sz="2000" b="1" dirty="0" err="1" smtClean="0"/>
              <a:t>được</a:t>
            </a:r>
            <a:r>
              <a:rPr lang="en-US" sz="2000" b="1" dirty="0" smtClean="0"/>
              <a:t> </a:t>
            </a:r>
            <a:r>
              <a:rPr lang="en-US" sz="2000" b="1" dirty="0" err="1" smtClean="0">
                <a:solidFill>
                  <a:srgbClr val="FF0000"/>
                </a:solidFill>
              </a:rPr>
              <a:t>đi</a:t>
            </a:r>
            <a:r>
              <a:rPr lang="en-US" sz="2000" b="1" dirty="0" smtClean="0">
                <a:solidFill>
                  <a:srgbClr val="FF0000"/>
                </a:solidFill>
              </a:rPr>
              <a:t> </a:t>
            </a:r>
            <a:r>
              <a:rPr lang="en-US" sz="2000" b="1" dirty="0" err="1" smtClean="0">
                <a:solidFill>
                  <a:srgbClr val="FF0000"/>
                </a:solidFill>
              </a:rPr>
              <a:t>chơi</a:t>
            </a:r>
            <a:r>
              <a:rPr lang="en-US" sz="2000" b="1" dirty="0" smtClean="0"/>
              <a:t>,</a:t>
            </a:r>
          </a:p>
          <a:p>
            <a:pPr algn="ctr"/>
            <a:r>
              <a:rPr lang="en-US" sz="2000" b="1" dirty="0" err="1" smtClean="0"/>
              <a:t>Còn</a:t>
            </a:r>
            <a:r>
              <a:rPr lang="en-US" sz="2000" b="1" dirty="0" smtClean="0"/>
              <a:t> </a:t>
            </a:r>
            <a:r>
              <a:rPr lang="en-US" sz="2000" b="1" dirty="0" err="1" smtClean="0"/>
              <a:t>nếu</a:t>
            </a:r>
            <a:r>
              <a:rPr lang="en-US" sz="2000" b="1" dirty="0" smtClean="0"/>
              <a:t> </a:t>
            </a:r>
            <a:r>
              <a:rPr lang="en-US" sz="2000" b="1" dirty="0" err="1" smtClean="0"/>
              <a:t>không</a:t>
            </a:r>
            <a:r>
              <a:rPr lang="en-US" sz="2000" b="1" dirty="0" smtClean="0"/>
              <a:t> </a:t>
            </a:r>
            <a:r>
              <a:rPr lang="en-US" sz="2000" b="1" dirty="0" err="1" smtClean="0"/>
              <a:t>tôi</a:t>
            </a:r>
            <a:r>
              <a:rPr lang="en-US" sz="2000" b="1" dirty="0" smtClean="0"/>
              <a:t> </a:t>
            </a:r>
            <a:r>
              <a:rPr lang="en-US" sz="2000" b="1" dirty="0" err="1" smtClean="0"/>
              <a:t>sẽ</a:t>
            </a:r>
            <a:r>
              <a:rPr lang="en-US" sz="2000" b="1" dirty="0" smtClean="0"/>
              <a:t> ở </a:t>
            </a:r>
            <a:r>
              <a:rPr lang="en-US" sz="2000" b="1" dirty="0" err="1" smtClean="0"/>
              <a:t>nhà</a:t>
            </a:r>
            <a:r>
              <a:rPr lang="en-US" sz="2000" b="1" dirty="0" smtClean="0"/>
              <a:t> </a:t>
            </a:r>
            <a:r>
              <a:rPr lang="en-US" sz="2000" b="1" dirty="0" err="1" smtClean="0">
                <a:solidFill>
                  <a:srgbClr val="FF0000"/>
                </a:solidFill>
              </a:rPr>
              <a:t>học</a:t>
            </a:r>
            <a:r>
              <a:rPr lang="en-US" sz="2000" b="1" dirty="0" smtClean="0">
                <a:solidFill>
                  <a:srgbClr val="FF0000"/>
                </a:solidFill>
              </a:rPr>
              <a:t> </a:t>
            </a:r>
            <a:r>
              <a:rPr lang="en-US" sz="2000" b="1" dirty="0" err="1" smtClean="0">
                <a:solidFill>
                  <a:srgbClr val="FF0000"/>
                </a:solidFill>
              </a:rPr>
              <a:t>bài</a:t>
            </a:r>
            <a:r>
              <a:rPr lang="en-US" sz="2000" b="1" dirty="0" smtClean="0"/>
              <a:t>”</a:t>
            </a:r>
            <a:endParaRPr lang="en-US" sz="2000" b="1" dirty="0"/>
          </a:p>
        </p:txBody>
      </p:sp>
      <p:sp>
        <p:nvSpPr>
          <p:cNvPr id="7" name="TextBox 6"/>
          <p:cNvSpPr txBox="1"/>
          <p:nvPr/>
        </p:nvSpPr>
        <p:spPr>
          <a:xfrm>
            <a:off x="548981" y="3075911"/>
            <a:ext cx="8333421" cy="646331"/>
          </a:xfrm>
          <a:prstGeom prst="rect">
            <a:avLst/>
          </a:prstGeom>
          <a:noFill/>
        </p:spPr>
        <p:txBody>
          <a:bodyPr wrap="square" rtlCol="0">
            <a:spAutoFit/>
          </a:bodyPr>
          <a:lstStyle/>
          <a:p>
            <a:r>
              <a:rPr lang="en-US" dirty="0" err="1" smtClean="0"/>
              <a:t>Trong</a:t>
            </a:r>
            <a:r>
              <a:rPr lang="en-US" dirty="0"/>
              <a:t> </a:t>
            </a:r>
            <a:r>
              <a:rPr lang="en-US" dirty="0" err="1" smtClean="0"/>
              <a:t>phát</a:t>
            </a:r>
            <a:r>
              <a:rPr lang="en-US" dirty="0" smtClean="0"/>
              <a:t> </a:t>
            </a:r>
            <a:r>
              <a:rPr lang="en-US" dirty="0" err="1" smtClean="0"/>
              <a:t>biểu</a:t>
            </a:r>
            <a:r>
              <a:rPr lang="en-US" dirty="0" smtClean="0"/>
              <a:t> </a:t>
            </a:r>
            <a:r>
              <a:rPr lang="en-US" dirty="0" err="1" smtClean="0"/>
              <a:t>trên</a:t>
            </a:r>
            <a:r>
              <a:rPr lang="en-US" dirty="0" smtClean="0"/>
              <a:t> </a:t>
            </a:r>
            <a:r>
              <a:rPr lang="en-US" dirty="0" err="1" smtClean="0"/>
              <a:t>chúng</a:t>
            </a:r>
            <a:r>
              <a:rPr lang="en-US" dirty="0" smtClean="0"/>
              <a:t> ta </a:t>
            </a:r>
            <a:r>
              <a:rPr lang="en-US" dirty="0" err="1" smtClean="0"/>
              <a:t>có</a:t>
            </a:r>
            <a:r>
              <a:rPr lang="en-US" dirty="0" smtClean="0"/>
              <a:t> 2 </a:t>
            </a:r>
            <a:r>
              <a:rPr lang="en-US" dirty="0" err="1" smtClean="0"/>
              <a:t>hành</a:t>
            </a:r>
            <a:r>
              <a:rPr lang="en-US" dirty="0" smtClean="0"/>
              <a:t> </a:t>
            </a:r>
            <a:r>
              <a:rPr lang="en-US" dirty="0" err="1" smtClean="0"/>
              <a:t>động</a:t>
            </a:r>
            <a:r>
              <a:rPr lang="en-US" dirty="0"/>
              <a:t> </a:t>
            </a:r>
            <a:r>
              <a:rPr lang="en-US" dirty="0" err="1" smtClean="0"/>
              <a:t>là</a:t>
            </a:r>
            <a:r>
              <a:rPr lang="en-US" dirty="0" smtClean="0"/>
              <a:t> “</a:t>
            </a:r>
            <a:r>
              <a:rPr lang="en-US" dirty="0" err="1" smtClean="0"/>
              <a:t>đi</a:t>
            </a:r>
            <a:r>
              <a:rPr lang="en-US" dirty="0" smtClean="0"/>
              <a:t> </a:t>
            </a:r>
            <a:r>
              <a:rPr lang="en-US" dirty="0" err="1" smtClean="0"/>
              <a:t>chơi</a:t>
            </a:r>
            <a:r>
              <a:rPr lang="en-US" dirty="0" smtClean="0"/>
              <a:t>” </a:t>
            </a:r>
            <a:r>
              <a:rPr lang="en-US" dirty="0" err="1" smtClean="0"/>
              <a:t>và</a:t>
            </a:r>
            <a:r>
              <a:rPr lang="en-US" dirty="0" smtClean="0"/>
              <a:t> “</a:t>
            </a:r>
            <a:r>
              <a:rPr lang="en-US" dirty="0" err="1" smtClean="0"/>
              <a:t>học</a:t>
            </a:r>
            <a:r>
              <a:rPr lang="en-US" dirty="0" smtClean="0"/>
              <a:t> </a:t>
            </a:r>
            <a:r>
              <a:rPr lang="en-US" dirty="0" err="1" smtClean="0"/>
              <a:t>bài</a:t>
            </a:r>
            <a:r>
              <a:rPr lang="en-US" dirty="0" smtClean="0"/>
              <a:t>”. </a:t>
            </a:r>
            <a:r>
              <a:rPr lang="en-US" dirty="0" err="1" smtClean="0"/>
              <a:t>Việc</a:t>
            </a:r>
            <a:r>
              <a:rPr lang="en-US" dirty="0" smtClean="0"/>
              <a:t> </a:t>
            </a:r>
            <a:r>
              <a:rPr lang="en-US" dirty="0" err="1" smtClean="0"/>
              <a:t>thực</a:t>
            </a:r>
            <a:r>
              <a:rPr lang="en-US" dirty="0" smtClean="0"/>
              <a:t> </a:t>
            </a:r>
            <a:r>
              <a:rPr lang="en-US" dirty="0" err="1" smtClean="0"/>
              <a:t>hiện</a:t>
            </a:r>
            <a:r>
              <a:rPr lang="en-US" dirty="0" smtClean="0"/>
              <a:t> 2 </a:t>
            </a:r>
            <a:r>
              <a:rPr lang="en-US" dirty="0" err="1" smtClean="0"/>
              <a:t>hành</a:t>
            </a:r>
            <a:r>
              <a:rPr lang="en-US" dirty="0" smtClean="0"/>
              <a:t> </a:t>
            </a:r>
            <a:r>
              <a:rPr lang="en-US" dirty="0" err="1" smtClean="0"/>
              <a:t>động</a:t>
            </a:r>
            <a:r>
              <a:rPr lang="en-US" dirty="0" smtClean="0"/>
              <a:t> </a:t>
            </a:r>
            <a:r>
              <a:rPr lang="en-US" dirty="0" err="1" smtClean="0"/>
              <a:t>này</a:t>
            </a:r>
            <a:r>
              <a:rPr lang="en-US" dirty="0" smtClean="0"/>
              <a:t> </a:t>
            </a:r>
            <a:r>
              <a:rPr lang="en-US" dirty="0" err="1" smtClean="0"/>
              <a:t>phụ</a:t>
            </a:r>
            <a:r>
              <a:rPr lang="en-US" dirty="0" smtClean="0"/>
              <a:t> </a:t>
            </a:r>
            <a:r>
              <a:rPr lang="en-US" dirty="0" err="1" smtClean="0"/>
              <a:t>thuộc</a:t>
            </a:r>
            <a:r>
              <a:rPr lang="en-US" dirty="0" smtClean="0"/>
              <a:t> </a:t>
            </a:r>
            <a:r>
              <a:rPr lang="en-US" dirty="0" err="1" smtClean="0"/>
              <a:t>vào</a:t>
            </a:r>
            <a:r>
              <a:rPr lang="en-US" dirty="0" smtClean="0"/>
              <a:t> </a:t>
            </a:r>
            <a:r>
              <a:rPr lang="en-US" dirty="0" err="1" smtClean="0"/>
              <a:t>điều</a:t>
            </a:r>
            <a:r>
              <a:rPr lang="en-US" dirty="0" smtClean="0"/>
              <a:t> </a:t>
            </a:r>
            <a:r>
              <a:rPr lang="en-US" dirty="0" err="1" smtClean="0"/>
              <a:t>kiện</a:t>
            </a:r>
            <a:r>
              <a:rPr lang="en-US" dirty="0" smtClean="0"/>
              <a:t> </a:t>
            </a:r>
            <a:r>
              <a:rPr lang="en-US" dirty="0" err="1" smtClean="0"/>
              <a:t>của</a:t>
            </a:r>
            <a:r>
              <a:rPr lang="en-US" dirty="0" smtClean="0"/>
              <a:t> </a:t>
            </a:r>
            <a:r>
              <a:rPr lang="en-US" dirty="0" err="1" smtClean="0"/>
              <a:t>thời</a:t>
            </a:r>
            <a:r>
              <a:rPr lang="en-US" dirty="0" smtClean="0"/>
              <a:t> </a:t>
            </a:r>
            <a:r>
              <a:rPr lang="en-US" dirty="0" err="1" smtClean="0"/>
              <a:t>tiết</a:t>
            </a:r>
            <a:r>
              <a:rPr lang="en-US" dirty="0" smtClean="0"/>
              <a:t> </a:t>
            </a:r>
            <a:r>
              <a:rPr lang="en-US" dirty="0" err="1" smtClean="0"/>
              <a:t>sau</a:t>
            </a:r>
            <a:r>
              <a:rPr lang="en-US" dirty="0" smtClean="0"/>
              <a:t> </a:t>
            </a:r>
            <a:r>
              <a:rPr lang="en-US" dirty="0" err="1" smtClean="0"/>
              <a:t>từ</a:t>
            </a:r>
            <a:r>
              <a:rPr lang="en-US" dirty="0" smtClean="0"/>
              <a:t> </a:t>
            </a:r>
            <a:r>
              <a:rPr lang="en-US" dirty="0" err="1" smtClean="0"/>
              <a:t>khóa</a:t>
            </a:r>
            <a:r>
              <a:rPr lang="en-US" dirty="0" smtClean="0"/>
              <a:t> “</a:t>
            </a:r>
            <a:r>
              <a:rPr lang="en-US" dirty="0" err="1" smtClean="0"/>
              <a:t>nếu</a:t>
            </a:r>
            <a:r>
              <a:rPr lang="en-US" dirty="0" smtClean="0"/>
              <a:t>”</a:t>
            </a:r>
            <a:endParaRPr lang="en-US" dirty="0"/>
          </a:p>
        </p:txBody>
      </p:sp>
      <p:sp>
        <p:nvSpPr>
          <p:cNvPr id="8" name="TextBox 7"/>
          <p:cNvSpPr txBox="1"/>
          <p:nvPr/>
        </p:nvSpPr>
        <p:spPr>
          <a:xfrm>
            <a:off x="548981" y="3829714"/>
            <a:ext cx="8333421" cy="646331"/>
          </a:xfrm>
          <a:prstGeom prst="rect">
            <a:avLst/>
          </a:prstGeom>
          <a:noFill/>
        </p:spPr>
        <p:txBody>
          <a:bodyPr wrap="square" rtlCol="0">
            <a:spAutoFit/>
          </a:bodyPr>
          <a:lstStyle/>
          <a:p>
            <a:r>
              <a:rPr lang="en-US" dirty="0" err="1" smtClean="0"/>
              <a:t>Trong</a:t>
            </a:r>
            <a:r>
              <a:rPr lang="en-US" dirty="0" smtClean="0"/>
              <a:t> </a:t>
            </a:r>
            <a:r>
              <a:rPr lang="en-US" dirty="0" err="1" smtClean="0"/>
              <a:t>các</a:t>
            </a:r>
            <a:r>
              <a:rPr lang="en-US" dirty="0" smtClean="0"/>
              <a:t> </a:t>
            </a:r>
            <a:r>
              <a:rPr lang="en-US" dirty="0" err="1" smtClean="0"/>
              <a:t>ngôn</a:t>
            </a:r>
            <a:r>
              <a:rPr lang="en-US" dirty="0" smtClean="0"/>
              <a:t> </a:t>
            </a:r>
            <a:r>
              <a:rPr lang="en-US" dirty="0" err="1" smtClean="0"/>
              <a:t>ngữ</a:t>
            </a:r>
            <a:r>
              <a:rPr lang="en-US" dirty="0" smtClean="0"/>
              <a:t> </a:t>
            </a:r>
            <a:r>
              <a:rPr lang="en-US" dirty="0" err="1" smtClean="0"/>
              <a:t>lập</a:t>
            </a:r>
            <a:r>
              <a:rPr lang="en-US" dirty="0" smtClean="0"/>
              <a:t> </a:t>
            </a:r>
            <a:r>
              <a:rPr lang="en-US" dirty="0" err="1" smtClean="0"/>
              <a:t>trình</a:t>
            </a:r>
            <a:r>
              <a:rPr lang="en-US" dirty="0" smtClean="0"/>
              <a:t> </a:t>
            </a:r>
            <a:r>
              <a:rPr lang="en-US" dirty="0" err="1" smtClean="0"/>
              <a:t>các</a:t>
            </a:r>
            <a:r>
              <a:rPr lang="en-US" dirty="0" smtClean="0"/>
              <a:t> </a:t>
            </a:r>
            <a:r>
              <a:rPr lang="en-US" dirty="0" err="1" smtClean="0"/>
              <a:t>lệnh</a:t>
            </a:r>
            <a:r>
              <a:rPr lang="en-US" dirty="0" smtClean="0"/>
              <a:t> </a:t>
            </a:r>
            <a:r>
              <a:rPr lang="en-US" dirty="0" err="1" smtClean="0"/>
              <a:t>thực</a:t>
            </a:r>
            <a:r>
              <a:rPr lang="en-US" dirty="0" smtClean="0"/>
              <a:t> </a:t>
            </a:r>
            <a:r>
              <a:rPr lang="en-US" dirty="0" err="1" smtClean="0"/>
              <a:t>hiện</a:t>
            </a:r>
            <a:r>
              <a:rPr lang="en-US" dirty="0" smtClean="0"/>
              <a:t> </a:t>
            </a:r>
            <a:r>
              <a:rPr lang="en-US" dirty="0" err="1" smtClean="0"/>
              <a:t>theo</a:t>
            </a:r>
            <a:r>
              <a:rPr lang="en-US" dirty="0" smtClean="0"/>
              <a:t> </a:t>
            </a:r>
            <a:r>
              <a:rPr lang="en-US" dirty="0" err="1" smtClean="0"/>
              <a:t>điều</a:t>
            </a:r>
            <a:r>
              <a:rPr lang="en-US" dirty="0" smtClean="0"/>
              <a:t> </a:t>
            </a:r>
            <a:r>
              <a:rPr lang="en-US" dirty="0" err="1" smtClean="0"/>
              <a:t>kiện</a:t>
            </a:r>
            <a:r>
              <a:rPr lang="en-US" dirty="0" smtClean="0"/>
              <a:t> </a:t>
            </a:r>
            <a:r>
              <a:rPr lang="en-US" dirty="0" err="1" smtClean="0"/>
              <a:t>như</a:t>
            </a:r>
            <a:r>
              <a:rPr lang="en-US" dirty="0" smtClean="0"/>
              <a:t> </a:t>
            </a:r>
            <a:r>
              <a:rPr lang="en-US" dirty="0" err="1" smtClean="0"/>
              <a:t>vậy</a:t>
            </a:r>
            <a:r>
              <a:rPr lang="en-US" dirty="0" smtClean="0"/>
              <a:t> </a:t>
            </a:r>
            <a:r>
              <a:rPr lang="en-US" dirty="0" err="1" smtClean="0"/>
              <a:t>sẽ</a:t>
            </a:r>
            <a:r>
              <a:rPr lang="en-US" dirty="0" smtClean="0"/>
              <a:t> </a:t>
            </a:r>
            <a:r>
              <a:rPr lang="en-US" dirty="0" err="1" smtClean="0"/>
              <a:t>được</a:t>
            </a:r>
            <a:r>
              <a:rPr lang="en-US" dirty="0" smtClean="0"/>
              <a:t> </a:t>
            </a:r>
            <a:r>
              <a:rPr lang="en-US" dirty="0" err="1" smtClean="0"/>
              <a:t>thể</a:t>
            </a:r>
            <a:r>
              <a:rPr lang="en-US" dirty="0" smtClean="0"/>
              <a:t> </a:t>
            </a:r>
            <a:r>
              <a:rPr lang="en-US" dirty="0" err="1" smtClean="0"/>
              <a:t>hiện</a:t>
            </a:r>
            <a:r>
              <a:rPr lang="en-US" dirty="0" smtClean="0"/>
              <a:t> </a:t>
            </a:r>
            <a:r>
              <a:rPr lang="en-US" dirty="0" err="1" smtClean="0"/>
              <a:t>bằng</a:t>
            </a:r>
            <a:r>
              <a:rPr lang="en-US" dirty="0" smtClean="0"/>
              <a:t> </a:t>
            </a:r>
            <a:r>
              <a:rPr lang="en-US" dirty="0" err="1" smtClean="0"/>
              <a:t>từ</a:t>
            </a:r>
            <a:r>
              <a:rPr lang="en-US" dirty="0" smtClean="0"/>
              <a:t> </a:t>
            </a:r>
            <a:r>
              <a:rPr lang="en-US" dirty="0" err="1" smtClean="0"/>
              <a:t>khóa</a:t>
            </a:r>
            <a:r>
              <a:rPr lang="en-US" dirty="0" smtClean="0"/>
              <a:t> </a:t>
            </a:r>
            <a:r>
              <a:rPr lang="en-US" b="1" dirty="0" smtClean="0"/>
              <a:t>if</a:t>
            </a:r>
            <a:endParaRPr lang="en-US" b="1" dirty="0"/>
          </a:p>
        </p:txBody>
      </p:sp>
      <p:sp>
        <p:nvSpPr>
          <p:cNvPr id="9" name="TextBox 8"/>
          <p:cNvSpPr txBox="1"/>
          <p:nvPr/>
        </p:nvSpPr>
        <p:spPr>
          <a:xfrm>
            <a:off x="669853" y="5275191"/>
            <a:ext cx="7068814" cy="646331"/>
          </a:xfrm>
          <a:prstGeom prst="rect">
            <a:avLst/>
          </a:prstGeom>
          <a:noFill/>
        </p:spPr>
        <p:txBody>
          <a:bodyPr wrap="square" rtlCol="0">
            <a:spAutoFit/>
          </a:bodyPr>
          <a:lstStyle/>
          <a:p>
            <a:r>
              <a:rPr lang="en-US" b="1" dirty="0" err="1" smtClean="0"/>
              <a:t>Nếu</a:t>
            </a:r>
            <a:r>
              <a:rPr lang="en-US" b="1" dirty="0" smtClean="0"/>
              <a:t> &lt;</a:t>
            </a:r>
            <a:r>
              <a:rPr lang="en-US" b="1" dirty="0" err="1" smtClean="0"/>
              <a:t>điều</a:t>
            </a:r>
            <a:r>
              <a:rPr lang="en-US" b="1" dirty="0" smtClean="0"/>
              <a:t> </a:t>
            </a:r>
            <a:r>
              <a:rPr lang="en-US" b="1" dirty="0" err="1" smtClean="0"/>
              <a:t>kiện</a:t>
            </a:r>
            <a:r>
              <a:rPr lang="en-US" b="1" dirty="0" smtClean="0"/>
              <a:t> </a:t>
            </a:r>
            <a:r>
              <a:rPr lang="en-US" b="1" dirty="0" err="1" smtClean="0"/>
              <a:t>đúng</a:t>
            </a:r>
            <a:r>
              <a:rPr lang="en-US" b="1" dirty="0" smtClean="0"/>
              <a:t>&gt; </a:t>
            </a:r>
            <a:r>
              <a:rPr lang="en-US" b="1" dirty="0" err="1" smtClean="0"/>
              <a:t>thì</a:t>
            </a:r>
            <a:endParaRPr lang="en-US" b="1" dirty="0" smtClean="0"/>
          </a:p>
          <a:p>
            <a:r>
              <a:rPr lang="en-US" b="1" dirty="0">
                <a:solidFill>
                  <a:srgbClr val="FF0000"/>
                </a:solidFill>
              </a:rPr>
              <a:t> </a:t>
            </a:r>
            <a:r>
              <a:rPr lang="en-US" b="1" dirty="0" smtClean="0">
                <a:solidFill>
                  <a:srgbClr val="FF0000"/>
                </a:solidFill>
              </a:rPr>
              <a:t>       &lt;</a:t>
            </a:r>
            <a:r>
              <a:rPr lang="en-US" b="1" dirty="0" err="1" smtClean="0">
                <a:solidFill>
                  <a:srgbClr val="FF0000"/>
                </a:solidFill>
              </a:rPr>
              <a:t>thực</a:t>
            </a:r>
            <a:r>
              <a:rPr lang="en-US" b="1" dirty="0" smtClean="0">
                <a:solidFill>
                  <a:srgbClr val="FF0000"/>
                </a:solidFill>
              </a:rPr>
              <a:t> </a:t>
            </a:r>
            <a:r>
              <a:rPr lang="en-US" b="1" dirty="0" err="1" smtClean="0">
                <a:solidFill>
                  <a:srgbClr val="FF0000"/>
                </a:solidFill>
              </a:rPr>
              <a:t>hiện</a:t>
            </a:r>
            <a:r>
              <a:rPr lang="en-US" b="1" dirty="0" smtClean="0">
                <a:solidFill>
                  <a:srgbClr val="FF0000"/>
                </a:solidFill>
              </a:rPr>
              <a:t> </a:t>
            </a:r>
            <a:r>
              <a:rPr lang="en-US" b="1" dirty="0" err="1" smtClean="0">
                <a:solidFill>
                  <a:srgbClr val="FF0000"/>
                </a:solidFill>
              </a:rPr>
              <a:t>khối</a:t>
            </a:r>
            <a:r>
              <a:rPr lang="en-US" b="1" dirty="0" smtClean="0">
                <a:solidFill>
                  <a:srgbClr val="FF0000"/>
                </a:solidFill>
              </a:rPr>
              <a:t> </a:t>
            </a:r>
            <a:r>
              <a:rPr lang="en-US" b="1" dirty="0" err="1" smtClean="0">
                <a:solidFill>
                  <a:srgbClr val="FF0000"/>
                </a:solidFill>
              </a:rPr>
              <a:t>lệnh</a:t>
            </a:r>
            <a:r>
              <a:rPr lang="en-US" b="1" dirty="0" smtClean="0">
                <a:solidFill>
                  <a:srgbClr val="FF0000"/>
                </a:solidFill>
              </a:rPr>
              <a:t> </a:t>
            </a:r>
            <a:r>
              <a:rPr lang="en-US" b="1" dirty="0" err="1" smtClean="0">
                <a:solidFill>
                  <a:srgbClr val="FF0000"/>
                </a:solidFill>
              </a:rPr>
              <a:t>này</a:t>
            </a:r>
            <a:r>
              <a:rPr lang="en-US" b="1" dirty="0" smtClean="0">
                <a:solidFill>
                  <a:srgbClr val="FF0000"/>
                </a:solidFill>
              </a:rPr>
              <a:t>&gt;</a:t>
            </a:r>
            <a:endParaRPr lang="en-US" b="1" dirty="0">
              <a:solidFill>
                <a:srgbClr val="FF0000"/>
              </a:solidFill>
            </a:endParaRPr>
          </a:p>
        </p:txBody>
      </p:sp>
      <p:sp>
        <p:nvSpPr>
          <p:cNvPr id="10" name="TextBox 9"/>
          <p:cNvSpPr txBox="1"/>
          <p:nvPr/>
        </p:nvSpPr>
        <p:spPr>
          <a:xfrm>
            <a:off x="548981" y="4690952"/>
            <a:ext cx="8333421" cy="369332"/>
          </a:xfrm>
          <a:prstGeom prst="rect">
            <a:avLst/>
          </a:prstGeom>
          <a:noFill/>
        </p:spPr>
        <p:txBody>
          <a:bodyPr wrap="square" rtlCol="0">
            <a:spAutoFit/>
          </a:bodyPr>
          <a:lstStyle/>
          <a:p>
            <a:r>
              <a:rPr lang="en-US" dirty="0" err="1" smtClean="0"/>
              <a:t>Câu</a:t>
            </a:r>
            <a:r>
              <a:rPr lang="en-US" dirty="0" smtClean="0"/>
              <a:t> </a:t>
            </a:r>
            <a:r>
              <a:rPr lang="en-US" dirty="0" err="1" smtClean="0"/>
              <a:t>lệnh</a:t>
            </a:r>
            <a:r>
              <a:rPr lang="en-US" dirty="0" smtClean="0"/>
              <a:t> </a:t>
            </a:r>
            <a:r>
              <a:rPr lang="en-US" b="1" dirty="0" smtClean="0"/>
              <a:t>if</a:t>
            </a:r>
            <a:r>
              <a:rPr lang="en-US" dirty="0" smtClean="0"/>
              <a:t> </a:t>
            </a:r>
            <a:r>
              <a:rPr lang="en-US" dirty="0" err="1" smtClean="0"/>
              <a:t>mô</a:t>
            </a:r>
            <a:r>
              <a:rPr lang="en-US" dirty="0" smtClean="0"/>
              <a:t> </a:t>
            </a:r>
            <a:r>
              <a:rPr lang="en-US" dirty="0" err="1" smtClean="0"/>
              <a:t>tả</a:t>
            </a:r>
            <a:r>
              <a:rPr lang="en-US" dirty="0" smtClean="0"/>
              <a:t> </a:t>
            </a:r>
            <a:r>
              <a:rPr lang="en-US" dirty="0" err="1" smtClean="0"/>
              <a:t>bằng</a:t>
            </a:r>
            <a:r>
              <a:rPr lang="en-US" dirty="0" smtClean="0"/>
              <a:t> </a:t>
            </a:r>
            <a:r>
              <a:rPr lang="en-US" dirty="0" err="1" smtClean="0"/>
              <a:t>ngôn</a:t>
            </a:r>
            <a:r>
              <a:rPr lang="en-US" dirty="0" smtClean="0"/>
              <a:t> </a:t>
            </a:r>
            <a:r>
              <a:rPr lang="en-US" dirty="0" err="1" smtClean="0"/>
              <a:t>ngữ</a:t>
            </a:r>
            <a:r>
              <a:rPr lang="en-US" dirty="0" smtClean="0"/>
              <a:t> con </a:t>
            </a:r>
            <a:r>
              <a:rPr lang="en-US" dirty="0" err="1" smtClean="0"/>
              <a:t>người</a:t>
            </a:r>
            <a:r>
              <a:rPr lang="en-US" dirty="0" smtClean="0"/>
              <a:t> </a:t>
            </a:r>
            <a:r>
              <a:rPr lang="en-US" dirty="0" err="1" smtClean="0"/>
              <a:t>như</a:t>
            </a:r>
            <a:r>
              <a:rPr lang="en-US" dirty="0" smtClean="0"/>
              <a:t> </a:t>
            </a:r>
            <a:r>
              <a:rPr lang="en-US" dirty="0" err="1" smtClean="0"/>
              <a:t>sau</a:t>
            </a:r>
            <a:r>
              <a:rPr lang="en-US" dirty="0" smtClean="0"/>
              <a:t> :</a:t>
            </a:r>
            <a:endParaRPr lang="en-US" b="1" dirty="0"/>
          </a:p>
        </p:txBody>
      </p:sp>
    </p:spTree>
    <p:extLst>
      <p:ext uri="{BB962C8B-B14F-4D97-AF65-F5344CB8AC3E}">
        <p14:creationId xmlns:p14="http://schemas.microsoft.com/office/powerpoint/2010/main" val="23798308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7919049" y="6459048"/>
            <a:ext cx="837841" cy="209551"/>
          </a:xfrm>
        </p:spPr>
        <p:txBody>
          <a:bodyPr/>
          <a:lstStyle/>
          <a:p>
            <a:fld id="{7D9EC917-02A2-4152-9EE3-DFE2775A77C7}" type="slidenum">
              <a:rPr lang="en-US" smtClean="0"/>
              <a:pPr/>
              <a:t>7</a:t>
            </a:fld>
            <a:endParaRPr lang="en-US"/>
          </a:p>
        </p:txBody>
      </p:sp>
      <p:sp>
        <p:nvSpPr>
          <p:cNvPr id="3" name="Text Placeholder 2"/>
          <p:cNvSpPr>
            <a:spLocks noGrp="1"/>
          </p:cNvSpPr>
          <p:nvPr>
            <p:ph type="body" sz="quarter" idx="13"/>
          </p:nvPr>
        </p:nvSpPr>
        <p:spPr/>
        <p:txBody>
          <a:bodyPr/>
          <a:lstStyle/>
          <a:p>
            <a:r>
              <a:rPr lang="en-US" dirty="0" smtClean="0"/>
              <a:t>3.3 </a:t>
            </a:r>
            <a:r>
              <a:rPr lang="en-US" dirty="0" err="1" smtClean="0"/>
              <a:t>Câu</a:t>
            </a:r>
            <a:r>
              <a:rPr lang="en-US" dirty="0" smtClean="0"/>
              <a:t> </a:t>
            </a:r>
            <a:r>
              <a:rPr lang="en-US" dirty="0" err="1" smtClean="0"/>
              <a:t>lệnh</a:t>
            </a:r>
            <a:r>
              <a:rPr lang="en-US" dirty="0" smtClean="0"/>
              <a:t> if, else, </a:t>
            </a:r>
            <a:r>
              <a:rPr lang="en-US" dirty="0" err="1" smtClean="0"/>
              <a:t>elif</a:t>
            </a:r>
            <a:endParaRPr lang="en-US" dirty="0"/>
          </a:p>
        </p:txBody>
      </p:sp>
      <p:pic>
        <p:nvPicPr>
          <p:cNvPr id="4"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79187"/>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041993" y="1519761"/>
            <a:ext cx="7068814" cy="369332"/>
          </a:xfrm>
          <a:prstGeom prst="rect">
            <a:avLst/>
          </a:prstGeom>
          <a:noFill/>
        </p:spPr>
        <p:txBody>
          <a:bodyPr wrap="square" rtlCol="0">
            <a:spAutoFit/>
          </a:bodyPr>
          <a:lstStyle/>
          <a:p>
            <a:r>
              <a:rPr lang="en-US" b="1" dirty="0" err="1" smtClean="0"/>
              <a:t>Cú</a:t>
            </a:r>
            <a:r>
              <a:rPr lang="en-US" b="1" dirty="0" smtClean="0"/>
              <a:t> </a:t>
            </a:r>
            <a:r>
              <a:rPr lang="en-US" b="1" dirty="0" err="1" smtClean="0"/>
              <a:t>pháp</a:t>
            </a:r>
            <a:r>
              <a:rPr lang="en-US" b="1" dirty="0" smtClean="0"/>
              <a:t> if </a:t>
            </a:r>
            <a:r>
              <a:rPr lang="en-US" b="1" dirty="0" err="1" smtClean="0"/>
              <a:t>ngắn</a:t>
            </a:r>
            <a:endParaRPr lang="en-US" b="1" dirty="0">
              <a:solidFill>
                <a:srgbClr val="FF0000"/>
              </a:solidFill>
            </a:endParaRPr>
          </a:p>
        </p:txBody>
      </p:sp>
      <p:sp>
        <p:nvSpPr>
          <p:cNvPr id="10" name="TextBox 9"/>
          <p:cNvSpPr txBox="1"/>
          <p:nvPr/>
        </p:nvSpPr>
        <p:spPr>
          <a:xfrm>
            <a:off x="548981" y="3596389"/>
            <a:ext cx="8333421" cy="369332"/>
          </a:xfrm>
          <a:prstGeom prst="rect">
            <a:avLst/>
          </a:prstGeom>
          <a:noFill/>
        </p:spPr>
        <p:txBody>
          <a:bodyPr wrap="square" rtlCol="0">
            <a:spAutoFit/>
          </a:bodyPr>
          <a:lstStyle/>
          <a:p>
            <a:r>
              <a:rPr lang="en-US" b="1" dirty="0" err="1" smtClean="0"/>
              <a:t>Điều</a:t>
            </a:r>
            <a:r>
              <a:rPr lang="en-US" b="1" dirty="0" smtClean="0"/>
              <a:t> </a:t>
            </a:r>
            <a:r>
              <a:rPr lang="en-US" b="1" dirty="0" err="1" smtClean="0"/>
              <a:t>kiện</a:t>
            </a:r>
            <a:r>
              <a:rPr lang="en-US" b="1" dirty="0" smtClean="0"/>
              <a:t> </a:t>
            </a:r>
            <a:r>
              <a:rPr lang="en-US" b="1" dirty="0" err="1" smtClean="0"/>
              <a:t>kiểm</a:t>
            </a:r>
            <a:r>
              <a:rPr lang="en-US" b="1" dirty="0" smtClean="0"/>
              <a:t> </a:t>
            </a:r>
            <a:r>
              <a:rPr lang="en-US" b="1" dirty="0" err="1" smtClean="0"/>
              <a:t>tra</a:t>
            </a:r>
            <a:r>
              <a:rPr lang="en-US" b="1" dirty="0" smtClean="0"/>
              <a:t>: </a:t>
            </a:r>
            <a:r>
              <a:rPr lang="en-US" dirty="0" err="1" smtClean="0"/>
              <a:t>Trả</a:t>
            </a:r>
            <a:r>
              <a:rPr lang="en-US" dirty="0" smtClean="0"/>
              <a:t> </a:t>
            </a:r>
            <a:r>
              <a:rPr lang="en-US" dirty="0" err="1" smtClean="0"/>
              <a:t>về</a:t>
            </a:r>
            <a:r>
              <a:rPr lang="en-US" dirty="0" smtClean="0"/>
              <a:t> </a:t>
            </a:r>
            <a:r>
              <a:rPr lang="en-US" dirty="0" err="1" smtClean="0"/>
              <a:t>một</a:t>
            </a:r>
            <a:r>
              <a:rPr lang="en-US" dirty="0" smtClean="0"/>
              <a:t> </a:t>
            </a:r>
            <a:r>
              <a:rPr lang="en-US" dirty="0" err="1" smtClean="0"/>
              <a:t>giá</a:t>
            </a:r>
            <a:r>
              <a:rPr lang="en-US" dirty="0" smtClean="0"/>
              <a:t> </a:t>
            </a:r>
            <a:r>
              <a:rPr lang="en-US" dirty="0" err="1" smtClean="0"/>
              <a:t>trị</a:t>
            </a:r>
            <a:r>
              <a:rPr lang="en-US" dirty="0" smtClean="0"/>
              <a:t> logic (True/False) </a:t>
            </a:r>
            <a:r>
              <a:rPr lang="en-US" dirty="0" err="1" smtClean="0"/>
              <a:t>và</a:t>
            </a:r>
            <a:r>
              <a:rPr lang="en-US" dirty="0" smtClean="0"/>
              <a:t> </a:t>
            </a:r>
            <a:r>
              <a:rPr lang="en-US" dirty="0" err="1" smtClean="0"/>
              <a:t>kết</a:t>
            </a:r>
            <a:r>
              <a:rPr lang="en-US" dirty="0" smtClean="0"/>
              <a:t> </a:t>
            </a:r>
            <a:r>
              <a:rPr lang="en-US" dirty="0" err="1" smtClean="0"/>
              <a:t>thúc</a:t>
            </a:r>
            <a:r>
              <a:rPr lang="en-US" dirty="0" smtClean="0"/>
              <a:t> </a:t>
            </a:r>
            <a:r>
              <a:rPr lang="en-US" dirty="0" err="1" smtClean="0"/>
              <a:t>bằng</a:t>
            </a:r>
            <a:r>
              <a:rPr lang="en-US" dirty="0" smtClean="0"/>
              <a:t> </a:t>
            </a:r>
            <a:r>
              <a:rPr lang="en-US" dirty="0" err="1" smtClean="0"/>
              <a:t>dấu</a:t>
            </a:r>
            <a:r>
              <a:rPr lang="en-US" dirty="0" smtClean="0"/>
              <a:t> :</a:t>
            </a:r>
            <a:endParaRPr lang="en-US" b="1" dirty="0"/>
          </a:p>
        </p:txBody>
      </p:sp>
      <p:sp>
        <p:nvSpPr>
          <p:cNvPr id="9" name="TextBox 8"/>
          <p:cNvSpPr txBox="1"/>
          <p:nvPr/>
        </p:nvSpPr>
        <p:spPr>
          <a:xfrm>
            <a:off x="548981" y="2664700"/>
            <a:ext cx="7829475" cy="830997"/>
          </a:xfrm>
          <a:prstGeom prst="rect">
            <a:avLst/>
          </a:prstGeom>
          <a:noFill/>
        </p:spPr>
        <p:txBody>
          <a:bodyPr wrap="square" rtlCol="0">
            <a:spAutoFit/>
          </a:bodyPr>
          <a:lstStyle/>
          <a:p>
            <a:r>
              <a:rPr lang="en-US" sz="2400" b="1" dirty="0" smtClean="0"/>
              <a:t>if &lt;</a:t>
            </a:r>
            <a:r>
              <a:rPr lang="en-US" sz="2400" b="1" dirty="0" err="1" smtClean="0"/>
              <a:t>điều</a:t>
            </a:r>
            <a:r>
              <a:rPr lang="en-US" sz="2400" b="1" dirty="0" smtClean="0"/>
              <a:t> </a:t>
            </a:r>
            <a:r>
              <a:rPr lang="en-US" sz="2400" b="1" dirty="0" err="1" smtClean="0"/>
              <a:t>kiện</a:t>
            </a:r>
            <a:r>
              <a:rPr lang="en-US" sz="2400" b="1" dirty="0" smtClean="0"/>
              <a:t> </a:t>
            </a:r>
            <a:r>
              <a:rPr lang="en-US" sz="2400" b="1" dirty="0" err="1" smtClean="0"/>
              <a:t>kiểm</a:t>
            </a:r>
            <a:r>
              <a:rPr lang="en-US" sz="2400" b="1" dirty="0" smtClean="0"/>
              <a:t> </a:t>
            </a:r>
            <a:r>
              <a:rPr lang="en-US" sz="2400" b="1" dirty="0" err="1" smtClean="0"/>
              <a:t>tra</a:t>
            </a:r>
            <a:r>
              <a:rPr lang="en-US" sz="2400" b="1" dirty="0" smtClean="0"/>
              <a:t>&gt;:</a:t>
            </a:r>
          </a:p>
          <a:p>
            <a:r>
              <a:rPr lang="en-US" sz="2400" b="1" dirty="0">
                <a:solidFill>
                  <a:srgbClr val="FF0000"/>
                </a:solidFill>
              </a:rPr>
              <a:t> </a:t>
            </a:r>
            <a:r>
              <a:rPr lang="en-US" sz="2400" b="1" dirty="0" smtClean="0">
                <a:solidFill>
                  <a:srgbClr val="FF0000"/>
                </a:solidFill>
              </a:rPr>
              <a:t>       &lt;</a:t>
            </a:r>
            <a:r>
              <a:rPr lang="en-US" sz="2400" b="1" dirty="0" err="1" smtClean="0">
                <a:solidFill>
                  <a:srgbClr val="FF0000"/>
                </a:solidFill>
              </a:rPr>
              <a:t>khối</a:t>
            </a:r>
            <a:r>
              <a:rPr lang="en-US" sz="2400" b="1" dirty="0" smtClean="0">
                <a:solidFill>
                  <a:srgbClr val="FF0000"/>
                </a:solidFill>
              </a:rPr>
              <a:t> </a:t>
            </a:r>
            <a:r>
              <a:rPr lang="en-US" sz="2400" b="1" dirty="0" err="1" smtClean="0">
                <a:solidFill>
                  <a:srgbClr val="FF0000"/>
                </a:solidFill>
              </a:rPr>
              <a:t>lệnh</a:t>
            </a:r>
            <a:r>
              <a:rPr lang="en-US" sz="2400" b="1" dirty="0" smtClean="0">
                <a:solidFill>
                  <a:srgbClr val="FF0000"/>
                </a:solidFill>
              </a:rPr>
              <a:t> </a:t>
            </a:r>
            <a:r>
              <a:rPr lang="en-US" sz="2400" b="1" dirty="0" err="1" smtClean="0">
                <a:solidFill>
                  <a:srgbClr val="FF0000"/>
                </a:solidFill>
              </a:rPr>
              <a:t>thực</a:t>
            </a:r>
            <a:r>
              <a:rPr lang="en-US" sz="2400" b="1" dirty="0" smtClean="0">
                <a:solidFill>
                  <a:srgbClr val="FF0000"/>
                </a:solidFill>
              </a:rPr>
              <a:t> </a:t>
            </a:r>
            <a:r>
              <a:rPr lang="en-US" sz="2400" b="1" dirty="0" err="1" smtClean="0">
                <a:solidFill>
                  <a:srgbClr val="FF0000"/>
                </a:solidFill>
              </a:rPr>
              <a:t>thi</a:t>
            </a:r>
            <a:r>
              <a:rPr lang="en-US" sz="2400" b="1" dirty="0" smtClean="0">
                <a:solidFill>
                  <a:srgbClr val="FF0000"/>
                </a:solidFill>
              </a:rPr>
              <a:t> </a:t>
            </a:r>
            <a:r>
              <a:rPr lang="en-US" sz="2400" b="1" dirty="0" err="1" smtClean="0">
                <a:solidFill>
                  <a:srgbClr val="FF0000"/>
                </a:solidFill>
              </a:rPr>
              <a:t>khi</a:t>
            </a:r>
            <a:r>
              <a:rPr lang="en-US" sz="2400" b="1" dirty="0" smtClean="0">
                <a:solidFill>
                  <a:srgbClr val="FF0000"/>
                </a:solidFill>
              </a:rPr>
              <a:t> </a:t>
            </a:r>
            <a:r>
              <a:rPr lang="en-US" sz="2400" b="1" dirty="0" err="1" smtClean="0">
                <a:solidFill>
                  <a:srgbClr val="FF0000"/>
                </a:solidFill>
              </a:rPr>
              <a:t>điều</a:t>
            </a:r>
            <a:r>
              <a:rPr lang="en-US" sz="2400" b="1" dirty="0" smtClean="0">
                <a:solidFill>
                  <a:srgbClr val="FF0000"/>
                </a:solidFill>
              </a:rPr>
              <a:t> </a:t>
            </a:r>
            <a:r>
              <a:rPr lang="en-US" sz="2400" b="1" dirty="0" err="1" smtClean="0">
                <a:solidFill>
                  <a:srgbClr val="FF0000"/>
                </a:solidFill>
              </a:rPr>
              <a:t>kiện</a:t>
            </a:r>
            <a:r>
              <a:rPr lang="en-US" sz="2400" b="1" dirty="0" smtClean="0">
                <a:solidFill>
                  <a:srgbClr val="FF0000"/>
                </a:solidFill>
              </a:rPr>
              <a:t> </a:t>
            </a:r>
            <a:r>
              <a:rPr lang="en-US" sz="2400" b="1" dirty="0" err="1" smtClean="0">
                <a:solidFill>
                  <a:srgbClr val="FF0000"/>
                </a:solidFill>
              </a:rPr>
              <a:t>đúng</a:t>
            </a:r>
            <a:r>
              <a:rPr lang="en-US" sz="2400" b="1" dirty="0" smtClean="0">
                <a:solidFill>
                  <a:srgbClr val="FF0000"/>
                </a:solidFill>
              </a:rPr>
              <a:t>&gt;</a:t>
            </a:r>
            <a:endParaRPr lang="en-US" sz="2400" b="1" dirty="0">
              <a:solidFill>
                <a:srgbClr val="FF0000"/>
              </a:solidFill>
            </a:endParaRPr>
          </a:p>
        </p:txBody>
      </p:sp>
      <p:sp>
        <p:nvSpPr>
          <p:cNvPr id="25" name="TextBox 24"/>
          <p:cNvSpPr txBox="1"/>
          <p:nvPr/>
        </p:nvSpPr>
        <p:spPr>
          <a:xfrm>
            <a:off x="548981" y="4085487"/>
            <a:ext cx="8333421" cy="646331"/>
          </a:xfrm>
          <a:prstGeom prst="rect">
            <a:avLst/>
          </a:prstGeom>
          <a:noFill/>
        </p:spPr>
        <p:txBody>
          <a:bodyPr wrap="square" rtlCol="0">
            <a:spAutoFit/>
          </a:bodyPr>
          <a:lstStyle/>
          <a:p>
            <a:r>
              <a:rPr lang="en-US" b="1" dirty="0" err="1" smtClean="0"/>
              <a:t>Khối</a:t>
            </a:r>
            <a:r>
              <a:rPr lang="en-US" b="1" dirty="0" smtClean="0"/>
              <a:t> </a:t>
            </a:r>
            <a:r>
              <a:rPr lang="en-US" b="1" dirty="0" err="1" smtClean="0"/>
              <a:t>lệnh</a:t>
            </a:r>
            <a:r>
              <a:rPr lang="en-US" b="1" dirty="0" smtClean="0"/>
              <a:t> </a:t>
            </a:r>
            <a:r>
              <a:rPr lang="en-US" b="1" dirty="0" err="1" smtClean="0"/>
              <a:t>của</a:t>
            </a:r>
            <a:r>
              <a:rPr lang="en-US" b="1" dirty="0" smtClean="0"/>
              <a:t> if: </a:t>
            </a:r>
            <a:r>
              <a:rPr lang="en-US" dirty="0" err="1" smtClean="0"/>
              <a:t>Thụt</a:t>
            </a:r>
            <a:r>
              <a:rPr lang="en-US" dirty="0" smtClean="0"/>
              <a:t> </a:t>
            </a:r>
            <a:r>
              <a:rPr lang="en-US" dirty="0" err="1" smtClean="0"/>
              <a:t>vào</a:t>
            </a:r>
            <a:r>
              <a:rPr lang="en-US" dirty="0" smtClean="0"/>
              <a:t> </a:t>
            </a:r>
            <a:r>
              <a:rPr lang="en-US" dirty="0" err="1" smtClean="0"/>
              <a:t>một</a:t>
            </a:r>
            <a:r>
              <a:rPr lang="en-US" dirty="0" smtClean="0"/>
              <a:t> </a:t>
            </a:r>
            <a:r>
              <a:rPr lang="en-US" dirty="0" err="1" smtClean="0"/>
              <a:t>khoảng</a:t>
            </a:r>
            <a:r>
              <a:rPr lang="en-US" dirty="0" smtClean="0"/>
              <a:t> </a:t>
            </a:r>
            <a:r>
              <a:rPr lang="en-US" dirty="0" err="1" smtClean="0"/>
              <a:t>bằng</a:t>
            </a:r>
            <a:r>
              <a:rPr lang="en-US" dirty="0" smtClean="0"/>
              <a:t> </a:t>
            </a:r>
            <a:r>
              <a:rPr lang="en-US" dirty="0" err="1" smtClean="0"/>
              <a:t>nhau</a:t>
            </a:r>
            <a:r>
              <a:rPr lang="en-US" dirty="0" smtClean="0"/>
              <a:t> </a:t>
            </a:r>
            <a:r>
              <a:rPr lang="en-US" dirty="0" err="1" smtClean="0"/>
              <a:t>tối</a:t>
            </a:r>
            <a:r>
              <a:rPr lang="en-US" dirty="0" smtClean="0"/>
              <a:t> </a:t>
            </a:r>
            <a:r>
              <a:rPr lang="en-US" dirty="0" err="1" smtClean="0"/>
              <a:t>thiểu</a:t>
            </a:r>
            <a:r>
              <a:rPr lang="en-US" dirty="0" smtClean="0"/>
              <a:t> </a:t>
            </a:r>
            <a:r>
              <a:rPr lang="en-US" dirty="0" err="1" smtClean="0"/>
              <a:t>một</a:t>
            </a:r>
            <a:r>
              <a:rPr lang="en-US" dirty="0" smtClean="0"/>
              <a:t> </a:t>
            </a:r>
            <a:r>
              <a:rPr lang="en-US" dirty="0" err="1" smtClean="0"/>
              <a:t>dấu</a:t>
            </a:r>
            <a:r>
              <a:rPr lang="en-US" dirty="0" smtClean="0"/>
              <a:t> </a:t>
            </a:r>
            <a:r>
              <a:rPr lang="en-US" dirty="0" err="1" smtClean="0"/>
              <a:t>cách</a:t>
            </a:r>
            <a:r>
              <a:rPr lang="en-US" dirty="0" smtClean="0"/>
              <a:t> so </a:t>
            </a:r>
            <a:r>
              <a:rPr lang="en-US" dirty="0" err="1" smtClean="0"/>
              <a:t>với</a:t>
            </a:r>
            <a:r>
              <a:rPr lang="en-US" dirty="0" smtClean="0"/>
              <a:t> if. </a:t>
            </a:r>
            <a:r>
              <a:rPr lang="en-US" dirty="0" err="1" smtClean="0"/>
              <a:t>Điều</a:t>
            </a:r>
            <a:r>
              <a:rPr lang="en-US" dirty="0" smtClean="0"/>
              <a:t> </a:t>
            </a:r>
            <a:r>
              <a:rPr lang="en-US" dirty="0" err="1" smtClean="0"/>
              <a:t>này</a:t>
            </a:r>
            <a:r>
              <a:rPr lang="en-US" dirty="0" smtClean="0"/>
              <a:t> </a:t>
            </a:r>
            <a:r>
              <a:rPr lang="en-US" dirty="0" err="1" smtClean="0"/>
              <a:t>rất</a:t>
            </a:r>
            <a:r>
              <a:rPr lang="en-US" dirty="0" smtClean="0"/>
              <a:t> </a:t>
            </a:r>
            <a:r>
              <a:rPr lang="en-US" dirty="0" err="1" smtClean="0"/>
              <a:t>quan</a:t>
            </a:r>
            <a:r>
              <a:rPr lang="en-US" dirty="0" smtClean="0"/>
              <a:t> </a:t>
            </a:r>
            <a:r>
              <a:rPr lang="en-US" dirty="0" err="1" smtClean="0"/>
              <a:t>trọng</a:t>
            </a:r>
            <a:r>
              <a:rPr lang="en-US" dirty="0" smtClean="0"/>
              <a:t>, </a:t>
            </a:r>
            <a:r>
              <a:rPr lang="en-US" dirty="0" err="1" smtClean="0"/>
              <a:t>nếu</a:t>
            </a:r>
            <a:r>
              <a:rPr lang="en-US" dirty="0" smtClean="0"/>
              <a:t> </a:t>
            </a:r>
            <a:r>
              <a:rPr lang="en-US" dirty="0" err="1" smtClean="0"/>
              <a:t>không</a:t>
            </a:r>
            <a:r>
              <a:rPr lang="en-US" dirty="0" smtClean="0"/>
              <a:t> </a:t>
            </a:r>
            <a:r>
              <a:rPr lang="en-US" dirty="0" err="1" smtClean="0"/>
              <a:t>đúng</a:t>
            </a:r>
            <a:r>
              <a:rPr lang="en-US" dirty="0" smtClean="0"/>
              <a:t> </a:t>
            </a:r>
            <a:r>
              <a:rPr lang="en-US" dirty="0" err="1" smtClean="0"/>
              <a:t>lệnh</a:t>
            </a:r>
            <a:r>
              <a:rPr lang="en-US" dirty="0" smtClean="0"/>
              <a:t> </a:t>
            </a:r>
            <a:r>
              <a:rPr lang="en-US" dirty="0" err="1" smtClean="0"/>
              <a:t>sẽ</a:t>
            </a:r>
            <a:r>
              <a:rPr lang="en-US" dirty="0" smtClean="0"/>
              <a:t> </a:t>
            </a:r>
            <a:r>
              <a:rPr lang="en-US" dirty="0" err="1" smtClean="0"/>
              <a:t>không</a:t>
            </a:r>
            <a:r>
              <a:rPr lang="en-US" dirty="0" smtClean="0"/>
              <a:t> </a:t>
            </a:r>
            <a:r>
              <a:rPr lang="en-US" dirty="0" err="1" smtClean="0"/>
              <a:t>chạy</a:t>
            </a:r>
            <a:r>
              <a:rPr lang="en-US" dirty="0" smtClean="0"/>
              <a:t> </a:t>
            </a:r>
            <a:r>
              <a:rPr lang="en-US" dirty="0" err="1" smtClean="0"/>
              <a:t>được</a:t>
            </a:r>
            <a:r>
              <a:rPr lang="en-US" dirty="0" smtClean="0"/>
              <a:t>.</a:t>
            </a:r>
            <a:endParaRPr lang="en-US" b="1" dirty="0"/>
          </a:p>
        </p:txBody>
      </p:sp>
      <p:sp>
        <p:nvSpPr>
          <p:cNvPr id="27" name="Rectangle 26"/>
          <p:cNvSpPr/>
          <p:nvPr/>
        </p:nvSpPr>
        <p:spPr>
          <a:xfrm>
            <a:off x="676571" y="4973014"/>
            <a:ext cx="3444949" cy="1486033"/>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p:cNvSpPr txBox="1"/>
          <p:nvPr/>
        </p:nvSpPr>
        <p:spPr>
          <a:xfrm>
            <a:off x="876755" y="5065927"/>
            <a:ext cx="2745035" cy="1200329"/>
          </a:xfrm>
          <a:prstGeom prst="rect">
            <a:avLst/>
          </a:prstGeom>
          <a:noFill/>
        </p:spPr>
        <p:txBody>
          <a:bodyPr wrap="square" rtlCol="0">
            <a:spAutoFit/>
          </a:bodyPr>
          <a:lstStyle/>
          <a:p>
            <a:r>
              <a:rPr lang="en-US" dirty="0" smtClean="0">
                <a:solidFill>
                  <a:schemeClr val="bg1"/>
                </a:solidFill>
              </a:rPr>
              <a:t>x = </a:t>
            </a:r>
            <a:r>
              <a:rPr lang="en-US" dirty="0" smtClean="0">
                <a:solidFill>
                  <a:schemeClr val="accent6">
                    <a:lumMod val="60000"/>
                    <a:lumOff val="40000"/>
                  </a:schemeClr>
                </a:solidFill>
              </a:rPr>
              <a:t>15</a:t>
            </a:r>
          </a:p>
          <a:p>
            <a:r>
              <a:rPr lang="en-US" dirty="0">
                <a:solidFill>
                  <a:schemeClr val="bg1"/>
                </a:solidFill>
              </a:rPr>
              <a:t>i</a:t>
            </a:r>
            <a:r>
              <a:rPr lang="en-US" dirty="0" smtClean="0">
                <a:solidFill>
                  <a:schemeClr val="bg1"/>
                </a:solidFill>
              </a:rPr>
              <a:t>f x &gt; </a:t>
            </a:r>
            <a:r>
              <a:rPr lang="en-US" dirty="0" smtClean="0">
                <a:solidFill>
                  <a:schemeClr val="accent6">
                    <a:lumMod val="60000"/>
                    <a:lumOff val="40000"/>
                  </a:schemeClr>
                </a:solidFill>
              </a:rPr>
              <a:t>10</a:t>
            </a:r>
            <a:r>
              <a:rPr lang="en-US" dirty="0" smtClean="0">
                <a:solidFill>
                  <a:schemeClr val="bg1"/>
                </a:solidFill>
              </a:rPr>
              <a:t>:</a:t>
            </a:r>
          </a:p>
          <a:p>
            <a:r>
              <a:rPr lang="en-US" dirty="0">
                <a:solidFill>
                  <a:schemeClr val="bg1"/>
                </a:solidFill>
              </a:rPr>
              <a:t> </a:t>
            </a:r>
            <a:r>
              <a:rPr lang="en-US" dirty="0" smtClean="0">
                <a:solidFill>
                  <a:schemeClr val="bg1"/>
                </a:solidFill>
              </a:rPr>
              <a:t>   print</a:t>
            </a:r>
            <a:r>
              <a:rPr lang="en-US" dirty="0" smtClean="0">
                <a:solidFill>
                  <a:srgbClr val="FFC000"/>
                </a:solidFill>
              </a:rPr>
              <a:t>(</a:t>
            </a:r>
            <a:r>
              <a:rPr lang="en-US" dirty="0" smtClean="0">
                <a:solidFill>
                  <a:schemeClr val="bg1"/>
                </a:solidFill>
              </a:rPr>
              <a:t>“</a:t>
            </a:r>
            <a:r>
              <a:rPr lang="en-US" dirty="0" smtClean="0">
                <a:solidFill>
                  <a:schemeClr val="accent2">
                    <a:lumMod val="75000"/>
                  </a:schemeClr>
                </a:solidFill>
              </a:rPr>
              <a:t>x </a:t>
            </a:r>
            <a:r>
              <a:rPr lang="en-US" dirty="0" err="1" smtClean="0">
                <a:solidFill>
                  <a:schemeClr val="accent2">
                    <a:lumMod val="75000"/>
                  </a:schemeClr>
                </a:solidFill>
              </a:rPr>
              <a:t>lớn</a:t>
            </a:r>
            <a:r>
              <a:rPr lang="en-US" dirty="0" smtClean="0">
                <a:solidFill>
                  <a:schemeClr val="accent2">
                    <a:lumMod val="75000"/>
                  </a:schemeClr>
                </a:solidFill>
              </a:rPr>
              <a:t> </a:t>
            </a:r>
            <a:r>
              <a:rPr lang="en-US" dirty="0" err="1" smtClean="0">
                <a:solidFill>
                  <a:schemeClr val="accent2">
                    <a:lumMod val="75000"/>
                  </a:schemeClr>
                </a:solidFill>
              </a:rPr>
              <a:t>hơn</a:t>
            </a:r>
            <a:r>
              <a:rPr lang="en-US" dirty="0" smtClean="0">
                <a:solidFill>
                  <a:schemeClr val="accent2">
                    <a:lumMod val="75000"/>
                  </a:schemeClr>
                </a:solidFill>
              </a:rPr>
              <a:t> </a:t>
            </a:r>
            <a:r>
              <a:rPr lang="en-US" dirty="0" smtClean="0">
                <a:solidFill>
                  <a:schemeClr val="accent6">
                    <a:lumMod val="60000"/>
                    <a:lumOff val="40000"/>
                  </a:schemeClr>
                </a:solidFill>
              </a:rPr>
              <a:t>10</a:t>
            </a:r>
            <a:r>
              <a:rPr lang="en-US" dirty="0" smtClean="0">
                <a:solidFill>
                  <a:schemeClr val="bg1"/>
                </a:solidFill>
              </a:rPr>
              <a:t>”</a:t>
            </a:r>
            <a:r>
              <a:rPr lang="en-US" dirty="0" smtClean="0">
                <a:solidFill>
                  <a:srgbClr val="FFC000"/>
                </a:solidFill>
              </a:rPr>
              <a:t>)</a:t>
            </a:r>
          </a:p>
          <a:p>
            <a:r>
              <a:rPr lang="en-US" dirty="0" smtClean="0">
                <a:solidFill>
                  <a:srgbClr val="FFC000"/>
                </a:solidFill>
              </a:rPr>
              <a:t>#Output: x </a:t>
            </a:r>
            <a:r>
              <a:rPr lang="en-US" dirty="0" err="1" smtClean="0">
                <a:solidFill>
                  <a:srgbClr val="FFC000"/>
                </a:solidFill>
              </a:rPr>
              <a:t>lớn</a:t>
            </a:r>
            <a:r>
              <a:rPr lang="en-US" dirty="0" smtClean="0">
                <a:solidFill>
                  <a:srgbClr val="FFC000"/>
                </a:solidFill>
              </a:rPr>
              <a:t> </a:t>
            </a:r>
            <a:r>
              <a:rPr lang="en-US" dirty="0" err="1" smtClean="0">
                <a:solidFill>
                  <a:srgbClr val="FFC000"/>
                </a:solidFill>
              </a:rPr>
              <a:t>hơn</a:t>
            </a:r>
            <a:r>
              <a:rPr lang="en-US" dirty="0" smtClean="0">
                <a:solidFill>
                  <a:srgbClr val="FFC000"/>
                </a:solidFill>
              </a:rPr>
              <a:t> 10</a:t>
            </a:r>
          </a:p>
        </p:txBody>
      </p:sp>
      <p:sp>
        <p:nvSpPr>
          <p:cNvPr id="29" name="TextBox 28"/>
          <p:cNvSpPr txBox="1"/>
          <p:nvPr/>
        </p:nvSpPr>
        <p:spPr>
          <a:xfrm>
            <a:off x="548981" y="1942764"/>
            <a:ext cx="8333421" cy="646331"/>
          </a:xfrm>
          <a:prstGeom prst="rect">
            <a:avLst/>
          </a:prstGeom>
          <a:noFill/>
        </p:spPr>
        <p:txBody>
          <a:bodyPr wrap="square" rtlCol="0">
            <a:spAutoFit/>
          </a:bodyPr>
          <a:lstStyle/>
          <a:p>
            <a:r>
              <a:rPr lang="vi-VN" dirty="0"/>
              <a:t>Câu lệnh "if" được sử dụng để kiểm tra một điều kiện và thực thi một khối mã chỉ khi điều kiện đó là </a:t>
            </a:r>
            <a:r>
              <a:rPr lang="vi-VN" dirty="0" smtClean="0"/>
              <a:t>đúng</a:t>
            </a:r>
            <a:r>
              <a:rPr lang="en-US" dirty="0" smtClean="0"/>
              <a:t>.</a:t>
            </a:r>
            <a:endParaRPr lang="en-US" b="1" dirty="0"/>
          </a:p>
        </p:txBody>
      </p:sp>
      <p:sp>
        <p:nvSpPr>
          <p:cNvPr id="37" name="Rectangle 36"/>
          <p:cNvSpPr/>
          <p:nvPr/>
        </p:nvSpPr>
        <p:spPr>
          <a:xfrm>
            <a:off x="4940227" y="4973015"/>
            <a:ext cx="3444949" cy="122653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p:cNvSpPr txBox="1"/>
          <p:nvPr/>
        </p:nvSpPr>
        <p:spPr>
          <a:xfrm>
            <a:off x="5140411" y="5065927"/>
            <a:ext cx="2745035" cy="923330"/>
          </a:xfrm>
          <a:prstGeom prst="rect">
            <a:avLst/>
          </a:prstGeom>
          <a:noFill/>
        </p:spPr>
        <p:txBody>
          <a:bodyPr wrap="square" rtlCol="0">
            <a:spAutoFit/>
          </a:bodyPr>
          <a:lstStyle/>
          <a:p>
            <a:r>
              <a:rPr lang="en-US" dirty="0" smtClean="0">
                <a:solidFill>
                  <a:schemeClr val="bg1"/>
                </a:solidFill>
              </a:rPr>
              <a:t>x = </a:t>
            </a:r>
            <a:r>
              <a:rPr lang="en-US" dirty="0" smtClean="0">
                <a:solidFill>
                  <a:schemeClr val="accent6">
                    <a:lumMod val="60000"/>
                    <a:lumOff val="40000"/>
                  </a:schemeClr>
                </a:solidFill>
              </a:rPr>
              <a:t>7</a:t>
            </a:r>
          </a:p>
          <a:p>
            <a:r>
              <a:rPr lang="en-US" dirty="0">
                <a:solidFill>
                  <a:schemeClr val="bg1"/>
                </a:solidFill>
              </a:rPr>
              <a:t>i</a:t>
            </a:r>
            <a:r>
              <a:rPr lang="en-US" dirty="0" smtClean="0">
                <a:solidFill>
                  <a:schemeClr val="bg1"/>
                </a:solidFill>
              </a:rPr>
              <a:t>f x &gt; </a:t>
            </a:r>
            <a:r>
              <a:rPr lang="en-US" dirty="0" smtClean="0">
                <a:solidFill>
                  <a:schemeClr val="accent6">
                    <a:lumMod val="60000"/>
                    <a:lumOff val="40000"/>
                  </a:schemeClr>
                </a:solidFill>
              </a:rPr>
              <a:t>10</a:t>
            </a:r>
            <a:r>
              <a:rPr lang="en-US" dirty="0" smtClean="0">
                <a:solidFill>
                  <a:schemeClr val="bg1"/>
                </a:solidFill>
              </a:rPr>
              <a:t>:</a:t>
            </a:r>
          </a:p>
          <a:p>
            <a:r>
              <a:rPr lang="en-US" dirty="0">
                <a:solidFill>
                  <a:schemeClr val="bg1"/>
                </a:solidFill>
              </a:rPr>
              <a:t> </a:t>
            </a:r>
            <a:r>
              <a:rPr lang="en-US" dirty="0" smtClean="0">
                <a:solidFill>
                  <a:schemeClr val="bg1"/>
                </a:solidFill>
              </a:rPr>
              <a:t>   print</a:t>
            </a:r>
            <a:r>
              <a:rPr lang="en-US" dirty="0" smtClean="0">
                <a:solidFill>
                  <a:srgbClr val="FFC000"/>
                </a:solidFill>
              </a:rPr>
              <a:t>(</a:t>
            </a:r>
            <a:r>
              <a:rPr lang="en-US" dirty="0" smtClean="0">
                <a:solidFill>
                  <a:schemeClr val="bg1"/>
                </a:solidFill>
              </a:rPr>
              <a:t>“</a:t>
            </a:r>
            <a:r>
              <a:rPr lang="en-US" dirty="0" smtClean="0">
                <a:solidFill>
                  <a:schemeClr val="accent2">
                    <a:lumMod val="75000"/>
                  </a:schemeClr>
                </a:solidFill>
              </a:rPr>
              <a:t>x </a:t>
            </a:r>
            <a:r>
              <a:rPr lang="en-US" dirty="0" err="1" smtClean="0">
                <a:solidFill>
                  <a:schemeClr val="accent2">
                    <a:lumMod val="75000"/>
                  </a:schemeClr>
                </a:solidFill>
              </a:rPr>
              <a:t>lớn</a:t>
            </a:r>
            <a:r>
              <a:rPr lang="en-US" dirty="0" smtClean="0">
                <a:solidFill>
                  <a:schemeClr val="accent2">
                    <a:lumMod val="75000"/>
                  </a:schemeClr>
                </a:solidFill>
              </a:rPr>
              <a:t> </a:t>
            </a:r>
            <a:r>
              <a:rPr lang="en-US" dirty="0" err="1" smtClean="0">
                <a:solidFill>
                  <a:schemeClr val="accent2">
                    <a:lumMod val="75000"/>
                  </a:schemeClr>
                </a:solidFill>
              </a:rPr>
              <a:t>hơn</a:t>
            </a:r>
            <a:r>
              <a:rPr lang="en-US" dirty="0" smtClean="0">
                <a:solidFill>
                  <a:schemeClr val="accent2">
                    <a:lumMod val="75000"/>
                  </a:schemeClr>
                </a:solidFill>
              </a:rPr>
              <a:t> </a:t>
            </a:r>
            <a:r>
              <a:rPr lang="en-US" dirty="0" smtClean="0">
                <a:solidFill>
                  <a:schemeClr val="accent6">
                    <a:lumMod val="60000"/>
                    <a:lumOff val="40000"/>
                  </a:schemeClr>
                </a:solidFill>
              </a:rPr>
              <a:t>10</a:t>
            </a:r>
            <a:r>
              <a:rPr lang="en-US" dirty="0" smtClean="0">
                <a:solidFill>
                  <a:schemeClr val="bg1"/>
                </a:solidFill>
              </a:rPr>
              <a:t>”</a:t>
            </a:r>
            <a:r>
              <a:rPr lang="en-US" dirty="0" smtClean="0">
                <a:solidFill>
                  <a:srgbClr val="FFC000"/>
                </a:solidFill>
              </a:rPr>
              <a:t>)</a:t>
            </a:r>
          </a:p>
        </p:txBody>
      </p:sp>
    </p:spTree>
    <p:extLst>
      <p:ext uri="{BB962C8B-B14F-4D97-AF65-F5344CB8AC3E}">
        <p14:creationId xmlns:p14="http://schemas.microsoft.com/office/powerpoint/2010/main" val="33347686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8</a:t>
            </a:fld>
            <a:endParaRPr lang="en-US"/>
          </a:p>
        </p:txBody>
      </p:sp>
      <p:sp>
        <p:nvSpPr>
          <p:cNvPr id="3" name="Text Placeholder 2"/>
          <p:cNvSpPr>
            <a:spLocks noGrp="1"/>
          </p:cNvSpPr>
          <p:nvPr>
            <p:ph type="body" sz="quarter" idx="13"/>
          </p:nvPr>
        </p:nvSpPr>
        <p:spPr/>
        <p:txBody>
          <a:bodyPr/>
          <a:lstStyle/>
          <a:p>
            <a:r>
              <a:rPr lang="en-US" dirty="0" smtClean="0"/>
              <a:t>3.3 </a:t>
            </a:r>
            <a:r>
              <a:rPr lang="en-US" dirty="0" err="1" smtClean="0"/>
              <a:t>Câu</a:t>
            </a:r>
            <a:r>
              <a:rPr lang="en-US" dirty="0" smtClean="0"/>
              <a:t> </a:t>
            </a:r>
            <a:r>
              <a:rPr lang="en-US" dirty="0" err="1" smtClean="0"/>
              <a:t>lệnh</a:t>
            </a:r>
            <a:r>
              <a:rPr lang="en-US" dirty="0" smtClean="0"/>
              <a:t> if, else, </a:t>
            </a:r>
            <a:r>
              <a:rPr lang="en-US" dirty="0" err="1" smtClean="0"/>
              <a:t>elif</a:t>
            </a:r>
            <a:endParaRPr lang="en-US" dirty="0"/>
          </a:p>
        </p:txBody>
      </p:sp>
      <p:pic>
        <p:nvPicPr>
          <p:cNvPr id="4"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79187"/>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041993" y="1519761"/>
            <a:ext cx="7068814" cy="369332"/>
          </a:xfrm>
          <a:prstGeom prst="rect">
            <a:avLst/>
          </a:prstGeom>
          <a:noFill/>
        </p:spPr>
        <p:txBody>
          <a:bodyPr wrap="square" rtlCol="0">
            <a:spAutoFit/>
          </a:bodyPr>
          <a:lstStyle/>
          <a:p>
            <a:r>
              <a:rPr lang="en-US" b="1" dirty="0" err="1" smtClean="0"/>
              <a:t>Cú</a:t>
            </a:r>
            <a:r>
              <a:rPr lang="en-US" b="1" dirty="0" smtClean="0"/>
              <a:t> </a:t>
            </a:r>
            <a:r>
              <a:rPr lang="en-US" b="1" dirty="0" err="1" smtClean="0"/>
              <a:t>pháp</a:t>
            </a:r>
            <a:r>
              <a:rPr lang="en-US" b="1" dirty="0" smtClean="0"/>
              <a:t> if </a:t>
            </a:r>
            <a:r>
              <a:rPr lang="en-US" b="1" dirty="0" err="1" smtClean="0"/>
              <a:t>đầy</a:t>
            </a:r>
            <a:r>
              <a:rPr lang="en-US" b="1" dirty="0" smtClean="0"/>
              <a:t> </a:t>
            </a:r>
            <a:r>
              <a:rPr lang="en-US" b="1" dirty="0" err="1" smtClean="0"/>
              <a:t>đủ</a:t>
            </a:r>
            <a:endParaRPr lang="en-US" b="1" dirty="0">
              <a:solidFill>
                <a:srgbClr val="FF0000"/>
              </a:solidFill>
            </a:endParaRPr>
          </a:p>
        </p:txBody>
      </p:sp>
      <p:sp>
        <p:nvSpPr>
          <p:cNvPr id="9" name="TextBox 8"/>
          <p:cNvSpPr txBox="1"/>
          <p:nvPr/>
        </p:nvSpPr>
        <p:spPr>
          <a:xfrm>
            <a:off x="548981" y="2132833"/>
            <a:ext cx="7988963" cy="1938992"/>
          </a:xfrm>
          <a:prstGeom prst="rect">
            <a:avLst/>
          </a:prstGeom>
          <a:noFill/>
        </p:spPr>
        <p:txBody>
          <a:bodyPr wrap="square" rtlCol="0">
            <a:spAutoFit/>
          </a:bodyPr>
          <a:lstStyle/>
          <a:p>
            <a:r>
              <a:rPr lang="en-US" sz="2400" b="1" dirty="0" smtClean="0"/>
              <a:t>if &lt;</a:t>
            </a:r>
            <a:r>
              <a:rPr lang="en-US" sz="2400" b="1" dirty="0" err="1" smtClean="0"/>
              <a:t>điều</a:t>
            </a:r>
            <a:r>
              <a:rPr lang="en-US" sz="2400" b="1" dirty="0" smtClean="0"/>
              <a:t> </a:t>
            </a:r>
            <a:r>
              <a:rPr lang="en-US" sz="2400" b="1" dirty="0" err="1" smtClean="0"/>
              <a:t>kiện</a:t>
            </a:r>
            <a:r>
              <a:rPr lang="en-US" sz="2400" b="1" dirty="0" smtClean="0"/>
              <a:t> </a:t>
            </a:r>
            <a:r>
              <a:rPr lang="en-US" sz="2400" b="1" dirty="0" err="1" smtClean="0"/>
              <a:t>kiểm</a:t>
            </a:r>
            <a:r>
              <a:rPr lang="en-US" sz="2400" b="1" dirty="0" smtClean="0"/>
              <a:t> </a:t>
            </a:r>
            <a:r>
              <a:rPr lang="en-US" sz="2400" b="1" dirty="0" err="1" smtClean="0"/>
              <a:t>tra</a:t>
            </a:r>
            <a:r>
              <a:rPr lang="en-US" sz="2400" b="1" dirty="0" smtClean="0"/>
              <a:t>&gt;:</a:t>
            </a:r>
          </a:p>
          <a:p>
            <a:r>
              <a:rPr lang="en-US" sz="2400" b="1" dirty="0">
                <a:solidFill>
                  <a:srgbClr val="FF0000"/>
                </a:solidFill>
              </a:rPr>
              <a:t> </a:t>
            </a:r>
            <a:r>
              <a:rPr lang="en-US" sz="2400" b="1" dirty="0" smtClean="0">
                <a:solidFill>
                  <a:srgbClr val="FF0000"/>
                </a:solidFill>
              </a:rPr>
              <a:t>       &lt;</a:t>
            </a:r>
            <a:r>
              <a:rPr lang="en-US" sz="2400" b="1" dirty="0" err="1" smtClean="0">
                <a:solidFill>
                  <a:srgbClr val="FF0000"/>
                </a:solidFill>
              </a:rPr>
              <a:t>khối</a:t>
            </a:r>
            <a:r>
              <a:rPr lang="en-US" sz="2400" b="1" dirty="0" smtClean="0">
                <a:solidFill>
                  <a:srgbClr val="FF0000"/>
                </a:solidFill>
              </a:rPr>
              <a:t> </a:t>
            </a:r>
            <a:r>
              <a:rPr lang="en-US" sz="2400" b="1" dirty="0" err="1" smtClean="0">
                <a:solidFill>
                  <a:srgbClr val="FF0000"/>
                </a:solidFill>
              </a:rPr>
              <a:t>lệnh</a:t>
            </a:r>
            <a:r>
              <a:rPr lang="en-US" sz="2400" b="1" dirty="0" smtClean="0">
                <a:solidFill>
                  <a:srgbClr val="FF0000"/>
                </a:solidFill>
              </a:rPr>
              <a:t> </a:t>
            </a:r>
            <a:r>
              <a:rPr lang="en-US" sz="2400" b="1" dirty="0" err="1" smtClean="0">
                <a:solidFill>
                  <a:srgbClr val="FF0000"/>
                </a:solidFill>
              </a:rPr>
              <a:t>thực</a:t>
            </a:r>
            <a:r>
              <a:rPr lang="en-US" sz="2400" b="1" dirty="0" smtClean="0">
                <a:solidFill>
                  <a:srgbClr val="FF0000"/>
                </a:solidFill>
              </a:rPr>
              <a:t> </a:t>
            </a:r>
            <a:r>
              <a:rPr lang="en-US" sz="2400" b="1" dirty="0" err="1" smtClean="0">
                <a:solidFill>
                  <a:srgbClr val="FF0000"/>
                </a:solidFill>
              </a:rPr>
              <a:t>thi</a:t>
            </a:r>
            <a:r>
              <a:rPr lang="en-US" sz="2400" b="1" dirty="0" smtClean="0">
                <a:solidFill>
                  <a:srgbClr val="FF0000"/>
                </a:solidFill>
              </a:rPr>
              <a:t> </a:t>
            </a:r>
            <a:r>
              <a:rPr lang="en-US" sz="2400" b="1" dirty="0" err="1" smtClean="0">
                <a:solidFill>
                  <a:srgbClr val="FF0000"/>
                </a:solidFill>
              </a:rPr>
              <a:t>khi</a:t>
            </a:r>
            <a:r>
              <a:rPr lang="en-US" sz="2400" b="1" dirty="0" smtClean="0">
                <a:solidFill>
                  <a:srgbClr val="FF0000"/>
                </a:solidFill>
              </a:rPr>
              <a:t> </a:t>
            </a:r>
            <a:r>
              <a:rPr lang="en-US" sz="2400" b="1" dirty="0" err="1" smtClean="0">
                <a:solidFill>
                  <a:srgbClr val="FF0000"/>
                </a:solidFill>
              </a:rPr>
              <a:t>điều</a:t>
            </a:r>
            <a:r>
              <a:rPr lang="en-US" sz="2400" b="1" dirty="0" smtClean="0">
                <a:solidFill>
                  <a:srgbClr val="FF0000"/>
                </a:solidFill>
              </a:rPr>
              <a:t> </a:t>
            </a:r>
            <a:r>
              <a:rPr lang="en-US" sz="2400" b="1" dirty="0" err="1" smtClean="0">
                <a:solidFill>
                  <a:srgbClr val="FF0000"/>
                </a:solidFill>
              </a:rPr>
              <a:t>kiện</a:t>
            </a:r>
            <a:r>
              <a:rPr lang="en-US" sz="2400" b="1" dirty="0" smtClean="0">
                <a:solidFill>
                  <a:srgbClr val="FF0000"/>
                </a:solidFill>
              </a:rPr>
              <a:t> </a:t>
            </a:r>
            <a:r>
              <a:rPr lang="en-US" sz="2400" b="1" dirty="0" err="1" smtClean="0">
                <a:solidFill>
                  <a:srgbClr val="FF0000"/>
                </a:solidFill>
              </a:rPr>
              <a:t>đúng</a:t>
            </a:r>
            <a:r>
              <a:rPr lang="en-US" sz="2400" b="1" dirty="0" smtClean="0">
                <a:solidFill>
                  <a:srgbClr val="FF0000"/>
                </a:solidFill>
              </a:rPr>
              <a:t> &gt;</a:t>
            </a:r>
          </a:p>
          <a:p>
            <a:r>
              <a:rPr lang="en-US" sz="2400" b="1" dirty="0" smtClean="0"/>
              <a:t>else:</a:t>
            </a:r>
            <a:endParaRPr lang="en-US" sz="2400" b="1" dirty="0"/>
          </a:p>
          <a:p>
            <a:r>
              <a:rPr lang="en-US" sz="2400" b="1" dirty="0">
                <a:solidFill>
                  <a:srgbClr val="FF0000"/>
                </a:solidFill>
              </a:rPr>
              <a:t>        &lt;khối lệnh </a:t>
            </a:r>
            <a:r>
              <a:rPr lang="en-US" sz="2400" b="1" dirty="0" smtClean="0">
                <a:solidFill>
                  <a:srgbClr val="FF0000"/>
                </a:solidFill>
              </a:rPr>
              <a:t>thực thi khi điều kiện sai&gt;</a:t>
            </a:r>
            <a:endParaRPr lang="en-US" sz="2400" b="1" dirty="0">
              <a:solidFill>
                <a:srgbClr val="FF0000"/>
              </a:solidFill>
            </a:endParaRPr>
          </a:p>
          <a:p>
            <a:endParaRPr lang="en-US" sz="2400" b="1" dirty="0">
              <a:solidFill>
                <a:srgbClr val="FF0000"/>
              </a:solidFill>
            </a:endParaRPr>
          </a:p>
        </p:txBody>
      </p:sp>
      <p:sp>
        <p:nvSpPr>
          <p:cNvPr id="27" name="Rectangle 26"/>
          <p:cNvSpPr/>
          <p:nvPr/>
        </p:nvSpPr>
        <p:spPr>
          <a:xfrm>
            <a:off x="548981" y="4820407"/>
            <a:ext cx="7988963" cy="1705003"/>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p:cNvSpPr txBox="1"/>
          <p:nvPr/>
        </p:nvSpPr>
        <p:spPr>
          <a:xfrm>
            <a:off x="749165" y="4913320"/>
            <a:ext cx="2745035" cy="1477328"/>
          </a:xfrm>
          <a:prstGeom prst="rect">
            <a:avLst/>
          </a:prstGeom>
          <a:noFill/>
        </p:spPr>
        <p:txBody>
          <a:bodyPr wrap="square" rtlCol="0">
            <a:spAutoFit/>
          </a:bodyPr>
          <a:lstStyle/>
          <a:p>
            <a:r>
              <a:rPr lang="en-US" dirty="0" smtClean="0">
                <a:solidFill>
                  <a:schemeClr val="bg1"/>
                </a:solidFill>
              </a:rPr>
              <a:t>x = </a:t>
            </a:r>
            <a:r>
              <a:rPr lang="en-US" dirty="0" smtClean="0">
                <a:solidFill>
                  <a:schemeClr val="accent6">
                    <a:lumMod val="60000"/>
                    <a:lumOff val="40000"/>
                  </a:schemeClr>
                </a:solidFill>
              </a:rPr>
              <a:t>15</a:t>
            </a:r>
          </a:p>
          <a:p>
            <a:r>
              <a:rPr lang="en-US" dirty="0">
                <a:solidFill>
                  <a:schemeClr val="bg1"/>
                </a:solidFill>
              </a:rPr>
              <a:t>i</a:t>
            </a:r>
            <a:r>
              <a:rPr lang="en-US" dirty="0" smtClean="0">
                <a:solidFill>
                  <a:schemeClr val="bg1"/>
                </a:solidFill>
              </a:rPr>
              <a:t>f x &gt; </a:t>
            </a:r>
            <a:r>
              <a:rPr lang="en-US" dirty="0" smtClean="0">
                <a:solidFill>
                  <a:schemeClr val="accent6">
                    <a:lumMod val="60000"/>
                    <a:lumOff val="40000"/>
                  </a:schemeClr>
                </a:solidFill>
              </a:rPr>
              <a:t>10</a:t>
            </a:r>
            <a:r>
              <a:rPr lang="en-US" dirty="0" smtClean="0">
                <a:solidFill>
                  <a:schemeClr val="bg1"/>
                </a:solidFill>
              </a:rPr>
              <a:t>:</a:t>
            </a:r>
          </a:p>
          <a:p>
            <a:r>
              <a:rPr lang="en-US" dirty="0">
                <a:solidFill>
                  <a:schemeClr val="bg1"/>
                </a:solidFill>
              </a:rPr>
              <a:t> </a:t>
            </a:r>
            <a:r>
              <a:rPr lang="en-US" dirty="0" smtClean="0">
                <a:solidFill>
                  <a:schemeClr val="bg1"/>
                </a:solidFill>
              </a:rPr>
              <a:t>   print</a:t>
            </a:r>
            <a:r>
              <a:rPr lang="en-US" dirty="0" smtClean="0">
                <a:solidFill>
                  <a:srgbClr val="FFC000"/>
                </a:solidFill>
              </a:rPr>
              <a:t>(</a:t>
            </a:r>
            <a:r>
              <a:rPr lang="en-US" dirty="0" smtClean="0">
                <a:solidFill>
                  <a:schemeClr val="bg1"/>
                </a:solidFill>
              </a:rPr>
              <a:t>“</a:t>
            </a:r>
            <a:r>
              <a:rPr lang="en-US" dirty="0" smtClean="0">
                <a:solidFill>
                  <a:schemeClr val="accent2">
                    <a:lumMod val="75000"/>
                  </a:schemeClr>
                </a:solidFill>
              </a:rPr>
              <a:t>x </a:t>
            </a:r>
            <a:r>
              <a:rPr lang="en-US" dirty="0" err="1" smtClean="0">
                <a:solidFill>
                  <a:schemeClr val="accent2">
                    <a:lumMod val="75000"/>
                  </a:schemeClr>
                </a:solidFill>
              </a:rPr>
              <a:t>lớn</a:t>
            </a:r>
            <a:r>
              <a:rPr lang="en-US" dirty="0" smtClean="0">
                <a:solidFill>
                  <a:schemeClr val="accent2">
                    <a:lumMod val="75000"/>
                  </a:schemeClr>
                </a:solidFill>
              </a:rPr>
              <a:t> </a:t>
            </a:r>
            <a:r>
              <a:rPr lang="en-US" dirty="0" err="1" smtClean="0">
                <a:solidFill>
                  <a:schemeClr val="accent2">
                    <a:lumMod val="75000"/>
                  </a:schemeClr>
                </a:solidFill>
              </a:rPr>
              <a:t>hơn</a:t>
            </a:r>
            <a:r>
              <a:rPr lang="en-US" dirty="0" smtClean="0">
                <a:solidFill>
                  <a:schemeClr val="accent2">
                    <a:lumMod val="75000"/>
                  </a:schemeClr>
                </a:solidFill>
              </a:rPr>
              <a:t> 10</a:t>
            </a:r>
            <a:r>
              <a:rPr lang="en-US" dirty="0" smtClean="0">
                <a:solidFill>
                  <a:schemeClr val="bg1"/>
                </a:solidFill>
              </a:rPr>
              <a:t>”</a:t>
            </a:r>
            <a:r>
              <a:rPr lang="en-US" dirty="0" smtClean="0">
                <a:solidFill>
                  <a:srgbClr val="FFC000"/>
                </a:solidFill>
              </a:rPr>
              <a:t>)</a:t>
            </a:r>
          </a:p>
          <a:p>
            <a:r>
              <a:rPr lang="en-US" dirty="0" smtClean="0">
                <a:solidFill>
                  <a:schemeClr val="bg1"/>
                </a:solidFill>
              </a:rPr>
              <a:t>else:</a:t>
            </a:r>
          </a:p>
          <a:p>
            <a:r>
              <a:rPr lang="en-US" dirty="0" smtClean="0">
                <a:solidFill>
                  <a:srgbClr val="FFC000"/>
                </a:solidFill>
              </a:rPr>
              <a:t>    </a:t>
            </a:r>
            <a:r>
              <a:rPr lang="en-US" dirty="0" smtClean="0">
                <a:solidFill>
                  <a:schemeClr val="bg1"/>
                </a:solidFill>
              </a:rPr>
              <a:t>print</a:t>
            </a:r>
            <a:r>
              <a:rPr lang="en-US" dirty="0">
                <a:solidFill>
                  <a:srgbClr val="FFC000"/>
                </a:solidFill>
              </a:rPr>
              <a:t>(</a:t>
            </a:r>
            <a:r>
              <a:rPr lang="en-US" dirty="0">
                <a:solidFill>
                  <a:schemeClr val="bg1"/>
                </a:solidFill>
              </a:rPr>
              <a:t>“</a:t>
            </a:r>
            <a:r>
              <a:rPr lang="en-US" dirty="0">
                <a:solidFill>
                  <a:schemeClr val="accent2">
                    <a:lumMod val="75000"/>
                  </a:schemeClr>
                </a:solidFill>
              </a:rPr>
              <a:t>x </a:t>
            </a:r>
            <a:r>
              <a:rPr lang="en-US" dirty="0" err="1" smtClean="0">
                <a:solidFill>
                  <a:schemeClr val="accent2">
                    <a:lumMod val="75000"/>
                  </a:schemeClr>
                </a:solidFill>
              </a:rPr>
              <a:t>nhỏ</a:t>
            </a:r>
            <a:r>
              <a:rPr lang="en-US" dirty="0" smtClean="0">
                <a:solidFill>
                  <a:schemeClr val="accent2">
                    <a:lumMod val="75000"/>
                  </a:schemeClr>
                </a:solidFill>
              </a:rPr>
              <a:t> </a:t>
            </a:r>
            <a:r>
              <a:rPr lang="en-US" dirty="0" err="1">
                <a:solidFill>
                  <a:schemeClr val="accent2">
                    <a:lumMod val="75000"/>
                  </a:schemeClr>
                </a:solidFill>
              </a:rPr>
              <a:t>hơn</a:t>
            </a:r>
            <a:r>
              <a:rPr lang="en-US" dirty="0">
                <a:solidFill>
                  <a:schemeClr val="accent2">
                    <a:lumMod val="75000"/>
                  </a:schemeClr>
                </a:solidFill>
              </a:rPr>
              <a:t> 10</a:t>
            </a:r>
            <a:r>
              <a:rPr lang="en-US" dirty="0">
                <a:solidFill>
                  <a:schemeClr val="bg1"/>
                </a:solidFill>
              </a:rPr>
              <a:t>”</a:t>
            </a:r>
            <a:r>
              <a:rPr lang="en-US" dirty="0">
                <a:solidFill>
                  <a:srgbClr val="FFC000"/>
                </a:solidFill>
              </a:rPr>
              <a:t>)</a:t>
            </a:r>
            <a:endParaRPr lang="en-US" dirty="0" smtClean="0">
              <a:solidFill>
                <a:srgbClr val="FFC000"/>
              </a:solidFill>
            </a:endParaRPr>
          </a:p>
        </p:txBody>
      </p:sp>
      <p:sp>
        <p:nvSpPr>
          <p:cNvPr id="16" name="TextBox 15"/>
          <p:cNvSpPr txBox="1"/>
          <p:nvPr/>
        </p:nvSpPr>
        <p:spPr>
          <a:xfrm>
            <a:off x="548981" y="4221979"/>
            <a:ext cx="8333421" cy="369332"/>
          </a:xfrm>
          <a:prstGeom prst="rect">
            <a:avLst/>
          </a:prstGeom>
          <a:noFill/>
        </p:spPr>
        <p:txBody>
          <a:bodyPr wrap="square" rtlCol="0">
            <a:spAutoFit/>
          </a:bodyPr>
          <a:lstStyle/>
          <a:p>
            <a:r>
              <a:rPr lang="en-US" b="1" dirty="0" smtClean="0"/>
              <a:t>else: </a:t>
            </a:r>
            <a:r>
              <a:rPr lang="en-US" dirty="0" err="1" smtClean="0"/>
              <a:t>sau</a:t>
            </a:r>
            <a:r>
              <a:rPr lang="en-US" dirty="0" smtClean="0"/>
              <a:t> else </a:t>
            </a:r>
            <a:r>
              <a:rPr lang="en-US" dirty="0" err="1" smtClean="0"/>
              <a:t>có</a:t>
            </a:r>
            <a:r>
              <a:rPr lang="en-US" dirty="0" smtClean="0"/>
              <a:t> </a:t>
            </a:r>
            <a:r>
              <a:rPr lang="en-US" dirty="0" err="1" smtClean="0"/>
              <a:t>thêm</a:t>
            </a:r>
            <a:r>
              <a:rPr lang="en-US" dirty="0" smtClean="0"/>
              <a:t> </a:t>
            </a:r>
            <a:r>
              <a:rPr lang="en-US" dirty="0" err="1" smtClean="0"/>
              <a:t>dấu</a:t>
            </a:r>
            <a:r>
              <a:rPr lang="en-US" dirty="0" smtClean="0"/>
              <a:t> :</a:t>
            </a:r>
            <a:endParaRPr lang="en-US" b="1" dirty="0"/>
          </a:p>
        </p:txBody>
      </p:sp>
      <p:sp>
        <p:nvSpPr>
          <p:cNvPr id="10" name="TextBox 9"/>
          <p:cNvSpPr txBox="1"/>
          <p:nvPr/>
        </p:nvSpPr>
        <p:spPr>
          <a:xfrm>
            <a:off x="548981" y="3852647"/>
            <a:ext cx="8333421" cy="369332"/>
          </a:xfrm>
          <a:prstGeom prst="rect">
            <a:avLst/>
          </a:prstGeom>
          <a:noFill/>
        </p:spPr>
        <p:txBody>
          <a:bodyPr wrap="square" rtlCol="0">
            <a:spAutoFit/>
          </a:bodyPr>
          <a:lstStyle/>
          <a:p>
            <a:r>
              <a:rPr lang="en-US" b="1" dirty="0" err="1" smtClean="0"/>
              <a:t>Điều</a:t>
            </a:r>
            <a:r>
              <a:rPr lang="en-US" b="1" dirty="0" smtClean="0"/>
              <a:t> </a:t>
            </a:r>
            <a:r>
              <a:rPr lang="en-US" b="1" dirty="0" err="1" smtClean="0"/>
              <a:t>kiện</a:t>
            </a:r>
            <a:r>
              <a:rPr lang="en-US" b="1" dirty="0" smtClean="0"/>
              <a:t> </a:t>
            </a:r>
            <a:r>
              <a:rPr lang="en-US" b="1" dirty="0" err="1" smtClean="0"/>
              <a:t>kiểm</a:t>
            </a:r>
            <a:r>
              <a:rPr lang="en-US" b="1" dirty="0" smtClean="0"/>
              <a:t> </a:t>
            </a:r>
            <a:r>
              <a:rPr lang="en-US" b="1" dirty="0" err="1" smtClean="0"/>
              <a:t>tra</a:t>
            </a:r>
            <a:r>
              <a:rPr lang="en-US" b="1" dirty="0" smtClean="0"/>
              <a:t>: </a:t>
            </a:r>
            <a:r>
              <a:rPr lang="en-US" dirty="0" err="1" smtClean="0"/>
              <a:t>Trả</a:t>
            </a:r>
            <a:r>
              <a:rPr lang="en-US" dirty="0" smtClean="0"/>
              <a:t> </a:t>
            </a:r>
            <a:r>
              <a:rPr lang="en-US" dirty="0" err="1" smtClean="0"/>
              <a:t>về</a:t>
            </a:r>
            <a:r>
              <a:rPr lang="en-US" dirty="0" smtClean="0"/>
              <a:t> </a:t>
            </a:r>
            <a:r>
              <a:rPr lang="en-US" dirty="0" err="1" smtClean="0"/>
              <a:t>một</a:t>
            </a:r>
            <a:r>
              <a:rPr lang="en-US" dirty="0" smtClean="0"/>
              <a:t> </a:t>
            </a:r>
            <a:r>
              <a:rPr lang="en-US" dirty="0" err="1" smtClean="0"/>
              <a:t>giá</a:t>
            </a:r>
            <a:r>
              <a:rPr lang="en-US" dirty="0" smtClean="0"/>
              <a:t> </a:t>
            </a:r>
            <a:r>
              <a:rPr lang="en-US" dirty="0" err="1" smtClean="0"/>
              <a:t>trị</a:t>
            </a:r>
            <a:r>
              <a:rPr lang="en-US" dirty="0" smtClean="0"/>
              <a:t> logic (True/False) </a:t>
            </a:r>
            <a:r>
              <a:rPr lang="en-US" dirty="0" err="1" smtClean="0"/>
              <a:t>và</a:t>
            </a:r>
            <a:r>
              <a:rPr lang="en-US" dirty="0" smtClean="0"/>
              <a:t> </a:t>
            </a:r>
            <a:r>
              <a:rPr lang="en-US" dirty="0" err="1" smtClean="0"/>
              <a:t>kết</a:t>
            </a:r>
            <a:r>
              <a:rPr lang="en-US" dirty="0" smtClean="0"/>
              <a:t> </a:t>
            </a:r>
            <a:r>
              <a:rPr lang="en-US" dirty="0" err="1" smtClean="0"/>
              <a:t>thúc</a:t>
            </a:r>
            <a:r>
              <a:rPr lang="en-US" dirty="0" smtClean="0"/>
              <a:t> </a:t>
            </a:r>
            <a:r>
              <a:rPr lang="en-US" dirty="0" err="1" smtClean="0"/>
              <a:t>bằng</a:t>
            </a:r>
            <a:r>
              <a:rPr lang="en-US" dirty="0" smtClean="0"/>
              <a:t> </a:t>
            </a:r>
            <a:r>
              <a:rPr lang="en-US" dirty="0" err="1" smtClean="0"/>
              <a:t>dấu</a:t>
            </a:r>
            <a:r>
              <a:rPr lang="en-US" dirty="0" smtClean="0"/>
              <a:t> :</a:t>
            </a:r>
            <a:endParaRPr lang="en-US" b="1" dirty="0"/>
          </a:p>
        </p:txBody>
      </p:sp>
    </p:spTree>
    <p:extLst>
      <p:ext uri="{BB962C8B-B14F-4D97-AF65-F5344CB8AC3E}">
        <p14:creationId xmlns:p14="http://schemas.microsoft.com/office/powerpoint/2010/main" val="34053938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p:txBody>
          <a:bodyPr/>
          <a:lstStyle/>
          <a:p>
            <a:r>
              <a:rPr lang="en-US" dirty="0" smtClean="0"/>
              <a:t>3.3 </a:t>
            </a:r>
            <a:r>
              <a:rPr lang="en-US" dirty="0" err="1" smtClean="0"/>
              <a:t>Câu</a:t>
            </a:r>
            <a:r>
              <a:rPr lang="en-US" dirty="0" smtClean="0"/>
              <a:t> </a:t>
            </a:r>
            <a:r>
              <a:rPr lang="en-US" dirty="0" err="1" smtClean="0"/>
              <a:t>lệnh</a:t>
            </a:r>
            <a:r>
              <a:rPr lang="en-US" dirty="0" smtClean="0"/>
              <a:t> if, else, </a:t>
            </a:r>
            <a:r>
              <a:rPr lang="en-US" dirty="0" err="1" smtClean="0"/>
              <a:t>elif</a:t>
            </a:r>
            <a:endParaRPr lang="en-US" dirty="0"/>
          </a:p>
        </p:txBody>
      </p:sp>
      <p:pic>
        <p:nvPicPr>
          <p:cNvPr id="4"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79187"/>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041993" y="1519761"/>
            <a:ext cx="7068814" cy="369332"/>
          </a:xfrm>
          <a:prstGeom prst="rect">
            <a:avLst/>
          </a:prstGeom>
          <a:noFill/>
        </p:spPr>
        <p:txBody>
          <a:bodyPr wrap="square" rtlCol="0">
            <a:spAutoFit/>
          </a:bodyPr>
          <a:lstStyle/>
          <a:p>
            <a:r>
              <a:rPr lang="en-US" b="1" dirty="0" err="1" smtClean="0"/>
              <a:t>Cú</a:t>
            </a:r>
            <a:r>
              <a:rPr lang="en-US" b="1" dirty="0" smtClean="0"/>
              <a:t> </a:t>
            </a:r>
            <a:r>
              <a:rPr lang="en-US" b="1" dirty="0" err="1" smtClean="0"/>
              <a:t>pháp</a:t>
            </a:r>
            <a:r>
              <a:rPr lang="en-US" b="1" dirty="0" smtClean="0"/>
              <a:t> </a:t>
            </a:r>
            <a:r>
              <a:rPr lang="en-US" b="1" dirty="0"/>
              <a:t>if-</a:t>
            </a:r>
            <a:r>
              <a:rPr lang="en-US" b="1" dirty="0" err="1"/>
              <a:t>elif</a:t>
            </a:r>
            <a:r>
              <a:rPr lang="en-US" b="1" dirty="0"/>
              <a:t>-else</a:t>
            </a:r>
          </a:p>
        </p:txBody>
      </p:sp>
      <p:sp>
        <p:nvSpPr>
          <p:cNvPr id="9" name="TextBox 8"/>
          <p:cNvSpPr txBox="1"/>
          <p:nvPr/>
        </p:nvSpPr>
        <p:spPr>
          <a:xfrm>
            <a:off x="548981" y="2818302"/>
            <a:ext cx="7988963" cy="2800767"/>
          </a:xfrm>
          <a:prstGeom prst="rect">
            <a:avLst/>
          </a:prstGeom>
          <a:noFill/>
        </p:spPr>
        <p:txBody>
          <a:bodyPr wrap="square" rtlCol="0">
            <a:spAutoFit/>
          </a:bodyPr>
          <a:lstStyle/>
          <a:p>
            <a:r>
              <a:rPr lang="en-US" sz="2200" b="1" dirty="0" smtClean="0"/>
              <a:t>if &lt;</a:t>
            </a:r>
            <a:r>
              <a:rPr lang="en-US" sz="2200" b="1" dirty="0" err="1" smtClean="0"/>
              <a:t>điều</a:t>
            </a:r>
            <a:r>
              <a:rPr lang="en-US" sz="2200" b="1" dirty="0" smtClean="0"/>
              <a:t> </a:t>
            </a:r>
            <a:r>
              <a:rPr lang="en-US" sz="2200" b="1" dirty="0" err="1" smtClean="0"/>
              <a:t>kiện</a:t>
            </a:r>
            <a:r>
              <a:rPr lang="en-US" sz="2200" b="1" dirty="0" smtClean="0"/>
              <a:t> 1&gt;:</a:t>
            </a:r>
          </a:p>
          <a:p>
            <a:r>
              <a:rPr lang="en-US" sz="2200" b="1" dirty="0">
                <a:solidFill>
                  <a:srgbClr val="FF0000"/>
                </a:solidFill>
              </a:rPr>
              <a:t> </a:t>
            </a:r>
            <a:r>
              <a:rPr lang="en-US" sz="2200" b="1" dirty="0" smtClean="0">
                <a:solidFill>
                  <a:srgbClr val="FF0000"/>
                </a:solidFill>
              </a:rPr>
              <a:t>       &lt;</a:t>
            </a:r>
            <a:r>
              <a:rPr lang="en-US" sz="2200" b="1" dirty="0" err="1" smtClean="0">
                <a:solidFill>
                  <a:srgbClr val="FF0000"/>
                </a:solidFill>
              </a:rPr>
              <a:t>khối</a:t>
            </a:r>
            <a:r>
              <a:rPr lang="en-US" sz="2200" b="1" dirty="0" smtClean="0">
                <a:solidFill>
                  <a:srgbClr val="FF0000"/>
                </a:solidFill>
              </a:rPr>
              <a:t> </a:t>
            </a:r>
            <a:r>
              <a:rPr lang="en-US" sz="2200" b="1" dirty="0" err="1" smtClean="0">
                <a:solidFill>
                  <a:srgbClr val="FF0000"/>
                </a:solidFill>
              </a:rPr>
              <a:t>lệnh</a:t>
            </a:r>
            <a:r>
              <a:rPr lang="en-US" sz="2200" b="1" dirty="0" smtClean="0">
                <a:solidFill>
                  <a:srgbClr val="FF0000"/>
                </a:solidFill>
              </a:rPr>
              <a:t> </a:t>
            </a:r>
            <a:r>
              <a:rPr lang="en-US" sz="2200" b="1" dirty="0" err="1" smtClean="0">
                <a:solidFill>
                  <a:srgbClr val="FF0000"/>
                </a:solidFill>
              </a:rPr>
              <a:t>thực</a:t>
            </a:r>
            <a:r>
              <a:rPr lang="en-US" sz="2200" b="1" dirty="0" smtClean="0">
                <a:solidFill>
                  <a:srgbClr val="FF0000"/>
                </a:solidFill>
              </a:rPr>
              <a:t> </a:t>
            </a:r>
            <a:r>
              <a:rPr lang="en-US" sz="2200" b="1" dirty="0" err="1" smtClean="0">
                <a:solidFill>
                  <a:srgbClr val="FF0000"/>
                </a:solidFill>
              </a:rPr>
              <a:t>thi</a:t>
            </a:r>
            <a:r>
              <a:rPr lang="en-US" sz="2200" b="1" dirty="0" smtClean="0">
                <a:solidFill>
                  <a:srgbClr val="FF0000"/>
                </a:solidFill>
              </a:rPr>
              <a:t> </a:t>
            </a:r>
            <a:r>
              <a:rPr lang="en-US" sz="2200" b="1" dirty="0" err="1" smtClean="0">
                <a:solidFill>
                  <a:srgbClr val="FF0000"/>
                </a:solidFill>
              </a:rPr>
              <a:t>khi</a:t>
            </a:r>
            <a:r>
              <a:rPr lang="en-US" sz="2200" b="1" dirty="0" smtClean="0">
                <a:solidFill>
                  <a:srgbClr val="FF0000"/>
                </a:solidFill>
              </a:rPr>
              <a:t> </a:t>
            </a:r>
            <a:r>
              <a:rPr lang="en-US" sz="2200" b="1" dirty="0" err="1" smtClean="0">
                <a:solidFill>
                  <a:srgbClr val="FF0000"/>
                </a:solidFill>
              </a:rPr>
              <a:t>điều</a:t>
            </a:r>
            <a:r>
              <a:rPr lang="en-US" sz="2200" b="1" dirty="0" smtClean="0">
                <a:solidFill>
                  <a:srgbClr val="FF0000"/>
                </a:solidFill>
              </a:rPr>
              <a:t> </a:t>
            </a:r>
            <a:r>
              <a:rPr lang="en-US" sz="2200" b="1" dirty="0" err="1" smtClean="0">
                <a:solidFill>
                  <a:srgbClr val="FF0000"/>
                </a:solidFill>
              </a:rPr>
              <a:t>kiện</a:t>
            </a:r>
            <a:r>
              <a:rPr lang="en-US" sz="2200" b="1" dirty="0" smtClean="0">
                <a:solidFill>
                  <a:srgbClr val="FF0000"/>
                </a:solidFill>
              </a:rPr>
              <a:t> 1 </a:t>
            </a:r>
            <a:r>
              <a:rPr lang="en-US" sz="2200" b="1" dirty="0" err="1" smtClean="0">
                <a:solidFill>
                  <a:srgbClr val="FF0000"/>
                </a:solidFill>
              </a:rPr>
              <a:t>đúng</a:t>
            </a:r>
            <a:r>
              <a:rPr lang="en-US" sz="2200" b="1" dirty="0" smtClean="0">
                <a:solidFill>
                  <a:srgbClr val="FF0000"/>
                </a:solidFill>
              </a:rPr>
              <a:t> &gt;</a:t>
            </a:r>
          </a:p>
          <a:p>
            <a:r>
              <a:rPr lang="en-US" sz="2200" b="1" dirty="0" err="1" smtClean="0"/>
              <a:t>elif</a:t>
            </a:r>
            <a:r>
              <a:rPr lang="en-US" sz="2200" b="1" dirty="0" smtClean="0"/>
              <a:t> </a:t>
            </a:r>
            <a:r>
              <a:rPr lang="en-US" sz="2200" b="1" dirty="0"/>
              <a:t>&lt;</a:t>
            </a:r>
            <a:r>
              <a:rPr lang="en-US" sz="2200" b="1" dirty="0" err="1"/>
              <a:t>điều</a:t>
            </a:r>
            <a:r>
              <a:rPr lang="en-US" sz="2200" b="1" dirty="0"/>
              <a:t> </a:t>
            </a:r>
            <a:r>
              <a:rPr lang="en-US" sz="2200" b="1" dirty="0" err="1"/>
              <a:t>kiện</a:t>
            </a:r>
            <a:r>
              <a:rPr lang="en-US" sz="2200" b="1" dirty="0"/>
              <a:t> </a:t>
            </a:r>
            <a:r>
              <a:rPr lang="en-US" sz="2200" b="1" dirty="0" smtClean="0"/>
              <a:t>2&gt;:</a:t>
            </a:r>
          </a:p>
          <a:p>
            <a:r>
              <a:rPr lang="en-US" sz="2200" b="1" dirty="0" smtClean="0"/>
              <a:t>        </a:t>
            </a:r>
            <a:r>
              <a:rPr lang="en-US" sz="2200" b="1" dirty="0">
                <a:solidFill>
                  <a:srgbClr val="FF0000"/>
                </a:solidFill>
              </a:rPr>
              <a:t>&lt;</a:t>
            </a:r>
            <a:r>
              <a:rPr lang="en-US" sz="2200" b="1" dirty="0" err="1">
                <a:solidFill>
                  <a:srgbClr val="FF0000"/>
                </a:solidFill>
              </a:rPr>
              <a:t>khối</a:t>
            </a:r>
            <a:r>
              <a:rPr lang="en-US" sz="2200" b="1" dirty="0">
                <a:solidFill>
                  <a:srgbClr val="FF0000"/>
                </a:solidFill>
              </a:rPr>
              <a:t> </a:t>
            </a:r>
            <a:r>
              <a:rPr lang="en-US" sz="2200" b="1" dirty="0" err="1">
                <a:solidFill>
                  <a:srgbClr val="FF0000"/>
                </a:solidFill>
              </a:rPr>
              <a:t>lệnh</a:t>
            </a:r>
            <a:r>
              <a:rPr lang="en-US" sz="2200" b="1" dirty="0">
                <a:solidFill>
                  <a:srgbClr val="FF0000"/>
                </a:solidFill>
              </a:rPr>
              <a:t> </a:t>
            </a:r>
            <a:r>
              <a:rPr lang="en-US" sz="2200" b="1" dirty="0" err="1">
                <a:solidFill>
                  <a:srgbClr val="FF0000"/>
                </a:solidFill>
              </a:rPr>
              <a:t>thực</a:t>
            </a:r>
            <a:r>
              <a:rPr lang="en-US" sz="2200" b="1" dirty="0">
                <a:solidFill>
                  <a:srgbClr val="FF0000"/>
                </a:solidFill>
              </a:rPr>
              <a:t> </a:t>
            </a:r>
            <a:r>
              <a:rPr lang="en-US" sz="2200" b="1" dirty="0" err="1">
                <a:solidFill>
                  <a:srgbClr val="FF0000"/>
                </a:solidFill>
              </a:rPr>
              <a:t>thi</a:t>
            </a:r>
            <a:r>
              <a:rPr lang="en-US" sz="2200" b="1" dirty="0">
                <a:solidFill>
                  <a:srgbClr val="FF0000"/>
                </a:solidFill>
              </a:rPr>
              <a:t> </a:t>
            </a:r>
            <a:r>
              <a:rPr lang="en-US" sz="2200" b="1" dirty="0" err="1">
                <a:solidFill>
                  <a:srgbClr val="FF0000"/>
                </a:solidFill>
              </a:rPr>
              <a:t>khi</a:t>
            </a:r>
            <a:r>
              <a:rPr lang="en-US" sz="2200" b="1" dirty="0">
                <a:solidFill>
                  <a:srgbClr val="FF0000"/>
                </a:solidFill>
              </a:rPr>
              <a:t> </a:t>
            </a:r>
            <a:r>
              <a:rPr lang="en-US" sz="2200" b="1" dirty="0" err="1">
                <a:solidFill>
                  <a:srgbClr val="FF0000"/>
                </a:solidFill>
              </a:rPr>
              <a:t>điều</a:t>
            </a:r>
            <a:r>
              <a:rPr lang="en-US" sz="2200" b="1" dirty="0">
                <a:solidFill>
                  <a:srgbClr val="FF0000"/>
                </a:solidFill>
              </a:rPr>
              <a:t> </a:t>
            </a:r>
            <a:r>
              <a:rPr lang="en-US" sz="2200" b="1" dirty="0" err="1">
                <a:solidFill>
                  <a:srgbClr val="FF0000"/>
                </a:solidFill>
              </a:rPr>
              <a:t>kiện</a:t>
            </a:r>
            <a:r>
              <a:rPr lang="en-US" sz="2200" b="1" dirty="0">
                <a:solidFill>
                  <a:srgbClr val="FF0000"/>
                </a:solidFill>
              </a:rPr>
              <a:t> </a:t>
            </a:r>
            <a:r>
              <a:rPr lang="en-US" sz="2200" b="1" dirty="0" smtClean="0">
                <a:solidFill>
                  <a:srgbClr val="FF0000"/>
                </a:solidFill>
              </a:rPr>
              <a:t>2 </a:t>
            </a:r>
            <a:r>
              <a:rPr lang="en-US" sz="2200" b="1" dirty="0" err="1">
                <a:solidFill>
                  <a:srgbClr val="FF0000"/>
                </a:solidFill>
              </a:rPr>
              <a:t>đúng</a:t>
            </a:r>
            <a:r>
              <a:rPr lang="en-US" sz="2200" b="1" dirty="0">
                <a:solidFill>
                  <a:srgbClr val="FF0000"/>
                </a:solidFill>
              </a:rPr>
              <a:t> </a:t>
            </a:r>
            <a:r>
              <a:rPr lang="en-US" sz="2200" b="1" dirty="0" smtClean="0">
                <a:solidFill>
                  <a:srgbClr val="FF0000"/>
                </a:solidFill>
              </a:rPr>
              <a:t>&gt;</a:t>
            </a:r>
          </a:p>
          <a:p>
            <a:r>
              <a:rPr lang="en-US" sz="2200" b="1" dirty="0" smtClean="0">
                <a:solidFill>
                  <a:srgbClr val="FF0000"/>
                </a:solidFill>
              </a:rPr>
              <a:t>…</a:t>
            </a:r>
            <a:endParaRPr lang="en-US" sz="2200" b="1" dirty="0"/>
          </a:p>
          <a:p>
            <a:r>
              <a:rPr lang="en-US" sz="2200" b="1" dirty="0" smtClean="0"/>
              <a:t>else:</a:t>
            </a:r>
            <a:endParaRPr lang="en-US" sz="2200" b="1" dirty="0"/>
          </a:p>
          <a:p>
            <a:r>
              <a:rPr lang="en-US" sz="2200" b="1" dirty="0">
                <a:solidFill>
                  <a:srgbClr val="FF0000"/>
                </a:solidFill>
              </a:rPr>
              <a:t>        &lt;</a:t>
            </a:r>
            <a:r>
              <a:rPr lang="en-US" sz="2200" b="1" dirty="0" err="1">
                <a:solidFill>
                  <a:srgbClr val="FF0000"/>
                </a:solidFill>
              </a:rPr>
              <a:t>khối</a:t>
            </a:r>
            <a:r>
              <a:rPr lang="en-US" sz="2200" b="1" dirty="0">
                <a:solidFill>
                  <a:srgbClr val="FF0000"/>
                </a:solidFill>
              </a:rPr>
              <a:t> </a:t>
            </a:r>
            <a:r>
              <a:rPr lang="en-US" sz="2200" b="1" dirty="0" err="1">
                <a:solidFill>
                  <a:srgbClr val="FF0000"/>
                </a:solidFill>
              </a:rPr>
              <a:t>lệnh</a:t>
            </a:r>
            <a:r>
              <a:rPr lang="en-US" sz="2200" b="1" dirty="0">
                <a:solidFill>
                  <a:srgbClr val="FF0000"/>
                </a:solidFill>
              </a:rPr>
              <a:t> </a:t>
            </a:r>
            <a:r>
              <a:rPr lang="en-US" sz="2200" b="1" dirty="0" err="1" smtClean="0">
                <a:solidFill>
                  <a:srgbClr val="FF0000"/>
                </a:solidFill>
              </a:rPr>
              <a:t>thực</a:t>
            </a:r>
            <a:r>
              <a:rPr lang="en-US" sz="2200" b="1" dirty="0" smtClean="0">
                <a:solidFill>
                  <a:srgbClr val="FF0000"/>
                </a:solidFill>
              </a:rPr>
              <a:t> </a:t>
            </a:r>
            <a:r>
              <a:rPr lang="en-US" sz="2200" b="1" dirty="0" err="1" smtClean="0">
                <a:solidFill>
                  <a:srgbClr val="FF0000"/>
                </a:solidFill>
              </a:rPr>
              <a:t>thi</a:t>
            </a:r>
            <a:r>
              <a:rPr lang="en-US" sz="2200" b="1" dirty="0" smtClean="0">
                <a:solidFill>
                  <a:srgbClr val="FF0000"/>
                </a:solidFill>
              </a:rPr>
              <a:t> </a:t>
            </a:r>
            <a:r>
              <a:rPr lang="en-US" sz="2200" b="1" dirty="0" err="1" smtClean="0">
                <a:solidFill>
                  <a:srgbClr val="FF0000"/>
                </a:solidFill>
              </a:rPr>
              <a:t>khi</a:t>
            </a:r>
            <a:r>
              <a:rPr lang="en-US" sz="2200" b="1" dirty="0" smtClean="0">
                <a:solidFill>
                  <a:srgbClr val="FF0000"/>
                </a:solidFill>
              </a:rPr>
              <a:t> </a:t>
            </a:r>
            <a:r>
              <a:rPr lang="en-US" sz="2200" b="1" dirty="0" err="1" smtClean="0">
                <a:solidFill>
                  <a:srgbClr val="FF0000"/>
                </a:solidFill>
              </a:rPr>
              <a:t>không</a:t>
            </a:r>
            <a:r>
              <a:rPr lang="en-US" sz="2200" b="1" dirty="0" smtClean="0">
                <a:solidFill>
                  <a:srgbClr val="FF0000"/>
                </a:solidFill>
              </a:rPr>
              <a:t> </a:t>
            </a:r>
            <a:r>
              <a:rPr lang="en-US" sz="2200" b="1" dirty="0" err="1" smtClean="0">
                <a:solidFill>
                  <a:srgbClr val="FF0000"/>
                </a:solidFill>
              </a:rPr>
              <a:t>có</a:t>
            </a:r>
            <a:r>
              <a:rPr lang="en-US" sz="2200" b="1" dirty="0" smtClean="0">
                <a:solidFill>
                  <a:srgbClr val="FF0000"/>
                </a:solidFill>
              </a:rPr>
              <a:t> </a:t>
            </a:r>
            <a:r>
              <a:rPr lang="en-US" sz="2200" b="1" dirty="0" err="1" smtClean="0">
                <a:solidFill>
                  <a:srgbClr val="FF0000"/>
                </a:solidFill>
              </a:rPr>
              <a:t>điệu</a:t>
            </a:r>
            <a:r>
              <a:rPr lang="en-US" sz="2200" b="1" dirty="0" smtClean="0">
                <a:solidFill>
                  <a:srgbClr val="FF0000"/>
                </a:solidFill>
              </a:rPr>
              <a:t> </a:t>
            </a:r>
            <a:r>
              <a:rPr lang="en-US" sz="2200" b="1" dirty="0" err="1" smtClean="0">
                <a:solidFill>
                  <a:srgbClr val="FF0000"/>
                </a:solidFill>
              </a:rPr>
              <a:t>kiện</a:t>
            </a:r>
            <a:r>
              <a:rPr lang="en-US" sz="2200" b="1" dirty="0" smtClean="0">
                <a:solidFill>
                  <a:srgbClr val="FF0000"/>
                </a:solidFill>
              </a:rPr>
              <a:t> </a:t>
            </a:r>
            <a:r>
              <a:rPr lang="en-US" sz="2200" b="1" dirty="0" err="1" smtClean="0">
                <a:solidFill>
                  <a:srgbClr val="FF0000"/>
                </a:solidFill>
              </a:rPr>
              <a:t>nào</a:t>
            </a:r>
            <a:r>
              <a:rPr lang="en-US" sz="2200" b="1" dirty="0" smtClean="0">
                <a:solidFill>
                  <a:srgbClr val="FF0000"/>
                </a:solidFill>
              </a:rPr>
              <a:t> </a:t>
            </a:r>
            <a:r>
              <a:rPr lang="en-US" sz="2200" b="1" dirty="0" err="1" smtClean="0">
                <a:solidFill>
                  <a:srgbClr val="FF0000"/>
                </a:solidFill>
              </a:rPr>
              <a:t>đúng</a:t>
            </a:r>
            <a:r>
              <a:rPr lang="en-US" sz="2200" b="1" dirty="0" smtClean="0">
                <a:solidFill>
                  <a:srgbClr val="FF0000"/>
                </a:solidFill>
              </a:rPr>
              <a:t>&gt;</a:t>
            </a:r>
            <a:endParaRPr lang="en-US" sz="2200" b="1" dirty="0">
              <a:solidFill>
                <a:srgbClr val="FF0000"/>
              </a:solidFill>
            </a:endParaRPr>
          </a:p>
          <a:p>
            <a:endParaRPr lang="en-US" sz="2200" b="1" dirty="0">
              <a:solidFill>
                <a:srgbClr val="FF0000"/>
              </a:solidFill>
            </a:endParaRPr>
          </a:p>
        </p:txBody>
      </p:sp>
      <p:sp>
        <p:nvSpPr>
          <p:cNvPr id="11" name="TextBox 10"/>
          <p:cNvSpPr txBox="1"/>
          <p:nvPr/>
        </p:nvSpPr>
        <p:spPr>
          <a:xfrm>
            <a:off x="548981" y="1961567"/>
            <a:ext cx="8333421" cy="646331"/>
          </a:xfrm>
          <a:prstGeom prst="rect">
            <a:avLst/>
          </a:prstGeom>
          <a:noFill/>
        </p:spPr>
        <p:txBody>
          <a:bodyPr wrap="square" rtlCol="0">
            <a:spAutoFit/>
          </a:bodyPr>
          <a:lstStyle/>
          <a:p>
            <a:r>
              <a:rPr lang="vi-VN" dirty="0"/>
              <a:t>Câu lệnh "if-elif-else" được sử dụng để kiểm tra nhiều điều kiện khác nhau và thực thi các khối mã tương ứng. Cú pháp của câu lệnh if-elif-else như </a:t>
            </a:r>
            <a:r>
              <a:rPr lang="vi-VN" dirty="0" smtClean="0"/>
              <a:t>sau</a:t>
            </a:r>
            <a:r>
              <a:rPr lang="en-US" dirty="0" smtClean="0"/>
              <a:t>:</a:t>
            </a:r>
            <a:endParaRPr lang="en-US" b="1" dirty="0"/>
          </a:p>
        </p:txBody>
      </p:sp>
    </p:spTree>
    <p:extLst>
      <p:ext uri="{BB962C8B-B14F-4D97-AF65-F5344CB8AC3E}">
        <p14:creationId xmlns:p14="http://schemas.microsoft.com/office/powerpoint/2010/main" val="71293006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p:txBody>
          <a:bodyPr/>
          <a:lstStyle/>
          <a:p>
            <a:r>
              <a:rPr lang="en-US" dirty="0" smtClean="0"/>
              <a:t>3.3 </a:t>
            </a:r>
            <a:r>
              <a:rPr lang="en-US" dirty="0" err="1" smtClean="0"/>
              <a:t>Câu</a:t>
            </a:r>
            <a:r>
              <a:rPr lang="en-US" dirty="0" smtClean="0"/>
              <a:t> </a:t>
            </a:r>
            <a:r>
              <a:rPr lang="en-US" dirty="0" err="1" smtClean="0"/>
              <a:t>lệnh</a:t>
            </a:r>
            <a:r>
              <a:rPr lang="en-US" dirty="0" smtClean="0"/>
              <a:t> if, else, </a:t>
            </a:r>
            <a:r>
              <a:rPr lang="en-US" dirty="0" err="1" smtClean="0"/>
              <a:t>elif</a:t>
            </a:r>
            <a:endParaRPr lang="en-US" dirty="0"/>
          </a:p>
        </p:txBody>
      </p:sp>
      <p:pic>
        <p:nvPicPr>
          <p:cNvPr id="4"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79187"/>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041993" y="1519761"/>
            <a:ext cx="7068814" cy="369332"/>
          </a:xfrm>
          <a:prstGeom prst="rect">
            <a:avLst/>
          </a:prstGeom>
          <a:noFill/>
        </p:spPr>
        <p:txBody>
          <a:bodyPr wrap="square" rtlCol="0">
            <a:spAutoFit/>
          </a:bodyPr>
          <a:lstStyle/>
          <a:p>
            <a:r>
              <a:rPr lang="en-US" b="1" dirty="0" err="1" smtClean="0"/>
              <a:t>Cú</a:t>
            </a:r>
            <a:r>
              <a:rPr lang="en-US" b="1" dirty="0" smtClean="0"/>
              <a:t> </a:t>
            </a:r>
            <a:r>
              <a:rPr lang="en-US" b="1" dirty="0" err="1" smtClean="0"/>
              <a:t>pháp</a:t>
            </a:r>
            <a:r>
              <a:rPr lang="en-US" b="1" dirty="0" smtClean="0"/>
              <a:t> </a:t>
            </a:r>
            <a:r>
              <a:rPr lang="en-US" b="1" dirty="0"/>
              <a:t>if-</a:t>
            </a:r>
            <a:r>
              <a:rPr lang="en-US" b="1" dirty="0" err="1"/>
              <a:t>elif</a:t>
            </a:r>
            <a:r>
              <a:rPr lang="en-US" b="1" dirty="0"/>
              <a:t>-else</a:t>
            </a:r>
          </a:p>
        </p:txBody>
      </p:sp>
      <p:sp>
        <p:nvSpPr>
          <p:cNvPr id="11" name="TextBox 10"/>
          <p:cNvSpPr txBox="1"/>
          <p:nvPr/>
        </p:nvSpPr>
        <p:spPr>
          <a:xfrm>
            <a:off x="548981" y="1961567"/>
            <a:ext cx="8333421" cy="646331"/>
          </a:xfrm>
          <a:prstGeom prst="rect">
            <a:avLst/>
          </a:prstGeom>
          <a:noFill/>
        </p:spPr>
        <p:txBody>
          <a:bodyPr wrap="square" rtlCol="0">
            <a:spAutoFit/>
          </a:bodyPr>
          <a:lstStyle/>
          <a:p>
            <a:r>
              <a:rPr lang="vi-VN" dirty="0"/>
              <a:t>Câu lệnh "if-elif-else" được sử dụng để kiểm tra nhiều điều kiện khác nhau và thực thi các khối mã tương ứng. Cú pháp của câu lệnh if-elif-else như </a:t>
            </a:r>
            <a:r>
              <a:rPr lang="vi-VN" dirty="0" smtClean="0"/>
              <a:t>sau</a:t>
            </a:r>
            <a:r>
              <a:rPr lang="en-US" dirty="0" smtClean="0"/>
              <a:t>:</a:t>
            </a:r>
            <a:endParaRPr lang="en-US" b="1" dirty="0"/>
          </a:p>
        </p:txBody>
      </p:sp>
      <p:sp>
        <p:nvSpPr>
          <p:cNvPr id="7" name="Rectangle 6"/>
          <p:cNvSpPr/>
          <p:nvPr/>
        </p:nvSpPr>
        <p:spPr>
          <a:xfrm>
            <a:off x="548981" y="3293444"/>
            <a:ext cx="7988963" cy="244163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749165" y="3386357"/>
            <a:ext cx="5226333" cy="2031325"/>
          </a:xfrm>
          <a:prstGeom prst="rect">
            <a:avLst/>
          </a:prstGeom>
          <a:noFill/>
        </p:spPr>
        <p:txBody>
          <a:bodyPr wrap="square" rtlCol="0">
            <a:spAutoFit/>
          </a:bodyPr>
          <a:lstStyle/>
          <a:p>
            <a:r>
              <a:rPr lang="en-US" dirty="0" smtClean="0">
                <a:solidFill>
                  <a:schemeClr val="bg1"/>
                </a:solidFill>
              </a:rPr>
              <a:t>x = </a:t>
            </a:r>
            <a:r>
              <a:rPr lang="en-US" dirty="0" smtClean="0">
                <a:solidFill>
                  <a:schemeClr val="accent6">
                    <a:lumMod val="60000"/>
                    <a:lumOff val="40000"/>
                  </a:schemeClr>
                </a:solidFill>
              </a:rPr>
              <a:t>10</a:t>
            </a:r>
          </a:p>
          <a:p>
            <a:r>
              <a:rPr lang="en-US" dirty="0">
                <a:solidFill>
                  <a:schemeClr val="bg1"/>
                </a:solidFill>
              </a:rPr>
              <a:t>i</a:t>
            </a:r>
            <a:r>
              <a:rPr lang="en-US" dirty="0" smtClean="0">
                <a:solidFill>
                  <a:schemeClr val="bg1"/>
                </a:solidFill>
              </a:rPr>
              <a:t>f x &lt; </a:t>
            </a:r>
            <a:r>
              <a:rPr lang="en-US" dirty="0">
                <a:solidFill>
                  <a:schemeClr val="accent6">
                    <a:lumMod val="60000"/>
                    <a:lumOff val="40000"/>
                  </a:schemeClr>
                </a:solidFill>
              </a:rPr>
              <a:t>5</a:t>
            </a:r>
            <a:r>
              <a:rPr lang="en-US" dirty="0" smtClean="0">
                <a:solidFill>
                  <a:schemeClr val="bg1"/>
                </a:solidFill>
              </a:rPr>
              <a:t>:</a:t>
            </a:r>
          </a:p>
          <a:p>
            <a:r>
              <a:rPr lang="en-US" dirty="0">
                <a:solidFill>
                  <a:schemeClr val="bg1"/>
                </a:solidFill>
              </a:rPr>
              <a:t> </a:t>
            </a:r>
            <a:r>
              <a:rPr lang="en-US" dirty="0" smtClean="0">
                <a:solidFill>
                  <a:schemeClr val="bg1"/>
                </a:solidFill>
              </a:rPr>
              <a:t>   print</a:t>
            </a:r>
            <a:r>
              <a:rPr lang="en-US" dirty="0" smtClean="0">
                <a:solidFill>
                  <a:srgbClr val="FFC000"/>
                </a:solidFill>
              </a:rPr>
              <a:t>(</a:t>
            </a:r>
            <a:r>
              <a:rPr lang="en-US" dirty="0" smtClean="0">
                <a:solidFill>
                  <a:schemeClr val="bg1"/>
                </a:solidFill>
              </a:rPr>
              <a:t>“</a:t>
            </a:r>
            <a:r>
              <a:rPr lang="en-US" dirty="0" smtClean="0">
                <a:solidFill>
                  <a:schemeClr val="accent2">
                    <a:lumMod val="75000"/>
                  </a:schemeClr>
                </a:solidFill>
              </a:rPr>
              <a:t>x </a:t>
            </a:r>
            <a:r>
              <a:rPr lang="en-US" dirty="0" err="1" smtClean="0">
                <a:solidFill>
                  <a:schemeClr val="accent2">
                    <a:lumMod val="75000"/>
                  </a:schemeClr>
                </a:solidFill>
              </a:rPr>
              <a:t>nhỏ</a:t>
            </a:r>
            <a:r>
              <a:rPr lang="en-US" dirty="0" smtClean="0">
                <a:solidFill>
                  <a:schemeClr val="accent2">
                    <a:lumMod val="75000"/>
                  </a:schemeClr>
                </a:solidFill>
              </a:rPr>
              <a:t> </a:t>
            </a:r>
            <a:r>
              <a:rPr lang="en-US" dirty="0" err="1" smtClean="0">
                <a:solidFill>
                  <a:schemeClr val="accent2">
                    <a:lumMod val="75000"/>
                  </a:schemeClr>
                </a:solidFill>
              </a:rPr>
              <a:t>hơn</a:t>
            </a:r>
            <a:r>
              <a:rPr lang="en-US" dirty="0" smtClean="0">
                <a:solidFill>
                  <a:schemeClr val="accent2">
                    <a:lumMod val="75000"/>
                  </a:schemeClr>
                </a:solidFill>
              </a:rPr>
              <a:t> 5</a:t>
            </a:r>
            <a:r>
              <a:rPr lang="en-US" dirty="0" smtClean="0">
                <a:solidFill>
                  <a:schemeClr val="bg1"/>
                </a:solidFill>
              </a:rPr>
              <a:t>”</a:t>
            </a:r>
            <a:r>
              <a:rPr lang="en-US" dirty="0" smtClean="0">
                <a:solidFill>
                  <a:srgbClr val="FFC000"/>
                </a:solidFill>
              </a:rPr>
              <a:t>)</a:t>
            </a:r>
          </a:p>
          <a:p>
            <a:r>
              <a:rPr lang="en-US" dirty="0" err="1">
                <a:solidFill>
                  <a:schemeClr val="bg1"/>
                </a:solidFill>
              </a:rPr>
              <a:t>e</a:t>
            </a:r>
            <a:r>
              <a:rPr lang="en-US" dirty="0" err="1" smtClean="0">
                <a:solidFill>
                  <a:schemeClr val="bg1"/>
                </a:solidFill>
              </a:rPr>
              <a:t>lif</a:t>
            </a:r>
            <a:r>
              <a:rPr lang="en-US" dirty="0" smtClean="0">
                <a:solidFill>
                  <a:schemeClr val="bg1"/>
                </a:solidFill>
              </a:rPr>
              <a:t>: </a:t>
            </a:r>
            <a:r>
              <a:rPr lang="en-US" dirty="0">
                <a:solidFill>
                  <a:schemeClr val="bg1"/>
                </a:solidFill>
              </a:rPr>
              <a:t>x &lt; </a:t>
            </a:r>
            <a:r>
              <a:rPr lang="en-US" dirty="0" smtClean="0">
                <a:solidFill>
                  <a:schemeClr val="accent6">
                    <a:lumMod val="60000"/>
                    <a:lumOff val="40000"/>
                  </a:schemeClr>
                </a:solidFill>
              </a:rPr>
              <a:t>10</a:t>
            </a:r>
            <a:r>
              <a:rPr lang="en-US" dirty="0" smtClean="0">
                <a:solidFill>
                  <a:schemeClr val="bg1"/>
                </a:solidFill>
              </a:rPr>
              <a:t>:</a:t>
            </a:r>
            <a:endParaRPr lang="en-US" dirty="0">
              <a:solidFill>
                <a:schemeClr val="bg1"/>
              </a:solidFill>
            </a:endParaRPr>
          </a:p>
          <a:p>
            <a:r>
              <a:rPr lang="en-US" dirty="0">
                <a:solidFill>
                  <a:schemeClr val="bg1"/>
                </a:solidFill>
              </a:rPr>
              <a:t>    print</a:t>
            </a:r>
            <a:r>
              <a:rPr lang="en-US" dirty="0">
                <a:solidFill>
                  <a:srgbClr val="FFC000"/>
                </a:solidFill>
              </a:rPr>
              <a:t>(</a:t>
            </a:r>
            <a:r>
              <a:rPr lang="en-US" dirty="0">
                <a:solidFill>
                  <a:schemeClr val="bg1"/>
                </a:solidFill>
              </a:rPr>
              <a:t>“</a:t>
            </a:r>
            <a:r>
              <a:rPr lang="en-US" dirty="0">
                <a:solidFill>
                  <a:schemeClr val="accent2">
                    <a:lumMod val="75000"/>
                  </a:schemeClr>
                </a:solidFill>
              </a:rPr>
              <a:t>x </a:t>
            </a:r>
            <a:r>
              <a:rPr lang="en-US" dirty="0" err="1">
                <a:solidFill>
                  <a:schemeClr val="accent2">
                    <a:lumMod val="75000"/>
                  </a:schemeClr>
                </a:solidFill>
              </a:rPr>
              <a:t>nhỏ</a:t>
            </a:r>
            <a:r>
              <a:rPr lang="en-US" dirty="0">
                <a:solidFill>
                  <a:schemeClr val="accent2">
                    <a:lumMod val="75000"/>
                  </a:schemeClr>
                </a:solidFill>
              </a:rPr>
              <a:t> </a:t>
            </a:r>
            <a:r>
              <a:rPr lang="en-US" dirty="0" err="1">
                <a:solidFill>
                  <a:schemeClr val="accent2">
                    <a:lumMod val="75000"/>
                  </a:schemeClr>
                </a:solidFill>
              </a:rPr>
              <a:t>hơn</a:t>
            </a:r>
            <a:r>
              <a:rPr lang="en-US" dirty="0">
                <a:solidFill>
                  <a:schemeClr val="accent2">
                    <a:lumMod val="75000"/>
                  </a:schemeClr>
                </a:solidFill>
              </a:rPr>
              <a:t> </a:t>
            </a:r>
            <a:r>
              <a:rPr lang="en-US" dirty="0" smtClean="0">
                <a:solidFill>
                  <a:schemeClr val="accent2">
                    <a:lumMod val="75000"/>
                  </a:schemeClr>
                </a:solidFill>
              </a:rPr>
              <a:t>10</a:t>
            </a:r>
            <a:r>
              <a:rPr lang="en-US" dirty="0" smtClean="0">
                <a:solidFill>
                  <a:schemeClr val="bg1"/>
                </a:solidFill>
              </a:rPr>
              <a:t>”</a:t>
            </a:r>
            <a:r>
              <a:rPr lang="en-US" dirty="0" smtClean="0">
                <a:solidFill>
                  <a:srgbClr val="FFC000"/>
                </a:solidFill>
              </a:rPr>
              <a:t>)</a:t>
            </a:r>
            <a:endParaRPr lang="en-US" dirty="0">
              <a:solidFill>
                <a:srgbClr val="FFC000"/>
              </a:solidFill>
            </a:endParaRPr>
          </a:p>
          <a:p>
            <a:r>
              <a:rPr lang="en-US" dirty="0" smtClean="0">
                <a:solidFill>
                  <a:schemeClr val="bg1"/>
                </a:solidFill>
              </a:rPr>
              <a:t>else:</a:t>
            </a:r>
          </a:p>
          <a:p>
            <a:r>
              <a:rPr lang="en-US" dirty="0" smtClean="0">
                <a:solidFill>
                  <a:srgbClr val="FFC000"/>
                </a:solidFill>
              </a:rPr>
              <a:t>    </a:t>
            </a:r>
            <a:r>
              <a:rPr lang="en-US" dirty="0" smtClean="0">
                <a:solidFill>
                  <a:schemeClr val="bg1"/>
                </a:solidFill>
              </a:rPr>
              <a:t>print</a:t>
            </a:r>
            <a:r>
              <a:rPr lang="en-US" dirty="0">
                <a:solidFill>
                  <a:srgbClr val="FFC000"/>
                </a:solidFill>
              </a:rPr>
              <a:t>(</a:t>
            </a:r>
            <a:r>
              <a:rPr lang="en-US" dirty="0">
                <a:solidFill>
                  <a:schemeClr val="bg1"/>
                </a:solidFill>
              </a:rPr>
              <a:t>“</a:t>
            </a:r>
            <a:r>
              <a:rPr lang="en-US" dirty="0">
                <a:solidFill>
                  <a:schemeClr val="accent2">
                    <a:lumMod val="75000"/>
                  </a:schemeClr>
                </a:solidFill>
              </a:rPr>
              <a:t>x </a:t>
            </a:r>
            <a:r>
              <a:rPr lang="en-US" dirty="0" err="1" smtClean="0">
                <a:solidFill>
                  <a:schemeClr val="accent2">
                    <a:lumMod val="75000"/>
                  </a:schemeClr>
                </a:solidFill>
              </a:rPr>
              <a:t>lơn</a:t>
            </a:r>
            <a:r>
              <a:rPr lang="en-US" dirty="0" smtClean="0">
                <a:solidFill>
                  <a:schemeClr val="accent2">
                    <a:lumMod val="75000"/>
                  </a:schemeClr>
                </a:solidFill>
              </a:rPr>
              <a:t> </a:t>
            </a:r>
            <a:r>
              <a:rPr lang="en-US" dirty="0" err="1">
                <a:solidFill>
                  <a:schemeClr val="accent2">
                    <a:lumMod val="75000"/>
                  </a:schemeClr>
                </a:solidFill>
              </a:rPr>
              <a:t>hơn</a:t>
            </a:r>
            <a:r>
              <a:rPr lang="en-US" dirty="0">
                <a:solidFill>
                  <a:schemeClr val="accent2">
                    <a:lumMod val="75000"/>
                  </a:schemeClr>
                </a:solidFill>
              </a:rPr>
              <a:t> </a:t>
            </a:r>
            <a:r>
              <a:rPr lang="en-US" dirty="0" err="1" smtClean="0">
                <a:solidFill>
                  <a:schemeClr val="accent2">
                    <a:lumMod val="75000"/>
                  </a:schemeClr>
                </a:solidFill>
              </a:rPr>
              <a:t>hoặc</a:t>
            </a:r>
            <a:r>
              <a:rPr lang="en-US" dirty="0" smtClean="0">
                <a:solidFill>
                  <a:schemeClr val="accent2">
                    <a:lumMod val="75000"/>
                  </a:schemeClr>
                </a:solidFill>
              </a:rPr>
              <a:t> </a:t>
            </a:r>
            <a:r>
              <a:rPr lang="en-US" dirty="0" err="1" smtClean="0">
                <a:solidFill>
                  <a:schemeClr val="accent2">
                    <a:lumMod val="75000"/>
                  </a:schemeClr>
                </a:solidFill>
              </a:rPr>
              <a:t>bằng</a:t>
            </a:r>
            <a:r>
              <a:rPr lang="en-US" dirty="0" smtClean="0">
                <a:solidFill>
                  <a:schemeClr val="accent2">
                    <a:lumMod val="75000"/>
                  </a:schemeClr>
                </a:solidFill>
              </a:rPr>
              <a:t> 10</a:t>
            </a:r>
            <a:r>
              <a:rPr lang="en-US" dirty="0">
                <a:solidFill>
                  <a:schemeClr val="bg1"/>
                </a:solidFill>
              </a:rPr>
              <a:t>”</a:t>
            </a:r>
            <a:r>
              <a:rPr lang="en-US" dirty="0">
                <a:solidFill>
                  <a:srgbClr val="FFC000"/>
                </a:solidFill>
              </a:rPr>
              <a:t>)</a:t>
            </a:r>
            <a:endParaRPr lang="en-US" dirty="0" smtClean="0">
              <a:solidFill>
                <a:srgbClr val="FFC000"/>
              </a:solidFill>
            </a:endParaRPr>
          </a:p>
        </p:txBody>
      </p:sp>
      <p:sp>
        <p:nvSpPr>
          <p:cNvPr id="10" name="TextBox 9"/>
          <p:cNvSpPr txBox="1"/>
          <p:nvPr/>
        </p:nvSpPr>
        <p:spPr>
          <a:xfrm>
            <a:off x="548981" y="2766005"/>
            <a:ext cx="7988963" cy="369332"/>
          </a:xfrm>
          <a:prstGeom prst="rect">
            <a:avLst/>
          </a:prstGeom>
          <a:noFill/>
        </p:spPr>
        <p:txBody>
          <a:bodyPr wrap="square" rtlCol="0">
            <a:spAutoFit/>
          </a:bodyPr>
          <a:lstStyle/>
          <a:p>
            <a:r>
              <a:rPr lang="en-US" dirty="0" err="1"/>
              <a:t>Ví</a:t>
            </a:r>
            <a:r>
              <a:rPr lang="en-US" dirty="0"/>
              <a:t> </a:t>
            </a:r>
            <a:r>
              <a:rPr lang="en-US" dirty="0" err="1"/>
              <a:t>dụ</a:t>
            </a:r>
            <a:r>
              <a:rPr lang="en-US" dirty="0"/>
              <a:t>:</a:t>
            </a:r>
            <a:endParaRPr lang="en-US" b="1" dirty="0"/>
          </a:p>
        </p:txBody>
      </p:sp>
      <p:sp>
        <p:nvSpPr>
          <p:cNvPr id="12" name="TextBox 11"/>
          <p:cNvSpPr txBox="1"/>
          <p:nvPr/>
        </p:nvSpPr>
        <p:spPr>
          <a:xfrm>
            <a:off x="548981" y="5977038"/>
            <a:ext cx="7988963" cy="369332"/>
          </a:xfrm>
          <a:prstGeom prst="rect">
            <a:avLst/>
          </a:prstGeom>
          <a:noFill/>
        </p:spPr>
        <p:txBody>
          <a:bodyPr wrap="square" rtlCol="0">
            <a:spAutoFit/>
          </a:bodyPr>
          <a:lstStyle/>
          <a:p>
            <a:r>
              <a:rPr lang="en-US" dirty="0" err="1" smtClean="0"/>
              <a:t>Kết</a:t>
            </a:r>
            <a:r>
              <a:rPr lang="en-US" dirty="0" smtClean="0"/>
              <a:t> </a:t>
            </a:r>
            <a:r>
              <a:rPr lang="en-US" dirty="0" err="1" smtClean="0"/>
              <a:t>quả</a:t>
            </a:r>
            <a:r>
              <a:rPr lang="en-US" dirty="0" smtClean="0"/>
              <a:t>: </a:t>
            </a:r>
            <a:r>
              <a:rPr lang="vi-VN" dirty="0"/>
              <a:t>x lớn hơn hoặc bằng 10</a:t>
            </a:r>
            <a:endParaRPr lang="en-US" b="1" dirty="0"/>
          </a:p>
        </p:txBody>
      </p:sp>
    </p:spTree>
    <p:extLst>
      <p:ext uri="{BB962C8B-B14F-4D97-AF65-F5344CB8AC3E}">
        <p14:creationId xmlns:p14="http://schemas.microsoft.com/office/powerpoint/2010/main" val="35968963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p:txBody>
          <a:bodyPr/>
          <a:lstStyle/>
          <a:p>
            <a:r>
              <a:rPr lang="en-US" dirty="0" smtClean="0"/>
              <a:t>3.3 </a:t>
            </a:r>
            <a:r>
              <a:rPr lang="en-US" dirty="0" err="1" smtClean="0"/>
              <a:t>Câu</a:t>
            </a:r>
            <a:r>
              <a:rPr lang="en-US" dirty="0" smtClean="0"/>
              <a:t> </a:t>
            </a:r>
            <a:r>
              <a:rPr lang="en-US" dirty="0" err="1" smtClean="0"/>
              <a:t>lệnh</a:t>
            </a:r>
            <a:r>
              <a:rPr lang="en-US" dirty="0" smtClean="0"/>
              <a:t> if, else, </a:t>
            </a:r>
            <a:r>
              <a:rPr lang="en-US" dirty="0" err="1" smtClean="0"/>
              <a:t>elif</a:t>
            </a:r>
            <a:endParaRPr lang="en-US" dirty="0"/>
          </a:p>
        </p:txBody>
      </p:sp>
      <p:pic>
        <p:nvPicPr>
          <p:cNvPr id="4"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79187"/>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041993" y="1519761"/>
            <a:ext cx="7068814" cy="369332"/>
          </a:xfrm>
          <a:prstGeom prst="rect">
            <a:avLst/>
          </a:prstGeom>
          <a:noFill/>
        </p:spPr>
        <p:txBody>
          <a:bodyPr wrap="square" rtlCol="0">
            <a:spAutoFit/>
          </a:bodyPr>
          <a:lstStyle/>
          <a:p>
            <a:r>
              <a:rPr lang="en-US" b="1" dirty="0" err="1" smtClean="0"/>
              <a:t>Câu</a:t>
            </a:r>
            <a:r>
              <a:rPr lang="en-US" b="1" dirty="0" smtClean="0"/>
              <a:t> </a:t>
            </a:r>
            <a:r>
              <a:rPr lang="en-US" b="1" dirty="0" err="1" smtClean="0"/>
              <a:t>lệnh</a:t>
            </a:r>
            <a:r>
              <a:rPr lang="en-US" b="1" dirty="0" smtClean="0"/>
              <a:t> pass </a:t>
            </a:r>
            <a:r>
              <a:rPr lang="en-US" b="1" dirty="0" err="1" smtClean="0"/>
              <a:t>trong</a:t>
            </a:r>
            <a:r>
              <a:rPr lang="en-US" b="1" dirty="0" smtClean="0"/>
              <a:t> Python</a:t>
            </a:r>
            <a:endParaRPr lang="en-US" b="1" dirty="0"/>
          </a:p>
        </p:txBody>
      </p:sp>
      <p:sp>
        <p:nvSpPr>
          <p:cNvPr id="11" name="TextBox 10"/>
          <p:cNvSpPr txBox="1"/>
          <p:nvPr/>
        </p:nvSpPr>
        <p:spPr>
          <a:xfrm>
            <a:off x="548981" y="1961567"/>
            <a:ext cx="8333421" cy="1200329"/>
          </a:xfrm>
          <a:prstGeom prst="rect">
            <a:avLst/>
          </a:prstGeom>
          <a:noFill/>
        </p:spPr>
        <p:txBody>
          <a:bodyPr wrap="square" rtlCol="0">
            <a:spAutoFit/>
          </a:bodyPr>
          <a:lstStyle/>
          <a:p>
            <a:r>
              <a:rPr lang="en-US" dirty="0" err="1" smtClean="0"/>
              <a:t>Từ</a:t>
            </a:r>
            <a:r>
              <a:rPr lang="en-US" dirty="0" smtClean="0"/>
              <a:t> </a:t>
            </a:r>
            <a:r>
              <a:rPr lang="en-US" dirty="0" err="1" smtClean="0"/>
              <a:t>khóa</a:t>
            </a:r>
            <a:r>
              <a:rPr lang="en-US" dirty="0" smtClean="0"/>
              <a:t> </a:t>
            </a:r>
            <a:r>
              <a:rPr lang="en-US" b="1" dirty="0" smtClean="0"/>
              <a:t>pass</a:t>
            </a:r>
            <a:r>
              <a:rPr lang="en-US" dirty="0" smtClean="0"/>
              <a:t> </a:t>
            </a:r>
            <a:r>
              <a:rPr lang="vi-VN" dirty="0" smtClean="0"/>
              <a:t>được </a:t>
            </a:r>
            <a:r>
              <a:rPr lang="vi-VN" dirty="0"/>
              <a:t>sử dụng để đánh dấu một khối mã rỗng hoặc tạm thời không có nội dung. Nó không làm gì cả và được sử dụng để bỏ qua một phần của mã trong trường hợp bạn không muốn thực hiện bất kỳ hành động nào tại thời điểm đó, nhưng cú pháp yêu cầu phải có một khối mã</a:t>
            </a:r>
            <a:endParaRPr lang="en-US" b="1" dirty="0"/>
          </a:p>
        </p:txBody>
      </p:sp>
      <p:sp>
        <p:nvSpPr>
          <p:cNvPr id="7" name="Rectangle 6"/>
          <p:cNvSpPr/>
          <p:nvPr/>
        </p:nvSpPr>
        <p:spPr>
          <a:xfrm>
            <a:off x="548981" y="3293444"/>
            <a:ext cx="7988963" cy="308609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749166" y="3386357"/>
            <a:ext cx="7214620" cy="646331"/>
          </a:xfrm>
          <a:prstGeom prst="rect">
            <a:avLst/>
          </a:prstGeom>
          <a:noFill/>
        </p:spPr>
        <p:txBody>
          <a:bodyPr wrap="square" rtlCol="0">
            <a:spAutoFit/>
          </a:bodyPr>
          <a:lstStyle/>
          <a:p>
            <a:r>
              <a:rPr lang="en-US" dirty="0" smtClean="0">
                <a:solidFill>
                  <a:srgbClr val="00B0F0"/>
                </a:solidFill>
              </a:rPr>
              <a:t>if</a:t>
            </a:r>
            <a:r>
              <a:rPr lang="en-US" dirty="0" smtClean="0">
                <a:solidFill>
                  <a:schemeClr val="bg1"/>
                </a:solidFill>
              </a:rPr>
              <a:t> x &lt; </a:t>
            </a:r>
            <a:r>
              <a:rPr lang="en-US" dirty="0">
                <a:solidFill>
                  <a:schemeClr val="accent6">
                    <a:lumMod val="60000"/>
                    <a:lumOff val="40000"/>
                  </a:schemeClr>
                </a:solidFill>
              </a:rPr>
              <a:t>5</a:t>
            </a:r>
            <a:r>
              <a:rPr lang="en-US" dirty="0" smtClean="0">
                <a:solidFill>
                  <a:schemeClr val="bg1"/>
                </a:solidFill>
              </a:rPr>
              <a:t>:</a:t>
            </a:r>
          </a:p>
          <a:p>
            <a:r>
              <a:rPr lang="en-US" dirty="0">
                <a:solidFill>
                  <a:schemeClr val="bg1"/>
                </a:solidFill>
              </a:rPr>
              <a:t> </a:t>
            </a:r>
            <a:r>
              <a:rPr lang="en-US" dirty="0" smtClean="0">
                <a:solidFill>
                  <a:schemeClr val="bg1"/>
                </a:solidFill>
              </a:rPr>
              <a:t>   </a:t>
            </a:r>
            <a:r>
              <a:rPr lang="en-US" dirty="0" smtClean="0">
                <a:solidFill>
                  <a:srgbClr val="00B0F0"/>
                </a:solidFill>
              </a:rPr>
              <a:t>pass </a:t>
            </a:r>
            <a:r>
              <a:rPr lang="en-US" dirty="0" smtClean="0">
                <a:solidFill>
                  <a:schemeClr val="accent6">
                    <a:lumMod val="75000"/>
                  </a:schemeClr>
                </a:solidFill>
              </a:rPr>
              <a:t>#</a:t>
            </a:r>
            <a:r>
              <a:rPr lang="en-US" dirty="0" err="1" smtClean="0">
                <a:solidFill>
                  <a:schemeClr val="accent6">
                    <a:lumMod val="75000"/>
                  </a:schemeClr>
                </a:solidFill>
              </a:rPr>
              <a:t>Không</a:t>
            </a:r>
            <a:r>
              <a:rPr lang="en-US" dirty="0" smtClean="0">
                <a:solidFill>
                  <a:schemeClr val="accent6">
                    <a:lumMod val="75000"/>
                  </a:schemeClr>
                </a:solidFill>
              </a:rPr>
              <a:t> </a:t>
            </a:r>
            <a:r>
              <a:rPr lang="en-US" dirty="0" err="1" smtClean="0">
                <a:solidFill>
                  <a:schemeClr val="accent6">
                    <a:lumMod val="75000"/>
                  </a:schemeClr>
                </a:solidFill>
              </a:rPr>
              <a:t>muốn</a:t>
            </a:r>
            <a:r>
              <a:rPr lang="en-US" dirty="0" smtClean="0">
                <a:solidFill>
                  <a:schemeClr val="accent6">
                    <a:lumMod val="75000"/>
                  </a:schemeClr>
                </a:solidFill>
              </a:rPr>
              <a:t> </a:t>
            </a:r>
            <a:r>
              <a:rPr lang="en-US" dirty="0" err="1" smtClean="0">
                <a:solidFill>
                  <a:schemeClr val="accent6">
                    <a:lumMod val="75000"/>
                  </a:schemeClr>
                </a:solidFill>
              </a:rPr>
              <a:t>làm</a:t>
            </a:r>
            <a:r>
              <a:rPr lang="en-US" dirty="0" smtClean="0">
                <a:solidFill>
                  <a:schemeClr val="accent6">
                    <a:lumMod val="75000"/>
                  </a:schemeClr>
                </a:solidFill>
              </a:rPr>
              <a:t> </a:t>
            </a:r>
            <a:r>
              <a:rPr lang="en-US" dirty="0" err="1" smtClean="0">
                <a:solidFill>
                  <a:schemeClr val="accent6">
                    <a:lumMod val="75000"/>
                  </a:schemeClr>
                </a:solidFill>
              </a:rPr>
              <a:t>gì</a:t>
            </a:r>
            <a:r>
              <a:rPr lang="en-US" dirty="0" smtClean="0">
                <a:solidFill>
                  <a:schemeClr val="accent6">
                    <a:lumMod val="75000"/>
                  </a:schemeClr>
                </a:solidFill>
              </a:rPr>
              <a:t> </a:t>
            </a:r>
            <a:r>
              <a:rPr lang="en-US" dirty="0" err="1" smtClean="0">
                <a:solidFill>
                  <a:schemeClr val="accent6">
                    <a:lumMod val="75000"/>
                  </a:schemeClr>
                </a:solidFill>
              </a:rPr>
              <a:t>khi</a:t>
            </a:r>
            <a:r>
              <a:rPr lang="en-US" dirty="0" smtClean="0">
                <a:solidFill>
                  <a:schemeClr val="accent6">
                    <a:lumMod val="75000"/>
                  </a:schemeClr>
                </a:solidFill>
              </a:rPr>
              <a:t> </a:t>
            </a:r>
            <a:r>
              <a:rPr lang="en-US" dirty="0" err="1" smtClean="0">
                <a:solidFill>
                  <a:schemeClr val="accent6">
                    <a:lumMod val="75000"/>
                  </a:schemeClr>
                </a:solidFill>
              </a:rPr>
              <a:t>điều</a:t>
            </a:r>
            <a:r>
              <a:rPr lang="en-US" dirty="0" smtClean="0">
                <a:solidFill>
                  <a:schemeClr val="accent6">
                    <a:lumMod val="75000"/>
                  </a:schemeClr>
                </a:solidFill>
              </a:rPr>
              <a:t> </a:t>
            </a:r>
            <a:r>
              <a:rPr lang="en-US" dirty="0" err="1" smtClean="0">
                <a:solidFill>
                  <a:schemeClr val="accent6">
                    <a:lumMod val="75000"/>
                  </a:schemeClr>
                </a:solidFill>
              </a:rPr>
              <a:t>kiện</a:t>
            </a:r>
            <a:r>
              <a:rPr lang="en-US" dirty="0" smtClean="0">
                <a:solidFill>
                  <a:schemeClr val="accent6">
                    <a:lumMod val="75000"/>
                  </a:schemeClr>
                </a:solidFill>
              </a:rPr>
              <a:t> </a:t>
            </a:r>
            <a:r>
              <a:rPr lang="en-US" dirty="0" err="1" smtClean="0">
                <a:solidFill>
                  <a:schemeClr val="accent6">
                    <a:lumMod val="75000"/>
                  </a:schemeClr>
                </a:solidFill>
              </a:rPr>
              <a:t>đúng</a:t>
            </a:r>
            <a:r>
              <a:rPr lang="en-US" dirty="0" smtClean="0">
                <a:solidFill>
                  <a:srgbClr val="00B0F0"/>
                </a:solidFill>
              </a:rPr>
              <a:t> </a:t>
            </a:r>
          </a:p>
        </p:txBody>
      </p:sp>
      <p:sp>
        <p:nvSpPr>
          <p:cNvPr id="13" name="TextBox 12"/>
          <p:cNvSpPr txBox="1"/>
          <p:nvPr/>
        </p:nvSpPr>
        <p:spPr>
          <a:xfrm>
            <a:off x="749166" y="4290125"/>
            <a:ext cx="7597392" cy="646331"/>
          </a:xfrm>
          <a:prstGeom prst="rect">
            <a:avLst/>
          </a:prstGeom>
          <a:noFill/>
        </p:spPr>
        <p:txBody>
          <a:bodyPr wrap="square" rtlCol="0">
            <a:spAutoFit/>
          </a:bodyPr>
          <a:lstStyle/>
          <a:p>
            <a:r>
              <a:rPr lang="en-US" dirty="0">
                <a:solidFill>
                  <a:srgbClr val="00B0F0"/>
                </a:solidFill>
              </a:rPr>
              <a:t>for</a:t>
            </a:r>
            <a:r>
              <a:rPr lang="en-US" dirty="0">
                <a:solidFill>
                  <a:schemeClr val="bg1"/>
                </a:solidFill>
              </a:rPr>
              <a:t> </a:t>
            </a:r>
            <a:r>
              <a:rPr lang="en-US" dirty="0" err="1">
                <a:solidFill>
                  <a:schemeClr val="bg1"/>
                </a:solidFill>
              </a:rPr>
              <a:t>i</a:t>
            </a:r>
            <a:r>
              <a:rPr lang="en-US" dirty="0">
                <a:solidFill>
                  <a:schemeClr val="bg1"/>
                </a:solidFill>
              </a:rPr>
              <a:t> </a:t>
            </a:r>
            <a:r>
              <a:rPr lang="en-US" dirty="0">
                <a:solidFill>
                  <a:srgbClr val="00B0F0"/>
                </a:solidFill>
              </a:rPr>
              <a:t>in</a:t>
            </a:r>
            <a:r>
              <a:rPr lang="en-US" dirty="0">
                <a:solidFill>
                  <a:schemeClr val="bg1"/>
                </a:solidFill>
              </a:rPr>
              <a:t> range</a:t>
            </a:r>
            <a:r>
              <a:rPr lang="en-US" dirty="0">
                <a:solidFill>
                  <a:schemeClr val="accent4">
                    <a:lumMod val="60000"/>
                    <a:lumOff val="40000"/>
                  </a:schemeClr>
                </a:solidFill>
              </a:rPr>
              <a:t>(</a:t>
            </a:r>
            <a:r>
              <a:rPr lang="en-US" dirty="0">
                <a:solidFill>
                  <a:schemeClr val="accent6">
                    <a:lumMod val="60000"/>
                    <a:lumOff val="40000"/>
                  </a:schemeClr>
                </a:solidFill>
              </a:rPr>
              <a:t>10</a:t>
            </a:r>
            <a:r>
              <a:rPr lang="en-US" dirty="0">
                <a:solidFill>
                  <a:schemeClr val="accent4">
                    <a:lumMod val="60000"/>
                    <a:lumOff val="40000"/>
                  </a:schemeClr>
                </a:solidFill>
              </a:rPr>
              <a:t>)</a:t>
            </a:r>
            <a:r>
              <a:rPr lang="en-US" dirty="0">
                <a:solidFill>
                  <a:schemeClr val="bg1"/>
                </a:solidFill>
              </a:rPr>
              <a:t>:</a:t>
            </a:r>
          </a:p>
          <a:p>
            <a:r>
              <a:rPr lang="en-US" dirty="0">
                <a:solidFill>
                  <a:schemeClr val="bg1"/>
                </a:solidFill>
              </a:rPr>
              <a:t>    </a:t>
            </a:r>
            <a:r>
              <a:rPr lang="en-US" dirty="0">
                <a:solidFill>
                  <a:srgbClr val="00B0F0"/>
                </a:solidFill>
              </a:rPr>
              <a:t>pass</a:t>
            </a:r>
            <a:r>
              <a:rPr lang="en-US" dirty="0">
                <a:solidFill>
                  <a:schemeClr val="bg1"/>
                </a:solidFill>
              </a:rPr>
              <a:t>  </a:t>
            </a:r>
            <a:r>
              <a:rPr lang="en-US" dirty="0">
                <a:solidFill>
                  <a:schemeClr val="accent6">
                    <a:lumMod val="75000"/>
                  </a:schemeClr>
                </a:solidFill>
              </a:rPr>
              <a:t># </a:t>
            </a:r>
            <a:r>
              <a:rPr lang="en-US" dirty="0" err="1">
                <a:solidFill>
                  <a:schemeClr val="accent6">
                    <a:lumMod val="75000"/>
                  </a:schemeClr>
                </a:solidFill>
              </a:rPr>
              <a:t>không</a:t>
            </a:r>
            <a:r>
              <a:rPr lang="en-US" dirty="0">
                <a:solidFill>
                  <a:schemeClr val="accent6">
                    <a:lumMod val="75000"/>
                  </a:schemeClr>
                </a:solidFill>
              </a:rPr>
              <a:t> </a:t>
            </a:r>
            <a:r>
              <a:rPr lang="en-US" dirty="0" err="1">
                <a:solidFill>
                  <a:schemeClr val="accent6">
                    <a:lumMod val="75000"/>
                  </a:schemeClr>
                </a:solidFill>
              </a:rPr>
              <a:t>có</a:t>
            </a:r>
            <a:r>
              <a:rPr lang="en-US" dirty="0">
                <a:solidFill>
                  <a:schemeClr val="accent6">
                    <a:lumMod val="75000"/>
                  </a:schemeClr>
                </a:solidFill>
              </a:rPr>
              <a:t> </a:t>
            </a:r>
            <a:r>
              <a:rPr lang="en-US" dirty="0" err="1">
                <a:solidFill>
                  <a:schemeClr val="accent6">
                    <a:lumMod val="75000"/>
                  </a:schemeClr>
                </a:solidFill>
              </a:rPr>
              <a:t>hành</a:t>
            </a:r>
            <a:r>
              <a:rPr lang="en-US" dirty="0">
                <a:solidFill>
                  <a:schemeClr val="accent6">
                    <a:lumMod val="75000"/>
                  </a:schemeClr>
                </a:solidFill>
              </a:rPr>
              <a:t> </a:t>
            </a:r>
            <a:r>
              <a:rPr lang="en-US" dirty="0" err="1">
                <a:solidFill>
                  <a:schemeClr val="accent6">
                    <a:lumMod val="75000"/>
                  </a:schemeClr>
                </a:solidFill>
              </a:rPr>
              <a:t>động</a:t>
            </a:r>
            <a:r>
              <a:rPr lang="en-US" dirty="0">
                <a:solidFill>
                  <a:schemeClr val="accent6">
                    <a:lumMod val="75000"/>
                  </a:schemeClr>
                </a:solidFill>
              </a:rPr>
              <a:t> </a:t>
            </a:r>
            <a:r>
              <a:rPr lang="en-US" dirty="0" err="1">
                <a:solidFill>
                  <a:schemeClr val="accent6">
                    <a:lumMod val="75000"/>
                  </a:schemeClr>
                </a:solidFill>
              </a:rPr>
              <a:t>cụ</a:t>
            </a:r>
            <a:r>
              <a:rPr lang="en-US" dirty="0">
                <a:solidFill>
                  <a:schemeClr val="accent6">
                    <a:lumMod val="75000"/>
                  </a:schemeClr>
                </a:solidFill>
              </a:rPr>
              <a:t> </a:t>
            </a:r>
            <a:r>
              <a:rPr lang="en-US" dirty="0" err="1">
                <a:solidFill>
                  <a:schemeClr val="accent6">
                    <a:lumMod val="75000"/>
                  </a:schemeClr>
                </a:solidFill>
              </a:rPr>
              <a:t>thể</a:t>
            </a:r>
            <a:r>
              <a:rPr lang="en-US" dirty="0">
                <a:solidFill>
                  <a:schemeClr val="accent6">
                    <a:lumMod val="75000"/>
                  </a:schemeClr>
                </a:solidFill>
              </a:rPr>
              <a:t> </a:t>
            </a:r>
            <a:r>
              <a:rPr lang="en-US" dirty="0" err="1">
                <a:solidFill>
                  <a:schemeClr val="accent6">
                    <a:lumMod val="75000"/>
                  </a:schemeClr>
                </a:solidFill>
              </a:rPr>
              <a:t>trong</a:t>
            </a:r>
            <a:r>
              <a:rPr lang="en-US" dirty="0">
                <a:solidFill>
                  <a:schemeClr val="accent6">
                    <a:lumMod val="75000"/>
                  </a:schemeClr>
                </a:solidFill>
              </a:rPr>
              <a:t> </a:t>
            </a:r>
            <a:r>
              <a:rPr lang="en-US" dirty="0" err="1">
                <a:solidFill>
                  <a:schemeClr val="accent6">
                    <a:lumMod val="75000"/>
                  </a:schemeClr>
                </a:solidFill>
              </a:rPr>
              <a:t>mỗi</a:t>
            </a:r>
            <a:r>
              <a:rPr lang="en-US" dirty="0">
                <a:solidFill>
                  <a:schemeClr val="accent6">
                    <a:lumMod val="75000"/>
                  </a:schemeClr>
                </a:solidFill>
              </a:rPr>
              <a:t> </a:t>
            </a:r>
            <a:r>
              <a:rPr lang="en-US" dirty="0" err="1">
                <a:solidFill>
                  <a:schemeClr val="accent6">
                    <a:lumMod val="75000"/>
                  </a:schemeClr>
                </a:solidFill>
              </a:rPr>
              <a:t>lần</a:t>
            </a:r>
            <a:r>
              <a:rPr lang="en-US" dirty="0">
                <a:solidFill>
                  <a:schemeClr val="accent6">
                    <a:lumMod val="75000"/>
                  </a:schemeClr>
                </a:solidFill>
              </a:rPr>
              <a:t> </a:t>
            </a:r>
            <a:r>
              <a:rPr lang="en-US" dirty="0" err="1">
                <a:solidFill>
                  <a:schemeClr val="accent6">
                    <a:lumMod val="75000"/>
                  </a:schemeClr>
                </a:solidFill>
              </a:rPr>
              <a:t>lặp</a:t>
            </a:r>
            <a:endParaRPr lang="en-US" dirty="0" smtClean="0">
              <a:solidFill>
                <a:schemeClr val="accent6">
                  <a:lumMod val="75000"/>
                </a:schemeClr>
              </a:solidFill>
            </a:endParaRPr>
          </a:p>
        </p:txBody>
      </p:sp>
      <p:sp>
        <p:nvSpPr>
          <p:cNvPr id="14" name="TextBox 13"/>
          <p:cNvSpPr txBox="1"/>
          <p:nvPr/>
        </p:nvSpPr>
        <p:spPr>
          <a:xfrm>
            <a:off x="749166" y="5289585"/>
            <a:ext cx="7597392" cy="646331"/>
          </a:xfrm>
          <a:prstGeom prst="rect">
            <a:avLst/>
          </a:prstGeom>
          <a:noFill/>
        </p:spPr>
        <p:txBody>
          <a:bodyPr wrap="square" rtlCol="0">
            <a:spAutoFit/>
          </a:bodyPr>
          <a:lstStyle/>
          <a:p>
            <a:r>
              <a:rPr lang="en-US" dirty="0" err="1">
                <a:solidFill>
                  <a:srgbClr val="00B0F0"/>
                </a:solidFill>
              </a:rPr>
              <a:t>def</a:t>
            </a:r>
            <a:r>
              <a:rPr lang="en-US" dirty="0">
                <a:solidFill>
                  <a:schemeClr val="bg1"/>
                </a:solidFill>
              </a:rPr>
              <a:t> </a:t>
            </a:r>
            <a:r>
              <a:rPr lang="en-US" dirty="0" err="1">
                <a:solidFill>
                  <a:schemeClr val="bg1"/>
                </a:solidFill>
              </a:rPr>
              <a:t>my_function</a:t>
            </a:r>
            <a:r>
              <a:rPr lang="en-US" dirty="0">
                <a:solidFill>
                  <a:schemeClr val="accent4">
                    <a:lumMod val="60000"/>
                    <a:lumOff val="40000"/>
                  </a:schemeClr>
                </a:solidFill>
              </a:rPr>
              <a:t>()</a:t>
            </a:r>
            <a:r>
              <a:rPr lang="en-US" dirty="0">
                <a:solidFill>
                  <a:schemeClr val="bg1"/>
                </a:solidFill>
              </a:rPr>
              <a:t>: </a:t>
            </a:r>
            <a:endParaRPr lang="en-US" dirty="0" smtClean="0">
              <a:solidFill>
                <a:schemeClr val="bg1"/>
              </a:solidFill>
            </a:endParaRPr>
          </a:p>
          <a:p>
            <a:r>
              <a:rPr lang="en-US" dirty="0">
                <a:solidFill>
                  <a:schemeClr val="bg1"/>
                </a:solidFill>
              </a:rPr>
              <a:t> </a:t>
            </a:r>
            <a:r>
              <a:rPr lang="en-US" dirty="0" smtClean="0">
                <a:solidFill>
                  <a:schemeClr val="bg1"/>
                </a:solidFill>
              </a:rPr>
              <a:t>     </a:t>
            </a:r>
            <a:r>
              <a:rPr lang="en-US" dirty="0" smtClean="0">
                <a:solidFill>
                  <a:srgbClr val="00B0F0"/>
                </a:solidFill>
              </a:rPr>
              <a:t>pass</a:t>
            </a:r>
            <a:r>
              <a:rPr lang="en-US" dirty="0" smtClean="0">
                <a:solidFill>
                  <a:schemeClr val="bg1"/>
                </a:solidFill>
              </a:rPr>
              <a:t> </a:t>
            </a:r>
            <a:r>
              <a:rPr lang="en-US" dirty="0" smtClean="0">
                <a:solidFill>
                  <a:schemeClr val="accent6">
                    <a:lumMod val="75000"/>
                  </a:schemeClr>
                </a:solidFill>
              </a:rPr>
              <a:t>#</a:t>
            </a:r>
            <a:r>
              <a:rPr lang="en-US" dirty="0" err="1" smtClean="0">
                <a:solidFill>
                  <a:schemeClr val="accent6">
                    <a:lumMod val="75000"/>
                  </a:schemeClr>
                </a:solidFill>
              </a:rPr>
              <a:t>Không</a:t>
            </a:r>
            <a:r>
              <a:rPr lang="en-US" dirty="0" smtClean="0">
                <a:solidFill>
                  <a:schemeClr val="accent6">
                    <a:lumMod val="75000"/>
                  </a:schemeClr>
                </a:solidFill>
              </a:rPr>
              <a:t> </a:t>
            </a:r>
            <a:r>
              <a:rPr lang="en-US" dirty="0" err="1" smtClean="0">
                <a:solidFill>
                  <a:schemeClr val="accent6">
                    <a:lumMod val="75000"/>
                  </a:schemeClr>
                </a:solidFill>
              </a:rPr>
              <a:t>muốn</a:t>
            </a:r>
            <a:r>
              <a:rPr lang="en-US" dirty="0" smtClean="0">
                <a:solidFill>
                  <a:schemeClr val="accent6">
                    <a:lumMod val="75000"/>
                  </a:schemeClr>
                </a:solidFill>
              </a:rPr>
              <a:t> </a:t>
            </a:r>
            <a:r>
              <a:rPr lang="en-US" dirty="0" err="1" smtClean="0">
                <a:solidFill>
                  <a:schemeClr val="accent6">
                    <a:lumMod val="75000"/>
                  </a:schemeClr>
                </a:solidFill>
              </a:rPr>
              <a:t>làm</a:t>
            </a:r>
            <a:r>
              <a:rPr lang="en-US" dirty="0" smtClean="0">
                <a:solidFill>
                  <a:schemeClr val="accent6">
                    <a:lumMod val="75000"/>
                  </a:schemeClr>
                </a:solidFill>
              </a:rPr>
              <a:t> </a:t>
            </a:r>
            <a:r>
              <a:rPr lang="en-US" dirty="0" err="1" smtClean="0">
                <a:solidFill>
                  <a:schemeClr val="accent6">
                    <a:lumMod val="75000"/>
                  </a:schemeClr>
                </a:solidFill>
              </a:rPr>
              <a:t>gì</a:t>
            </a:r>
            <a:r>
              <a:rPr lang="en-US" dirty="0" smtClean="0">
                <a:solidFill>
                  <a:schemeClr val="accent6">
                    <a:lumMod val="75000"/>
                  </a:schemeClr>
                </a:solidFill>
              </a:rPr>
              <a:t> </a:t>
            </a:r>
            <a:r>
              <a:rPr lang="en-US" dirty="0" err="1" smtClean="0">
                <a:solidFill>
                  <a:schemeClr val="accent6">
                    <a:lumMod val="75000"/>
                  </a:schemeClr>
                </a:solidFill>
              </a:rPr>
              <a:t>khi</a:t>
            </a:r>
            <a:r>
              <a:rPr lang="en-US" dirty="0" smtClean="0">
                <a:solidFill>
                  <a:schemeClr val="accent6">
                    <a:lumMod val="75000"/>
                  </a:schemeClr>
                </a:solidFill>
              </a:rPr>
              <a:t> </a:t>
            </a:r>
            <a:r>
              <a:rPr lang="en-US" dirty="0" err="1" smtClean="0">
                <a:solidFill>
                  <a:schemeClr val="accent6">
                    <a:lumMod val="75000"/>
                  </a:schemeClr>
                </a:solidFill>
              </a:rPr>
              <a:t>gọi</a:t>
            </a:r>
            <a:r>
              <a:rPr lang="en-US" dirty="0" smtClean="0">
                <a:solidFill>
                  <a:schemeClr val="accent6">
                    <a:lumMod val="75000"/>
                  </a:schemeClr>
                </a:solidFill>
              </a:rPr>
              <a:t> </a:t>
            </a:r>
            <a:r>
              <a:rPr lang="en-US" dirty="0" err="1" smtClean="0">
                <a:solidFill>
                  <a:schemeClr val="accent6">
                    <a:lumMod val="75000"/>
                  </a:schemeClr>
                </a:solidFill>
              </a:rPr>
              <a:t>hàm</a:t>
            </a:r>
            <a:endParaRPr lang="en-US" dirty="0" smtClean="0">
              <a:solidFill>
                <a:schemeClr val="accent6">
                  <a:lumMod val="75000"/>
                </a:schemeClr>
              </a:solidFill>
            </a:endParaRPr>
          </a:p>
        </p:txBody>
      </p:sp>
    </p:spTree>
    <p:extLst>
      <p:ext uri="{BB962C8B-B14F-4D97-AF65-F5344CB8AC3E}">
        <p14:creationId xmlns:p14="http://schemas.microsoft.com/office/powerpoint/2010/main" val="306217982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12</a:t>
            </a:fld>
            <a:endParaRPr lang="en-US"/>
          </a:p>
        </p:txBody>
      </p:sp>
      <p:sp>
        <p:nvSpPr>
          <p:cNvPr id="3" name="Text Placeholder 2"/>
          <p:cNvSpPr>
            <a:spLocks noGrp="1"/>
          </p:cNvSpPr>
          <p:nvPr>
            <p:ph type="body" sz="quarter" idx="13"/>
          </p:nvPr>
        </p:nvSpPr>
        <p:spPr>
          <a:xfrm>
            <a:off x="301925" y="851289"/>
            <a:ext cx="8454964" cy="424732"/>
          </a:xfrm>
        </p:spPr>
        <p:txBody>
          <a:bodyPr/>
          <a:lstStyle/>
          <a:p>
            <a:r>
              <a:rPr lang="en-US" dirty="0" smtClean="0"/>
              <a:t>3.4 </a:t>
            </a:r>
            <a:r>
              <a:rPr lang="en-US" dirty="0" err="1"/>
              <a:t>Câu</a:t>
            </a:r>
            <a:r>
              <a:rPr lang="en-US" dirty="0"/>
              <a:t> </a:t>
            </a:r>
            <a:r>
              <a:rPr lang="en-US" dirty="0" err="1"/>
              <a:t>lệnh</a:t>
            </a:r>
            <a:r>
              <a:rPr lang="en-US" dirty="0"/>
              <a:t> if, else, </a:t>
            </a:r>
            <a:r>
              <a:rPr lang="en-US" dirty="0" err="1" smtClean="0"/>
              <a:t>elif</a:t>
            </a:r>
            <a:endParaRPr lang="en-US" dirty="0"/>
          </a:p>
        </p:txBody>
      </p:sp>
      <p:pic>
        <p:nvPicPr>
          <p:cNvPr id="4"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79187"/>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041993" y="1519761"/>
            <a:ext cx="7068814" cy="369332"/>
          </a:xfrm>
          <a:prstGeom prst="rect">
            <a:avLst/>
          </a:prstGeom>
          <a:noFill/>
        </p:spPr>
        <p:txBody>
          <a:bodyPr wrap="square" rtlCol="0">
            <a:spAutoFit/>
          </a:bodyPr>
          <a:lstStyle/>
          <a:p>
            <a:r>
              <a:rPr lang="en-US" b="1" dirty="0" err="1" smtClean="0"/>
              <a:t>Nguồn</a:t>
            </a:r>
            <a:r>
              <a:rPr lang="en-US" b="1" dirty="0" smtClean="0"/>
              <a:t> </a:t>
            </a:r>
            <a:r>
              <a:rPr lang="en-US" b="1" dirty="0" err="1" smtClean="0"/>
              <a:t>tham</a:t>
            </a:r>
            <a:r>
              <a:rPr lang="en-US" b="1" dirty="0" smtClean="0"/>
              <a:t> </a:t>
            </a:r>
            <a:r>
              <a:rPr lang="en-US" b="1" dirty="0" err="1" smtClean="0"/>
              <a:t>chiếu</a:t>
            </a:r>
            <a:endParaRPr lang="en-US" b="1" dirty="0"/>
          </a:p>
        </p:txBody>
      </p:sp>
      <p:sp>
        <p:nvSpPr>
          <p:cNvPr id="10" name="TextBox 9"/>
          <p:cNvSpPr txBox="1"/>
          <p:nvPr/>
        </p:nvSpPr>
        <p:spPr>
          <a:xfrm>
            <a:off x="999461" y="2940625"/>
            <a:ext cx="5603356" cy="369332"/>
          </a:xfrm>
          <a:prstGeom prst="rect">
            <a:avLst/>
          </a:prstGeom>
          <a:noFill/>
        </p:spPr>
        <p:txBody>
          <a:bodyPr wrap="square" rtlCol="0">
            <a:spAutoFit/>
          </a:bodyPr>
          <a:lstStyle/>
          <a:p>
            <a:r>
              <a:rPr lang="en-US" dirty="0" err="1" smtClean="0"/>
              <a:t>Tổng</a:t>
            </a:r>
            <a:r>
              <a:rPr lang="en-US" dirty="0" smtClean="0"/>
              <a:t> </a:t>
            </a:r>
            <a:r>
              <a:rPr lang="en-US" dirty="0" err="1" smtClean="0"/>
              <a:t>quan</a:t>
            </a:r>
            <a:r>
              <a:rPr lang="en-US" dirty="0" smtClean="0"/>
              <a:t> </a:t>
            </a:r>
            <a:r>
              <a:rPr lang="en-US" dirty="0" err="1" smtClean="0"/>
              <a:t>về</a:t>
            </a:r>
            <a:r>
              <a:rPr lang="en-US" dirty="0" smtClean="0"/>
              <a:t> if, else, </a:t>
            </a:r>
            <a:r>
              <a:rPr lang="en-US" dirty="0" err="1" smtClean="0"/>
              <a:t>elif</a:t>
            </a:r>
            <a:endParaRPr lang="en-US" dirty="0"/>
          </a:p>
        </p:txBody>
      </p:sp>
      <p:sp>
        <p:nvSpPr>
          <p:cNvPr id="11" name="Diamond 10"/>
          <p:cNvSpPr/>
          <p:nvPr/>
        </p:nvSpPr>
        <p:spPr>
          <a:xfrm>
            <a:off x="731689" y="3032958"/>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999461" y="2085482"/>
            <a:ext cx="5603356" cy="369332"/>
          </a:xfrm>
          <a:prstGeom prst="rect">
            <a:avLst/>
          </a:prstGeom>
          <a:noFill/>
        </p:spPr>
        <p:txBody>
          <a:bodyPr wrap="square" rtlCol="0">
            <a:spAutoFit/>
          </a:bodyPr>
          <a:lstStyle/>
          <a:p>
            <a:r>
              <a:rPr lang="en-US" dirty="0" err="1" smtClean="0"/>
              <a:t>Dữ</a:t>
            </a:r>
            <a:r>
              <a:rPr lang="en-US" dirty="0" smtClean="0"/>
              <a:t> </a:t>
            </a:r>
            <a:r>
              <a:rPr lang="en-US" dirty="0" err="1" smtClean="0"/>
              <a:t>liệu</a:t>
            </a:r>
            <a:r>
              <a:rPr lang="en-US" dirty="0" smtClean="0"/>
              <a:t> Logic</a:t>
            </a:r>
            <a:endParaRPr lang="en-US" dirty="0"/>
          </a:p>
        </p:txBody>
      </p:sp>
      <p:sp>
        <p:nvSpPr>
          <p:cNvPr id="13" name="Diamond 12"/>
          <p:cNvSpPr/>
          <p:nvPr/>
        </p:nvSpPr>
        <p:spPr>
          <a:xfrm>
            <a:off x="731689" y="2177815"/>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999460" y="3366719"/>
            <a:ext cx="7337231" cy="369332"/>
          </a:xfrm>
          <a:prstGeom prst="rect">
            <a:avLst/>
          </a:prstGeom>
          <a:noFill/>
        </p:spPr>
        <p:txBody>
          <a:bodyPr wrap="square" rtlCol="0">
            <a:spAutoFit/>
          </a:bodyPr>
          <a:lstStyle/>
          <a:p>
            <a:r>
              <a:rPr lang="en-US" dirty="0">
                <a:hlinkClick r:id="rId3"/>
              </a:rPr>
              <a:t>https://www.w3schools.com/python/python_conditions.asp</a:t>
            </a:r>
            <a:endParaRPr lang="en-US" dirty="0"/>
          </a:p>
        </p:txBody>
      </p:sp>
      <p:sp>
        <p:nvSpPr>
          <p:cNvPr id="15" name="TextBox 14"/>
          <p:cNvSpPr txBox="1"/>
          <p:nvPr/>
        </p:nvSpPr>
        <p:spPr>
          <a:xfrm>
            <a:off x="999460" y="2443240"/>
            <a:ext cx="7337231" cy="369332"/>
          </a:xfrm>
          <a:prstGeom prst="rect">
            <a:avLst/>
          </a:prstGeom>
          <a:noFill/>
        </p:spPr>
        <p:txBody>
          <a:bodyPr wrap="square" rtlCol="0">
            <a:spAutoFit/>
          </a:bodyPr>
          <a:lstStyle/>
          <a:p>
            <a:r>
              <a:rPr lang="en-US" dirty="0">
                <a:hlinkClick r:id="rId4"/>
              </a:rPr>
              <a:t>https://www.w3schools.com/python/python_booleans.asp</a:t>
            </a:r>
            <a:endParaRPr lang="en-US" dirty="0"/>
          </a:p>
        </p:txBody>
      </p:sp>
    </p:spTree>
    <p:extLst>
      <p:ext uri="{BB962C8B-B14F-4D97-AF65-F5344CB8AC3E}">
        <p14:creationId xmlns:p14="http://schemas.microsoft.com/office/powerpoint/2010/main" val="160317054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2"/>
          <p:cNvSpPr txBox="1">
            <a:spLocks/>
          </p:cNvSpPr>
          <p:nvPr/>
        </p:nvSpPr>
        <p:spPr>
          <a:xfrm>
            <a:off x="1571538" y="986929"/>
            <a:ext cx="3840434" cy="4247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err="1" smtClean="0">
                <a:solidFill>
                  <a:schemeClr val="bg1"/>
                </a:solidFill>
              </a:rPr>
              <a:t>Tổng</a:t>
            </a:r>
            <a:r>
              <a:rPr lang="en-US" b="1" dirty="0" smtClean="0">
                <a:solidFill>
                  <a:schemeClr val="bg1"/>
                </a:solidFill>
              </a:rPr>
              <a:t> </a:t>
            </a:r>
            <a:r>
              <a:rPr lang="en-US" b="1" dirty="0" err="1" smtClean="0">
                <a:solidFill>
                  <a:schemeClr val="bg1"/>
                </a:solidFill>
              </a:rPr>
              <a:t>kết</a:t>
            </a:r>
            <a:r>
              <a:rPr lang="en-US" b="1" dirty="0" smtClean="0">
                <a:solidFill>
                  <a:schemeClr val="bg1"/>
                </a:solidFill>
              </a:rPr>
              <a:t> </a:t>
            </a:r>
            <a:r>
              <a:rPr lang="en-US" b="1" dirty="0" err="1" smtClean="0">
                <a:solidFill>
                  <a:schemeClr val="bg1"/>
                </a:solidFill>
              </a:rPr>
              <a:t>lại</a:t>
            </a:r>
            <a:r>
              <a:rPr lang="en-US" b="1" dirty="0" smtClean="0">
                <a:solidFill>
                  <a:schemeClr val="bg1"/>
                </a:solidFill>
              </a:rPr>
              <a:t> </a:t>
            </a:r>
            <a:r>
              <a:rPr lang="en-US" b="1" dirty="0" err="1" smtClean="0">
                <a:solidFill>
                  <a:schemeClr val="bg1"/>
                </a:solidFill>
              </a:rPr>
              <a:t>bài</a:t>
            </a:r>
            <a:r>
              <a:rPr lang="en-US" b="1" dirty="0" smtClean="0">
                <a:solidFill>
                  <a:schemeClr val="bg1"/>
                </a:solidFill>
              </a:rPr>
              <a:t> 3</a:t>
            </a:r>
            <a:endParaRPr lang="en-US" b="1" dirty="0">
              <a:solidFill>
                <a:schemeClr val="bg1"/>
              </a:solidFill>
            </a:endParaRPr>
          </a:p>
        </p:txBody>
      </p:sp>
      <p:sp>
        <p:nvSpPr>
          <p:cNvPr id="5" name="Oval 4"/>
          <p:cNvSpPr/>
          <p:nvPr/>
        </p:nvSpPr>
        <p:spPr>
          <a:xfrm>
            <a:off x="1731027" y="1822655"/>
            <a:ext cx="439848" cy="4398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60B659"/>
                </a:solidFill>
              </a:rPr>
              <a:t>1</a:t>
            </a:r>
            <a:endParaRPr lang="en-US" b="1" dirty="0">
              <a:solidFill>
                <a:srgbClr val="60B659"/>
              </a:solidFill>
            </a:endParaRPr>
          </a:p>
        </p:txBody>
      </p:sp>
      <p:sp>
        <p:nvSpPr>
          <p:cNvPr id="6" name="Oval 5"/>
          <p:cNvSpPr/>
          <p:nvPr/>
        </p:nvSpPr>
        <p:spPr>
          <a:xfrm>
            <a:off x="1731027" y="2659759"/>
            <a:ext cx="439848" cy="4398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60B659"/>
                </a:solidFill>
              </a:rPr>
              <a:t>2</a:t>
            </a:r>
          </a:p>
        </p:txBody>
      </p:sp>
      <p:sp>
        <p:nvSpPr>
          <p:cNvPr id="7" name="Oval 6"/>
          <p:cNvSpPr/>
          <p:nvPr/>
        </p:nvSpPr>
        <p:spPr>
          <a:xfrm>
            <a:off x="1731027" y="3455142"/>
            <a:ext cx="439848" cy="4398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60B659"/>
                </a:solidFill>
              </a:rPr>
              <a:t>3</a:t>
            </a:r>
          </a:p>
        </p:txBody>
      </p:sp>
      <p:sp>
        <p:nvSpPr>
          <p:cNvPr id="8" name="Oval 7"/>
          <p:cNvSpPr/>
          <p:nvPr/>
        </p:nvSpPr>
        <p:spPr>
          <a:xfrm>
            <a:off x="1731027" y="4274161"/>
            <a:ext cx="439848" cy="4398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60B659"/>
                </a:solidFill>
              </a:rPr>
              <a:t>4</a:t>
            </a:r>
          </a:p>
        </p:txBody>
      </p:sp>
      <p:sp>
        <p:nvSpPr>
          <p:cNvPr id="13" name="Oval 12"/>
          <p:cNvSpPr/>
          <p:nvPr/>
        </p:nvSpPr>
        <p:spPr>
          <a:xfrm>
            <a:off x="1731027" y="5103801"/>
            <a:ext cx="439848" cy="4398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60B659"/>
                </a:solidFill>
              </a:rPr>
              <a:t>5</a:t>
            </a:r>
            <a:endParaRPr lang="en-US" b="1" dirty="0">
              <a:solidFill>
                <a:srgbClr val="60B659"/>
              </a:solidFill>
            </a:endParaRPr>
          </a:p>
        </p:txBody>
      </p:sp>
      <p:cxnSp>
        <p:nvCxnSpPr>
          <p:cNvPr id="16" name="Straight Connector 15"/>
          <p:cNvCxnSpPr/>
          <p:nvPr/>
        </p:nvCxnSpPr>
        <p:spPr>
          <a:xfrm>
            <a:off x="1731027" y="1528857"/>
            <a:ext cx="614769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2286000" y="1830579"/>
            <a:ext cx="5178056" cy="369332"/>
          </a:xfrm>
          <a:prstGeom prst="rect">
            <a:avLst/>
          </a:prstGeom>
          <a:noFill/>
        </p:spPr>
        <p:txBody>
          <a:bodyPr wrap="square" rtlCol="0">
            <a:spAutoFit/>
          </a:bodyPr>
          <a:lstStyle/>
          <a:p>
            <a:r>
              <a:rPr lang="en-US" dirty="0" err="1" smtClean="0">
                <a:solidFill>
                  <a:schemeClr val="bg1"/>
                </a:solidFill>
              </a:rPr>
              <a:t>Nắm</a:t>
            </a:r>
            <a:r>
              <a:rPr lang="en-US" dirty="0" smtClean="0">
                <a:solidFill>
                  <a:schemeClr val="bg1"/>
                </a:solidFill>
              </a:rPr>
              <a:t> </a:t>
            </a:r>
            <a:r>
              <a:rPr lang="en-US" dirty="0" err="1" smtClean="0">
                <a:solidFill>
                  <a:schemeClr val="bg1"/>
                </a:solidFill>
              </a:rPr>
              <a:t>được</a:t>
            </a:r>
            <a:r>
              <a:rPr lang="en-US" dirty="0" smtClean="0">
                <a:solidFill>
                  <a:schemeClr val="bg1"/>
                </a:solidFill>
              </a:rPr>
              <a:t> </a:t>
            </a:r>
            <a:r>
              <a:rPr lang="en-US" dirty="0" err="1" smtClean="0">
                <a:solidFill>
                  <a:schemeClr val="bg1"/>
                </a:solidFill>
              </a:rPr>
              <a:t>cách</a:t>
            </a:r>
            <a:r>
              <a:rPr lang="en-US" dirty="0" smtClean="0">
                <a:solidFill>
                  <a:schemeClr val="bg1"/>
                </a:solidFill>
              </a:rPr>
              <a:t> </a:t>
            </a:r>
            <a:r>
              <a:rPr lang="en-US" dirty="0" err="1" smtClean="0">
                <a:solidFill>
                  <a:schemeClr val="bg1"/>
                </a:solidFill>
              </a:rPr>
              <a:t>sử</a:t>
            </a:r>
            <a:r>
              <a:rPr lang="en-US" dirty="0" smtClean="0">
                <a:solidFill>
                  <a:schemeClr val="bg1"/>
                </a:solidFill>
              </a:rPr>
              <a:t> </a:t>
            </a:r>
            <a:r>
              <a:rPr lang="en-US" dirty="0" err="1" smtClean="0">
                <a:solidFill>
                  <a:schemeClr val="bg1"/>
                </a:solidFill>
              </a:rPr>
              <a:t>dụng</a:t>
            </a:r>
            <a:r>
              <a:rPr lang="en-US" dirty="0" smtClean="0">
                <a:solidFill>
                  <a:schemeClr val="bg1"/>
                </a:solidFill>
              </a:rPr>
              <a:t> </a:t>
            </a:r>
            <a:r>
              <a:rPr lang="en-US" dirty="0" err="1" smtClean="0">
                <a:solidFill>
                  <a:schemeClr val="bg1"/>
                </a:solidFill>
              </a:rPr>
              <a:t>lệnh</a:t>
            </a:r>
            <a:r>
              <a:rPr lang="en-US" dirty="0" smtClean="0">
                <a:solidFill>
                  <a:schemeClr val="bg1"/>
                </a:solidFill>
              </a:rPr>
              <a:t> input()</a:t>
            </a:r>
            <a:endParaRPr lang="en-US" dirty="0">
              <a:solidFill>
                <a:schemeClr val="bg1"/>
              </a:solidFill>
            </a:endParaRPr>
          </a:p>
        </p:txBody>
      </p:sp>
      <p:sp>
        <p:nvSpPr>
          <p:cNvPr id="17" name="TextBox 16"/>
          <p:cNvSpPr txBox="1"/>
          <p:nvPr/>
        </p:nvSpPr>
        <p:spPr>
          <a:xfrm>
            <a:off x="2286000" y="2702700"/>
            <a:ext cx="5178056" cy="369332"/>
          </a:xfrm>
          <a:prstGeom prst="rect">
            <a:avLst/>
          </a:prstGeom>
          <a:noFill/>
        </p:spPr>
        <p:txBody>
          <a:bodyPr wrap="square" rtlCol="0">
            <a:spAutoFit/>
          </a:bodyPr>
          <a:lstStyle/>
          <a:p>
            <a:r>
              <a:rPr lang="en-US" dirty="0" err="1" smtClean="0">
                <a:solidFill>
                  <a:schemeClr val="bg1"/>
                </a:solidFill>
              </a:rPr>
              <a:t>Nắm</a:t>
            </a:r>
            <a:r>
              <a:rPr lang="en-US" dirty="0" smtClean="0">
                <a:solidFill>
                  <a:schemeClr val="bg1"/>
                </a:solidFill>
              </a:rPr>
              <a:t> </a:t>
            </a:r>
            <a:r>
              <a:rPr lang="en-US" dirty="0" err="1" smtClean="0">
                <a:solidFill>
                  <a:schemeClr val="bg1"/>
                </a:solidFill>
              </a:rPr>
              <a:t>được</a:t>
            </a:r>
            <a:r>
              <a:rPr lang="en-US" dirty="0" smtClean="0">
                <a:solidFill>
                  <a:schemeClr val="bg1"/>
                </a:solidFill>
              </a:rPr>
              <a:t> </a:t>
            </a:r>
            <a:r>
              <a:rPr lang="en-US" dirty="0" err="1" smtClean="0">
                <a:solidFill>
                  <a:schemeClr val="bg1"/>
                </a:solidFill>
              </a:rPr>
              <a:t>toán</a:t>
            </a:r>
            <a:r>
              <a:rPr lang="en-US" dirty="0" smtClean="0">
                <a:solidFill>
                  <a:schemeClr val="bg1"/>
                </a:solidFill>
              </a:rPr>
              <a:t> </a:t>
            </a:r>
            <a:r>
              <a:rPr lang="en-US" dirty="0" err="1" smtClean="0">
                <a:solidFill>
                  <a:schemeClr val="bg1"/>
                </a:solidFill>
              </a:rPr>
              <a:t>tử</a:t>
            </a:r>
            <a:r>
              <a:rPr lang="en-US" dirty="0" smtClean="0">
                <a:solidFill>
                  <a:schemeClr val="bg1"/>
                </a:solidFill>
              </a:rPr>
              <a:t> Logical </a:t>
            </a:r>
            <a:r>
              <a:rPr lang="en-US" dirty="0" err="1" smtClean="0">
                <a:solidFill>
                  <a:schemeClr val="bg1"/>
                </a:solidFill>
              </a:rPr>
              <a:t>trong</a:t>
            </a:r>
            <a:r>
              <a:rPr lang="en-US" dirty="0" smtClean="0">
                <a:solidFill>
                  <a:schemeClr val="bg1"/>
                </a:solidFill>
              </a:rPr>
              <a:t> Python</a:t>
            </a:r>
            <a:endParaRPr lang="en-US" dirty="0">
              <a:solidFill>
                <a:schemeClr val="bg1"/>
              </a:solidFill>
            </a:endParaRPr>
          </a:p>
        </p:txBody>
      </p:sp>
      <p:sp>
        <p:nvSpPr>
          <p:cNvPr id="22" name="TextBox 21"/>
          <p:cNvSpPr txBox="1"/>
          <p:nvPr/>
        </p:nvSpPr>
        <p:spPr>
          <a:xfrm>
            <a:off x="2286000" y="3469997"/>
            <a:ext cx="5178056" cy="369332"/>
          </a:xfrm>
          <a:prstGeom prst="rect">
            <a:avLst/>
          </a:prstGeom>
          <a:noFill/>
        </p:spPr>
        <p:txBody>
          <a:bodyPr wrap="square" rtlCol="0">
            <a:spAutoFit/>
          </a:bodyPr>
          <a:lstStyle/>
          <a:p>
            <a:r>
              <a:rPr lang="en-US" dirty="0" err="1" smtClean="0">
                <a:solidFill>
                  <a:schemeClr val="bg1"/>
                </a:solidFill>
              </a:rPr>
              <a:t>Cách</a:t>
            </a:r>
            <a:r>
              <a:rPr lang="en-US" dirty="0" smtClean="0">
                <a:solidFill>
                  <a:schemeClr val="bg1"/>
                </a:solidFill>
              </a:rPr>
              <a:t> </a:t>
            </a:r>
            <a:r>
              <a:rPr lang="en-US" dirty="0" err="1" smtClean="0">
                <a:solidFill>
                  <a:schemeClr val="bg1"/>
                </a:solidFill>
              </a:rPr>
              <a:t>sử</a:t>
            </a:r>
            <a:r>
              <a:rPr lang="en-US" dirty="0" smtClean="0">
                <a:solidFill>
                  <a:schemeClr val="bg1"/>
                </a:solidFill>
              </a:rPr>
              <a:t> </a:t>
            </a:r>
            <a:r>
              <a:rPr lang="en-US" dirty="0" err="1" smtClean="0">
                <a:solidFill>
                  <a:schemeClr val="bg1"/>
                </a:solidFill>
              </a:rPr>
              <a:t>dụng</a:t>
            </a:r>
            <a:r>
              <a:rPr lang="en-US" dirty="0" smtClean="0">
                <a:solidFill>
                  <a:schemeClr val="bg1"/>
                </a:solidFill>
              </a:rPr>
              <a:t> </a:t>
            </a:r>
            <a:r>
              <a:rPr lang="en-US" dirty="0" err="1" smtClean="0">
                <a:solidFill>
                  <a:schemeClr val="bg1"/>
                </a:solidFill>
              </a:rPr>
              <a:t>câu</a:t>
            </a:r>
            <a:r>
              <a:rPr lang="en-US" dirty="0" smtClean="0">
                <a:solidFill>
                  <a:schemeClr val="bg1"/>
                </a:solidFill>
              </a:rPr>
              <a:t> </a:t>
            </a:r>
            <a:r>
              <a:rPr lang="en-US" dirty="0" err="1" smtClean="0">
                <a:solidFill>
                  <a:schemeClr val="bg1"/>
                </a:solidFill>
              </a:rPr>
              <a:t>lệnh</a:t>
            </a:r>
            <a:r>
              <a:rPr lang="en-US" dirty="0" smtClean="0">
                <a:solidFill>
                  <a:schemeClr val="bg1"/>
                </a:solidFill>
              </a:rPr>
              <a:t> </a:t>
            </a:r>
            <a:r>
              <a:rPr lang="en-US" dirty="0" err="1" smtClean="0">
                <a:solidFill>
                  <a:schemeClr val="bg1"/>
                </a:solidFill>
              </a:rPr>
              <a:t>điểu</a:t>
            </a:r>
            <a:r>
              <a:rPr lang="en-US" dirty="0" smtClean="0">
                <a:solidFill>
                  <a:schemeClr val="bg1"/>
                </a:solidFill>
              </a:rPr>
              <a:t> </a:t>
            </a:r>
            <a:r>
              <a:rPr lang="en-US" dirty="0" err="1" smtClean="0">
                <a:solidFill>
                  <a:schemeClr val="bg1"/>
                </a:solidFill>
              </a:rPr>
              <a:t>kiện</a:t>
            </a:r>
            <a:r>
              <a:rPr lang="en-US" dirty="0" smtClean="0">
                <a:solidFill>
                  <a:schemeClr val="bg1"/>
                </a:solidFill>
              </a:rPr>
              <a:t> </a:t>
            </a:r>
            <a:r>
              <a:rPr lang="en-US" dirty="0" err="1" smtClean="0">
                <a:solidFill>
                  <a:schemeClr val="bg1"/>
                </a:solidFill>
              </a:rPr>
              <a:t>rẻ</a:t>
            </a:r>
            <a:r>
              <a:rPr lang="en-US" dirty="0" smtClean="0">
                <a:solidFill>
                  <a:schemeClr val="bg1"/>
                </a:solidFill>
              </a:rPr>
              <a:t> </a:t>
            </a:r>
            <a:r>
              <a:rPr lang="en-US" dirty="0" err="1" smtClean="0">
                <a:solidFill>
                  <a:schemeClr val="bg1"/>
                </a:solidFill>
              </a:rPr>
              <a:t>nhánh</a:t>
            </a:r>
            <a:r>
              <a:rPr lang="en-US" dirty="0">
                <a:solidFill>
                  <a:schemeClr val="bg1"/>
                </a:solidFill>
              </a:rPr>
              <a:t> </a:t>
            </a:r>
            <a:r>
              <a:rPr lang="en-US" dirty="0" smtClean="0">
                <a:solidFill>
                  <a:schemeClr val="bg1"/>
                </a:solidFill>
              </a:rPr>
              <a:t>if else</a:t>
            </a:r>
            <a:endParaRPr lang="en-US" dirty="0">
              <a:solidFill>
                <a:schemeClr val="bg1"/>
              </a:solidFill>
            </a:endParaRPr>
          </a:p>
        </p:txBody>
      </p:sp>
      <p:sp>
        <p:nvSpPr>
          <p:cNvPr id="23" name="TextBox 22"/>
          <p:cNvSpPr txBox="1"/>
          <p:nvPr/>
        </p:nvSpPr>
        <p:spPr>
          <a:xfrm>
            <a:off x="2286000" y="5139059"/>
            <a:ext cx="5816008" cy="369332"/>
          </a:xfrm>
          <a:prstGeom prst="rect">
            <a:avLst/>
          </a:prstGeom>
          <a:noFill/>
        </p:spPr>
        <p:txBody>
          <a:bodyPr wrap="square" rtlCol="0">
            <a:spAutoFit/>
          </a:bodyPr>
          <a:lstStyle/>
          <a:p>
            <a:r>
              <a:rPr lang="en-US" dirty="0" err="1" smtClean="0">
                <a:solidFill>
                  <a:schemeClr val="bg1"/>
                </a:solidFill>
              </a:rPr>
              <a:t>Nắm</a:t>
            </a:r>
            <a:r>
              <a:rPr lang="en-US" dirty="0" smtClean="0">
                <a:solidFill>
                  <a:schemeClr val="bg1"/>
                </a:solidFill>
              </a:rPr>
              <a:t> </a:t>
            </a:r>
            <a:r>
              <a:rPr lang="en-US" dirty="0" err="1" smtClean="0">
                <a:solidFill>
                  <a:schemeClr val="bg1"/>
                </a:solidFill>
              </a:rPr>
              <a:t>được</a:t>
            </a:r>
            <a:r>
              <a:rPr lang="en-US" dirty="0" smtClean="0">
                <a:solidFill>
                  <a:schemeClr val="bg1"/>
                </a:solidFill>
              </a:rPr>
              <a:t> </a:t>
            </a:r>
            <a:r>
              <a:rPr lang="en-US" dirty="0" err="1" smtClean="0">
                <a:solidFill>
                  <a:schemeClr val="bg1"/>
                </a:solidFill>
              </a:rPr>
              <a:t>cách</a:t>
            </a:r>
            <a:r>
              <a:rPr lang="en-US" dirty="0" smtClean="0">
                <a:solidFill>
                  <a:schemeClr val="bg1"/>
                </a:solidFill>
              </a:rPr>
              <a:t> </a:t>
            </a:r>
            <a:r>
              <a:rPr lang="en-US" dirty="0" err="1" smtClean="0">
                <a:solidFill>
                  <a:schemeClr val="bg1"/>
                </a:solidFill>
              </a:rPr>
              <a:t>sử</a:t>
            </a:r>
            <a:r>
              <a:rPr lang="en-US" dirty="0" smtClean="0">
                <a:solidFill>
                  <a:schemeClr val="bg1"/>
                </a:solidFill>
              </a:rPr>
              <a:t> </a:t>
            </a:r>
            <a:r>
              <a:rPr lang="en-US" dirty="0" err="1" smtClean="0">
                <a:solidFill>
                  <a:schemeClr val="bg1"/>
                </a:solidFill>
              </a:rPr>
              <a:t>dụng</a:t>
            </a:r>
            <a:r>
              <a:rPr lang="en-US" dirty="0" smtClean="0">
                <a:solidFill>
                  <a:schemeClr val="bg1"/>
                </a:solidFill>
              </a:rPr>
              <a:t> </a:t>
            </a:r>
            <a:r>
              <a:rPr lang="en-US" dirty="0" err="1" smtClean="0">
                <a:solidFill>
                  <a:schemeClr val="bg1"/>
                </a:solidFill>
              </a:rPr>
              <a:t>vòng</a:t>
            </a:r>
            <a:r>
              <a:rPr lang="en-US" dirty="0" smtClean="0">
                <a:solidFill>
                  <a:schemeClr val="bg1"/>
                </a:solidFill>
              </a:rPr>
              <a:t> </a:t>
            </a:r>
            <a:r>
              <a:rPr lang="en-US" dirty="0" err="1" smtClean="0">
                <a:solidFill>
                  <a:schemeClr val="bg1"/>
                </a:solidFill>
              </a:rPr>
              <a:t>lặp</a:t>
            </a:r>
            <a:r>
              <a:rPr lang="en-US" dirty="0" smtClean="0">
                <a:solidFill>
                  <a:schemeClr val="bg1"/>
                </a:solidFill>
              </a:rPr>
              <a:t> for </a:t>
            </a:r>
            <a:r>
              <a:rPr lang="en-US" dirty="0" err="1" smtClean="0">
                <a:solidFill>
                  <a:schemeClr val="bg1"/>
                </a:solidFill>
              </a:rPr>
              <a:t>trong</a:t>
            </a:r>
            <a:r>
              <a:rPr lang="en-US" dirty="0" smtClean="0">
                <a:solidFill>
                  <a:schemeClr val="bg1"/>
                </a:solidFill>
              </a:rPr>
              <a:t> Python</a:t>
            </a:r>
            <a:endParaRPr lang="en-US" dirty="0">
              <a:solidFill>
                <a:schemeClr val="bg1"/>
              </a:solidFill>
            </a:endParaRPr>
          </a:p>
        </p:txBody>
      </p:sp>
      <p:sp>
        <p:nvSpPr>
          <p:cNvPr id="24" name="TextBox 23"/>
          <p:cNvSpPr txBox="1"/>
          <p:nvPr/>
        </p:nvSpPr>
        <p:spPr>
          <a:xfrm>
            <a:off x="2285999" y="4316992"/>
            <a:ext cx="5816009" cy="369332"/>
          </a:xfrm>
          <a:prstGeom prst="rect">
            <a:avLst/>
          </a:prstGeom>
          <a:noFill/>
        </p:spPr>
        <p:txBody>
          <a:bodyPr wrap="square" rtlCol="0">
            <a:spAutoFit/>
          </a:bodyPr>
          <a:lstStyle/>
          <a:p>
            <a:r>
              <a:rPr lang="en-US" dirty="0" err="1" smtClean="0">
                <a:solidFill>
                  <a:schemeClr val="bg1"/>
                </a:solidFill>
              </a:rPr>
              <a:t>Nắm</a:t>
            </a:r>
            <a:r>
              <a:rPr lang="en-US" dirty="0" smtClean="0">
                <a:solidFill>
                  <a:schemeClr val="bg1"/>
                </a:solidFill>
              </a:rPr>
              <a:t> </a:t>
            </a:r>
            <a:r>
              <a:rPr lang="en-US" dirty="0" err="1" smtClean="0">
                <a:solidFill>
                  <a:schemeClr val="bg1"/>
                </a:solidFill>
              </a:rPr>
              <a:t>được</a:t>
            </a:r>
            <a:r>
              <a:rPr lang="en-US" dirty="0" smtClean="0">
                <a:solidFill>
                  <a:schemeClr val="bg1"/>
                </a:solidFill>
              </a:rPr>
              <a:t> </a:t>
            </a:r>
            <a:r>
              <a:rPr lang="en-US" dirty="0" err="1" smtClean="0">
                <a:solidFill>
                  <a:schemeClr val="bg1"/>
                </a:solidFill>
              </a:rPr>
              <a:t>cách</a:t>
            </a:r>
            <a:r>
              <a:rPr lang="en-US" dirty="0" smtClean="0">
                <a:solidFill>
                  <a:schemeClr val="bg1"/>
                </a:solidFill>
              </a:rPr>
              <a:t> </a:t>
            </a:r>
            <a:r>
              <a:rPr lang="en-US" dirty="0" err="1" smtClean="0">
                <a:solidFill>
                  <a:schemeClr val="bg1"/>
                </a:solidFill>
              </a:rPr>
              <a:t>sử</a:t>
            </a:r>
            <a:r>
              <a:rPr lang="en-US" dirty="0" smtClean="0">
                <a:solidFill>
                  <a:schemeClr val="bg1"/>
                </a:solidFill>
              </a:rPr>
              <a:t> </a:t>
            </a:r>
            <a:r>
              <a:rPr lang="en-US" dirty="0" err="1" smtClean="0">
                <a:solidFill>
                  <a:schemeClr val="bg1"/>
                </a:solidFill>
              </a:rPr>
              <a:t>dụng</a:t>
            </a:r>
            <a:r>
              <a:rPr lang="en-US" dirty="0" smtClean="0">
                <a:solidFill>
                  <a:schemeClr val="bg1"/>
                </a:solidFill>
              </a:rPr>
              <a:t> </a:t>
            </a:r>
            <a:r>
              <a:rPr lang="en-US" dirty="0" err="1" smtClean="0">
                <a:solidFill>
                  <a:schemeClr val="bg1"/>
                </a:solidFill>
              </a:rPr>
              <a:t>vòng</a:t>
            </a:r>
            <a:r>
              <a:rPr lang="en-US" dirty="0" smtClean="0">
                <a:solidFill>
                  <a:schemeClr val="bg1"/>
                </a:solidFill>
              </a:rPr>
              <a:t> </a:t>
            </a:r>
            <a:r>
              <a:rPr lang="en-US" dirty="0" err="1" smtClean="0">
                <a:solidFill>
                  <a:schemeClr val="bg1"/>
                </a:solidFill>
              </a:rPr>
              <a:t>lặp</a:t>
            </a:r>
            <a:r>
              <a:rPr lang="en-US" dirty="0" smtClean="0">
                <a:solidFill>
                  <a:schemeClr val="bg1"/>
                </a:solidFill>
              </a:rPr>
              <a:t> while </a:t>
            </a:r>
            <a:r>
              <a:rPr lang="en-US" dirty="0" err="1" smtClean="0">
                <a:solidFill>
                  <a:schemeClr val="bg1"/>
                </a:solidFill>
              </a:rPr>
              <a:t>trong</a:t>
            </a:r>
            <a:r>
              <a:rPr lang="en-US" dirty="0" smtClean="0">
                <a:solidFill>
                  <a:schemeClr val="bg1"/>
                </a:solidFill>
              </a:rPr>
              <a:t> Python</a:t>
            </a:r>
            <a:endParaRPr lang="en-US" dirty="0">
              <a:solidFill>
                <a:schemeClr val="bg1"/>
              </a:solidFill>
            </a:endParaRPr>
          </a:p>
        </p:txBody>
      </p:sp>
    </p:spTree>
    <p:extLst>
      <p:ext uri="{BB962C8B-B14F-4D97-AF65-F5344CB8AC3E}">
        <p14:creationId xmlns:p14="http://schemas.microsoft.com/office/powerpoint/2010/main" val="267199271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1283</TotalTime>
  <Words>1212</Words>
  <Application>Microsoft Office PowerPoint</Application>
  <PresentationFormat>On-screen Show (4:3)</PresentationFormat>
  <Paragraphs>205</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Nobj</dc:creator>
  <cp:lastModifiedBy>Microsoft account</cp:lastModifiedBy>
  <cp:revision>538</cp:revision>
  <dcterms:created xsi:type="dcterms:W3CDTF">2023-04-21T02:43:36Z</dcterms:created>
  <dcterms:modified xsi:type="dcterms:W3CDTF">2025-10-30T02:09:03Z</dcterms:modified>
</cp:coreProperties>
</file>