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97" r:id="rId3"/>
    <p:sldId id="298" r:id="rId4"/>
    <p:sldId id="311" r:id="rId5"/>
    <p:sldId id="312" r:id="rId6"/>
    <p:sldId id="313" r:id="rId7"/>
    <p:sldId id="314" r:id="rId8"/>
    <p:sldId id="315" r:id="rId9"/>
    <p:sldId id="316" r:id="rId10"/>
    <p:sldId id="317" r:id="rId11"/>
    <p:sldId id="318" r:id="rId12"/>
    <p:sldId id="319" r:id="rId13"/>
    <p:sldId id="320" r:id="rId14"/>
    <p:sldId id="321" r:id="rId15"/>
    <p:sldId id="322" r:id="rId16"/>
    <p:sldId id="323" r:id="rId17"/>
    <p:sldId id="324"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CC36"/>
    <a:srgbClr val="FF66CC"/>
    <a:srgbClr val="FFC500"/>
    <a:srgbClr val="B2A5F5"/>
    <a:srgbClr val="CCC3F8"/>
    <a:srgbClr val="FCCFEA"/>
    <a:srgbClr val="FAACDA"/>
    <a:srgbClr val="9ACFF5"/>
    <a:srgbClr val="3A75A6"/>
    <a:srgbClr val="64C0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85" autoAdjust="0"/>
    <p:restoredTop sz="94280" autoAdjust="0"/>
  </p:normalViewPr>
  <p:slideViewPr>
    <p:cSldViewPr snapToGrid="0">
      <p:cViewPr varScale="1">
        <p:scale>
          <a:sx n="69" d="100"/>
          <a:sy n="69" d="100"/>
        </p:scale>
        <p:origin x="13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DF935-9821-4834-9D99-7DEFA719F44D}" type="datetimeFigureOut">
              <a:rPr lang="en-US" smtClean="0"/>
              <a:t>11/6/2025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76C599-AFDD-4E70-A5D7-287F6F8DCAAF}" type="slidenum">
              <a:rPr lang="en-US" smtClean="0"/>
              <a:t>‹#›</a:t>
            </a:fld>
            <a:endParaRPr lang="en-US"/>
          </a:p>
        </p:txBody>
      </p:sp>
    </p:spTree>
    <p:extLst>
      <p:ext uri="{BB962C8B-B14F-4D97-AF65-F5344CB8AC3E}">
        <p14:creationId xmlns:p14="http://schemas.microsoft.com/office/powerpoint/2010/main" val="219590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43576" y="2133600"/>
            <a:ext cx="3400425" cy="472440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704975" cy="4724400"/>
          </a:xfrm>
          <a:prstGeom prst="rect">
            <a:avLst/>
          </a:prstGeom>
        </p:spPr>
      </p:pic>
    </p:spTree>
    <p:extLst>
      <p:ext uri="{BB962C8B-B14F-4D97-AF65-F5344CB8AC3E}">
        <p14:creationId xmlns:p14="http://schemas.microsoft.com/office/powerpoint/2010/main" val="221593065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1" kern="1200" dirty="0" smtClean="0">
                <a:solidFill>
                  <a:schemeClr val="bg1"/>
                </a:solidFill>
                <a:latin typeface="+mn-lt"/>
                <a:ea typeface="Roboto" pitchFamily="2" charset="0"/>
                <a:cs typeface="Arial" panose="020B0604020202020204" pitchFamily="34" charset="0"/>
              </a:rPr>
              <a:t>Python – Data</a:t>
            </a:r>
            <a:r>
              <a:rPr lang="en-US" sz="2000" b="1" kern="1200" baseline="0" dirty="0" smtClean="0">
                <a:solidFill>
                  <a:schemeClr val="bg1"/>
                </a:solidFill>
                <a:latin typeface="+mn-lt"/>
                <a:ea typeface="Roboto" pitchFamily="2" charset="0"/>
                <a:cs typeface="Arial" panose="020B0604020202020204" pitchFamily="34" charset="0"/>
              </a:rPr>
              <a:t> Science</a:t>
            </a:r>
            <a:endParaRPr lang="en-US" sz="2000" b="1" kern="1200" dirty="0">
              <a:solidFill>
                <a:schemeClr val="bg1"/>
              </a:solidFill>
              <a:latin typeface="+mn-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02947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p:cNvSpPr/>
          <p:nvPr userDrawn="1"/>
        </p:nvSpPr>
        <p:spPr>
          <a:xfrm>
            <a:off x="0" y="2"/>
            <a:ext cx="9144000" cy="669849"/>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0" y="6648450"/>
            <a:ext cx="9144000" cy="209550"/>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12"/>
          </p:nvPr>
        </p:nvSpPr>
        <p:spPr>
          <a:xfrm>
            <a:off x="7919049" y="6648451"/>
            <a:ext cx="837841" cy="209551"/>
          </a:xfrm>
        </p:spPr>
        <p:txBody>
          <a:bodyPr/>
          <a:lstStyle>
            <a:lvl1pPr>
              <a:defRPr>
                <a:solidFill>
                  <a:schemeClr val="bg1"/>
                </a:solidFill>
              </a:defRPr>
            </a:lvl1pPr>
          </a:lstStyle>
          <a:p>
            <a:fld id="{7D9EC917-02A2-4152-9EE3-DFE2775A77C7}"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24626" y="-1"/>
            <a:ext cx="2619375" cy="361950"/>
          </a:xfrm>
          <a:prstGeom prst="rect">
            <a:avLst/>
          </a:prstGeom>
        </p:spPr>
      </p:pic>
      <p:sp>
        <p:nvSpPr>
          <p:cNvPr id="12" name="TextBox 11"/>
          <p:cNvSpPr txBox="1"/>
          <p:nvPr userDrawn="1"/>
        </p:nvSpPr>
        <p:spPr>
          <a:xfrm>
            <a:off x="2862565" y="134871"/>
            <a:ext cx="3662060" cy="400110"/>
          </a:xfrm>
          <a:prstGeom prst="rect">
            <a:avLst/>
          </a:prstGeom>
          <a:noFill/>
        </p:spPr>
        <p:txBody>
          <a:bodyPr wrap="square" rtlCol="0">
            <a:spAutoFit/>
          </a:bodyPr>
          <a:lstStyle/>
          <a:p>
            <a:r>
              <a:rPr lang="en-US" sz="2000" b="1" dirty="0" smtClean="0">
                <a:solidFill>
                  <a:schemeClr val="bg1"/>
                </a:solidFill>
                <a:latin typeface="+mj-lt"/>
                <a:ea typeface="Roboto" pitchFamily="2" charset="0"/>
                <a:cs typeface="Arial" panose="020B0604020202020204" pitchFamily="34" charset="0"/>
              </a:rPr>
              <a:t>Python – Data</a:t>
            </a:r>
            <a:r>
              <a:rPr lang="en-US" sz="2000" b="1" baseline="0" dirty="0" smtClean="0">
                <a:solidFill>
                  <a:schemeClr val="bg1"/>
                </a:solidFill>
                <a:latin typeface="+mj-lt"/>
                <a:ea typeface="Roboto" pitchFamily="2" charset="0"/>
                <a:cs typeface="Arial" panose="020B0604020202020204" pitchFamily="34" charset="0"/>
              </a:rPr>
              <a:t> Science</a:t>
            </a:r>
            <a:endParaRPr lang="en-US" sz="2000" b="1" dirty="0">
              <a:solidFill>
                <a:schemeClr val="bg1"/>
              </a:solidFill>
              <a:latin typeface="+mj-lt"/>
              <a:ea typeface="Roboto" pitchFamily="2" charset="0"/>
              <a:cs typeface="Arial" panose="020B0604020202020204" pitchFamily="34" charset="0"/>
            </a:endParaRPr>
          </a:p>
        </p:txBody>
      </p:sp>
      <p:pic>
        <p:nvPicPr>
          <p:cNvPr id="1026" name="Picture 2" descr="https://aptech-danang.edu.vn/Content/ace/images/banner-sm.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4739"/>
            <a:ext cx="2727799" cy="66511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301925" y="1290010"/>
            <a:ext cx="8454964" cy="27432"/>
          </a:xfrm>
          <a:prstGeom prst="rect">
            <a:avLst/>
          </a:prstGeom>
          <a:gradFill flip="none" rotWithShape="1">
            <a:gsLst>
              <a:gs pos="15000">
                <a:srgbClr val="67C7DF"/>
              </a:gs>
              <a:gs pos="100000">
                <a:srgbClr val="5EB130"/>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3" hasCustomPrompt="1"/>
          </p:nvPr>
        </p:nvSpPr>
        <p:spPr>
          <a:xfrm>
            <a:off x="301925" y="851289"/>
            <a:ext cx="8454964" cy="424732"/>
          </a:xfrm>
          <a:noFill/>
        </p:spPr>
        <p:txBody>
          <a:bodyPr wrap="square" rtlCol="0">
            <a:spAutoFit/>
          </a:bodyPr>
          <a:lstStyle>
            <a:lvl1pPr marL="0" indent="0">
              <a:buNone/>
              <a:defRPr lang="en-US" sz="2400" b="1" dirty="0" smtClean="0">
                <a:solidFill>
                  <a:srgbClr val="64C7E9"/>
                </a:solidFill>
                <a:ea typeface="Roboto" pitchFamily="2" charset="0"/>
              </a:defRPr>
            </a:lvl1pPr>
          </a:lstStyle>
          <a:p>
            <a:pPr marL="0" lvl="0"/>
            <a:r>
              <a:rPr lang="en-US" dirty="0" smtClean="0"/>
              <a:t>Tittle</a:t>
            </a:r>
          </a:p>
        </p:txBody>
      </p:sp>
    </p:spTree>
    <p:extLst>
      <p:ext uri="{BB962C8B-B14F-4D97-AF65-F5344CB8AC3E}">
        <p14:creationId xmlns:p14="http://schemas.microsoft.com/office/powerpoint/2010/main" val="351256245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EC917-02A2-4152-9EE3-DFE2775A77C7}" type="slidenum">
              <a:rPr lang="en-US" smtClean="0"/>
              <a:t>‹#›</a:t>
            </a:fld>
            <a:endParaRPr lang="en-US"/>
          </a:p>
        </p:txBody>
      </p:sp>
    </p:spTree>
    <p:extLst>
      <p:ext uri="{BB962C8B-B14F-4D97-AF65-F5344CB8AC3E}">
        <p14:creationId xmlns:p14="http://schemas.microsoft.com/office/powerpoint/2010/main" val="2732116784"/>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colab.research.google.com/" TargetMode="External"/><Relationship Id="rId2" Type="http://schemas.openxmlformats.org/officeDocument/2006/relationships/hyperlink" Target="https://www.anaconda.com/download"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82502"/>
            <a:ext cx="9144000" cy="1924493"/>
          </a:xfrm>
          <a:prstGeom prst="rect">
            <a:avLst/>
          </a:prstGeom>
          <a:solidFill>
            <a:srgbClr val="FFC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032185" y="3398810"/>
            <a:ext cx="3079630" cy="646331"/>
          </a:xfrm>
          <a:prstGeom prst="rect">
            <a:avLst/>
          </a:prstGeom>
          <a:noFill/>
        </p:spPr>
        <p:txBody>
          <a:bodyPr wrap="square" rtlCol="0">
            <a:spAutoFit/>
          </a:bodyPr>
          <a:lstStyle/>
          <a:p>
            <a:pPr algn="ctr"/>
            <a:r>
              <a:rPr lang="en-US" sz="3600" b="1">
                <a:solidFill>
                  <a:schemeClr val="bg1"/>
                </a:solidFill>
              </a:rPr>
              <a:t>BÀI </a:t>
            </a:r>
            <a:r>
              <a:rPr lang="en-US" sz="3600" b="1" smtClean="0">
                <a:solidFill>
                  <a:schemeClr val="bg1"/>
                </a:solidFill>
              </a:rPr>
              <a:t>9</a:t>
            </a:r>
            <a:endParaRPr lang="en-US" sz="3600" b="1" dirty="0">
              <a:solidFill>
                <a:schemeClr val="bg1"/>
              </a:solidFill>
            </a:endParaRPr>
          </a:p>
        </p:txBody>
      </p:sp>
      <p:sp>
        <p:nvSpPr>
          <p:cNvPr id="7" name="TextBox 6"/>
          <p:cNvSpPr txBox="1"/>
          <p:nvPr/>
        </p:nvSpPr>
        <p:spPr>
          <a:xfrm>
            <a:off x="1137019" y="4179138"/>
            <a:ext cx="6869962" cy="1323439"/>
          </a:xfrm>
          <a:prstGeom prst="rect">
            <a:avLst/>
          </a:prstGeom>
          <a:noFill/>
        </p:spPr>
        <p:txBody>
          <a:bodyPr wrap="square" rtlCol="0">
            <a:spAutoFit/>
          </a:bodyPr>
          <a:lstStyle/>
          <a:p>
            <a:pPr algn="ctr"/>
            <a:r>
              <a:rPr lang="en-US" sz="4000" b="1" dirty="0" err="1" smtClean="0">
                <a:solidFill>
                  <a:schemeClr val="bg1"/>
                </a:solidFill>
                <a:ea typeface="Roboto" pitchFamily="2" charset="0"/>
              </a:rPr>
              <a:t>Tổng</a:t>
            </a:r>
            <a:r>
              <a:rPr lang="en-US" sz="4000" b="1" dirty="0" smtClean="0">
                <a:solidFill>
                  <a:schemeClr val="bg1"/>
                </a:solidFill>
                <a:ea typeface="Roboto" pitchFamily="2" charset="0"/>
              </a:rPr>
              <a:t> </a:t>
            </a:r>
            <a:r>
              <a:rPr lang="en-US" sz="4000" b="1" dirty="0" err="1" smtClean="0">
                <a:solidFill>
                  <a:schemeClr val="bg1"/>
                </a:solidFill>
                <a:ea typeface="Roboto" pitchFamily="2" charset="0"/>
              </a:rPr>
              <a:t>quan</a:t>
            </a:r>
            <a:r>
              <a:rPr lang="en-US" sz="4000" b="1" dirty="0" smtClean="0">
                <a:solidFill>
                  <a:schemeClr val="bg1"/>
                </a:solidFill>
                <a:ea typeface="Roboto" pitchFamily="2" charset="0"/>
              </a:rPr>
              <a:t> </a:t>
            </a:r>
            <a:r>
              <a:rPr lang="en-US" sz="4000" b="1" dirty="0" err="1" smtClean="0">
                <a:solidFill>
                  <a:schemeClr val="bg1"/>
                </a:solidFill>
                <a:ea typeface="Roboto" pitchFamily="2" charset="0"/>
              </a:rPr>
              <a:t>về</a:t>
            </a:r>
            <a:endParaRPr lang="en-US" sz="4000" b="1" dirty="0" smtClean="0">
              <a:solidFill>
                <a:schemeClr val="bg1"/>
              </a:solidFill>
              <a:ea typeface="Roboto" pitchFamily="2" charset="0"/>
            </a:endParaRPr>
          </a:p>
          <a:p>
            <a:pPr algn="ctr"/>
            <a:r>
              <a:rPr lang="en-US" sz="4000" b="1" dirty="0" smtClean="0">
                <a:solidFill>
                  <a:schemeClr val="bg1"/>
                </a:solidFill>
                <a:ea typeface="Roboto" pitchFamily="2" charset="0"/>
              </a:rPr>
              <a:t>Data </a:t>
            </a:r>
            <a:r>
              <a:rPr lang="en-US" sz="4000" b="1" dirty="0">
                <a:solidFill>
                  <a:schemeClr val="bg1"/>
                </a:solidFill>
                <a:ea typeface="Roboto" pitchFamily="2" charset="0"/>
              </a:rPr>
              <a:t>Science</a:t>
            </a:r>
          </a:p>
        </p:txBody>
      </p:sp>
      <p:pic>
        <p:nvPicPr>
          <p:cNvPr id="2050" name="Picture 2" descr="https://aptech-danang.edu.vn/Content/ace/images/banner-s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8978" y="1263702"/>
            <a:ext cx="4766044" cy="1162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468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2</a:t>
            </a:fld>
            <a:endParaRPr lang="en-US"/>
          </a:p>
        </p:txBody>
      </p:sp>
      <p:sp>
        <p:nvSpPr>
          <p:cNvPr id="3" name="Text Placeholder 2"/>
          <p:cNvSpPr>
            <a:spLocks noGrp="1"/>
          </p:cNvSpPr>
          <p:nvPr>
            <p:ph type="body" sz="quarter" idx="13"/>
          </p:nvPr>
        </p:nvSpPr>
        <p:spPr>
          <a:xfrm>
            <a:off x="301926" y="797441"/>
            <a:ext cx="8454964" cy="424732"/>
          </a:xfrm>
        </p:spPr>
        <p:txBody>
          <a:bodyPr/>
          <a:lstStyle/>
          <a:p>
            <a:r>
              <a:rPr lang="en-US" dirty="0" err="1" smtClean="0"/>
              <a:t>Tóm</a:t>
            </a:r>
            <a:r>
              <a:rPr lang="en-US" dirty="0" smtClean="0"/>
              <a:t> </a:t>
            </a:r>
            <a:r>
              <a:rPr lang="en-US" dirty="0" err="1" smtClean="0"/>
              <a:t>Tắt</a:t>
            </a:r>
            <a:r>
              <a:rPr lang="en-US" dirty="0" smtClean="0"/>
              <a:t> </a:t>
            </a:r>
            <a:r>
              <a:rPr lang="en-US" dirty="0" err="1" smtClean="0"/>
              <a:t>Nội</a:t>
            </a:r>
            <a:r>
              <a:rPr lang="en-US" dirty="0" smtClean="0"/>
              <a:t> Dung</a:t>
            </a:r>
            <a:endParaRPr lang="en-US" dirty="0"/>
          </a:p>
        </p:txBody>
      </p:sp>
      <p:sp>
        <p:nvSpPr>
          <p:cNvPr id="4" name="Oval 3"/>
          <p:cNvSpPr/>
          <p:nvPr/>
        </p:nvSpPr>
        <p:spPr>
          <a:xfrm>
            <a:off x="602143" y="2356514"/>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1</a:t>
            </a:r>
            <a:endParaRPr lang="en-US" b="1" dirty="0"/>
          </a:p>
        </p:txBody>
      </p:sp>
      <p:sp>
        <p:nvSpPr>
          <p:cNvPr id="6" name="TextBox 5"/>
          <p:cNvSpPr txBox="1"/>
          <p:nvPr/>
        </p:nvSpPr>
        <p:spPr>
          <a:xfrm>
            <a:off x="1201478" y="2373866"/>
            <a:ext cx="6485861" cy="369332"/>
          </a:xfrm>
          <a:prstGeom prst="rect">
            <a:avLst/>
          </a:prstGeom>
          <a:noFill/>
        </p:spPr>
        <p:txBody>
          <a:bodyPr wrap="square" rtlCol="0">
            <a:spAutoFit/>
          </a:bodyPr>
          <a:lstStyle/>
          <a:p>
            <a:r>
              <a:rPr lang="en-US"/>
              <a:t>Giới thiệu về Data Science</a:t>
            </a:r>
            <a:endParaRPr lang="en-US" dirty="0" smtClean="0"/>
          </a:p>
        </p:txBody>
      </p:sp>
      <p:sp>
        <p:nvSpPr>
          <p:cNvPr id="7" name="Oval 6"/>
          <p:cNvSpPr/>
          <p:nvPr/>
        </p:nvSpPr>
        <p:spPr>
          <a:xfrm>
            <a:off x="602143" y="3100793"/>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2</a:t>
            </a:r>
            <a:endParaRPr lang="en-US" b="1" dirty="0"/>
          </a:p>
        </p:txBody>
      </p:sp>
      <p:sp>
        <p:nvSpPr>
          <p:cNvPr id="11" name="Oval 10"/>
          <p:cNvSpPr/>
          <p:nvPr/>
        </p:nvSpPr>
        <p:spPr>
          <a:xfrm>
            <a:off x="602143" y="3823807"/>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3</a:t>
            </a:r>
            <a:endParaRPr lang="en-US" b="1" dirty="0"/>
          </a:p>
        </p:txBody>
      </p:sp>
      <p:sp>
        <p:nvSpPr>
          <p:cNvPr id="12" name="TextBox 11"/>
          <p:cNvSpPr txBox="1"/>
          <p:nvPr/>
        </p:nvSpPr>
        <p:spPr>
          <a:xfrm>
            <a:off x="1201479" y="3171309"/>
            <a:ext cx="5178056" cy="369332"/>
          </a:xfrm>
          <a:prstGeom prst="rect">
            <a:avLst/>
          </a:prstGeom>
          <a:noFill/>
        </p:spPr>
        <p:txBody>
          <a:bodyPr wrap="square" rtlCol="0">
            <a:spAutoFit/>
          </a:bodyPr>
          <a:lstStyle/>
          <a:p>
            <a:r>
              <a:rPr lang="vi-VN"/>
              <a:t>Các thư viện phổ biến trong Data Science</a:t>
            </a:r>
            <a:endParaRPr lang="en-US" dirty="0"/>
          </a:p>
        </p:txBody>
      </p:sp>
      <p:sp>
        <p:nvSpPr>
          <p:cNvPr id="15" name="Oval 14"/>
          <p:cNvSpPr/>
          <p:nvPr/>
        </p:nvSpPr>
        <p:spPr>
          <a:xfrm>
            <a:off x="602143" y="4589351"/>
            <a:ext cx="439848" cy="439848"/>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4</a:t>
            </a:r>
            <a:endParaRPr lang="en-US" b="1" dirty="0"/>
          </a:p>
        </p:txBody>
      </p:sp>
      <p:sp>
        <p:nvSpPr>
          <p:cNvPr id="16" name="TextBox 15"/>
          <p:cNvSpPr txBox="1"/>
          <p:nvPr/>
        </p:nvSpPr>
        <p:spPr>
          <a:xfrm>
            <a:off x="1201479" y="4589351"/>
            <a:ext cx="5178056" cy="369332"/>
          </a:xfrm>
          <a:prstGeom prst="rect">
            <a:avLst/>
          </a:prstGeom>
          <a:noFill/>
        </p:spPr>
        <p:txBody>
          <a:bodyPr wrap="square" rtlCol="0">
            <a:spAutoFit/>
          </a:bodyPr>
          <a:lstStyle/>
          <a:p>
            <a:r>
              <a:rPr lang="en-US"/>
              <a:t>Làm quen với NumPy</a:t>
            </a:r>
            <a:endParaRPr lang="en-US" dirty="0"/>
          </a:p>
        </p:txBody>
      </p:sp>
      <p:sp>
        <p:nvSpPr>
          <p:cNvPr id="14" name="TextBox 13"/>
          <p:cNvSpPr txBox="1"/>
          <p:nvPr/>
        </p:nvSpPr>
        <p:spPr>
          <a:xfrm>
            <a:off x="516657" y="1526604"/>
            <a:ext cx="8240233" cy="369332"/>
          </a:xfrm>
          <a:prstGeom prst="rect">
            <a:avLst/>
          </a:prstGeom>
          <a:noFill/>
        </p:spPr>
        <p:txBody>
          <a:bodyPr wrap="square" rtlCol="0">
            <a:spAutoFit/>
          </a:bodyPr>
          <a:lstStyle/>
          <a:p>
            <a:r>
              <a:rPr lang="en-US" dirty="0" err="1" smtClean="0"/>
              <a:t>Trong</a:t>
            </a:r>
            <a:r>
              <a:rPr lang="en-US" dirty="0" smtClean="0"/>
              <a:t> </a:t>
            </a:r>
            <a:r>
              <a:rPr lang="en-US" dirty="0" err="1" smtClean="0"/>
              <a:t>bài</a:t>
            </a:r>
            <a:r>
              <a:rPr lang="en-US" dirty="0" smtClean="0"/>
              <a:t> </a:t>
            </a:r>
            <a:r>
              <a:rPr lang="en-US" dirty="0" err="1" smtClean="0"/>
              <a:t>học</a:t>
            </a:r>
            <a:r>
              <a:rPr lang="en-US" dirty="0" smtClean="0"/>
              <a:t> </a:t>
            </a:r>
            <a:r>
              <a:rPr lang="en-US" dirty="0" err="1" smtClean="0"/>
              <a:t>này</a:t>
            </a:r>
            <a:r>
              <a:rPr lang="en-US" dirty="0" smtClean="0"/>
              <a:t> </a:t>
            </a:r>
            <a:r>
              <a:rPr lang="en-US" dirty="0" err="1" smtClean="0"/>
              <a:t>chúng</a:t>
            </a:r>
            <a:r>
              <a:rPr lang="en-US" dirty="0" smtClean="0"/>
              <a:t> ta </a:t>
            </a:r>
            <a:r>
              <a:rPr lang="en-US" dirty="0" err="1" smtClean="0"/>
              <a:t>sẽ</a:t>
            </a:r>
            <a:r>
              <a:rPr lang="en-US" dirty="0" smtClean="0"/>
              <a:t> </a:t>
            </a:r>
            <a:r>
              <a:rPr lang="en-US" dirty="0" err="1" smtClean="0"/>
              <a:t>đi</a:t>
            </a:r>
            <a:r>
              <a:rPr lang="en-US" dirty="0" smtClean="0"/>
              <a:t> </a:t>
            </a:r>
            <a:r>
              <a:rPr lang="en-US" dirty="0" err="1" smtClean="0"/>
              <a:t>tìm</a:t>
            </a:r>
            <a:r>
              <a:rPr lang="en-US" dirty="0" smtClean="0"/>
              <a:t> </a:t>
            </a:r>
            <a:r>
              <a:rPr lang="en-US" dirty="0" err="1" smtClean="0"/>
              <a:t>hiều</a:t>
            </a:r>
            <a:r>
              <a:rPr lang="en-US" dirty="0" smtClean="0"/>
              <a:t> </a:t>
            </a:r>
            <a:r>
              <a:rPr lang="en-US" dirty="0" err="1" smtClean="0"/>
              <a:t>lần</a:t>
            </a:r>
            <a:r>
              <a:rPr lang="en-US" dirty="0" smtClean="0"/>
              <a:t> </a:t>
            </a:r>
            <a:r>
              <a:rPr lang="en-US" dirty="0" err="1" smtClean="0"/>
              <a:t>lượt</a:t>
            </a:r>
            <a:r>
              <a:rPr lang="en-US" dirty="0" smtClean="0"/>
              <a:t> </a:t>
            </a:r>
            <a:r>
              <a:rPr lang="en-US" dirty="0" err="1" smtClean="0"/>
              <a:t>các</a:t>
            </a:r>
            <a:r>
              <a:rPr lang="en-US" dirty="0" smtClean="0"/>
              <a:t> </a:t>
            </a:r>
            <a:r>
              <a:rPr lang="en-US" dirty="0" err="1" smtClean="0"/>
              <a:t>nội</a:t>
            </a:r>
            <a:r>
              <a:rPr lang="en-US" dirty="0" smtClean="0"/>
              <a:t> dung</a:t>
            </a:r>
            <a:endParaRPr lang="en-US" dirty="0"/>
          </a:p>
        </p:txBody>
      </p:sp>
      <p:sp>
        <p:nvSpPr>
          <p:cNvPr id="13" name="TextBox 12"/>
          <p:cNvSpPr txBox="1"/>
          <p:nvPr/>
        </p:nvSpPr>
        <p:spPr>
          <a:xfrm>
            <a:off x="1201479" y="3851793"/>
            <a:ext cx="5178056" cy="369332"/>
          </a:xfrm>
          <a:prstGeom prst="rect">
            <a:avLst/>
          </a:prstGeom>
          <a:noFill/>
        </p:spPr>
        <p:txBody>
          <a:bodyPr wrap="square" rtlCol="0">
            <a:spAutoFit/>
          </a:bodyPr>
          <a:lstStyle/>
          <a:p>
            <a:r>
              <a:rPr lang="vi-VN"/>
              <a:t>Cài đặt Môi trường</a:t>
            </a:r>
            <a:endParaRPr lang="en-US" dirty="0"/>
          </a:p>
        </p:txBody>
      </p:sp>
    </p:spTree>
    <p:extLst>
      <p:ext uri="{BB962C8B-B14F-4D97-AF65-F5344CB8AC3E}">
        <p14:creationId xmlns:p14="http://schemas.microsoft.com/office/powerpoint/2010/main" val="26359250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3</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a:t>9.1 Giới thiệu về Data </a:t>
            </a:r>
            <a:r>
              <a:rPr lang="en-US" smtClean="0"/>
              <a:t>Science</a:t>
            </a:r>
            <a:endParaRPr lang="en-US"/>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a:t>Data Science là gì?</a:t>
            </a:r>
            <a:endParaRPr lang="en-US" b="1" dirty="0">
              <a:solidFill>
                <a:srgbClr val="FF0000"/>
              </a:solidFill>
            </a:endParaRPr>
          </a:p>
        </p:txBody>
      </p:sp>
      <p:sp>
        <p:nvSpPr>
          <p:cNvPr id="8" name="TextBox 7"/>
          <p:cNvSpPr txBox="1"/>
          <p:nvPr/>
        </p:nvSpPr>
        <p:spPr>
          <a:xfrm>
            <a:off x="925034" y="1903017"/>
            <a:ext cx="7831856" cy="646331"/>
          </a:xfrm>
          <a:prstGeom prst="rect">
            <a:avLst/>
          </a:prstGeom>
          <a:noFill/>
        </p:spPr>
        <p:txBody>
          <a:bodyPr wrap="square" rtlCol="0">
            <a:spAutoFit/>
          </a:bodyPr>
          <a:lstStyle/>
          <a:p>
            <a:r>
              <a:rPr lang="en-US" b="1"/>
              <a:t>Data Science </a:t>
            </a:r>
            <a:r>
              <a:rPr lang="en-US"/>
              <a:t>(Khoa học dữ liệu) là lĩnh vực kết hợp giữa lập trình, thống kê, và trực quan hóa để trích xuất thông tin và hiểu biết từ dữ liệu.</a:t>
            </a:r>
            <a:endParaRPr lang="en-US" dirty="0"/>
          </a:p>
        </p:txBody>
      </p:sp>
      <p:sp>
        <p:nvSpPr>
          <p:cNvPr id="18" name="TextBox 17"/>
          <p:cNvSpPr txBox="1"/>
          <p:nvPr/>
        </p:nvSpPr>
        <p:spPr>
          <a:xfrm>
            <a:off x="3158660" y="2771575"/>
            <a:ext cx="2522474" cy="369332"/>
          </a:xfrm>
          <a:prstGeom prst="rect">
            <a:avLst/>
          </a:prstGeom>
          <a:noFill/>
        </p:spPr>
        <p:txBody>
          <a:bodyPr wrap="square" rtlCol="0">
            <a:spAutoFit/>
          </a:bodyPr>
          <a:lstStyle/>
          <a:p>
            <a:r>
              <a:rPr lang="en-US" b="1"/>
              <a:t>Các khía cạnh chính</a:t>
            </a:r>
            <a:endParaRPr lang="en-US" b="1" dirty="0">
              <a:solidFill>
                <a:srgbClr val="FF0000"/>
              </a:solidFill>
            </a:endParaRPr>
          </a:p>
        </p:txBody>
      </p:sp>
      <p:sp>
        <p:nvSpPr>
          <p:cNvPr id="19" name="Rounded Rectangle 18"/>
          <p:cNvSpPr/>
          <p:nvPr/>
        </p:nvSpPr>
        <p:spPr>
          <a:xfrm>
            <a:off x="820526" y="4092416"/>
            <a:ext cx="2338134" cy="1744133"/>
          </a:xfrm>
          <a:prstGeom prst="roundRect">
            <a:avLst>
              <a:gd name="adj" fmla="val 5132"/>
            </a:avLst>
          </a:prstGeom>
          <a:solidFill>
            <a:srgbClr val="9ACF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95000"/>
                    <a:lumOff val="5000"/>
                  </a:schemeClr>
                </a:solidFill>
              </a:rPr>
              <a:t>Thu thập dữ liệu, làm sạch và chuẩn bị dữ liệu để phân tích</a:t>
            </a:r>
          </a:p>
        </p:txBody>
      </p:sp>
      <p:sp>
        <p:nvSpPr>
          <p:cNvPr id="20" name="Rounded Rectangle 19"/>
          <p:cNvSpPr/>
          <p:nvPr/>
        </p:nvSpPr>
        <p:spPr>
          <a:xfrm>
            <a:off x="3395950" y="4089400"/>
            <a:ext cx="2353140" cy="1744133"/>
          </a:xfrm>
          <a:prstGeom prst="roundRect">
            <a:avLst>
              <a:gd name="adj" fmla="val 3714"/>
            </a:avLst>
          </a:prstGeom>
          <a:solidFill>
            <a:srgbClr val="FCCF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95000"/>
                    <a:lumOff val="5000"/>
                  </a:schemeClr>
                </a:solidFill>
              </a:rPr>
              <a:t>Sử dụng các thuật toán và kỹ thuật, bao gồm học máy (Machine Learning) và trí tuệ nhân tạo (AI), để phân tích dữ liệu và xây dựng các mô hình dự đoán</a:t>
            </a:r>
          </a:p>
        </p:txBody>
      </p:sp>
      <p:sp>
        <p:nvSpPr>
          <p:cNvPr id="22" name="Rounded Rectangle 21"/>
          <p:cNvSpPr/>
          <p:nvPr/>
        </p:nvSpPr>
        <p:spPr>
          <a:xfrm>
            <a:off x="5983812" y="4089400"/>
            <a:ext cx="2271188" cy="1744133"/>
          </a:xfrm>
          <a:prstGeom prst="roundRect">
            <a:avLst>
              <a:gd name="adj" fmla="val 3247"/>
            </a:avLst>
          </a:prstGeom>
          <a:solidFill>
            <a:srgbClr val="CCC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lumMod val="95000"/>
                    <a:lumOff val="5000"/>
                  </a:schemeClr>
                </a:solidFill>
              </a:rPr>
              <a:t>Biến kết quả phân tích thành thông tin dễ hiểu thông qua trực quan hóa dữ liệu (ví dụ: biểu đồ, đồ thị) và trình bày cho các bên liên quan</a:t>
            </a:r>
          </a:p>
        </p:txBody>
      </p:sp>
      <p:sp>
        <p:nvSpPr>
          <p:cNvPr id="23" name="TextBox 22"/>
          <p:cNvSpPr txBox="1"/>
          <p:nvPr/>
        </p:nvSpPr>
        <p:spPr>
          <a:xfrm>
            <a:off x="774221" y="3459757"/>
            <a:ext cx="2384439" cy="307777"/>
          </a:xfrm>
          <a:prstGeom prst="rect">
            <a:avLst/>
          </a:prstGeom>
          <a:noFill/>
        </p:spPr>
        <p:txBody>
          <a:bodyPr wrap="square" rtlCol="0">
            <a:spAutoFit/>
          </a:bodyPr>
          <a:lstStyle/>
          <a:p>
            <a:r>
              <a:rPr lang="en-US" sz="1400" b="1">
                <a:solidFill>
                  <a:schemeClr val="tx1">
                    <a:lumMod val="95000"/>
                    <a:lumOff val="5000"/>
                  </a:schemeClr>
                </a:solidFill>
              </a:rPr>
              <a:t>Thu thập và xử lý dữ liệu</a:t>
            </a:r>
            <a:endParaRPr lang="en-US" sz="1400" b="1" dirty="0">
              <a:solidFill>
                <a:schemeClr val="tx1">
                  <a:lumMod val="95000"/>
                  <a:lumOff val="5000"/>
                </a:schemeClr>
              </a:solidFill>
            </a:endParaRPr>
          </a:p>
        </p:txBody>
      </p:sp>
      <p:sp>
        <p:nvSpPr>
          <p:cNvPr id="24" name="TextBox 23"/>
          <p:cNvSpPr txBox="1"/>
          <p:nvPr/>
        </p:nvSpPr>
        <p:spPr>
          <a:xfrm>
            <a:off x="3280354" y="3459757"/>
            <a:ext cx="2384439" cy="307777"/>
          </a:xfrm>
          <a:prstGeom prst="rect">
            <a:avLst/>
          </a:prstGeom>
          <a:noFill/>
        </p:spPr>
        <p:txBody>
          <a:bodyPr wrap="square" rtlCol="0">
            <a:spAutoFit/>
          </a:bodyPr>
          <a:lstStyle/>
          <a:p>
            <a:r>
              <a:rPr lang="en-US" sz="1400" b="1"/>
              <a:t>Phân tích và mô hình hóa</a:t>
            </a:r>
            <a:endParaRPr lang="en-US" sz="1400" b="1" dirty="0">
              <a:solidFill>
                <a:srgbClr val="FF0000"/>
              </a:solidFill>
            </a:endParaRPr>
          </a:p>
        </p:txBody>
      </p:sp>
      <p:sp>
        <p:nvSpPr>
          <p:cNvPr id="25" name="TextBox 24"/>
          <p:cNvSpPr txBox="1"/>
          <p:nvPr/>
        </p:nvSpPr>
        <p:spPr>
          <a:xfrm>
            <a:off x="5752620" y="3459757"/>
            <a:ext cx="2502380" cy="307777"/>
          </a:xfrm>
          <a:prstGeom prst="rect">
            <a:avLst/>
          </a:prstGeom>
          <a:noFill/>
        </p:spPr>
        <p:txBody>
          <a:bodyPr wrap="square" rtlCol="0">
            <a:spAutoFit/>
          </a:bodyPr>
          <a:lstStyle/>
          <a:p>
            <a:r>
              <a:rPr lang="en-US" sz="1400" b="1"/>
              <a:t>Trực quan hóa và diễn giải</a:t>
            </a:r>
            <a:endParaRPr lang="en-US" sz="1400" b="1" dirty="0">
              <a:solidFill>
                <a:srgbClr val="FF0000"/>
              </a:solidFill>
            </a:endParaRPr>
          </a:p>
        </p:txBody>
      </p:sp>
      <p:sp>
        <p:nvSpPr>
          <p:cNvPr id="4" name="Oval 3"/>
          <p:cNvSpPr/>
          <p:nvPr/>
        </p:nvSpPr>
        <p:spPr>
          <a:xfrm>
            <a:off x="1794933" y="3876871"/>
            <a:ext cx="419026" cy="4190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mtClean="0"/>
              <a:t>1</a:t>
            </a:r>
            <a:endParaRPr lang="en-US" sz="1400" b="1"/>
          </a:p>
        </p:txBody>
      </p:sp>
      <p:sp>
        <p:nvSpPr>
          <p:cNvPr id="31" name="Oval 30"/>
          <p:cNvSpPr/>
          <p:nvPr/>
        </p:nvSpPr>
        <p:spPr>
          <a:xfrm>
            <a:off x="4326466" y="3876871"/>
            <a:ext cx="419026" cy="419026"/>
          </a:xfrm>
          <a:prstGeom prst="ellipse">
            <a:avLst/>
          </a:prstGeom>
          <a:solidFill>
            <a:srgbClr val="FCCFEA"/>
          </a:solidFill>
          <a:ln>
            <a:solidFill>
              <a:srgbClr val="FAAC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mtClean="0"/>
              <a:t>2</a:t>
            </a:r>
            <a:endParaRPr lang="en-US" sz="1400" b="1"/>
          </a:p>
        </p:txBody>
      </p:sp>
      <p:sp>
        <p:nvSpPr>
          <p:cNvPr id="32" name="Oval 31"/>
          <p:cNvSpPr/>
          <p:nvPr/>
        </p:nvSpPr>
        <p:spPr>
          <a:xfrm>
            <a:off x="6917266" y="3876871"/>
            <a:ext cx="419026" cy="419026"/>
          </a:xfrm>
          <a:prstGeom prst="ellipse">
            <a:avLst/>
          </a:prstGeom>
          <a:solidFill>
            <a:srgbClr val="CCC3F8"/>
          </a:solidFill>
          <a:ln>
            <a:solidFill>
              <a:srgbClr val="B2A5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smtClean="0"/>
              <a:t>3</a:t>
            </a:r>
            <a:endParaRPr lang="en-US" sz="1400" b="1"/>
          </a:p>
        </p:txBody>
      </p:sp>
    </p:spTree>
    <p:extLst>
      <p:ext uri="{BB962C8B-B14F-4D97-AF65-F5344CB8AC3E}">
        <p14:creationId xmlns:p14="http://schemas.microsoft.com/office/powerpoint/2010/main" val="5581998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4</a:t>
            </a:fld>
            <a:endParaRPr lang="en-US"/>
          </a:p>
        </p:txBody>
      </p:sp>
      <p:sp>
        <p:nvSpPr>
          <p:cNvPr id="3" name="Text Placeholder 2"/>
          <p:cNvSpPr>
            <a:spLocks noGrp="1"/>
          </p:cNvSpPr>
          <p:nvPr>
            <p:ph type="body" sz="quarter" idx="13"/>
          </p:nvPr>
        </p:nvSpPr>
        <p:spPr>
          <a:xfrm>
            <a:off x="301925" y="851290"/>
            <a:ext cx="8454964" cy="424732"/>
          </a:xfrm>
        </p:spPr>
        <p:txBody>
          <a:bodyPr/>
          <a:lstStyle/>
          <a:p>
            <a:r>
              <a:rPr lang="en-US"/>
              <a:t>9.1 Giới thiệu về Data </a:t>
            </a:r>
            <a:r>
              <a:rPr lang="en-US" smtClean="0"/>
              <a:t>Science</a:t>
            </a:r>
            <a:endParaRPr lang="en-US"/>
          </a:p>
        </p:txBody>
      </p:sp>
      <p:pic>
        <p:nvPicPr>
          <p:cNvPr id="1026"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41993" y="1450625"/>
            <a:ext cx="6432695" cy="369332"/>
          </a:xfrm>
          <a:prstGeom prst="rect">
            <a:avLst/>
          </a:prstGeom>
          <a:noFill/>
        </p:spPr>
        <p:txBody>
          <a:bodyPr wrap="square" rtlCol="0">
            <a:spAutoFit/>
          </a:bodyPr>
          <a:lstStyle/>
          <a:p>
            <a:r>
              <a:rPr lang="en-US" b="1"/>
              <a:t>Một số ứng dụng phổ biến của Data Science</a:t>
            </a:r>
            <a:endParaRPr lang="en-US" b="1" dirty="0">
              <a:solidFill>
                <a:srgbClr val="FF0000"/>
              </a:solidFill>
            </a:endParaRPr>
          </a:p>
        </p:txBody>
      </p:sp>
      <p:sp>
        <p:nvSpPr>
          <p:cNvPr id="8" name="TextBox 7"/>
          <p:cNvSpPr txBox="1"/>
          <p:nvPr/>
        </p:nvSpPr>
        <p:spPr>
          <a:xfrm>
            <a:off x="925034" y="1903017"/>
            <a:ext cx="7831856" cy="369332"/>
          </a:xfrm>
          <a:prstGeom prst="rect">
            <a:avLst/>
          </a:prstGeom>
          <a:noFill/>
        </p:spPr>
        <p:txBody>
          <a:bodyPr wrap="square" rtlCol="0">
            <a:spAutoFit/>
          </a:bodyPr>
          <a:lstStyle/>
          <a:p>
            <a:r>
              <a:rPr lang="en-US" b="1"/>
              <a:t>Data Science </a:t>
            </a:r>
            <a:r>
              <a:rPr lang="en-US" smtClean="0"/>
              <a:t>góp một phần không hề nhỏ vào ứng dụng thực tế </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106164947"/>
              </p:ext>
            </p:extLst>
          </p:nvPr>
        </p:nvGraphicFramePr>
        <p:xfrm>
          <a:off x="643467" y="2345266"/>
          <a:ext cx="7933266" cy="4119880"/>
        </p:xfrm>
        <a:graphic>
          <a:graphicData uri="http://schemas.openxmlformats.org/drawingml/2006/table">
            <a:tbl>
              <a:tblPr firstRow="1" bandRow="1">
                <a:tableStyleId>{5C22544A-7EE6-4342-B048-85BDC9FD1C3A}</a:tableStyleId>
              </a:tblPr>
              <a:tblGrid>
                <a:gridCol w="2644422">
                  <a:extLst>
                    <a:ext uri="{9D8B030D-6E8A-4147-A177-3AD203B41FA5}">
                      <a16:colId xmlns:a16="http://schemas.microsoft.com/office/drawing/2014/main" val="20000"/>
                    </a:ext>
                  </a:extLst>
                </a:gridCol>
                <a:gridCol w="2644422">
                  <a:extLst>
                    <a:ext uri="{9D8B030D-6E8A-4147-A177-3AD203B41FA5}">
                      <a16:colId xmlns:a16="http://schemas.microsoft.com/office/drawing/2014/main" val="20001"/>
                    </a:ext>
                  </a:extLst>
                </a:gridCol>
                <a:gridCol w="2644422">
                  <a:extLst>
                    <a:ext uri="{9D8B030D-6E8A-4147-A177-3AD203B41FA5}">
                      <a16:colId xmlns:a16="http://schemas.microsoft.com/office/drawing/2014/main" val="20002"/>
                    </a:ext>
                  </a:extLst>
                </a:gridCol>
              </a:tblGrid>
              <a:tr h="370840">
                <a:tc>
                  <a:txBody>
                    <a:bodyPr/>
                    <a:lstStyle/>
                    <a:p>
                      <a:r>
                        <a:rPr lang="en-US" sz="1400" smtClean="0"/>
                        <a:t>Lĩnh vực</a:t>
                      </a:r>
                      <a:endParaRPr lang="en-US" sz="1400"/>
                    </a:p>
                  </a:txBody>
                  <a:tcPr/>
                </a:tc>
                <a:tc>
                  <a:txBody>
                    <a:bodyPr/>
                    <a:lstStyle/>
                    <a:p>
                      <a:r>
                        <a:rPr lang="en-US" sz="1400" smtClean="0"/>
                        <a:t>Ứng dụng cụ thể</a:t>
                      </a:r>
                      <a:endParaRPr lang="en-US" sz="1400"/>
                    </a:p>
                  </a:txBody>
                  <a:tcPr/>
                </a:tc>
                <a:tc>
                  <a:txBody>
                    <a:bodyPr/>
                    <a:lstStyle/>
                    <a:p>
                      <a:r>
                        <a:rPr lang="en-US" sz="1400" smtClean="0"/>
                        <a:t>Mô tả</a:t>
                      </a:r>
                      <a:endParaRPr lang="en-US" sz="1400"/>
                    </a:p>
                  </a:txBody>
                  <a:tcPr/>
                </a:tc>
                <a:extLst>
                  <a:ext uri="{0D108BD9-81ED-4DB2-BD59-A6C34878D82A}">
                    <a16:rowId xmlns:a16="http://schemas.microsoft.com/office/drawing/2014/main" val="10000"/>
                  </a:ext>
                </a:extLst>
              </a:tr>
              <a:tr h="370840">
                <a:tc>
                  <a:txBody>
                    <a:bodyPr/>
                    <a:lstStyle/>
                    <a:p>
                      <a:r>
                        <a:rPr lang="en-US" sz="1400" smtClean="0"/>
                        <a:t>🌐 </a:t>
                      </a:r>
                      <a:r>
                        <a:rPr lang="vi-VN" sz="1400" smtClean="0"/>
                        <a:t>Thương mại điện tử</a:t>
                      </a:r>
                      <a:endParaRPr lang="en-US" sz="1400"/>
                    </a:p>
                  </a:txBody>
                  <a:tcPr/>
                </a:tc>
                <a:tc>
                  <a:txBody>
                    <a:bodyPr/>
                    <a:lstStyle/>
                    <a:p>
                      <a:r>
                        <a:rPr lang="en-US" sz="1400" smtClean="0"/>
                        <a:t>Gợi ý sản phẩm</a:t>
                      </a:r>
                      <a:endParaRPr lang="en-US" sz="1400"/>
                    </a:p>
                  </a:txBody>
                  <a:tcPr/>
                </a:tc>
                <a:tc>
                  <a:txBody>
                    <a:bodyPr/>
                    <a:lstStyle/>
                    <a:p>
                      <a:r>
                        <a:rPr lang="vi-VN" sz="1400" smtClean="0"/>
                        <a:t>Phân tích lịch sử mua hàng, hành vi người dùng để gợi ý sản phẩm phù hợp.</a:t>
                      </a:r>
                      <a:endParaRPr lang="en-US" sz="1400"/>
                    </a:p>
                  </a:txBody>
                  <a:tcPr/>
                </a:tc>
                <a:extLst>
                  <a:ext uri="{0D108BD9-81ED-4DB2-BD59-A6C34878D82A}">
                    <a16:rowId xmlns:a16="http://schemas.microsoft.com/office/drawing/2014/main" val="10001"/>
                  </a:ext>
                </a:extLst>
              </a:tr>
              <a:tr h="370840">
                <a:tc>
                  <a:txBody>
                    <a:bodyPr/>
                    <a:lstStyle/>
                    <a:p>
                      <a:r>
                        <a:rPr lang="en-US" sz="1400" smtClean="0"/>
                        <a:t>💰Tài chính – Ngân hàng</a:t>
                      </a:r>
                      <a:endParaRPr lang="en-US" sz="1400"/>
                    </a:p>
                  </a:txBody>
                  <a:tcPr/>
                </a:tc>
                <a:tc>
                  <a:txBody>
                    <a:bodyPr/>
                    <a:lstStyle/>
                    <a:p>
                      <a:r>
                        <a:rPr lang="en-US" sz="1400" smtClean="0"/>
                        <a:t>Phát hiện gian lận</a:t>
                      </a:r>
                      <a:endParaRPr lang="en-US" sz="1400"/>
                    </a:p>
                  </a:txBody>
                  <a:tcPr/>
                </a:tc>
                <a:tc>
                  <a:txBody>
                    <a:bodyPr/>
                    <a:lstStyle/>
                    <a:p>
                      <a:r>
                        <a:rPr lang="vi-VN" sz="1400" smtClean="0"/>
                        <a:t>Dùng mô hình học máy để phát hiện giao dịch bất thường.</a:t>
                      </a:r>
                      <a:endParaRPr lang="en-US" sz="1400"/>
                    </a:p>
                  </a:txBody>
                  <a:tcPr/>
                </a:tc>
                <a:extLst>
                  <a:ext uri="{0D108BD9-81ED-4DB2-BD59-A6C34878D82A}">
                    <a16:rowId xmlns:a16="http://schemas.microsoft.com/office/drawing/2014/main" val="10002"/>
                  </a:ext>
                </a:extLst>
              </a:tr>
              <a:tr h="370840">
                <a:tc>
                  <a:txBody>
                    <a:bodyPr/>
                    <a:lstStyle/>
                    <a:p>
                      <a:r>
                        <a:rPr lang="en-US" sz="1400" smtClean="0"/>
                        <a:t>🚗 Giao thông – Logistics</a:t>
                      </a:r>
                      <a:endParaRPr lang="en-US" sz="1400"/>
                    </a:p>
                  </a:txBody>
                  <a:tcPr/>
                </a:tc>
                <a:tc>
                  <a:txBody>
                    <a:bodyPr/>
                    <a:lstStyle/>
                    <a:p>
                      <a:r>
                        <a:rPr lang="en-US" sz="1400" smtClean="0"/>
                        <a:t>Dự đoán thời gian giao hàng</a:t>
                      </a:r>
                      <a:endParaRPr lang="en-US" sz="1400"/>
                    </a:p>
                  </a:txBody>
                  <a:tcPr/>
                </a:tc>
                <a:tc>
                  <a:txBody>
                    <a:bodyPr/>
                    <a:lstStyle/>
                    <a:p>
                      <a:r>
                        <a:rPr lang="vi-VN" sz="1400" smtClean="0"/>
                        <a:t>Dựa trên dữ liệu tuyến đường, thời tiết, lịch sử giao hàng.</a:t>
                      </a:r>
                      <a:endParaRPr lang="en-US" sz="1400"/>
                    </a:p>
                  </a:txBody>
                  <a:tcPr/>
                </a:tc>
                <a:extLst>
                  <a:ext uri="{0D108BD9-81ED-4DB2-BD59-A6C34878D82A}">
                    <a16:rowId xmlns:a16="http://schemas.microsoft.com/office/drawing/2014/main" val="10003"/>
                  </a:ext>
                </a:extLst>
              </a:tr>
              <a:tr h="370840">
                <a:tc>
                  <a:txBody>
                    <a:bodyPr/>
                    <a:lstStyle/>
                    <a:p>
                      <a:r>
                        <a:rPr lang="en-US" sz="1400" smtClean="0"/>
                        <a:t>🏥 Y tế</a:t>
                      </a:r>
                      <a:endParaRPr lang="en-US" sz="1400"/>
                    </a:p>
                  </a:txBody>
                  <a:tcPr/>
                </a:tc>
                <a:tc>
                  <a:txBody>
                    <a:bodyPr/>
                    <a:lstStyle/>
                    <a:p>
                      <a:r>
                        <a:rPr lang="en-US" sz="1400" smtClean="0"/>
                        <a:t>Dự đoán bệnh, chẩn đoán hình ảnh</a:t>
                      </a:r>
                      <a:endParaRPr lang="en-US" sz="1400"/>
                    </a:p>
                  </a:txBody>
                  <a:tcPr/>
                </a:tc>
                <a:tc>
                  <a:txBody>
                    <a:bodyPr/>
                    <a:lstStyle/>
                    <a:p>
                      <a:r>
                        <a:rPr lang="en-US" sz="1400" smtClean="0"/>
                        <a:t>Dùng dữ liệu bệnh nhân, ảnh X-quang, MRI để hỗ trợ bác sĩ chẩn đoán.</a:t>
                      </a:r>
                      <a:endParaRPr lang="en-US" sz="1400"/>
                    </a:p>
                  </a:txBody>
                  <a:tcPr/>
                </a:tc>
                <a:extLst>
                  <a:ext uri="{0D108BD9-81ED-4DB2-BD59-A6C34878D82A}">
                    <a16:rowId xmlns:a16="http://schemas.microsoft.com/office/drawing/2014/main" val="10004"/>
                  </a:ext>
                </a:extLst>
              </a:tr>
              <a:tr h="370840">
                <a:tc>
                  <a:txBody>
                    <a:bodyPr/>
                    <a:lstStyle/>
                    <a:p>
                      <a:r>
                        <a:rPr lang="en-US" sz="1400" smtClean="0"/>
                        <a:t>🎬 Giải trí</a:t>
                      </a:r>
                      <a:endParaRPr lang="en-US" sz="1400"/>
                    </a:p>
                  </a:txBody>
                  <a:tcPr/>
                </a:tc>
                <a:tc>
                  <a:txBody>
                    <a:bodyPr/>
                    <a:lstStyle/>
                    <a:p>
                      <a:r>
                        <a:rPr lang="en-US" sz="1400" smtClean="0"/>
                        <a:t>Gợi ý phim, nhạc</a:t>
                      </a:r>
                      <a:endParaRPr lang="en-US" sz="1400"/>
                    </a:p>
                  </a:txBody>
                  <a:tcPr/>
                </a:tc>
                <a:tc>
                  <a:txBody>
                    <a:bodyPr/>
                    <a:lstStyle/>
                    <a:p>
                      <a:r>
                        <a:rPr lang="en-US" sz="1400" smtClean="0"/>
                        <a:t>Netflix, Spotify, YouTube dùng Data Science để cá nhân hóa nội dung.</a:t>
                      </a:r>
                      <a:endParaRPr lang="en-US" sz="1400"/>
                    </a:p>
                  </a:txBody>
                  <a:tcPr/>
                </a:tc>
                <a:extLst>
                  <a:ext uri="{0D108BD9-81ED-4DB2-BD59-A6C34878D82A}">
                    <a16:rowId xmlns:a16="http://schemas.microsoft.com/office/drawing/2014/main" val="10005"/>
                  </a:ext>
                </a:extLst>
              </a:tr>
              <a:tr h="370840">
                <a:tc>
                  <a:txBody>
                    <a:bodyPr/>
                    <a:lstStyle/>
                    <a:p>
                      <a:r>
                        <a:rPr lang="en-US" sz="1400" smtClean="0"/>
                        <a:t>🌦️ </a:t>
                      </a:r>
                      <a:r>
                        <a:rPr lang="vi-VN" sz="1400" smtClean="0"/>
                        <a:t>Khí tượng – Môi trường</a:t>
                      </a:r>
                      <a:endParaRPr lang="en-US" sz="1400"/>
                    </a:p>
                  </a:txBody>
                  <a:tcPr/>
                </a:tc>
                <a:tc>
                  <a:txBody>
                    <a:bodyPr/>
                    <a:lstStyle/>
                    <a:p>
                      <a:r>
                        <a:rPr lang="en-US" sz="1400" smtClean="0"/>
                        <a:t>Dự báo thời tiết, ô nhiễm</a:t>
                      </a:r>
                      <a:endParaRPr lang="en-US" sz="1400"/>
                    </a:p>
                  </a:txBody>
                  <a:tcPr/>
                </a:tc>
                <a:tc>
                  <a:txBody>
                    <a:bodyPr/>
                    <a:lstStyle/>
                    <a:p>
                      <a:r>
                        <a:rPr lang="en-US" sz="1400" smtClean="0"/>
                        <a:t>Phân tích dữ liệu cảm biến và vệ tinh.</a:t>
                      </a:r>
                      <a:endParaRPr lang="en-US" sz="140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607265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5</a:t>
            </a:fld>
            <a:endParaRPr lang="en-US"/>
          </a:p>
        </p:txBody>
      </p:sp>
      <p:sp>
        <p:nvSpPr>
          <p:cNvPr id="3" name="Text Placeholder 2"/>
          <p:cNvSpPr>
            <a:spLocks noGrp="1"/>
          </p:cNvSpPr>
          <p:nvPr>
            <p:ph type="body" sz="quarter" idx="13"/>
          </p:nvPr>
        </p:nvSpPr>
        <p:spPr/>
        <p:txBody>
          <a:bodyPr/>
          <a:lstStyle/>
          <a:p>
            <a:r>
              <a:rPr lang="en-US"/>
              <a:t>9.1 Giới thiệu về Data Science</a:t>
            </a:r>
          </a:p>
        </p:txBody>
      </p:sp>
      <p:pic>
        <p:nvPicPr>
          <p:cNvPr id="5" name="Picture 2" descr="https://www.python.org/static/apple-touch-icon-precompo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1410051"/>
            <a:ext cx="450480" cy="4504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041993" y="1450625"/>
            <a:ext cx="6432695" cy="369332"/>
          </a:xfrm>
          <a:prstGeom prst="rect">
            <a:avLst/>
          </a:prstGeom>
          <a:noFill/>
        </p:spPr>
        <p:txBody>
          <a:bodyPr wrap="square" rtlCol="0">
            <a:spAutoFit/>
          </a:bodyPr>
          <a:lstStyle/>
          <a:p>
            <a:r>
              <a:rPr lang="en-US" b="1"/>
              <a:t>Quy trình cơ bản trong Data Science</a:t>
            </a:r>
            <a:endParaRPr lang="en-US"/>
          </a:p>
        </p:txBody>
      </p:sp>
      <p:pic>
        <p:nvPicPr>
          <p:cNvPr id="1026" name="Picture 2" descr="Quy trình dự án Data Analysis: xác định công cụ và kỹ thuật phân tích phù  hợp"/>
          <p:cNvPicPr>
            <a:picLocks noChangeAspect="1" noChangeArrowheads="1"/>
          </p:cNvPicPr>
          <p:nvPr/>
        </p:nvPicPr>
        <p:blipFill rotWithShape="1">
          <a:blip r:embed="rId3">
            <a:extLst>
              <a:ext uri="{28A0092B-C50C-407E-A947-70E740481C1C}">
                <a14:useLocalDpi xmlns:a14="http://schemas.microsoft.com/office/drawing/2010/main" val="0"/>
              </a:ext>
            </a:extLst>
          </a:blip>
          <a:srcRect t="18511" b="18458"/>
          <a:stretch/>
        </p:blipFill>
        <p:spPr bwMode="auto">
          <a:xfrm>
            <a:off x="537414" y="2162136"/>
            <a:ext cx="8104111" cy="2116668"/>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p:cNvSpPr/>
          <p:nvPr/>
        </p:nvSpPr>
        <p:spPr>
          <a:xfrm>
            <a:off x="892755" y="4402240"/>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1</a:t>
            </a:r>
            <a:endParaRPr lang="en-US" b="1" dirty="0"/>
          </a:p>
        </p:txBody>
      </p:sp>
      <p:sp>
        <p:nvSpPr>
          <p:cNvPr id="9" name="Oval 8"/>
          <p:cNvSpPr/>
          <p:nvPr/>
        </p:nvSpPr>
        <p:spPr>
          <a:xfrm>
            <a:off x="2281289" y="4402240"/>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2</a:t>
            </a:r>
            <a:endParaRPr lang="en-US" b="1" dirty="0"/>
          </a:p>
        </p:txBody>
      </p:sp>
      <p:sp>
        <p:nvSpPr>
          <p:cNvPr id="10" name="Oval 9"/>
          <p:cNvSpPr/>
          <p:nvPr/>
        </p:nvSpPr>
        <p:spPr>
          <a:xfrm>
            <a:off x="3804894" y="4402240"/>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3</a:t>
            </a:r>
            <a:endParaRPr lang="en-US" b="1" dirty="0"/>
          </a:p>
        </p:txBody>
      </p:sp>
      <p:sp>
        <p:nvSpPr>
          <p:cNvPr id="11" name="Oval 10"/>
          <p:cNvSpPr/>
          <p:nvPr/>
        </p:nvSpPr>
        <p:spPr>
          <a:xfrm>
            <a:off x="5117621" y="4402240"/>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4</a:t>
            </a:r>
            <a:endParaRPr lang="en-US" b="1" dirty="0"/>
          </a:p>
        </p:txBody>
      </p:sp>
      <p:sp>
        <p:nvSpPr>
          <p:cNvPr id="12" name="Oval 11"/>
          <p:cNvSpPr/>
          <p:nvPr/>
        </p:nvSpPr>
        <p:spPr>
          <a:xfrm>
            <a:off x="6488829" y="4402240"/>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5</a:t>
            </a:r>
            <a:endParaRPr lang="en-US" b="1" dirty="0"/>
          </a:p>
        </p:txBody>
      </p:sp>
      <p:sp>
        <p:nvSpPr>
          <p:cNvPr id="13" name="Oval 12"/>
          <p:cNvSpPr/>
          <p:nvPr/>
        </p:nvSpPr>
        <p:spPr>
          <a:xfrm>
            <a:off x="7801556" y="4402240"/>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6</a:t>
            </a:r>
            <a:endParaRPr lang="en-US" b="1" dirty="0"/>
          </a:p>
        </p:txBody>
      </p:sp>
      <p:sp>
        <p:nvSpPr>
          <p:cNvPr id="14" name="TextBox 13"/>
          <p:cNvSpPr txBox="1"/>
          <p:nvPr/>
        </p:nvSpPr>
        <p:spPr>
          <a:xfrm>
            <a:off x="689556" y="5034558"/>
            <a:ext cx="1063044" cy="523220"/>
          </a:xfrm>
          <a:prstGeom prst="rect">
            <a:avLst/>
          </a:prstGeom>
          <a:noFill/>
        </p:spPr>
        <p:txBody>
          <a:bodyPr wrap="square" rtlCol="0">
            <a:spAutoFit/>
          </a:bodyPr>
          <a:lstStyle/>
          <a:p>
            <a:r>
              <a:rPr lang="en-US" sz="1400"/>
              <a:t>Xác định vấn </a:t>
            </a:r>
            <a:r>
              <a:rPr lang="en-US" sz="1400" smtClean="0"/>
              <a:t>đề</a:t>
            </a:r>
            <a:endParaRPr lang="en-US" sz="1400" b="1" dirty="0">
              <a:solidFill>
                <a:schemeClr val="tx1">
                  <a:lumMod val="95000"/>
                  <a:lumOff val="5000"/>
                </a:schemeClr>
              </a:solidFill>
            </a:endParaRPr>
          </a:p>
        </p:txBody>
      </p:sp>
      <p:sp>
        <p:nvSpPr>
          <p:cNvPr id="15" name="TextBox 14"/>
          <p:cNvSpPr txBox="1"/>
          <p:nvPr/>
        </p:nvSpPr>
        <p:spPr>
          <a:xfrm>
            <a:off x="2154289" y="5034558"/>
            <a:ext cx="1063044" cy="523220"/>
          </a:xfrm>
          <a:prstGeom prst="rect">
            <a:avLst/>
          </a:prstGeom>
          <a:noFill/>
        </p:spPr>
        <p:txBody>
          <a:bodyPr wrap="square" rtlCol="0">
            <a:spAutoFit/>
          </a:bodyPr>
          <a:lstStyle/>
          <a:p>
            <a:r>
              <a:rPr lang="en-US" sz="1400"/>
              <a:t>Thu thập dữ liệu</a:t>
            </a:r>
            <a:endParaRPr lang="en-US" sz="1400" b="1" dirty="0">
              <a:solidFill>
                <a:schemeClr val="tx1">
                  <a:lumMod val="95000"/>
                  <a:lumOff val="5000"/>
                </a:schemeClr>
              </a:solidFill>
            </a:endParaRPr>
          </a:p>
        </p:txBody>
      </p:sp>
      <p:sp>
        <p:nvSpPr>
          <p:cNvPr id="16" name="TextBox 15"/>
          <p:cNvSpPr txBox="1"/>
          <p:nvPr/>
        </p:nvSpPr>
        <p:spPr>
          <a:xfrm>
            <a:off x="3627489" y="5034558"/>
            <a:ext cx="1063044" cy="523220"/>
          </a:xfrm>
          <a:prstGeom prst="rect">
            <a:avLst/>
          </a:prstGeom>
          <a:noFill/>
        </p:spPr>
        <p:txBody>
          <a:bodyPr wrap="square" rtlCol="0">
            <a:spAutoFit/>
          </a:bodyPr>
          <a:lstStyle/>
          <a:p>
            <a:r>
              <a:rPr lang="en-US" sz="1400"/>
              <a:t>Khám phá dữ liệu</a:t>
            </a:r>
            <a:endParaRPr lang="en-US" sz="1400" b="1" dirty="0">
              <a:solidFill>
                <a:schemeClr val="tx1">
                  <a:lumMod val="95000"/>
                  <a:lumOff val="5000"/>
                </a:schemeClr>
              </a:solidFill>
            </a:endParaRPr>
          </a:p>
        </p:txBody>
      </p:sp>
      <p:sp>
        <p:nvSpPr>
          <p:cNvPr id="17" name="TextBox 16"/>
          <p:cNvSpPr txBox="1"/>
          <p:nvPr/>
        </p:nvSpPr>
        <p:spPr>
          <a:xfrm>
            <a:off x="5007556" y="5034558"/>
            <a:ext cx="1063044" cy="738664"/>
          </a:xfrm>
          <a:prstGeom prst="rect">
            <a:avLst/>
          </a:prstGeom>
          <a:noFill/>
        </p:spPr>
        <p:txBody>
          <a:bodyPr wrap="square" rtlCol="0">
            <a:spAutoFit/>
          </a:bodyPr>
          <a:lstStyle/>
          <a:p>
            <a:r>
              <a:rPr lang="en-US" sz="1400"/>
              <a:t>Xử lý &amp; làm sạch dữ liệu</a:t>
            </a:r>
            <a:endParaRPr lang="en-US" sz="1400" b="1" dirty="0">
              <a:solidFill>
                <a:schemeClr val="tx1">
                  <a:lumMod val="95000"/>
                  <a:lumOff val="5000"/>
                </a:schemeClr>
              </a:solidFill>
            </a:endParaRPr>
          </a:p>
        </p:txBody>
      </p:sp>
      <p:sp>
        <p:nvSpPr>
          <p:cNvPr id="18" name="TextBox 17"/>
          <p:cNvSpPr txBox="1"/>
          <p:nvPr/>
        </p:nvSpPr>
        <p:spPr>
          <a:xfrm>
            <a:off x="6345289" y="5034558"/>
            <a:ext cx="1063044" cy="954107"/>
          </a:xfrm>
          <a:prstGeom prst="rect">
            <a:avLst/>
          </a:prstGeom>
          <a:noFill/>
        </p:spPr>
        <p:txBody>
          <a:bodyPr wrap="square" rtlCol="0">
            <a:spAutoFit/>
          </a:bodyPr>
          <a:lstStyle/>
          <a:p>
            <a:r>
              <a:rPr lang="en-US" sz="1400"/>
              <a:t>Phân tích &amp; Mô hình hóa dữ liệu</a:t>
            </a:r>
            <a:endParaRPr lang="en-US" sz="1400" b="1" dirty="0">
              <a:solidFill>
                <a:schemeClr val="tx1">
                  <a:lumMod val="95000"/>
                  <a:lumOff val="5000"/>
                </a:schemeClr>
              </a:solidFill>
            </a:endParaRPr>
          </a:p>
        </p:txBody>
      </p:sp>
      <p:sp>
        <p:nvSpPr>
          <p:cNvPr id="19" name="TextBox 18"/>
          <p:cNvSpPr txBox="1"/>
          <p:nvPr/>
        </p:nvSpPr>
        <p:spPr>
          <a:xfrm>
            <a:off x="7615289" y="5034558"/>
            <a:ext cx="1063044" cy="738664"/>
          </a:xfrm>
          <a:prstGeom prst="rect">
            <a:avLst/>
          </a:prstGeom>
          <a:noFill/>
        </p:spPr>
        <p:txBody>
          <a:bodyPr wrap="square" rtlCol="0">
            <a:spAutoFit/>
          </a:bodyPr>
          <a:lstStyle/>
          <a:p>
            <a:r>
              <a:rPr lang="en-US" sz="1400"/>
              <a:t>Trình bày kết </a:t>
            </a:r>
            <a:r>
              <a:rPr lang="en-US" sz="1400" smtClean="0"/>
              <a:t>quả</a:t>
            </a:r>
          </a:p>
          <a:p>
            <a:r>
              <a:rPr lang="en-US" sz="1400" b="1" smtClean="0">
                <a:solidFill>
                  <a:schemeClr val="tx1">
                    <a:lumMod val="95000"/>
                    <a:lumOff val="5000"/>
                  </a:schemeClr>
                </a:solidFill>
              </a:rPr>
              <a:t>(Báo cáo)</a:t>
            </a:r>
            <a:endParaRPr lang="en-US" sz="1400" b="1" dirty="0">
              <a:solidFill>
                <a:schemeClr val="tx1">
                  <a:lumMod val="95000"/>
                  <a:lumOff val="5000"/>
                </a:schemeClr>
              </a:solidFill>
            </a:endParaRPr>
          </a:p>
        </p:txBody>
      </p:sp>
    </p:spTree>
    <p:extLst>
      <p:ext uri="{BB962C8B-B14F-4D97-AF65-F5344CB8AC3E}">
        <p14:creationId xmlns:p14="http://schemas.microsoft.com/office/powerpoint/2010/main" val="29388099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6</a:t>
            </a:fld>
            <a:endParaRPr lang="en-US"/>
          </a:p>
        </p:txBody>
      </p:sp>
      <p:sp>
        <p:nvSpPr>
          <p:cNvPr id="3" name="Text Placeholder 2"/>
          <p:cNvSpPr>
            <a:spLocks noGrp="1"/>
          </p:cNvSpPr>
          <p:nvPr>
            <p:ph type="body" sz="quarter" idx="13"/>
          </p:nvPr>
        </p:nvSpPr>
        <p:spPr/>
        <p:txBody>
          <a:bodyPr/>
          <a:lstStyle/>
          <a:p>
            <a:r>
              <a:rPr lang="en-US"/>
              <a:t>9.1 Giới thiệu về Data Science</a:t>
            </a:r>
          </a:p>
        </p:txBody>
      </p:sp>
      <p:sp>
        <p:nvSpPr>
          <p:cNvPr id="6" name="TextBox 5"/>
          <p:cNvSpPr txBox="1"/>
          <p:nvPr/>
        </p:nvSpPr>
        <p:spPr>
          <a:xfrm>
            <a:off x="1041992" y="1557650"/>
            <a:ext cx="6432695" cy="369332"/>
          </a:xfrm>
          <a:prstGeom prst="rect">
            <a:avLst/>
          </a:prstGeom>
          <a:noFill/>
        </p:spPr>
        <p:txBody>
          <a:bodyPr wrap="square" rtlCol="0">
            <a:spAutoFit/>
          </a:bodyPr>
          <a:lstStyle/>
          <a:p>
            <a:r>
              <a:rPr lang="en-US" b="1"/>
              <a:t>Business Question (Xác định vấn </a:t>
            </a:r>
            <a:r>
              <a:rPr lang="en-US" b="1" smtClean="0"/>
              <a:t>đề)</a:t>
            </a:r>
            <a:endParaRPr lang="en-US"/>
          </a:p>
        </p:txBody>
      </p:sp>
      <p:sp>
        <p:nvSpPr>
          <p:cNvPr id="8" name="Oval 7"/>
          <p:cNvSpPr/>
          <p:nvPr/>
        </p:nvSpPr>
        <p:spPr>
          <a:xfrm>
            <a:off x="462833" y="1523573"/>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1</a:t>
            </a:r>
            <a:endParaRPr lang="en-US" b="1" dirty="0"/>
          </a:p>
        </p:txBody>
      </p:sp>
      <p:sp>
        <p:nvSpPr>
          <p:cNvPr id="4" name="Rectangle 3"/>
          <p:cNvSpPr/>
          <p:nvPr/>
        </p:nvSpPr>
        <p:spPr>
          <a:xfrm>
            <a:off x="1041992" y="2208611"/>
            <a:ext cx="7467008" cy="646331"/>
          </a:xfrm>
          <a:prstGeom prst="rect">
            <a:avLst/>
          </a:prstGeom>
        </p:spPr>
        <p:txBody>
          <a:bodyPr wrap="square">
            <a:spAutoFit/>
          </a:bodyPr>
          <a:lstStyle/>
          <a:p>
            <a:r>
              <a:rPr lang="en-US" b="1"/>
              <a:t>Mục tiêu:</a:t>
            </a:r>
            <a:r>
              <a:rPr lang="en-US"/>
              <a:t> </a:t>
            </a:r>
            <a:r>
              <a:rPr lang="en-US" smtClean="0"/>
              <a:t>Hiểu </a:t>
            </a:r>
            <a:r>
              <a:rPr lang="en-US"/>
              <a:t>rõ </a:t>
            </a:r>
            <a:r>
              <a:rPr lang="en-US" i="1"/>
              <a:t>vấn đề thực tế</a:t>
            </a:r>
            <a:r>
              <a:rPr lang="en-US"/>
              <a:t> mà doanh nghiệp hoặc tổ chức cần giải quyết</a:t>
            </a:r>
            <a:r>
              <a:rPr lang="en-US" smtClean="0"/>
              <a:t>.</a:t>
            </a:r>
            <a:endParaRPr lang="en-US"/>
          </a:p>
        </p:txBody>
      </p:sp>
      <p:sp>
        <p:nvSpPr>
          <p:cNvPr id="20" name="Rectangle 19"/>
          <p:cNvSpPr/>
          <p:nvPr/>
        </p:nvSpPr>
        <p:spPr>
          <a:xfrm>
            <a:off x="1041992" y="3050321"/>
            <a:ext cx="7467008" cy="369332"/>
          </a:xfrm>
          <a:prstGeom prst="rect">
            <a:avLst/>
          </a:prstGeom>
        </p:spPr>
        <p:txBody>
          <a:bodyPr wrap="square">
            <a:spAutoFit/>
          </a:bodyPr>
          <a:lstStyle/>
          <a:p>
            <a:r>
              <a:rPr lang="en-US" b="1"/>
              <a:t>Ví </a:t>
            </a:r>
            <a:r>
              <a:rPr lang="en-US" b="1" smtClean="0"/>
              <a:t>dụ:</a:t>
            </a:r>
            <a:endParaRPr lang="en-US" b="1"/>
          </a:p>
        </p:txBody>
      </p:sp>
      <p:sp>
        <p:nvSpPr>
          <p:cNvPr id="21" name="Rectangle 20"/>
          <p:cNvSpPr/>
          <p:nvPr/>
        </p:nvSpPr>
        <p:spPr>
          <a:xfrm>
            <a:off x="1041992" y="3535322"/>
            <a:ext cx="7467008" cy="1338828"/>
          </a:xfrm>
          <a:prstGeom prst="rect">
            <a:avLst/>
          </a:prstGeom>
        </p:spPr>
        <p:txBody>
          <a:bodyPr wrap="square">
            <a:spAutoFit/>
          </a:bodyPr>
          <a:lstStyle/>
          <a:p>
            <a:pPr>
              <a:lnSpc>
                <a:spcPct val="150000"/>
              </a:lnSpc>
            </a:pPr>
            <a:r>
              <a:rPr lang="en-US" smtClean="0"/>
              <a:t>- </a:t>
            </a:r>
            <a:r>
              <a:rPr lang="vi-VN" smtClean="0"/>
              <a:t>Làm </a:t>
            </a:r>
            <a:r>
              <a:rPr lang="vi-VN"/>
              <a:t>sao để dự đoán khách hàng nào có khả năng rời bỏ dịch vụ</a:t>
            </a:r>
            <a:r>
              <a:rPr lang="vi-VN" smtClean="0"/>
              <a:t>?</a:t>
            </a:r>
            <a:endParaRPr lang="en-US" smtClean="0"/>
          </a:p>
          <a:p>
            <a:pPr>
              <a:lnSpc>
                <a:spcPct val="150000"/>
              </a:lnSpc>
            </a:pPr>
            <a:r>
              <a:rPr lang="en-US" smtClean="0"/>
              <a:t>- </a:t>
            </a:r>
            <a:r>
              <a:rPr lang="vi-VN" smtClean="0"/>
              <a:t>Làm </a:t>
            </a:r>
            <a:r>
              <a:rPr lang="vi-VN"/>
              <a:t>sao để tối ưu giá bán sản phẩm</a:t>
            </a:r>
            <a:r>
              <a:rPr lang="vi-VN" smtClean="0"/>
              <a:t>?</a:t>
            </a:r>
            <a:endParaRPr lang="en-US" smtClean="0"/>
          </a:p>
          <a:p>
            <a:pPr>
              <a:lnSpc>
                <a:spcPct val="150000"/>
              </a:lnSpc>
            </a:pPr>
            <a:r>
              <a:rPr lang="en-US" smtClean="0"/>
              <a:t>- Doanh số bán hàng tháng nào cao nhất năm và tại sao ?</a:t>
            </a:r>
            <a:endParaRPr lang="en-US"/>
          </a:p>
        </p:txBody>
      </p:sp>
      <p:sp>
        <p:nvSpPr>
          <p:cNvPr id="23" name="Rounded Rectangle 22"/>
          <p:cNvSpPr/>
          <p:nvPr/>
        </p:nvSpPr>
        <p:spPr>
          <a:xfrm>
            <a:off x="1041991" y="5193954"/>
            <a:ext cx="7331541" cy="959883"/>
          </a:xfrm>
          <a:prstGeom prst="roundRect">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Thông thường đây là một tập hợp các câu hỏi hoặc vấn đề mà cấp trên cần làm rõ trong bản báo cáo</a:t>
            </a:r>
            <a:endParaRPr lang="en-US" b="1" dirty="0"/>
          </a:p>
        </p:txBody>
      </p:sp>
      <p:sp>
        <p:nvSpPr>
          <p:cNvPr id="24" name="Diamond 23"/>
          <p:cNvSpPr/>
          <p:nvPr/>
        </p:nvSpPr>
        <p:spPr>
          <a:xfrm>
            <a:off x="823946" y="231638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Diamond 24"/>
          <p:cNvSpPr/>
          <p:nvPr/>
        </p:nvSpPr>
        <p:spPr>
          <a:xfrm>
            <a:off x="823946" y="315458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03300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7</a:t>
            </a:fld>
            <a:endParaRPr lang="en-US"/>
          </a:p>
        </p:txBody>
      </p:sp>
      <p:sp>
        <p:nvSpPr>
          <p:cNvPr id="3" name="Text Placeholder 2"/>
          <p:cNvSpPr>
            <a:spLocks noGrp="1"/>
          </p:cNvSpPr>
          <p:nvPr>
            <p:ph type="body" sz="quarter" idx="13"/>
          </p:nvPr>
        </p:nvSpPr>
        <p:spPr/>
        <p:txBody>
          <a:bodyPr/>
          <a:lstStyle/>
          <a:p>
            <a:r>
              <a:rPr lang="en-US"/>
              <a:t>9.1 Giới thiệu về Data Science</a:t>
            </a:r>
          </a:p>
        </p:txBody>
      </p:sp>
      <p:sp>
        <p:nvSpPr>
          <p:cNvPr id="6" name="TextBox 5"/>
          <p:cNvSpPr txBox="1"/>
          <p:nvPr/>
        </p:nvSpPr>
        <p:spPr>
          <a:xfrm>
            <a:off x="1041992" y="1557650"/>
            <a:ext cx="6432695" cy="369332"/>
          </a:xfrm>
          <a:prstGeom prst="rect">
            <a:avLst/>
          </a:prstGeom>
          <a:noFill/>
        </p:spPr>
        <p:txBody>
          <a:bodyPr wrap="square" rtlCol="0">
            <a:spAutoFit/>
          </a:bodyPr>
          <a:lstStyle/>
          <a:p>
            <a:r>
              <a:rPr lang="en-US" b="1"/>
              <a:t>Get Data (Thu thập dữ liệu)</a:t>
            </a:r>
            <a:endParaRPr lang="en-US"/>
          </a:p>
        </p:txBody>
      </p:sp>
      <p:sp>
        <p:nvSpPr>
          <p:cNvPr id="8" name="Oval 7"/>
          <p:cNvSpPr/>
          <p:nvPr/>
        </p:nvSpPr>
        <p:spPr>
          <a:xfrm>
            <a:off x="462833" y="1523573"/>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2</a:t>
            </a:r>
            <a:endParaRPr lang="en-US" b="1" dirty="0"/>
          </a:p>
        </p:txBody>
      </p:sp>
      <p:sp>
        <p:nvSpPr>
          <p:cNvPr id="4" name="Rectangle 3"/>
          <p:cNvSpPr/>
          <p:nvPr/>
        </p:nvSpPr>
        <p:spPr>
          <a:xfrm>
            <a:off x="1041992" y="2208611"/>
            <a:ext cx="7467008" cy="369332"/>
          </a:xfrm>
          <a:prstGeom prst="rect">
            <a:avLst/>
          </a:prstGeom>
        </p:spPr>
        <p:txBody>
          <a:bodyPr wrap="square">
            <a:spAutoFit/>
          </a:bodyPr>
          <a:lstStyle/>
          <a:p>
            <a:r>
              <a:rPr lang="en-US" b="1"/>
              <a:t>Mục tiêu:</a:t>
            </a:r>
            <a:r>
              <a:rPr lang="en-US"/>
              <a:t> Thu thập dữ liệu liên quan đến vấn đề.</a:t>
            </a:r>
          </a:p>
        </p:txBody>
      </p:sp>
      <p:sp>
        <p:nvSpPr>
          <p:cNvPr id="20" name="Rectangle 19"/>
          <p:cNvSpPr/>
          <p:nvPr/>
        </p:nvSpPr>
        <p:spPr>
          <a:xfrm>
            <a:off x="1041992" y="3050321"/>
            <a:ext cx="7467008" cy="369332"/>
          </a:xfrm>
          <a:prstGeom prst="rect">
            <a:avLst/>
          </a:prstGeom>
        </p:spPr>
        <p:txBody>
          <a:bodyPr wrap="square">
            <a:spAutoFit/>
          </a:bodyPr>
          <a:lstStyle/>
          <a:p>
            <a:r>
              <a:rPr lang="en-US" b="1"/>
              <a:t>Nguồn dữ liệu có thể đến </a:t>
            </a:r>
            <a:r>
              <a:rPr lang="en-US" b="1" smtClean="0"/>
              <a:t>từ:</a:t>
            </a:r>
            <a:endParaRPr lang="en-US" b="1"/>
          </a:p>
        </p:txBody>
      </p:sp>
      <p:sp>
        <p:nvSpPr>
          <p:cNvPr id="21" name="Rectangle 20"/>
          <p:cNvSpPr/>
          <p:nvPr/>
        </p:nvSpPr>
        <p:spPr>
          <a:xfrm>
            <a:off x="1041992" y="3535322"/>
            <a:ext cx="7467008" cy="1524007"/>
          </a:xfrm>
          <a:prstGeom prst="rect">
            <a:avLst/>
          </a:prstGeom>
        </p:spPr>
        <p:txBody>
          <a:bodyPr wrap="square">
            <a:spAutoFit/>
          </a:bodyPr>
          <a:lstStyle/>
          <a:p>
            <a:pPr marL="285750" indent="-285750">
              <a:lnSpc>
                <a:spcPct val="150000"/>
              </a:lnSpc>
              <a:buFont typeface="Arial" panose="020B0604020202020204" pitchFamily="34" charset="0"/>
              <a:buChar char="•"/>
            </a:pPr>
            <a:r>
              <a:rPr lang="vi-VN" sz="1600"/>
              <a:t>Cơ sở dữ liệu nội bộ (SQL, CRM, Excel, v.v</a:t>
            </a:r>
            <a:r>
              <a:rPr lang="vi-VN" sz="1600" smtClean="0"/>
              <a:t>.)</a:t>
            </a:r>
            <a:endParaRPr lang="en-US" sz="1600" smtClean="0"/>
          </a:p>
          <a:p>
            <a:pPr marL="285750" indent="-285750">
              <a:lnSpc>
                <a:spcPct val="150000"/>
              </a:lnSpc>
              <a:buFont typeface="Arial" panose="020B0604020202020204" pitchFamily="34" charset="0"/>
              <a:buChar char="•"/>
            </a:pPr>
            <a:r>
              <a:rPr lang="vi-VN" sz="1600" smtClean="0"/>
              <a:t>API </a:t>
            </a:r>
            <a:r>
              <a:rPr lang="vi-VN" sz="1600"/>
              <a:t>(Twitter, Google, OpenWeatherMap, v.v</a:t>
            </a:r>
            <a:r>
              <a:rPr lang="vi-VN" sz="1600" smtClean="0"/>
              <a:t>.)</a:t>
            </a:r>
            <a:endParaRPr lang="en-US" sz="1600" smtClean="0"/>
          </a:p>
          <a:p>
            <a:pPr marL="285750" indent="-285750">
              <a:lnSpc>
                <a:spcPct val="150000"/>
              </a:lnSpc>
              <a:buFont typeface="Arial" panose="020B0604020202020204" pitchFamily="34" charset="0"/>
              <a:buChar char="•"/>
            </a:pPr>
            <a:r>
              <a:rPr lang="vi-VN" sz="1600" smtClean="0"/>
              <a:t>Web </a:t>
            </a:r>
            <a:r>
              <a:rPr lang="vi-VN" sz="1600"/>
              <a:t>scraping (trích xuất dữ liệu từ web</a:t>
            </a:r>
            <a:r>
              <a:rPr lang="vi-VN" sz="1600" smtClean="0"/>
              <a:t>)</a:t>
            </a:r>
            <a:endParaRPr lang="en-US" sz="1600" smtClean="0"/>
          </a:p>
          <a:p>
            <a:pPr marL="285750" indent="-285750">
              <a:lnSpc>
                <a:spcPct val="150000"/>
              </a:lnSpc>
              <a:buFont typeface="Arial" panose="020B0604020202020204" pitchFamily="34" charset="0"/>
              <a:buChar char="•"/>
            </a:pPr>
            <a:r>
              <a:rPr lang="vi-VN" sz="1600" smtClean="0"/>
              <a:t>Sensor </a:t>
            </a:r>
            <a:r>
              <a:rPr lang="vi-VN" sz="1600"/>
              <a:t>/ IoT hoặc dữ liệu mở (open data)</a:t>
            </a:r>
            <a:endParaRPr lang="en-US" sz="1600"/>
          </a:p>
        </p:txBody>
      </p:sp>
      <p:sp>
        <p:nvSpPr>
          <p:cNvPr id="10" name="Rectangle 9"/>
          <p:cNvSpPr/>
          <p:nvPr/>
        </p:nvSpPr>
        <p:spPr>
          <a:xfrm>
            <a:off x="1041992" y="5505655"/>
            <a:ext cx="7467008" cy="369332"/>
          </a:xfrm>
          <a:prstGeom prst="rect">
            <a:avLst/>
          </a:prstGeom>
        </p:spPr>
        <p:txBody>
          <a:bodyPr wrap="square">
            <a:spAutoFit/>
          </a:bodyPr>
          <a:lstStyle/>
          <a:p>
            <a:r>
              <a:rPr lang="en-US" b="1"/>
              <a:t>Kết quả: </a:t>
            </a:r>
            <a:r>
              <a:rPr lang="en-US"/>
              <a:t>Một hoặc nhiều bộ dữ liệu thô (raw data)</a:t>
            </a:r>
          </a:p>
        </p:txBody>
      </p:sp>
      <p:sp>
        <p:nvSpPr>
          <p:cNvPr id="11" name="Diamond 10"/>
          <p:cNvSpPr/>
          <p:nvPr/>
        </p:nvSpPr>
        <p:spPr>
          <a:xfrm>
            <a:off x="823946" y="231638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p:cNvSpPr/>
          <p:nvPr/>
        </p:nvSpPr>
        <p:spPr>
          <a:xfrm>
            <a:off x="823946" y="315458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823946" y="561838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3324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8</a:t>
            </a:fld>
            <a:endParaRPr lang="en-US"/>
          </a:p>
        </p:txBody>
      </p:sp>
      <p:sp>
        <p:nvSpPr>
          <p:cNvPr id="3" name="Text Placeholder 2"/>
          <p:cNvSpPr>
            <a:spLocks noGrp="1"/>
          </p:cNvSpPr>
          <p:nvPr>
            <p:ph type="body" sz="quarter" idx="13"/>
          </p:nvPr>
        </p:nvSpPr>
        <p:spPr/>
        <p:txBody>
          <a:bodyPr/>
          <a:lstStyle/>
          <a:p>
            <a:r>
              <a:rPr lang="en-US"/>
              <a:t>9.1 Giới thiệu về Data Science</a:t>
            </a:r>
          </a:p>
        </p:txBody>
      </p:sp>
      <p:sp>
        <p:nvSpPr>
          <p:cNvPr id="6" name="TextBox 5"/>
          <p:cNvSpPr txBox="1"/>
          <p:nvPr/>
        </p:nvSpPr>
        <p:spPr>
          <a:xfrm>
            <a:off x="1041992" y="1557650"/>
            <a:ext cx="6432695" cy="369332"/>
          </a:xfrm>
          <a:prstGeom prst="rect">
            <a:avLst/>
          </a:prstGeom>
          <a:noFill/>
        </p:spPr>
        <p:txBody>
          <a:bodyPr wrap="square" rtlCol="0">
            <a:spAutoFit/>
          </a:bodyPr>
          <a:lstStyle/>
          <a:p>
            <a:r>
              <a:rPr lang="pt-BR" b="1"/>
              <a:t>Explore Data (Khám phá dữ liệu)</a:t>
            </a:r>
            <a:endParaRPr lang="en-US"/>
          </a:p>
        </p:txBody>
      </p:sp>
      <p:sp>
        <p:nvSpPr>
          <p:cNvPr id="8" name="Oval 7"/>
          <p:cNvSpPr/>
          <p:nvPr/>
        </p:nvSpPr>
        <p:spPr>
          <a:xfrm>
            <a:off x="462833" y="1523573"/>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3</a:t>
            </a:r>
            <a:endParaRPr lang="en-US" b="1" dirty="0"/>
          </a:p>
        </p:txBody>
      </p:sp>
      <p:sp>
        <p:nvSpPr>
          <p:cNvPr id="4" name="Rectangle 3"/>
          <p:cNvSpPr/>
          <p:nvPr/>
        </p:nvSpPr>
        <p:spPr>
          <a:xfrm>
            <a:off x="1041992" y="2208611"/>
            <a:ext cx="7467008" cy="369332"/>
          </a:xfrm>
          <a:prstGeom prst="rect">
            <a:avLst/>
          </a:prstGeom>
        </p:spPr>
        <p:txBody>
          <a:bodyPr wrap="square">
            <a:spAutoFit/>
          </a:bodyPr>
          <a:lstStyle/>
          <a:p>
            <a:r>
              <a:rPr lang="en-US" b="1"/>
              <a:t>Mục tiêu:</a:t>
            </a:r>
            <a:r>
              <a:rPr lang="en-US"/>
              <a:t> </a:t>
            </a:r>
            <a:r>
              <a:rPr lang="vi-VN"/>
              <a:t>Hiểu cấu trúc, đặc điểm và chất lượng của dữ liệu</a:t>
            </a:r>
            <a:endParaRPr lang="en-US"/>
          </a:p>
        </p:txBody>
      </p:sp>
      <p:sp>
        <p:nvSpPr>
          <p:cNvPr id="20" name="Rectangle 19"/>
          <p:cNvSpPr/>
          <p:nvPr/>
        </p:nvSpPr>
        <p:spPr>
          <a:xfrm>
            <a:off x="1041992" y="3050321"/>
            <a:ext cx="7467008" cy="369332"/>
          </a:xfrm>
          <a:prstGeom prst="rect">
            <a:avLst/>
          </a:prstGeom>
        </p:spPr>
        <p:txBody>
          <a:bodyPr wrap="square">
            <a:spAutoFit/>
          </a:bodyPr>
          <a:lstStyle/>
          <a:p>
            <a:r>
              <a:rPr lang="en-US" b="1"/>
              <a:t>Công việc </a:t>
            </a:r>
            <a:r>
              <a:rPr lang="en-US" b="1" smtClean="0"/>
              <a:t>chính:</a:t>
            </a:r>
            <a:endParaRPr lang="en-US" b="1"/>
          </a:p>
        </p:txBody>
      </p:sp>
      <p:sp>
        <p:nvSpPr>
          <p:cNvPr id="21" name="Rectangle 20"/>
          <p:cNvSpPr/>
          <p:nvPr/>
        </p:nvSpPr>
        <p:spPr>
          <a:xfrm>
            <a:off x="1041991" y="3535322"/>
            <a:ext cx="7805675" cy="1154675"/>
          </a:xfrm>
          <a:prstGeom prst="rect">
            <a:avLst/>
          </a:prstGeom>
        </p:spPr>
        <p:txBody>
          <a:bodyPr wrap="square">
            <a:spAutoFit/>
          </a:bodyPr>
          <a:lstStyle/>
          <a:p>
            <a:pPr marL="285750" indent="-285750">
              <a:lnSpc>
                <a:spcPct val="150000"/>
              </a:lnSpc>
              <a:buFont typeface="Arial" panose="020B0604020202020204" pitchFamily="34" charset="0"/>
              <a:buChar char="•"/>
            </a:pPr>
            <a:r>
              <a:rPr lang="vi-VN" sz="1600"/>
              <a:t>Kiểm tra kiểu dữ liệu, số lượng bản ghi, giá trị bị thiếu</a:t>
            </a:r>
            <a:r>
              <a:rPr lang="vi-VN" sz="1600" smtClean="0"/>
              <a:t>.</a:t>
            </a:r>
            <a:endParaRPr lang="en-US" sz="1600" smtClean="0"/>
          </a:p>
          <a:p>
            <a:pPr marL="285750" indent="-285750">
              <a:lnSpc>
                <a:spcPct val="150000"/>
              </a:lnSpc>
              <a:buFont typeface="Arial" panose="020B0604020202020204" pitchFamily="34" charset="0"/>
              <a:buChar char="•"/>
            </a:pPr>
            <a:r>
              <a:rPr lang="vi-VN" sz="1600" smtClean="0"/>
              <a:t>Thống </a:t>
            </a:r>
            <a:r>
              <a:rPr lang="vi-VN" sz="1600"/>
              <a:t>kê mô tả (mean, median, std, count</a:t>
            </a:r>
            <a:r>
              <a:rPr lang="vi-VN" sz="1600" smtClean="0"/>
              <a:t>).</a:t>
            </a:r>
            <a:endParaRPr lang="en-US" sz="1600" smtClean="0"/>
          </a:p>
          <a:p>
            <a:pPr marL="285750" indent="-285750">
              <a:lnSpc>
                <a:spcPct val="150000"/>
              </a:lnSpc>
              <a:buFont typeface="Arial" panose="020B0604020202020204" pitchFamily="34" charset="0"/>
              <a:buChar char="•"/>
            </a:pPr>
            <a:r>
              <a:rPr lang="vi-VN" sz="1600" smtClean="0"/>
              <a:t>Trực </a:t>
            </a:r>
            <a:r>
              <a:rPr lang="vi-VN" sz="1600"/>
              <a:t>quan hoá dữ liệu bằng biểu đồ (histogram, boxplot, scatter plot,…)</a:t>
            </a:r>
            <a:endParaRPr lang="en-US" sz="1600"/>
          </a:p>
        </p:txBody>
      </p:sp>
      <p:sp>
        <p:nvSpPr>
          <p:cNvPr id="10" name="Rectangle 9"/>
          <p:cNvSpPr/>
          <p:nvPr/>
        </p:nvSpPr>
        <p:spPr>
          <a:xfrm>
            <a:off x="1041992" y="5193954"/>
            <a:ext cx="7467008" cy="646331"/>
          </a:xfrm>
          <a:prstGeom prst="rect">
            <a:avLst/>
          </a:prstGeom>
        </p:spPr>
        <p:txBody>
          <a:bodyPr wrap="square">
            <a:spAutoFit/>
          </a:bodyPr>
          <a:lstStyle/>
          <a:p>
            <a:r>
              <a:rPr lang="en-US" b="1"/>
              <a:t>Kết quả: </a:t>
            </a:r>
            <a:r>
              <a:rPr lang="vi-VN"/>
              <a:t>Cái nhìn sơ bộ về dữ liệu — biết được điều gì đáng tin cậy, điều gì cần làm sạch</a:t>
            </a:r>
            <a:endParaRPr lang="en-US"/>
          </a:p>
        </p:txBody>
      </p:sp>
      <p:sp>
        <p:nvSpPr>
          <p:cNvPr id="13" name="Diamond 12"/>
          <p:cNvSpPr/>
          <p:nvPr/>
        </p:nvSpPr>
        <p:spPr>
          <a:xfrm>
            <a:off x="823946" y="231638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iamond 13"/>
          <p:cNvSpPr/>
          <p:nvPr/>
        </p:nvSpPr>
        <p:spPr>
          <a:xfrm>
            <a:off x="823946" y="3137649"/>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iamond 14"/>
          <p:cNvSpPr/>
          <p:nvPr/>
        </p:nvSpPr>
        <p:spPr>
          <a:xfrm>
            <a:off x="823946" y="5271249"/>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99834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9</a:t>
            </a:fld>
            <a:endParaRPr lang="en-US"/>
          </a:p>
        </p:txBody>
      </p:sp>
      <p:sp>
        <p:nvSpPr>
          <p:cNvPr id="3" name="Text Placeholder 2"/>
          <p:cNvSpPr>
            <a:spLocks noGrp="1"/>
          </p:cNvSpPr>
          <p:nvPr>
            <p:ph type="body" sz="quarter" idx="13"/>
          </p:nvPr>
        </p:nvSpPr>
        <p:spPr/>
        <p:txBody>
          <a:bodyPr/>
          <a:lstStyle/>
          <a:p>
            <a:r>
              <a:rPr lang="en-US"/>
              <a:t>9.1 Giới thiệu về Data Science</a:t>
            </a:r>
          </a:p>
        </p:txBody>
      </p:sp>
      <p:sp>
        <p:nvSpPr>
          <p:cNvPr id="6" name="TextBox 5"/>
          <p:cNvSpPr txBox="1"/>
          <p:nvPr/>
        </p:nvSpPr>
        <p:spPr>
          <a:xfrm>
            <a:off x="1041992" y="1557650"/>
            <a:ext cx="6432695" cy="369332"/>
          </a:xfrm>
          <a:prstGeom prst="rect">
            <a:avLst/>
          </a:prstGeom>
          <a:noFill/>
        </p:spPr>
        <p:txBody>
          <a:bodyPr wrap="square" rtlCol="0">
            <a:spAutoFit/>
          </a:bodyPr>
          <a:lstStyle/>
          <a:p>
            <a:r>
              <a:rPr lang="pt-BR" b="1"/>
              <a:t>Prepare Data (Xử lý &amp; làm sạch dữ liệu)</a:t>
            </a:r>
            <a:endParaRPr lang="en-US"/>
          </a:p>
        </p:txBody>
      </p:sp>
      <p:sp>
        <p:nvSpPr>
          <p:cNvPr id="8" name="Oval 7"/>
          <p:cNvSpPr/>
          <p:nvPr/>
        </p:nvSpPr>
        <p:spPr>
          <a:xfrm>
            <a:off x="462833" y="1523573"/>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4</a:t>
            </a:r>
            <a:endParaRPr lang="en-US" b="1" dirty="0"/>
          </a:p>
        </p:txBody>
      </p:sp>
      <p:sp>
        <p:nvSpPr>
          <p:cNvPr id="4" name="Rectangle 3"/>
          <p:cNvSpPr/>
          <p:nvPr/>
        </p:nvSpPr>
        <p:spPr>
          <a:xfrm>
            <a:off x="1041992" y="2208611"/>
            <a:ext cx="7467008" cy="369332"/>
          </a:xfrm>
          <a:prstGeom prst="rect">
            <a:avLst/>
          </a:prstGeom>
        </p:spPr>
        <p:txBody>
          <a:bodyPr wrap="square">
            <a:spAutoFit/>
          </a:bodyPr>
          <a:lstStyle/>
          <a:p>
            <a:r>
              <a:rPr lang="en-US" b="1"/>
              <a:t>Mục tiêu:</a:t>
            </a:r>
            <a:r>
              <a:rPr lang="en-US"/>
              <a:t> </a:t>
            </a:r>
            <a:r>
              <a:rPr lang="vi-VN"/>
              <a:t>Chuẩn bị dữ liệu ở dạng sạch và sẵn sàng phân tích</a:t>
            </a:r>
            <a:endParaRPr lang="en-US"/>
          </a:p>
        </p:txBody>
      </p:sp>
      <p:sp>
        <p:nvSpPr>
          <p:cNvPr id="20" name="Rectangle 19"/>
          <p:cNvSpPr/>
          <p:nvPr/>
        </p:nvSpPr>
        <p:spPr>
          <a:xfrm>
            <a:off x="1041992" y="2766285"/>
            <a:ext cx="7467008" cy="369332"/>
          </a:xfrm>
          <a:prstGeom prst="rect">
            <a:avLst/>
          </a:prstGeom>
        </p:spPr>
        <p:txBody>
          <a:bodyPr wrap="square">
            <a:spAutoFit/>
          </a:bodyPr>
          <a:lstStyle/>
          <a:p>
            <a:r>
              <a:rPr lang="en-US" b="1"/>
              <a:t>Công việc </a:t>
            </a:r>
            <a:r>
              <a:rPr lang="en-US" b="1" smtClean="0"/>
              <a:t>chính:</a:t>
            </a:r>
            <a:endParaRPr lang="en-US" b="1"/>
          </a:p>
        </p:txBody>
      </p:sp>
      <p:sp>
        <p:nvSpPr>
          <p:cNvPr id="21" name="Rectangle 20"/>
          <p:cNvSpPr/>
          <p:nvPr/>
        </p:nvSpPr>
        <p:spPr>
          <a:xfrm>
            <a:off x="1041991" y="3251286"/>
            <a:ext cx="7805675" cy="1524007"/>
          </a:xfrm>
          <a:prstGeom prst="rect">
            <a:avLst/>
          </a:prstGeom>
        </p:spPr>
        <p:txBody>
          <a:bodyPr wrap="square">
            <a:spAutoFit/>
          </a:bodyPr>
          <a:lstStyle/>
          <a:p>
            <a:pPr marL="285750" indent="-285750">
              <a:lnSpc>
                <a:spcPct val="150000"/>
              </a:lnSpc>
              <a:buFont typeface="Arial" panose="020B0604020202020204" pitchFamily="34" charset="0"/>
              <a:buChar char="•"/>
            </a:pPr>
            <a:r>
              <a:rPr lang="vi-VN" sz="1600"/>
              <a:t>Loại bỏ hoặc thay thế giá trị bị thiếu (NaN</a:t>
            </a:r>
            <a:r>
              <a:rPr lang="vi-VN" sz="1600" smtClean="0"/>
              <a:t>).</a:t>
            </a:r>
            <a:endParaRPr lang="en-US" sz="1600" smtClean="0"/>
          </a:p>
          <a:p>
            <a:pPr marL="285750" indent="-285750">
              <a:lnSpc>
                <a:spcPct val="150000"/>
              </a:lnSpc>
              <a:buFont typeface="Arial" panose="020B0604020202020204" pitchFamily="34" charset="0"/>
              <a:buChar char="•"/>
            </a:pPr>
            <a:r>
              <a:rPr lang="vi-VN" sz="1600" smtClean="0"/>
              <a:t>Chuẩn </a:t>
            </a:r>
            <a:r>
              <a:rPr lang="vi-VN" sz="1600"/>
              <a:t>hoá định dạng (ngày giờ, số, chữ</a:t>
            </a:r>
            <a:r>
              <a:rPr lang="vi-VN" sz="1600" smtClean="0"/>
              <a:t>).</a:t>
            </a:r>
            <a:endParaRPr lang="en-US" sz="1600" smtClean="0"/>
          </a:p>
          <a:p>
            <a:pPr marL="285750" indent="-285750">
              <a:lnSpc>
                <a:spcPct val="150000"/>
              </a:lnSpc>
              <a:buFont typeface="Arial" panose="020B0604020202020204" pitchFamily="34" charset="0"/>
              <a:buChar char="•"/>
            </a:pPr>
            <a:r>
              <a:rPr lang="vi-VN" sz="1600" smtClean="0"/>
              <a:t>Mã </a:t>
            </a:r>
            <a:r>
              <a:rPr lang="vi-VN" sz="1600"/>
              <a:t>hoá dữ liệu dạng chữ (label encoding, one-hot encoding</a:t>
            </a:r>
            <a:r>
              <a:rPr lang="vi-VN" sz="1600" smtClean="0"/>
              <a:t>).</a:t>
            </a:r>
            <a:endParaRPr lang="en-US" sz="1600" smtClean="0"/>
          </a:p>
          <a:p>
            <a:pPr marL="285750" indent="-285750">
              <a:lnSpc>
                <a:spcPct val="150000"/>
              </a:lnSpc>
              <a:buFont typeface="Arial" panose="020B0604020202020204" pitchFamily="34" charset="0"/>
              <a:buChar char="•"/>
            </a:pPr>
            <a:r>
              <a:rPr lang="vi-VN" sz="1600" smtClean="0"/>
              <a:t>Tạo </a:t>
            </a:r>
            <a:r>
              <a:rPr lang="vi-VN" sz="1600"/>
              <a:t>các đặc trưng mới (feature engineering).</a:t>
            </a:r>
            <a:endParaRPr lang="en-US" sz="1600"/>
          </a:p>
        </p:txBody>
      </p:sp>
      <p:sp>
        <p:nvSpPr>
          <p:cNvPr id="10" name="Rectangle 9"/>
          <p:cNvSpPr/>
          <p:nvPr/>
        </p:nvSpPr>
        <p:spPr>
          <a:xfrm>
            <a:off x="1041992" y="5193954"/>
            <a:ext cx="7467008" cy="646331"/>
          </a:xfrm>
          <a:prstGeom prst="rect">
            <a:avLst/>
          </a:prstGeom>
        </p:spPr>
        <p:txBody>
          <a:bodyPr wrap="square">
            <a:spAutoFit/>
          </a:bodyPr>
          <a:lstStyle/>
          <a:p>
            <a:r>
              <a:rPr lang="en-US" b="1"/>
              <a:t>Kết quả: </a:t>
            </a:r>
            <a:r>
              <a:rPr lang="vi-VN"/>
              <a:t>Dữ liệu </a:t>
            </a:r>
            <a:r>
              <a:rPr lang="vi-VN" b="1">
                <a:solidFill>
                  <a:srgbClr val="FF0000"/>
                </a:solidFill>
              </a:rPr>
              <a:t>“sạch”</a:t>
            </a:r>
            <a:r>
              <a:rPr lang="vi-VN"/>
              <a:t> (clean dataset) có thể đưa vào mô hình hoặc phân tích.</a:t>
            </a:r>
            <a:endParaRPr lang="en-US"/>
          </a:p>
        </p:txBody>
      </p:sp>
      <p:sp>
        <p:nvSpPr>
          <p:cNvPr id="11" name="Diamond 10"/>
          <p:cNvSpPr/>
          <p:nvPr/>
        </p:nvSpPr>
        <p:spPr>
          <a:xfrm>
            <a:off x="823946" y="231638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p:cNvSpPr/>
          <p:nvPr/>
        </p:nvSpPr>
        <p:spPr>
          <a:xfrm>
            <a:off x="823946" y="282438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823946" y="5279715"/>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6646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10</a:t>
            </a:fld>
            <a:endParaRPr lang="en-US"/>
          </a:p>
        </p:txBody>
      </p:sp>
      <p:sp>
        <p:nvSpPr>
          <p:cNvPr id="3" name="Text Placeholder 2"/>
          <p:cNvSpPr>
            <a:spLocks noGrp="1"/>
          </p:cNvSpPr>
          <p:nvPr>
            <p:ph type="body" sz="quarter" idx="13"/>
          </p:nvPr>
        </p:nvSpPr>
        <p:spPr/>
        <p:txBody>
          <a:bodyPr/>
          <a:lstStyle/>
          <a:p>
            <a:r>
              <a:rPr lang="en-US"/>
              <a:t>9.1 Giới thiệu về Data Science</a:t>
            </a:r>
          </a:p>
        </p:txBody>
      </p:sp>
      <p:sp>
        <p:nvSpPr>
          <p:cNvPr id="6" name="TextBox 5"/>
          <p:cNvSpPr txBox="1"/>
          <p:nvPr/>
        </p:nvSpPr>
        <p:spPr>
          <a:xfrm>
            <a:off x="1041992" y="1557650"/>
            <a:ext cx="6432695" cy="369332"/>
          </a:xfrm>
          <a:prstGeom prst="rect">
            <a:avLst/>
          </a:prstGeom>
          <a:noFill/>
        </p:spPr>
        <p:txBody>
          <a:bodyPr wrap="square" rtlCol="0">
            <a:spAutoFit/>
          </a:bodyPr>
          <a:lstStyle/>
          <a:p>
            <a:r>
              <a:rPr lang="pt-BR" b="1"/>
              <a:t>Analyze Data (Phân tích &amp; Mô hình hóa dữ liệu)</a:t>
            </a:r>
            <a:endParaRPr lang="en-US"/>
          </a:p>
        </p:txBody>
      </p:sp>
      <p:sp>
        <p:nvSpPr>
          <p:cNvPr id="8" name="Oval 7"/>
          <p:cNvSpPr/>
          <p:nvPr/>
        </p:nvSpPr>
        <p:spPr>
          <a:xfrm>
            <a:off x="462833" y="1523573"/>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5</a:t>
            </a:r>
            <a:endParaRPr lang="en-US" b="1" dirty="0"/>
          </a:p>
        </p:txBody>
      </p:sp>
      <p:sp>
        <p:nvSpPr>
          <p:cNvPr id="4" name="Rectangle 3"/>
          <p:cNvSpPr/>
          <p:nvPr/>
        </p:nvSpPr>
        <p:spPr>
          <a:xfrm>
            <a:off x="1041992" y="2208611"/>
            <a:ext cx="7467008" cy="369332"/>
          </a:xfrm>
          <a:prstGeom prst="rect">
            <a:avLst/>
          </a:prstGeom>
        </p:spPr>
        <p:txBody>
          <a:bodyPr wrap="square">
            <a:spAutoFit/>
          </a:bodyPr>
          <a:lstStyle/>
          <a:p>
            <a:r>
              <a:rPr lang="en-US" b="1"/>
              <a:t>Mục tiêu:</a:t>
            </a:r>
            <a:r>
              <a:rPr lang="en-US"/>
              <a:t> </a:t>
            </a:r>
            <a:r>
              <a:rPr lang="vi-VN"/>
              <a:t>Tìm hiểu mối quan hệ, xu hướng, và đưa ra dự đoán</a:t>
            </a:r>
            <a:endParaRPr lang="en-US"/>
          </a:p>
        </p:txBody>
      </p:sp>
      <p:sp>
        <p:nvSpPr>
          <p:cNvPr id="20" name="Rectangle 19"/>
          <p:cNvSpPr/>
          <p:nvPr/>
        </p:nvSpPr>
        <p:spPr>
          <a:xfrm>
            <a:off x="1041992" y="2766285"/>
            <a:ext cx="7467008" cy="369332"/>
          </a:xfrm>
          <a:prstGeom prst="rect">
            <a:avLst/>
          </a:prstGeom>
        </p:spPr>
        <p:txBody>
          <a:bodyPr wrap="square">
            <a:spAutoFit/>
          </a:bodyPr>
          <a:lstStyle/>
          <a:p>
            <a:r>
              <a:rPr lang="en-US" b="1"/>
              <a:t>Cách thực hiện</a:t>
            </a:r>
          </a:p>
        </p:txBody>
      </p:sp>
      <p:sp>
        <p:nvSpPr>
          <p:cNvPr id="21" name="Rectangle 20"/>
          <p:cNvSpPr/>
          <p:nvPr/>
        </p:nvSpPr>
        <p:spPr>
          <a:xfrm>
            <a:off x="1041991" y="3162715"/>
            <a:ext cx="7805675" cy="2262671"/>
          </a:xfrm>
          <a:prstGeom prst="rect">
            <a:avLst/>
          </a:prstGeom>
        </p:spPr>
        <p:txBody>
          <a:bodyPr wrap="square">
            <a:spAutoFit/>
          </a:bodyPr>
          <a:lstStyle/>
          <a:p>
            <a:pPr marL="285750" indent="-285750">
              <a:lnSpc>
                <a:spcPct val="150000"/>
              </a:lnSpc>
              <a:buFont typeface="Arial" panose="020B0604020202020204" pitchFamily="34" charset="0"/>
              <a:buChar char="•"/>
            </a:pPr>
            <a:r>
              <a:rPr lang="en-US" sz="1600"/>
              <a:t>Phân tích thống kê (correlation, regression, hypothesis testing</a:t>
            </a:r>
            <a:r>
              <a:rPr lang="en-US" sz="1600" smtClean="0"/>
              <a:t>).</a:t>
            </a:r>
          </a:p>
          <a:p>
            <a:pPr marL="285750" indent="-285750">
              <a:lnSpc>
                <a:spcPct val="150000"/>
              </a:lnSpc>
              <a:buFont typeface="Arial" panose="020B0604020202020204" pitchFamily="34" charset="0"/>
              <a:buChar char="•"/>
            </a:pPr>
            <a:r>
              <a:rPr lang="vi-VN" sz="1600"/>
              <a:t>Xây dựng mô hình học máy (machine learning) </a:t>
            </a:r>
            <a:r>
              <a:rPr lang="vi-VN" sz="1600" smtClean="0"/>
              <a:t>như</a:t>
            </a:r>
            <a:r>
              <a:rPr lang="en-US" sz="1600"/>
              <a:t>:</a:t>
            </a:r>
            <a:br>
              <a:rPr lang="en-US" sz="1600"/>
            </a:br>
            <a:r>
              <a:rPr lang="en-US" sz="1600" smtClean="0"/>
              <a:t>- Hồi </a:t>
            </a:r>
            <a:r>
              <a:rPr lang="en-US" sz="1600"/>
              <a:t>quy tuyến tính (Linear </a:t>
            </a:r>
            <a:r>
              <a:rPr lang="en-US" sz="1600" smtClean="0"/>
              <a:t>Regression)</a:t>
            </a:r>
            <a:br>
              <a:rPr lang="en-US" sz="1600" smtClean="0"/>
            </a:br>
            <a:r>
              <a:rPr lang="en-US" sz="1600" smtClean="0"/>
              <a:t>- Phân </a:t>
            </a:r>
            <a:r>
              <a:rPr lang="en-US" sz="1600"/>
              <a:t>loại (Classification</a:t>
            </a:r>
            <a:r>
              <a:rPr lang="en-US" sz="1600" smtClean="0"/>
              <a:t>)</a:t>
            </a:r>
            <a:br>
              <a:rPr lang="en-US" sz="1600" smtClean="0"/>
            </a:br>
            <a:r>
              <a:rPr lang="en-US" sz="1600" smtClean="0"/>
              <a:t>- Gom </a:t>
            </a:r>
            <a:r>
              <a:rPr lang="en-US" sz="1600"/>
              <a:t>cụm (Clustering</a:t>
            </a:r>
            <a:r>
              <a:rPr lang="en-US" sz="1600" smtClean="0"/>
              <a:t>)</a:t>
            </a:r>
          </a:p>
          <a:p>
            <a:pPr marL="285750" indent="-285750">
              <a:lnSpc>
                <a:spcPct val="150000"/>
              </a:lnSpc>
              <a:buFont typeface="Arial" panose="020B0604020202020204" pitchFamily="34" charset="0"/>
              <a:buChar char="•"/>
            </a:pPr>
            <a:r>
              <a:rPr lang="en-US" sz="1600"/>
              <a:t>Đánh giá độ chính xác của mô hình (accuracy, precision, recall, v.v.)</a:t>
            </a:r>
          </a:p>
        </p:txBody>
      </p:sp>
      <p:sp>
        <p:nvSpPr>
          <p:cNvPr id="10" name="Rectangle 9"/>
          <p:cNvSpPr/>
          <p:nvPr/>
        </p:nvSpPr>
        <p:spPr>
          <a:xfrm>
            <a:off x="1041992" y="5686992"/>
            <a:ext cx="7467008" cy="646331"/>
          </a:xfrm>
          <a:prstGeom prst="rect">
            <a:avLst/>
          </a:prstGeom>
        </p:spPr>
        <p:txBody>
          <a:bodyPr wrap="square">
            <a:spAutoFit/>
          </a:bodyPr>
          <a:lstStyle/>
          <a:p>
            <a:r>
              <a:rPr lang="en-US" b="1"/>
              <a:t>Kết quả: </a:t>
            </a:r>
            <a:r>
              <a:rPr lang="vi-VN"/>
              <a:t>Kết luận, mô hình hoặc insight (thông tin hữu ích) rút ra từ dữ liệu</a:t>
            </a:r>
            <a:endParaRPr lang="en-US"/>
          </a:p>
        </p:txBody>
      </p:sp>
      <p:sp>
        <p:nvSpPr>
          <p:cNvPr id="11" name="Diamond 10"/>
          <p:cNvSpPr/>
          <p:nvPr/>
        </p:nvSpPr>
        <p:spPr>
          <a:xfrm>
            <a:off x="823946" y="5746553"/>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p:cNvSpPr/>
          <p:nvPr/>
        </p:nvSpPr>
        <p:spPr>
          <a:xfrm>
            <a:off x="823946" y="2883649"/>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823946" y="231638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9390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11</a:t>
            </a:fld>
            <a:endParaRPr lang="en-US"/>
          </a:p>
        </p:txBody>
      </p:sp>
      <p:sp>
        <p:nvSpPr>
          <p:cNvPr id="3" name="Text Placeholder 2"/>
          <p:cNvSpPr>
            <a:spLocks noGrp="1"/>
          </p:cNvSpPr>
          <p:nvPr>
            <p:ph type="body" sz="quarter" idx="13"/>
          </p:nvPr>
        </p:nvSpPr>
        <p:spPr/>
        <p:txBody>
          <a:bodyPr/>
          <a:lstStyle/>
          <a:p>
            <a:r>
              <a:rPr lang="en-US"/>
              <a:t>9.1 Giới thiệu về Data Science</a:t>
            </a:r>
          </a:p>
        </p:txBody>
      </p:sp>
      <p:sp>
        <p:nvSpPr>
          <p:cNvPr id="6" name="TextBox 5"/>
          <p:cNvSpPr txBox="1"/>
          <p:nvPr/>
        </p:nvSpPr>
        <p:spPr>
          <a:xfrm>
            <a:off x="1041992" y="1557650"/>
            <a:ext cx="6432695" cy="369332"/>
          </a:xfrm>
          <a:prstGeom prst="rect">
            <a:avLst/>
          </a:prstGeom>
          <a:noFill/>
        </p:spPr>
        <p:txBody>
          <a:bodyPr wrap="square" rtlCol="0">
            <a:spAutoFit/>
          </a:bodyPr>
          <a:lstStyle/>
          <a:p>
            <a:r>
              <a:rPr lang="en-US" b="1"/>
              <a:t>Present Findings (Trình bày kết quả)</a:t>
            </a:r>
            <a:endParaRPr lang="en-US"/>
          </a:p>
        </p:txBody>
      </p:sp>
      <p:sp>
        <p:nvSpPr>
          <p:cNvPr id="8" name="Oval 7"/>
          <p:cNvSpPr/>
          <p:nvPr/>
        </p:nvSpPr>
        <p:spPr>
          <a:xfrm>
            <a:off x="462833" y="1523573"/>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6</a:t>
            </a:r>
            <a:endParaRPr lang="en-US" b="1" dirty="0"/>
          </a:p>
        </p:txBody>
      </p:sp>
      <p:sp>
        <p:nvSpPr>
          <p:cNvPr id="4" name="Rectangle 3"/>
          <p:cNvSpPr/>
          <p:nvPr/>
        </p:nvSpPr>
        <p:spPr>
          <a:xfrm>
            <a:off x="1041992" y="2208611"/>
            <a:ext cx="7467008" cy="646331"/>
          </a:xfrm>
          <a:prstGeom prst="rect">
            <a:avLst/>
          </a:prstGeom>
        </p:spPr>
        <p:txBody>
          <a:bodyPr wrap="square">
            <a:spAutoFit/>
          </a:bodyPr>
          <a:lstStyle/>
          <a:p>
            <a:r>
              <a:rPr lang="en-US" b="1"/>
              <a:t>Mục tiêu:</a:t>
            </a:r>
            <a:r>
              <a:rPr lang="en-US"/>
              <a:t> </a:t>
            </a:r>
            <a:r>
              <a:rPr lang="vi-VN"/>
              <a:t>Truyền đạt kết quả cho người ra quyết định (không chuyên về dữ liệu).</a:t>
            </a:r>
            <a:endParaRPr lang="en-US"/>
          </a:p>
        </p:txBody>
      </p:sp>
      <p:sp>
        <p:nvSpPr>
          <p:cNvPr id="20" name="Rectangle 19"/>
          <p:cNvSpPr/>
          <p:nvPr/>
        </p:nvSpPr>
        <p:spPr>
          <a:xfrm>
            <a:off x="1041992" y="3094179"/>
            <a:ext cx="7467008" cy="369332"/>
          </a:xfrm>
          <a:prstGeom prst="rect">
            <a:avLst/>
          </a:prstGeom>
        </p:spPr>
        <p:txBody>
          <a:bodyPr wrap="square">
            <a:spAutoFit/>
          </a:bodyPr>
          <a:lstStyle/>
          <a:p>
            <a:r>
              <a:rPr lang="en-US" b="1"/>
              <a:t>Cách thể hiện</a:t>
            </a:r>
          </a:p>
        </p:txBody>
      </p:sp>
      <p:sp>
        <p:nvSpPr>
          <p:cNvPr id="21" name="Rectangle 20"/>
          <p:cNvSpPr/>
          <p:nvPr/>
        </p:nvSpPr>
        <p:spPr>
          <a:xfrm>
            <a:off x="1041991" y="3490609"/>
            <a:ext cx="7805675" cy="1338828"/>
          </a:xfrm>
          <a:prstGeom prst="rect">
            <a:avLst/>
          </a:prstGeom>
        </p:spPr>
        <p:txBody>
          <a:bodyPr wrap="square">
            <a:spAutoFit/>
          </a:bodyPr>
          <a:lstStyle/>
          <a:p>
            <a:pPr marL="285750" indent="-285750">
              <a:lnSpc>
                <a:spcPct val="150000"/>
              </a:lnSpc>
              <a:buFont typeface="Arial" panose="020B0604020202020204" pitchFamily="34" charset="0"/>
              <a:buChar char="•"/>
            </a:pPr>
            <a:r>
              <a:rPr lang="en-US"/>
              <a:t>Báo cáo (report, slide, dashboard</a:t>
            </a:r>
            <a:r>
              <a:rPr lang="en-US" smtClean="0"/>
              <a:t>)</a:t>
            </a:r>
          </a:p>
          <a:p>
            <a:pPr marL="285750" indent="-285750">
              <a:lnSpc>
                <a:spcPct val="150000"/>
              </a:lnSpc>
              <a:buFont typeface="Arial" panose="020B0604020202020204" pitchFamily="34" charset="0"/>
              <a:buChar char="•"/>
            </a:pPr>
            <a:r>
              <a:rPr lang="en-US"/>
              <a:t>Biểu đồ, trực quan hóa dữ liệu</a:t>
            </a:r>
            <a:r>
              <a:rPr lang="en-US" smtClean="0"/>
              <a:t>.</a:t>
            </a:r>
          </a:p>
          <a:p>
            <a:pPr marL="285750" indent="-285750">
              <a:lnSpc>
                <a:spcPct val="150000"/>
              </a:lnSpc>
              <a:buFont typeface="Arial" panose="020B0604020202020204" pitchFamily="34" charset="0"/>
              <a:buChar char="•"/>
            </a:pPr>
            <a:r>
              <a:rPr lang="en-US"/>
              <a:t>Kể câu chuyện bằng dữ liệu (data storytelling).</a:t>
            </a:r>
          </a:p>
        </p:txBody>
      </p:sp>
      <p:sp>
        <p:nvSpPr>
          <p:cNvPr id="10" name="Rectangle 9"/>
          <p:cNvSpPr/>
          <p:nvPr/>
        </p:nvSpPr>
        <p:spPr>
          <a:xfrm>
            <a:off x="1041992" y="5069530"/>
            <a:ext cx="7467008" cy="646331"/>
          </a:xfrm>
          <a:prstGeom prst="rect">
            <a:avLst/>
          </a:prstGeom>
        </p:spPr>
        <p:txBody>
          <a:bodyPr wrap="square">
            <a:spAutoFit/>
          </a:bodyPr>
          <a:lstStyle/>
          <a:p>
            <a:r>
              <a:rPr lang="en-US" b="1"/>
              <a:t>Kết quả: </a:t>
            </a:r>
            <a:r>
              <a:rPr lang="en-US"/>
              <a:t>Ra </a:t>
            </a:r>
            <a:r>
              <a:rPr lang="en-US" b="1"/>
              <a:t>quyết định kinh doanh thực tế</a:t>
            </a:r>
            <a:r>
              <a:rPr lang="en-US"/>
              <a:t> dựa trên dữ liệu phân tích</a:t>
            </a:r>
          </a:p>
        </p:txBody>
      </p:sp>
      <p:sp>
        <p:nvSpPr>
          <p:cNvPr id="11" name="Diamond 10"/>
          <p:cNvSpPr/>
          <p:nvPr/>
        </p:nvSpPr>
        <p:spPr>
          <a:xfrm>
            <a:off x="823946" y="229098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iamond 11"/>
          <p:cNvSpPr/>
          <p:nvPr/>
        </p:nvSpPr>
        <p:spPr>
          <a:xfrm>
            <a:off x="823946" y="317998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823946" y="5144249"/>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09568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12</a:t>
            </a:fld>
            <a:endParaRPr lang="en-US"/>
          </a:p>
        </p:txBody>
      </p:sp>
      <p:sp>
        <p:nvSpPr>
          <p:cNvPr id="3" name="Text Placeholder 2"/>
          <p:cNvSpPr>
            <a:spLocks noGrp="1"/>
          </p:cNvSpPr>
          <p:nvPr>
            <p:ph type="body" sz="quarter" idx="13"/>
          </p:nvPr>
        </p:nvSpPr>
        <p:spPr>
          <a:xfrm>
            <a:off x="301925" y="851289"/>
            <a:ext cx="8454964" cy="424732"/>
          </a:xfrm>
        </p:spPr>
        <p:txBody>
          <a:bodyPr/>
          <a:lstStyle/>
          <a:p>
            <a:r>
              <a:rPr lang="en-US" smtClean="0"/>
              <a:t>9.2 </a:t>
            </a:r>
            <a:r>
              <a:rPr lang="en-US"/>
              <a:t>Công cụ phỗ biến trong Data </a:t>
            </a:r>
            <a:r>
              <a:rPr lang="en-US" smtClean="0"/>
              <a:t>Science</a:t>
            </a:r>
            <a:endParaRPr lang="en-US"/>
          </a:p>
        </p:txBody>
      </p:sp>
      <p:pic>
        <p:nvPicPr>
          <p:cNvPr id="5" name="Picture 4"/>
          <p:cNvPicPr>
            <a:picLocks noChangeAspect="1"/>
          </p:cNvPicPr>
          <p:nvPr/>
        </p:nvPicPr>
        <p:blipFill>
          <a:blip r:embed="rId2"/>
          <a:stretch>
            <a:fillRect/>
          </a:stretch>
        </p:blipFill>
        <p:spPr>
          <a:xfrm>
            <a:off x="650582" y="2169165"/>
            <a:ext cx="2226910" cy="793750"/>
          </a:xfrm>
          <a:prstGeom prst="rect">
            <a:avLst/>
          </a:prstGeom>
        </p:spPr>
      </p:pic>
      <p:sp>
        <p:nvSpPr>
          <p:cNvPr id="16" name="Rectangle 15"/>
          <p:cNvSpPr/>
          <p:nvPr/>
        </p:nvSpPr>
        <p:spPr>
          <a:xfrm>
            <a:off x="3077155" y="1994561"/>
            <a:ext cx="5550379" cy="1569660"/>
          </a:xfrm>
          <a:prstGeom prst="rect">
            <a:avLst/>
          </a:prstGeom>
        </p:spPr>
        <p:txBody>
          <a:bodyPr wrap="square">
            <a:spAutoFit/>
          </a:bodyPr>
          <a:lstStyle/>
          <a:p>
            <a:r>
              <a:rPr lang="vi-VN" sz="1600" b="1"/>
              <a:t>NumPy</a:t>
            </a:r>
            <a:r>
              <a:rPr lang="vi-VN" sz="1600"/>
              <a:t> là một thư viện mã nguồn mở, miễn phí cho ngôn ngữ lập trình Python, dùng để xử lý hiệu quả các mảng số đa chiều lớn. Tên của nó là viết tắt của "Numerical Python" (Python số học). NumPy cung cấp các cấu trúc dữ liệu mảng và một thư viện lớn các hàm toán học cấp cao, bao gồm đại số tuyến tính, phép biến đổi Fourier và thống kê. </a:t>
            </a:r>
            <a:endParaRPr lang="en-US" sz="1600"/>
          </a:p>
        </p:txBody>
      </p:sp>
      <p:sp>
        <p:nvSpPr>
          <p:cNvPr id="7" name="Rectangle 6"/>
          <p:cNvSpPr/>
          <p:nvPr/>
        </p:nvSpPr>
        <p:spPr>
          <a:xfrm>
            <a:off x="650582" y="4190428"/>
            <a:ext cx="3531736" cy="369332"/>
          </a:xfrm>
          <a:prstGeom prst="rect">
            <a:avLst/>
          </a:prstGeom>
        </p:spPr>
        <p:txBody>
          <a:bodyPr wrap="none">
            <a:spAutoFit/>
          </a:bodyPr>
          <a:lstStyle/>
          <a:p>
            <a:r>
              <a:rPr lang="en-US" b="1">
                <a:solidFill>
                  <a:srgbClr val="001D35"/>
                </a:solidFill>
                <a:latin typeface="Google Sans"/>
              </a:rPr>
              <a:t>Đặc điểm và chức năng </a:t>
            </a:r>
            <a:r>
              <a:rPr lang="en-US" b="1" smtClean="0">
                <a:solidFill>
                  <a:srgbClr val="001D35"/>
                </a:solidFill>
                <a:latin typeface="Google Sans"/>
              </a:rPr>
              <a:t>chính:</a:t>
            </a:r>
            <a:endParaRPr lang="en-US" b="1"/>
          </a:p>
        </p:txBody>
      </p:sp>
      <p:sp>
        <p:nvSpPr>
          <p:cNvPr id="19" name="Diamond 18"/>
          <p:cNvSpPr/>
          <p:nvPr/>
        </p:nvSpPr>
        <p:spPr>
          <a:xfrm>
            <a:off x="774221" y="47243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1082382" y="4639161"/>
            <a:ext cx="2852063" cy="369332"/>
          </a:xfrm>
          <a:prstGeom prst="rect">
            <a:avLst/>
          </a:prstGeom>
        </p:spPr>
        <p:txBody>
          <a:bodyPr wrap="none">
            <a:spAutoFit/>
          </a:bodyPr>
          <a:lstStyle/>
          <a:p>
            <a:r>
              <a:rPr lang="en-US"/>
              <a:t>Cấu trúc dữ liệu mạnh mẽ</a:t>
            </a:r>
          </a:p>
        </p:txBody>
      </p:sp>
      <p:sp>
        <p:nvSpPr>
          <p:cNvPr id="23" name="Diamond 22"/>
          <p:cNvSpPr/>
          <p:nvPr/>
        </p:nvSpPr>
        <p:spPr>
          <a:xfrm>
            <a:off x="774221" y="53085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1082382" y="5223361"/>
            <a:ext cx="1890261" cy="369332"/>
          </a:xfrm>
          <a:prstGeom prst="rect">
            <a:avLst/>
          </a:prstGeom>
        </p:spPr>
        <p:txBody>
          <a:bodyPr wrap="none">
            <a:spAutoFit/>
          </a:bodyPr>
          <a:lstStyle/>
          <a:p>
            <a:r>
              <a:rPr lang="en-US"/>
              <a:t>Tốc độ xử lý cao</a:t>
            </a:r>
          </a:p>
        </p:txBody>
      </p:sp>
      <p:sp>
        <p:nvSpPr>
          <p:cNvPr id="25" name="Diamond 24"/>
          <p:cNvSpPr/>
          <p:nvPr/>
        </p:nvSpPr>
        <p:spPr>
          <a:xfrm>
            <a:off x="4838221" y="47243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146382" y="4639161"/>
            <a:ext cx="2492990" cy="369332"/>
          </a:xfrm>
          <a:prstGeom prst="rect">
            <a:avLst/>
          </a:prstGeom>
        </p:spPr>
        <p:txBody>
          <a:bodyPr wrap="none">
            <a:spAutoFit/>
          </a:bodyPr>
          <a:lstStyle/>
          <a:p>
            <a:r>
              <a:rPr lang="en-US"/>
              <a:t>Hàm toán học cấp cao</a:t>
            </a:r>
          </a:p>
        </p:txBody>
      </p:sp>
      <p:sp>
        <p:nvSpPr>
          <p:cNvPr id="27" name="Diamond 26"/>
          <p:cNvSpPr/>
          <p:nvPr/>
        </p:nvSpPr>
        <p:spPr>
          <a:xfrm>
            <a:off x="4838221" y="53085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146382" y="5223361"/>
            <a:ext cx="1762021" cy="369332"/>
          </a:xfrm>
          <a:prstGeom prst="rect">
            <a:avLst/>
          </a:prstGeom>
        </p:spPr>
        <p:txBody>
          <a:bodyPr wrap="none">
            <a:spAutoFit/>
          </a:bodyPr>
          <a:lstStyle/>
          <a:p>
            <a:r>
              <a:rPr lang="vi-VN"/>
              <a:t>Thư viện cốt lõi</a:t>
            </a:r>
            <a:endParaRPr lang="en-US"/>
          </a:p>
        </p:txBody>
      </p:sp>
    </p:spTree>
    <p:extLst>
      <p:ext uri="{BB962C8B-B14F-4D97-AF65-F5344CB8AC3E}">
        <p14:creationId xmlns:p14="http://schemas.microsoft.com/office/powerpoint/2010/main" val="28246270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13</a:t>
            </a:fld>
            <a:endParaRPr lang="en-US"/>
          </a:p>
        </p:txBody>
      </p:sp>
      <p:sp>
        <p:nvSpPr>
          <p:cNvPr id="16" name="Rectangle 15"/>
          <p:cNvSpPr/>
          <p:nvPr/>
        </p:nvSpPr>
        <p:spPr>
          <a:xfrm>
            <a:off x="3077155" y="1994561"/>
            <a:ext cx="5550379" cy="1815882"/>
          </a:xfrm>
          <a:prstGeom prst="rect">
            <a:avLst/>
          </a:prstGeom>
        </p:spPr>
        <p:txBody>
          <a:bodyPr wrap="square">
            <a:spAutoFit/>
          </a:bodyPr>
          <a:lstStyle/>
          <a:p>
            <a:r>
              <a:rPr lang="vi-VN" sz="1600" b="1"/>
              <a:t>Pandas</a:t>
            </a:r>
            <a:r>
              <a:rPr lang="vi-VN" sz="1600"/>
              <a:t> là một thư viện mã nguồn mở và miễn phí cho ngôn ngữ lập trình Python, được sử dụng chủ yếu cho việc xử lý và phân tích dữ liệu có cấu trúc. Nó cung cấp các cấu trúc dữ liệu hiệu suất cao như DataFrame (bảng dữ liệu 2 chiều) và các công cụ mạnh mẽ để thao tác, làm sạch, nhóm và phân tích dữ liệu một cách nhanh chóng và dễ dàng. </a:t>
            </a:r>
            <a:endParaRPr lang="en-US" sz="1600"/>
          </a:p>
        </p:txBody>
      </p:sp>
      <p:sp>
        <p:nvSpPr>
          <p:cNvPr id="7" name="Rectangle 6"/>
          <p:cNvSpPr/>
          <p:nvPr/>
        </p:nvSpPr>
        <p:spPr>
          <a:xfrm>
            <a:off x="650582" y="4190428"/>
            <a:ext cx="3531736" cy="369332"/>
          </a:xfrm>
          <a:prstGeom prst="rect">
            <a:avLst/>
          </a:prstGeom>
        </p:spPr>
        <p:txBody>
          <a:bodyPr wrap="none">
            <a:spAutoFit/>
          </a:bodyPr>
          <a:lstStyle/>
          <a:p>
            <a:r>
              <a:rPr lang="en-US" b="1">
                <a:solidFill>
                  <a:srgbClr val="001D35"/>
                </a:solidFill>
                <a:latin typeface="Google Sans"/>
              </a:rPr>
              <a:t>Đặc điểm và chức năng </a:t>
            </a:r>
            <a:r>
              <a:rPr lang="en-US" b="1" smtClean="0">
                <a:solidFill>
                  <a:srgbClr val="001D35"/>
                </a:solidFill>
                <a:latin typeface="Google Sans"/>
              </a:rPr>
              <a:t>chính:</a:t>
            </a:r>
            <a:endParaRPr lang="en-US" b="1"/>
          </a:p>
        </p:txBody>
      </p:sp>
      <p:sp>
        <p:nvSpPr>
          <p:cNvPr id="19" name="Diamond 18"/>
          <p:cNvSpPr/>
          <p:nvPr/>
        </p:nvSpPr>
        <p:spPr>
          <a:xfrm>
            <a:off x="774221" y="47243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1082382" y="4639161"/>
            <a:ext cx="3456395" cy="369332"/>
          </a:xfrm>
          <a:prstGeom prst="rect">
            <a:avLst/>
          </a:prstGeom>
        </p:spPr>
        <p:txBody>
          <a:bodyPr wrap="none">
            <a:spAutoFit/>
          </a:bodyPr>
          <a:lstStyle/>
          <a:p>
            <a:r>
              <a:rPr lang="en-US"/>
              <a:t>Cấu trúc dữ </a:t>
            </a:r>
            <a:r>
              <a:rPr lang="en-US" smtClean="0"/>
              <a:t>liệu: </a:t>
            </a:r>
            <a:r>
              <a:rPr lang="en-US" sz="1400" smtClean="0"/>
              <a:t>Series, DataFrame</a:t>
            </a:r>
            <a:endParaRPr lang="en-US" sz="1400"/>
          </a:p>
        </p:txBody>
      </p:sp>
      <p:sp>
        <p:nvSpPr>
          <p:cNvPr id="23" name="Diamond 22"/>
          <p:cNvSpPr/>
          <p:nvPr/>
        </p:nvSpPr>
        <p:spPr>
          <a:xfrm>
            <a:off x="774221" y="53085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1082382" y="5223361"/>
            <a:ext cx="1890261" cy="369332"/>
          </a:xfrm>
          <a:prstGeom prst="rect">
            <a:avLst/>
          </a:prstGeom>
        </p:spPr>
        <p:txBody>
          <a:bodyPr wrap="none">
            <a:spAutoFit/>
          </a:bodyPr>
          <a:lstStyle/>
          <a:p>
            <a:r>
              <a:rPr lang="en-US"/>
              <a:t>Tốc độ xử lý cao</a:t>
            </a:r>
          </a:p>
        </p:txBody>
      </p:sp>
      <p:sp>
        <p:nvSpPr>
          <p:cNvPr id="25" name="Diamond 24"/>
          <p:cNvSpPr/>
          <p:nvPr/>
        </p:nvSpPr>
        <p:spPr>
          <a:xfrm>
            <a:off x="4838221" y="47243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146382" y="4639161"/>
            <a:ext cx="2787943" cy="369332"/>
          </a:xfrm>
          <a:prstGeom prst="rect">
            <a:avLst/>
          </a:prstGeom>
        </p:spPr>
        <p:txBody>
          <a:bodyPr wrap="none">
            <a:spAutoFit/>
          </a:bodyPr>
          <a:lstStyle/>
          <a:p>
            <a:r>
              <a:rPr lang="en-US"/>
              <a:t>Xử lý và làm sạch dữ liệu</a:t>
            </a:r>
          </a:p>
        </p:txBody>
      </p:sp>
      <p:sp>
        <p:nvSpPr>
          <p:cNvPr id="27" name="Diamond 26"/>
          <p:cNvSpPr/>
          <p:nvPr/>
        </p:nvSpPr>
        <p:spPr>
          <a:xfrm>
            <a:off x="4838221" y="53085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146382" y="5223361"/>
            <a:ext cx="2018501" cy="369332"/>
          </a:xfrm>
          <a:prstGeom prst="rect">
            <a:avLst/>
          </a:prstGeom>
        </p:spPr>
        <p:txBody>
          <a:bodyPr wrap="none">
            <a:spAutoFit/>
          </a:bodyPr>
          <a:lstStyle/>
          <a:p>
            <a:r>
              <a:rPr lang="vi-VN"/>
              <a:t>Thao tác linh hoạt</a:t>
            </a:r>
            <a:endParaRPr lang="en-US"/>
          </a:p>
        </p:txBody>
      </p:sp>
      <p:pic>
        <p:nvPicPr>
          <p:cNvPr id="7170" name="Picture 2" descr="The complete guide to pandas DataFra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981" y="2260066"/>
            <a:ext cx="2489001" cy="1003898"/>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2"/>
          <p:cNvSpPr txBox="1">
            <a:spLocks/>
          </p:cNvSpPr>
          <p:nvPr/>
        </p:nvSpPr>
        <p:spPr>
          <a:xfrm>
            <a:off x="242658" y="835901"/>
            <a:ext cx="8454964" cy="424732"/>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400" b="1" kern="1200" dirty="0" smtClean="0">
                <a:solidFill>
                  <a:srgbClr val="64C7E9"/>
                </a:solidFill>
                <a:latin typeface="+mn-lt"/>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mtClean="0"/>
              <a:t>9.2 Công cụ phỗ biến trong Data Science</a:t>
            </a:r>
            <a:endParaRPr lang="en-US"/>
          </a:p>
        </p:txBody>
      </p:sp>
    </p:spTree>
    <p:extLst>
      <p:ext uri="{BB962C8B-B14F-4D97-AF65-F5344CB8AC3E}">
        <p14:creationId xmlns:p14="http://schemas.microsoft.com/office/powerpoint/2010/main" val="20877108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14</a:t>
            </a:fld>
            <a:endParaRPr lang="en-US"/>
          </a:p>
        </p:txBody>
      </p:sp>
      <p:sp>
        <p:nvSpPr>
          <p:cNvPr id="3" name="Text Placeholder 2"/>
          <p:cNvSpPr>
            <a:spLocks noGrp="1"/>
          </p:cNvSpPr>
          <p:nvPr>
            <p:ph type="body" sz="quarter" idx="13"/>
          </p:nvPr>
        </p:nvSpPr>
        <p:spPr/>
        <p:txBody>
          <a:bodyPr/>
          <a:lstStyle/>
          <a:p>
            <a:r>
              <a:rPr lang="en-US"/>
              <a:t>9.2 Công cụ phỗ biến trong Data Science</a:t>
            </a:r>
          </a:p>
        </p:txBody>
      </p:sp>
      <p:sp>
        <p:nvSpPr>
          <p:cNvPr id="16" name="Rectangle 15"/>
          <p:cNvSpPr/>
          <p:nvPr/>
        </p:nvSpPr>
        <p:spPr>
          <a:xfrm>
            <a:off x="3077155" y="1994561"/>
            <a:ext cx="5550379" cy="1569660"/>
          </a:xfrm>
          <a:prstGeom prst="rect">
            <a:avLst/>
          </a:prstGeom>
        </p:spPr>
        <p:txBody>
          <a:bodyPr wrap="square">
            <a:spAutoFit/>
          </a:bodyPr>
          <a:lstStyle/>
          <a:p>
            <a:r>
              <a:rPr lang="vi-VN" sz="1600" b="1"/>
              <a:t>Matplotlib</a:t>
            </a:r>
            <a:r>
              <a:rPr lang="vi-VN" sz="1600"/>
              <a:t> là một thư viện lập trình trong Python được sử dụng để tạo biểu đồ và đồ thị một cách linh hoạt, giúp trực quan hóa dữ liệu. Thư viện này hỗ trợ tạo nhiều loại biểu đồ khác nhau như biểu đồ đường, cột, hình tròn, và cho phép người dùng tùy chỉnh chi tiết như tiêu đề, trục, màu sắc, cũng như lưu biểu đồ dưới dạng tệp hình ảnh</a:t>
            </a:r>
            <a:endParaRPr lang="en-US" sz="1600"/>
          </a:p>
        </p:txBody>
      </p:sp>
      <p:sp>
        <p:nvSpPr>
          <p:cNvPr id="7" name="Rectangle 6"/>
          <p:cNvSpPr/>
          <p:nvPr/>
        </p:nvSpPr>
        <p:spPr>
          <a:xfrm>
            <a:off x="650582" y="4190428"/>
            <a:ext cx="3531736" cy="369332"/>
          </a:xfrm>
          <a:prstGeom prst="rect">
            <a:avLst/>
          </a:prstGeom>
        </p:spPr>
        <p:txBody>
          <a:bodyPr wrap="none">
            <a:spAutoFit/>
          </a:bodyPr>
          <a:lstStyle/>
          <a:p>
            <a:r>
              <a:rPr lang="en-US" b="1">
                <a:solidFill>
                  <a:srgbClr val="001D35"/>
                </a:solidFill>
                <a:latin typeface="Google Sans"/>
              </a:rPr>
              <a:t>Đặc điểm và chức năng </a:t>
            </a:r>
            <a:r>
              <a:rPr lang="en-US" b="1" smtClean="0">
                <a:solidFill>
                  <a:srgbClr val="001D35"/>
                </a:solidFill>
                <a:latin typeface="Google Sans"/>
              </a:rPr>
              <a:t>chính:</a:t>
            </a:r>
            <a:endParaRPr lang="en-US" b="1"/>
          </a:p>
        </p:txBody>
      </p:sp>
      <p:sp>
        <p:nvSpPr>
          <p:cNvPr id="19" name="Diamond 18"/>
          <p:cNvSpPr/>
          <p:nvPr/>
        </p:nvSpPr>
        <p:spPr>
          <a:xfrm>
            <a:off x="774221" y="47243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1082382" y="4639161"/>
            <a:ext cx="2458750" cy="369332"/>
          </a:xfrm>
          <a:prstGeom prst="rect">
            <a:avLst/>
          </a:prstGeom>
        </p:spPr>
        <p:txBody>
          <a:bodyPr wrap="none">
            <a:spAutoFit/>
          </a:bodyPr>
          <a:lstStyle/>
          <a:p>
            <a:r>
              <a:rPr lang="en-US"/>
              <a:t>Trực quan hóa dữ liệu</a:t>
            </a:r>
            <a:endParaRPr lang="en-US" sz="1400"/>
          </a:p>
        </p:txBody>
      </p:sp>
      <p:sp>
        <p:nvSpPr>
          <p:cNvPr id="23" name="Diamond 22"/>
          <p:cNvSpPr/>
          <p:nvPr/>
        </p:nvSpPr>
        <p:spPr>
          <a:xfrm>
            <a:off x="774221" y="53085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1082382" y="5223361"/>
            <a:ext cx="1774845" cy="369332"/>
          </a:xfrm>
          <a:prstGeom prst="rect">
            <a:avLst/>
          </a:prstGeom>
        </p:spPr>
        <p:txBody>
          <a:bodyPr wrap="none">
            <a:spAutoFit/>
          </a:bodyPr>
          <a:lstStyle/>
          <a:p>
            <a:r>
              <a:rPr lang="vi-VN"/>
              <a:t>Lưu trữ biểu đồ</a:t>
            </a:r>
            <a:endParaRPr lang="en-US"/>
          </a:p>
        </p:txBody>
      </p:sp>
      <p:sp>
        <p:nvSpPr>
          <p:cNvPr id="25" name="Diamond 24"/>
          <p:cNvSpPr/>
          <p:nvPr/>
        </p:nvSpPr>
        <p:spPr>
          <a:xfrm>
            <a:off x="4838221" y="47243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146382" y="4639161"/>
            <a:ext cx="1890261" cy="369332"/>
          </a:xfrm>
          <a:prstGeom prst="rect">
            <a:avLst/>
          </a:prstGeom>
        </p:spPr>
        <p:txBody>
          <a:bodyPr wrap="none">
            <a:spAutoFit/>
          </a:bodyPr>
          <a:lstStyle/>
          <a:p>
            <a:r>
              <a:rPr lang="en-US"/>
              <a:t>Tùy biến biểu đồ</a:t>
            </a:r>
          </a:p>
        </p:txBody>
      </p:sp>
      <p:sp>
        <p:nvSpPr>
          <p:cNvPr id="27" name="Diamond 26"/>
          <p:cNvSpPr/>
          <p:nvPr/>
        </p:nvSpPr>
        <p:spPr>
          <a:xfrm>
            <a:off x="4838221" y="53085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146382" y="5223361"/>
            <a:ext cx="2348720" cy="369332"/>
          </a:xfrm>
          <a:prstGeom prst="rect">
            <a:avLst/>
          </a:prstGeom>
        </p:spPr>
        <p:txBody>
          <a:bodyPr wrap="none">
            <a:spAutoFit/>
          </a:bodyPr>
          <a:lstStyle/>
          <a:p>
            <a:r>
              <a:rPr lang="vi-VN"/>
              <a:t>Linh hoạt và tích hợp</a:t>
            </a:r>
            <a:endParaRPr lang="en-US"/>
          </a:p>
        </p:txBody>
      </p:sp>
      <p:pic>
        <p:nvPicPr>
          <p:cNvPr id="10242" name="Picture 2" descr="Matplotlib: Part 5 — Working with Images | by Ebrahim Mousavi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225" y="2313690"/>
            <a:ext cx="2715930" cy="905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5320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15</a:t>
            </a:fld>
            <a:endParaRPr lang="en-US"/>
          </a:p>
        </p:txBody>
      </p:sp>
      <p:sp>
        <p:nvSpPr>
          <p:cNvPr id="3" name="Text Placeholder 2"/>
          <p:cNvSpPr>
            <a:spLocks noGrp="1"/>
          </p:cNvSpPr>
          <p:nvPr>
            <p:ph type="body" sz="quarter" idx="13"/>
          </p:nvPr>
        </p:nvSpPr>
        <p:spPr/>
        <p:txBody>
          <a:bodyPr/>
          <a:lstStyle/>
          <a:p>
            <a:r>
              <a:rPr lang="en-US"/>
              <a:t>9.2 Công cụ phỗ biến trong Data Science</a:t>
            </a:r>
          </a:p>
        </p:txBody>
      </p:sp>
      <p:sp>
        <p:nvSpPr>
          <p:cNvPr id="16" name="Rectangle 15"/>
          <p:cNvSpPr/>
          <p:nvPr/>
        </p:nvSpPr>
        <p:spPr>
          <a:xfrm>
            <a:off x="3077155" y="1994561"/>
            <a:ext cx="5550379" cy="1077218"/>
          </a:xfrm>
          <a:prstGeom prst="rect">
            <a:avLst/>
          </a:prstGeom>
        </p:spPr>
        <p:txBody>
          <a:bodyPr wrap="square">
            <a:spAutoFit/>
          </a:bodyPr>
          <a:lstStyle/>
          <a:p>
            <a:r>
              <a:rPr lang="vi-VN" sz="1600" b="1"/>
              <a:t>Seaborn</a:t>
            </a:r>
            <a:r>
              <a:rPr lang="vi-VN" sz="1600"/>
              <a:t> là một thư viện trực quan hóa dữ liệu mạnh mẽ trong Python, được xây dựng dựa trên nền tảng của Matplotlib, cho phép tạo ra các biểu đồ thống kê đẹp mắt và phức tạp chỉ với vài dòng mã</a:t>
            </a:r>
            <a:endParaRPr lang="en-US" sz="1600"/>
          </a:p>
        </p:txBody>
      </p:sp>
      <p:sp>
        <p:nvSpPr>
          <p:cNvPr id="7" name="Rectangle 6"/>
          <p:cNvSpPr/>
          <p:nvPr/>
        </p:nvSpPr>
        <p:spPr>
          <a:xfrm>
            <a:off x="650582" y="4190428"/>
            <a:ext cx="3531736" cy="369332"/>
          </a:xfrm>
          <a:prstGeom prst="rect">
            <a:avLst/>
          </a:prstGeom>
        </p:spPr>
        <p:txBody>
          <a:bodyPr wrap="none">
            <a:spAutoFit/>
          </a:bodyPr>
          <a:lstStyle/>
          <a:p>
            <a:r>
              <a:rPr lang="en-US" b="1">
                <a:solidFill>
                  <a:srgbClr val="001D35"/>
                </a:solidFill>
                <a:latin typeface="Google Sans"/>
              </a:rPr>
              <a:t>Đặc điểm và chức năng </a:t>
            </a:r>
            <a:r>
              <a:rPr lang="en-US" b="1" smtClean="0">
                <a:solidFill>
                  <a:srgbClr val="001D35"/>
                </a:solidFill>
                <a:latin typeface="Google Sans"/>
              </a:rPr>
              <a:t>chính:</a:t>
            </a:r>
            <a:endParaRPr lang="en-US" b="1"/>
          </a:p>
        </p:txBody>
      </p:sp>
      <p:sp>
        <p:nvSpPr>
          <p:cNvPr id="19" name="Diamond 18"/>
          <p:cNvSpPr/>
          <p:nvPr/>
        </p:nvSpPr>
        <p:spPr>
          <a:xfrm>
            <a:off x="774221" y="47243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1082382" y="4639161"/>
            <a:ext cx="2698175" cy="369332"/>
          </a:xfrm>
          <a:prstGeom prst="rect">
            <a:avLst/>
          </a:prstGeom>
        </p:spPr>
        <p:txBody>
          <a:bodyPr wrap="none">
            <a:spAutoFit/>
          </a:bodyPr>
          <a:lstStyle/>
          <a:p>
            <a:r>
              <a:rPr lang="en-US"/>
              <a:t>Xây dựng trên Matplotlib</a:t>
            </a:r>
            <a:endParaRPr lang="en-US" sz="1400"/>
          </a:p>
        </p:txBody>
      </p:sp>
      <p:sp>
        <p:nvSpPr>
          <p:cNvPr id="23" name="Diamond 22"/>
          <p:cNvSpPr/>
          <p:nvPr/>
        </p:nvSpPr>
        <p:spPr>
          <a:xfrm>
            <a:off x="774221" y="53085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1082382" y="5223361"/>
            <a:ext cx="2332690" cy="369332"/>
          </a:xfrm>
          <a:prstGeom prst="rect">
            <a:avLst/>
          </a:prstGeom>
        </p:spPr>
        <p:txBody>
          <a:bodyPr wrap="none">
            <a:spAutoFit/>
          </a:bodyPr>
          <a:lstStyle/>
          <a:p>
            <a:r>
              <a:rPr lang="vi-VN"/>
              <a:t>Tích hợp với Pandas</a:t>
            </a:r>
            <a:endParaRPr lang="en-US"/>
          </a:p>
        </p:txBody>
      </p:sp>
      <p:sp>
        <p:nvSpPr>
          <p:cNvPr id="25" name="Diamond 24"/>
          <p:cNvSpPr/>
          <p:nvPr/>
        </p:nvSpPr>
        <p:spPr>
          <a:xfrm>
            <a:off x="4838221" y="47243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146382" y="4639161"/>
            <a:ext cx="3407728" cy="369332"/>
          </a:xfrm>
          <a:prstGeom prst="rect">
            <a:avLst/>
          </a:prstGeom>
        </p:spPr>
        <p:txBody>
          <a:bodyPr wrap="none">
            <a:spAutoFit/>
          </a:bodyPr>
          <a:lstStyle/>
          <a:p>
            <a:r>
              <a:rPr lang="en-US"/>
              <a:t>Trực quan hóa dữ liệu thống kê</a:t>
            </a:r>
          </a:p>
        </p:txBody>
      </p:sp>
      <p:sp>
        <p:nvSpPr>
          <p:cNvPr id="27" name="Diamond 26"/>
          <p:cNvSpPr/>
          <p:nvPr/>
        </p:nvSpPr>
        <p:spPr>
          <a:xfrm>
            <a:off x="4838221" y="5308502"/>
            <a:ext cx="184666" cy="184666"/>
          </a:xfrm>
          <a:prstGeom prst="diamond">
            <a:avLst/>
          </a:prstGeom>
          <a:solidFill>
            <a:srgbClr val="3772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146382" y="5223361"/>
            <a:ext cx="2467342" cy="369332"/>
          </a:xfrm>
          <a:prstGeom prst="rect">
            <a:avLst/>
          </a:prstGeom>
        </p:spPr>
        <p:txBody>
          <a:bodyPr wrap="none">
            <a:spAutoFit/>
          </a:bodyPr>
          <a:lstStyle/>
          <a:p>
            <a:r>
              <a:rPr lang="vi-VN"/>
              <a:t>Linh hoạt và </a:t>
            </a:r>
            <a:r>
              <a:rPr lang="en-US" smtClean="0"/>
              <a:t>mạnh mẽ</a:t>
            </a:r>
            <a:endParaRPr lang="en-US"/>
          </a:p>
        </p:txBody>
      </p:sp>
      <p:pic>
        <p:nvPicPr>
          <p:cNvPr id="11266" name="Picture 2" descr="Discussion of seaborn logo · Issue #2243 · mwaskom/seabor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221" y="1919959"/>
            <a:ext cx="2037292" cy="2037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3319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16</a:t>
            </a:fld>
            <a:endParaRPr lang="en-US"/>
          </a:p>
        </p:txBody>
      </p:sp>
      <p:sp>
        <p:nvSpPr>
          <p:cNvPr id="3" name="Text Placeholder 2"/>
          <p:cNvSpPr>
            <a:spLocks noGrp="1"/>
          </p:cNvSpPr>
          <p:nvPr>
            <p:ph type="body" sz="quarter" idx="13"/>
          </p:nvPr>
        </p:nvSpPr>
        <p:spPr>
          <a:xfrm>
            <a:off x="301925" y="851289"/>
            <a:ext cx="8454964" cy="424732"/>
          </a:xfrm>
        </p:spPr>
        <p:txBody>
          <a:bodyPr/>
          <a:lstStyle/>
          <a:p>
            <a:r>
              <a:rPr lang="en-US" smtClean="0"/>
              <a:t>9.3 </a:t>
            </a:r>
            <a:r>
              <a:rPr lang="vi-VN" dirty="0"/>
              <a:t>Cài đặt </a:t>
            </a:r>
            <a:r>
              <a:rPr lang="vi-VN"/>
              <a:t>Môi </a:t>
            </a:r>
            <a:r>
              <a:rPr lang="vi-VN" smtClean="0"/>
              <a:t>trường</a:t>
            </a:r>
            <a:r>
              <a:rPr lang="en-US"/>
              <a:t> </a:t>
            </a:r>
            <a:r>
              <a:rPr lang="en-US" smtClean="0"/>
              <a:t>học </a:t>
            </a:r>
            <a:r>
              <a:rPr lang="en-US"/>
              <a:t>Data Science</a:t>
            </a:r>
          </a:p>
        </p:txBody>
      </p:sp>
      <p:sp>
        <p:nvSpPr>
          <p:cNvPr id="7" name="Rectangle 6"/>
          <p:cNvSpPr/>
          <p:nvPr/>
        </p:nvSpPr>
        <p:spPr>
          <a:xfrm>
            <a:off x="1082382" y="1591727"/>
            <a:ext cx="2464136" cy="369332"/>
          </a:xfrm>
          <a:prstGeom prst="rect">
            <a:avLst/>
          </a:prstGeom>
        </p:spPr>
        <p:txBody>
          <a:bodyPr wrap="none">
            <a:spAutoFit/>
          </a:bodyPr>
          <a:lstStyle/>
          <a:p>
            <a:r>
              <a:rPr lang="en-US" b="1"/>
              <a:t>Anaconda Navigator</a:t>
            </a:r>
            <a:endParaRPr lang="en-US"/>
          </a:p>
        </p:txBody>
      </p:sp>
      <p:sp>
        <p:nvSpPr>
          <p:cNvPr id="22" name="Rectangle 21"/>
          <p:cNvSpPr/>
          <p:nvPr/>
        </p:nvSpPr>
        <p:spPr>
          <a:xfrm>
            <a:off x="1082382" y="2259259"/>
            <a:ext cx="5865773" cy="369332"/>
          </a:xfrm>
          <a:prstGeom prst="rect">
            <a:avLst/>
          </a:prstGeom>
        </p:spPr>
        <p:txBody>
          <a:bodyPr wrap="none">
            <a:spAutoFit/>
          </a:bodyPr>
          <a:lstStyle/>
          <a:p>
            <a:r>
              <a:rPr lang="en-US"/>
              <a:t>Download tại link: </a:t>
            </a:r>
            <a:r>
              <a:rPr lang="en-US" smtClean="0">
                <a:hlinkClick r:id="rId2"/>
              </a:rPr>
              <a:t>https</a:t>
            </a:r>
            <a:r>
              <a:rPr lang="en-US">
                <a:hlinkClick r:id="rId2"/>
              </a:rPr>
              <a:t>://</a:t>
            </a:r>
            <a:r>
              <a:rPr lang="en-US" smtClean="0">
                <a:hlinkClick r:id="rId2"/>
              </a:rPr>
              <a:t>www.anaconda.com/download</a:t>
            </a:r>
            <a:endParaRPr lang="en-US" sz="1400"/>
          </a:p>
        </p:txBody>
      </p:sp>
      <p:sp>
        <p:nvSpPr>
          <p:cNvPr id="15" name="Oval 14"/>
          <p:cNvSpPr/>
          <p:nvPr/>
        </p:nvSpPr>
        <p:spPr>
          <a:xfrm>
            <a:off x="505167" y="1557650"/>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1</a:t>
            </a:r>
            <a:endParaRPr lang="en-US" b="1" dirty="0"/>
          </a:p>
        </p:txBody>
      </p:sp>
      <p:sp>
        <p:nvSpPr>
          <p:cNvPr id="17" name="Rectangle 16"/>
          <p:cNvSpPr/>
          <p:nvPr/>
        </p:nvSpPr>
        <p:spPr>
          <a:xfrm>
            <a:off x="1082382" y="3251194"/>
            <a:ext cx="3621504" cy="369332"/>
          </a:xfrm>
          <a:prstGeom prst="rect">
            <a:avLst/>
          </a:prstGeom>
        </p:spPr>
        <p:txBody>
          <a:bodyPr wrap="none">
            <a:spAutoFit/>
          </a:bodyPr>
          <a:lstStyle/>
          <a:p>
            <a:r>
              <a:rPr lang="en-US" b="1" smtClean="0"/>
              <a:t>Jupyter Extention cho VS Code</a:t>
            </a:r>
            <a:endParaRPr lang="en-US"/>
          </a:p>
        </p:txBody>
      </p:sp>
      <p:sp>
        <p:nvSpPr>
          <p:cNvPr id="18" name="Oval 17"/>
          <p:cNvSpPr/>
          <p:nvPr/>
        </p:nvSpPr>
        <p:spPr>
          <a:xfrm>
            <a:off x="505167" y="3217117"/>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2</a:t>
            </a:r>
            <a:endParaRPr lang="en-US" b="1" dirty="0"/>
          </a:p>
        </p:txBody>
      </p:sp>
      <p:sp>
        <p:nvSpPr>
          <p:cNvPr id="20" name="Rectangle 19"/>
          <p:cNvSpPr/>
          <p:nvPr/>
        </p:nvSpPr>
        <p:spPr>
          <a:xfrm>
            <a:off x="1082382" y="4563528"/>
            <a:ext cx="1685077" cy="369332"/>
          </a:xfrm>
          <a:prstGeom prst="rect">
            <a:avLst/>
          </a:prstGeom>
        </p:spPr>
        <p:txBody>
          <a:bodyPr wrap="none">
            <a:spAutoFit/>
          </a:bodyPr>
          <a:lstStyle/>
          <a:p>
            <a:r>
              <a:rPr lang="en-US" b="1" smtClean="0"/>
              <a:t>Google Colab</a:t>
            </a:r>
            <a:endParaRPr lang="en-US"/>
          </a:p>
        </p:txBody>
      </p:sp>
      <p:sp>
        <p:nvSpPr>
          <p:cNvPr id="21" name="Oval 20"/>
          <p:cNvSpPr/>
          <p:nvPr/>
        </p:nvSpPr>
        <p:spPr>
          <a:xfrm>
            <a:off x="505167" y="4529451"/>
            <a:ext cx="453446" cy="437486"/>
          </a:xfrm>
          <a:prstGeom prst="ellipse">
            <a:avLst/>
          </a:prstGeom>
          <a:gradFill flip="none" rotWithShape="1">
            <a:gsLst>
              <a:gs pos="15000">
                <a:srgbClr val="67C7DF"/>
              </a:gs>
              <a:gs pos="100000">
                <a:srgbClr val="5EB130"/>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smtClean="0"/>
              <a:t>3</a:t>
            </a:r>
            <a:endParaRPr lang="en-US" b="1" dirty="0"/>
          </a:p>
        </p:txBody>
      </p:sp>
      <p:sp>
        <p:nvSpPr>
          <p:cNvPr id="29" name="Rectangle 28"/>
          <p:cNvSpPr/>
          <p:nvPr/>
        </p:nvSpPr>
        <p:spPr>
          <a:xfrm>
            <a:off x="1082382" y="3777570"/>
            <a:ext cx="4800353" cy="369332"/>
          </a:xfrm>
          <a:prstGeom prst="rect">
            <a:avLst/>
          </a:prstGeom>
        </p:spPr>
        <p:txBody>
          <a:bodyPr wrap="none">
            <a:spAutoFit/>
          </a:bodyPr>
          <a:lstStyle/>
          <a:p>
            <a:r>
              <a:rPr lang="en-US" smtClean="0"/>
              <a:t>Menu View </a:t>
            </a:r>
            <a:r>
              <a:rPr lang="en-US" smtClean="0">
                <a:sym typeface="Wingdings" panose="05000000000000000000" pitchFamily="2" charset="2"/>
              </a:rPr>
              <a:t> Extentions  Search “Jupyter”</a:t>
            </a:r>
            <a:endParaRPr lang="en-US" sz="1400"/>
          </a:p>
        </p:txBody>
      </p:sp>
      <p:sp>
        <p:nvSpPr>
          <p:cNvPr id="30" name="Rectangle 29"/>
          <p:cNvSpPr/>
          <p:nvPr/>
        </p:nvSpPr>
        <p:spPr>
          <a:xfrm>
            <a:off x="1082382" y="5205659"/>
            <a:ext cx="4262705" cy="369332"/>
          </a:xfrm>
          <a:prstGeom prst="rect">
            <a:avLst/>
          </a:prstGeom>
        </p:spPr>
        <p:txBody>
          <a:bodyPr wrap="none">
            <a:spAutoFit/>
          </a:bodyPr>
          <a:lstStyle/>
          <a:p>
            <a:r>
              <a:rPr lang="en-US"/>
              <a:t>Link</a:t>
            </a:r>
            <a:r>
              <a:rPr lang="en-US" smtClean="0"/>
              <a:t>: </a:t>
            </a:r>
            <a:r>
              <a:rPr lang="en-US" smtClean="0">
                <a:hlinkClick r:id="rId3"/>
              </a:rPr>
              <a:t>https</a:t>
            </a:r>
            <a:r>
              <a:rPr lang="en-US">
                <a:hlinkClick r:id="rId3"/>
              </a:rPr>
              <a:t>://colab.research.google.com</a:t>
            </a:r>
            <a:r>
              <a:rPr lang="en-US"/>
              <a:t> </a:t>
            </a:r>
            <a:endParaRPr lang="en-US" sz="1400"/>
          </a:p>
        </p:txBody>
      </p:sp>
    </p:spTree>
    <p:extLst>
      <p:ext uri="{BB962C8B-B14F-4D97-AF65-F5344CB8AC3E}">
        <p14:creationId xmlns:p14="http://schemas.microsoft.com/office/powerpoint/2010/main" val="33179755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D9EC917-02A2-4152-9EE3-DFE2775A77C7}" type="slidenum">
              <a:rPr lang="en-US" smtClean="0"/>
              <a:pPr/>
              <a:t>17</a:t>
            </a:fld>
            <a:endParaRPr lang="en-US"/>
          </a:p>
        </p:txBody>
      </p:sp>
      <p:sp>
        <p:nvSpPr>
          <p:cNvPr id="3" name="Text Placeholder 2"/>
          <p:cNvSpPr>
            <a:spLocks noGrp="1"/>
          </p:cNvSpPr>
          <p:nvPr>
            <p:ph type="body" sz="quarter" idx="13"/>
          </p:nvPr>
        </p:nvSpPr>
        <p:spPr>
          <a:xfrm>
            <a:off x="301925" y="851289"/>
            <a:ext cx="8454964" cy="424732"/>
          </a:xfrm>
        </p:spPr>
        <p:txBody>
          <a:bodyPr/>
          <a:lstStyle/>
          <a:p>
            <a:r>
              <a:rPr lang="en-US" dirty="0" smtClean="0"/>
              <a:t>9.3 </a:t>
            </a:r>
            <a:r>
              <a:rPr lang="en-US" dirty="0" err="1" smtClean="0"/>
              <a:t>Thực</a:t>
            </a:r>
            <a:r>
              <a:rPr lang="en-US" dirty="0" smtClean="0"/>
              <a:t> </a:t>
            </a:r>
            <a:r>
              <a:rPr lang="en-US" dirty="0" err="1" smtClean="0"/>
              <a:t>hàn</a:t>
            </a:r>
            <a:r>
              <a:rPr lang="en-US" dirty="0" err="1" smtClean="0"/>
              <a:t>h</a:t>
            </a:r>
            <a:r>
              <a:rPr lang="en-US" dirty="0" smtClean="0"/>
              <a:t> </a:t>
            </a:r>
            <a:r>
              <a:rPr lang="en-US" dirty="0" err="1" smtClean="0"/>
              <a:t>trên</a:t>
            </a:r>
            <a:r>
              <a:rPr lang="en-US" dirty="0" smtClean="0"/>
              <a:t> </a:t>
            </a:r>
            <a:r>
              <a:rPr lang="en-US" dirty="0" err="1" smtClean="0"/>
              <a:t>công</a:t>
            </a:r>
            <a:r>
              <a:rPr lang="en-US" dirty="0" smtClean="0"/>
              <a:t> </a:t>
            </a:r>
            <a:r>
              <a:rPr lang="en-US" dirty="0" err="1" smtClean="0"/>
              <a:t>cụ</a:t>
            </a:r>
            <a:endParaRPr lang="en-US" dirty="0"/>
          </a:p>
        </p:txBody>
      </p:sp>
    </p:spTree>
    <p:extLst>
      <p:ext uri="{BB962C8B-B14F-4D97-AF65-F5344CB8AC3E}">
        <p14:creationId xmlns:p14="http://schemas.microsoft.com/office/powerpoint/2010/main" val="6458817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1339</TotalTime>
  <Words>1440</Words>
  <Application>Microsoft Office PowerPoint</Application>
  <PresentationFormat>On-screen Show (4:3)</PresentationFormat>
  <Paragraphs>176</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Google Sans</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Nobj</dc:creator>
  <cp:lastModifiedBy>nhan</cp:lastModifiedBy>
  <cp:revision>606</cp:revision>
  <dcterms:created xsi:type="dcterms:W3CDTF">2023-04-21T02:43:36Z</dcterms:created>
  <dcterms:modified xsi:type="dcterms:W3CDTF">2025-11-06T08:29:38Z</dcterms:modified>
</cp:coreProperties>
</file>