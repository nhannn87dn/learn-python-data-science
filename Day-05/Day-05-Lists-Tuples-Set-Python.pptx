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8" r:id="rId3"/>
    <p:sldId id="298" r:id="rId4"/>
    <p:sldId id="297" r:id="rId5"/>
    <p:sldId id="312" r:id="rId6"/>
    <p:sldId id="313" r:id="rId7"/>
    <p:sldId id="314" r:id="rId8"/>
    <p:sldId id="315" r:id="rId9"/>
    <p:sldId id="319" r:id="rId10"/>
    <p:sldId id="316" r:id="rId11"/>
    <p:sldId id="317" r:id="rId12"/>
    <p:sldId id="318" r:id="rId13"/>
    <p:sldId id="320" r:id="rId14"/>
    <p:sldId id="321" r:id="rId15"/>
    <p:sldId id="322" r:id="rId16"/>
    <p:sldId id="323" r:id="rId17"/>
    <p:sldId id="324" r:id="rId18"/>
    <p:sldId id="325" r:id="rId19"/>
    <p:sldId id="330" r:id="rId20"/>
    <p:sldId id="326" r:id="rId21"/>
    <p:sldId id="327" r:id="rId22"/>
    <p:sldId id="328" r:id="rId23"/>
    <p:sldId id="329" r:id="rId24"/>
    <p:sldId id="332" r:id="rId25"/>
    <p:sldId id="333" r:id="rId26"/>
    <p:sldId id="334" r:id="rId27"/>
    <p:sldId id="335" r:id="rId28"/>
    <p:sldId id="336" r:id="rId29"/>
    <p:sldId id="337" r:id="rId30"/>
    <p:sldId id="338" r:id="rId31"/>
    <p:sldId id="339" r:id="rId32"/>
    <p:sldId id="331" r:id="rId33"/>
    <p:sldId id="266"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C500"/>
    <a:srgbClr val="FECC36"/>
    <a:srgbClr val="3A75A6"/>
    <a:srgbClr val="64C0A7"/>
    <a:srgbClr val="67C7DF"/>
    <a:srgbClr val="5EB130"/>
    <a:srgbClr val="346E9E"/>
    <a:srgbClr val="60B659"/>
    <a:srgbClr val="377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85" autoAdjust="0"/>
    <p:restoredTop sz="94280" autoAdjust="0"/>
  </p:normalViewPr>
  <p:slideViewPr>
    <p:cSldViewPr snapToGrid="0">
      <p:cViewPr varScale="1">
        <p:scale>
          <a:sx n="113" d="100"/>
          <a:sy n="113" d="100"/>
        </p:scale>
        <p:origin x="15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DF935-9821-4834-9D99-7DEFA719F44D}" type="datetimeFigureOut">
              <a:rPr lang="en-US" smtClean="0"/>
              <a:t>10/30/2025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6C599-AFDD-4E70-A5D7-287F6F8DCAAF}" type="slidenum">
              <a:rPr lang="en-US" smtClean="0"/>
              <a:t>‹#›</a:t>
            </a:fld>
            <a:endParaRPr lang="en-US"/>
          </a:p>
        </p:txBody>
      </p:sp>
    </p:spTree>
    <p:extLst>
      <p:ext uri="{BB962C8B-B14F-4D97-AF65-F5344CB8AC3E}">
        <p14:creationId xmlns:p14="http://schemas.microsoft.com/office/powerpoint/2010/main" val="21959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43576" y="2133600"/>
            <a:ext cx="3400425" cy="47244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704975" cy="4724400"/>
          </a:xfrm>
          <a:prstGeom prst="rect">
            <a:avLst/>
          </a:prstGeom>
        </p:spPr>
      </p:pic>
    </p:spTree>
    <p:extLst>
      <p:ext uri="{BB962C8B-B14F-4D97-AF65-F5344CB8AC3E}">
        <p14:creationId xmlns:p14="http://schemas.microsoft.com/office/powerpoint/2010/main" val="2215930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0" smtClean="0">
                <a:solidFill>
                  <a:schemeClr val="bg1"/>
                </a:solidFill>
                <a:latin typeface="+mj-lt"/>
                <a:ea typeface="Roboto" pitchFamily="2" charset="0"/>
                <a:cs typeface="Arial" panose="020B0604020202020204" pitchFamily="34" charset="0"/>
              </a:rPr>
              <a:t>Học</a:t>
            </a:r>
            <a:r>
              <a:rPr lang="en-US" sz="2000" b="0" baseline="0" smtClean="0">
                <a:solidFill>
                  <a:schemeClr val="bg1"/>
                </a:solidFill>
                <a:latin typeface="+mj-lt"/>
                <a:ea typeface="Roboto" pitchFamily="2" charset="0"/>
                <a:cs typeface="Arial" panose="020B0604020202020204" pitchFamily="34" charset="0"/>
              </a:rPr>
              <a:t> l</a:t>
            </a:r>
            <a:r>
              <a:rPr lang="en-US" sz="2000" b="0" smtClean="0">
                <a:solidFill>
                  <a:schemeClr val="bg1"/>
                </a:solidFill>
                <a:latin typeface="+mj-lt"/>
                <a:ea typeface="Roboto" pitchFamily="2" charset="0"/>
                <a:cs typeface="Arial" panose="020B0604020202020204" pitchFamily="34" charset="0"/>
              </a:rPr>
              <a:t>ập</a:t>
            </a:r>
            <a:r>
              <a:rPr lang="en-US" sz="2000" b="0" baseline="0" smtClean="0">
                <a:solidFill>
                  <a:schemeClr val="bg1"/>
                </a:solidFill>
                <a:latin typeface="+mj-lt"/>
                <a:ea typeface="Roboto" pitchFamily="2" charset="0"/>
                <a:cs typeface="Arial" panose="020B0604020202020204" pitchFamily="34" charset="0"/>
              </a:rPr>
              <a:t> </a:t>
            </a:r>
            <a:r>
              <a:rPr lang="en-US" sz="2000" b="0" baseline="0" err="1" smtClean="0">
                <a:solidFill>
                  <a:schemeClr val="bg1"/>
                </a:solidFill>
                <a:latin typeface="+mj-lt"/>
                <a:ea typeface="Roboto" pitchFamily="2" charset="0"/>
                <a:cs typeface="Arial" panose="020B0604020202020204" pitchFamily="34" charset="0"/>
              </a:rPr>
              <a:t>trình</a:t>
            </a:r>
            <a:r>
              <a:rPr lang="en-US" sz="2000" b="0" baseline="0" smtClean="0">
                <a:solidFill>
                  <a:schemeClr val="bg1"/>
                </a:solidFill>
                <a:latin typeface="+mj-lt"/>
                <a:ea typeface="Roboto" pitchFamily="2" charset="0"/>
                <a:cs typeface="Arial" panose="020B0604020202020204" pitchFamily="34" charset="0"/>
              </a:rPr>
              <a:t> Python </a:t>
            </a:r>
            <a:r>
              <a:rPr lang="en-US" sz="2000" b="0" baseline="0" err="1" smtClean="0">
                <a:solidFill>
                  <a:schemeClr val="bg1"/>
                </a:solidFill>
                <a:latin typeface="+mj-lt"/>
                <a:ea typeface="Roboto" pitchFamily="2" charset="0"/>
                <a:cs typeface="Arial" panose="020B0604020202020204" pitchFamily="34" charset="0"/>
              </a:rPr>
              <a:t>Cơ</a:t>
            </a:r>
            <a:r>
              <a:rPr lang="en-US" sz="2000" b="0" baseline="0" smtClean="0">
                <a:solidFill>
                  <a:schemeClr val="bg1"/>
                </a:solidFill>
                <a:latin typeface="+mj-lt"/>
                <a:ea typeface="Roboto" pitchFamily="2" charset="0"/>
                <a:cs typeface="Arial" panose="020B0604020202020204" pitchFamily="34" charset="0"/>
              </a:rPr>
              <a:t> </a:t>
            </a:r>
            <a:r>
              <a:rPr lang="en-US" sz="2000" b="0" baseline="0" err="1" smtClean="0">
                <a:solidFill>
                  <a:schemeClr val="bg1"/>
                </a:solidFill>
                <a:latin typeface="+mj-lt"/>
                <a:ea typeface="Roboto" pitchFamily="2" charset="0"/>
                <a:cs typeface="Arial" panose="020B0604020202020204" pitchFamily="34" charset="0"/>
              </a:rPr>
              <a:t>Bản</a:t>
            </a:r>
            <a:endParaRPr lang="en-US" sz="2000" b="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294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1" smtClean="0">
                <a:solidFill>
                  <a:schemeClr val="bg1"/>
                </a:solidFill>
                <a:latin typeface="+mj-lt"/>
                <a:ea typeface="Roboto" pitchFamily="2" charset="0"/>
                <a:cs typeface="Arial" panose="020B0604020202020204" pitchFamily="34" charset="0"/>
              </a:rPr>
              <a:t>Học</a:t>
            </a:r>
            <a:r>
              <a:rPr lang="en-US" sz="2000" b="1" baseline="0" smtClean="0">
                <a:solidFill>
                  <a:schemeClr val="bg1"/>
                </a:solidFill>
                <a:latin typeface="+mj-lt"/>
                <a:ea typeface="Roboto" pitchFamily="2" charset="0"/>
                <a:cs typeface="Arial" panose="020B0604020202020204" pitchFamily="34" charset="0"/>
              </a:rPr>
              <a:t> l</a:t>
            </a:r>
            <a:r>
              <a:rPr lang="en-US" sz="2000" b="1" smtClean="0">
                <a:solidFill>
                  <a:schemeClr val="bg1"/>
                </a:solidFill>
                <a:latin typeface="+mj-lt"/>
                <a:ea typeface="Roboto" pitchFamily="2" charset="0"/>
                <a:cs typeface="Arial" panose="020B0604020202020204" pitchFamily="34" charset="0"/>
              </a:rPr>
              <a:t>ập</a:t>
            </a:r>
            <a:r>
              <a:rPr lang="en-US" sz="2000" b="1" baseline="0" smtClean="0">
                <a:solidFill>
                  <a:schemeClr val="bg1"/>
                </a:solidFill>
                <a:latin typeface="+mj-lt"/>
                <a:ea typeface="Roboto" pitchFamily="2" charset="0"/>
                <a:cs typeface="Arial" panose="020B0604020202020204" pitchFamily="34" charset="0"/>
              </a:rPr>
              <a:t> </a:t>
            </a:r>
            <a:r>
              <a:rPr lang="en-US" sz="2000" b="1" baseline="0" err="1" smtClean="0">
                <a:solidFill>
                  <a:schemeClr val="bg1"/>
                </a:solidFill>
                <a:latin typeface="+mj-lt"/>
                <a:ea typeface="Roboto" pitchFamily="2" charset="0"/>
                <a:cs typeface="Arial" panose="020B0604020202020204" pitchFamily="34" charset="0"/>
              </a:rPr>
              <a:t>trình</a:t>
            </a:r>
            <a:r>
              <a:rPr lang="en-US" sz="2000" b="1" baseline="0" smtClean="0">
                <a:solidFill>
                  <a:schemeClr val="bg1"/>
                </a:solidFill>
                <a:latin typeface="+mj-lt"/>
                <a:ea typeface="Roboto" pitchFamily="2" charset="0"/>
                <a:cs typeface="Arial" panose="020B0604020202020204" pitchFamily="34" charset="0"/>
              </a:rPr>
              <a:t> Python </a:t>
            </a:r>
            <a:r>
              <a:rPr lang="en-US" sz="2000" b="1" baseline="0" err="1" smtClean="0">
                <a:solidFill>
                  <a:schemeClr val="bg1"/>
                </a:solidFill>
                <a:latin typeface="+mj-lt"/>
                <a:ea typeface="Roboto" pitchFamily="2" charset="0"/>
                <a:cs typeface="Arial" panose="020B0604020202020204" pitchFamily="34" charset="0"/>
              </a:rPr>
              <a:t>Cơ</a:t>
            </a:r>
            <a:r>
              <a:rPr lang="en-US" sz="2000" b="1" baseline="0" smtClean="0">
                <a:solidFill>
                  <a:schemeClr val="bg1"/>
                </a:solidFill>
                <a:latin typeface="+mj-lt"/>
                <a:ea typeface="Roboto" pitchFamily="2" charset="0"/>
                <a:cs typeface="Arial" panose="020B0604020202020204" pitchFamily="34" charset="0"/>
              </a:rPr>
              <a:t> </a:t>
            </a:r>
            <a:r>
              <a:rPr lang="en-US" sz="2000" b="1" baseline="0" err="1" smtClean="0">
                <a:solidFill>
                  <a:schemeClr val="bg1"/>
                </a:solidFill>
                <a:latin typeface="+mj-lt"/>
                <a:ea typeface="Roboto" pitchFamily="2" charset="0"/>
                <a:cs typeface="Arial" panose="020B0604020202020204" pitchFamily="34" charset="0"/>
              </a:rPr>
              <a:t>Bản</a:t>
            </a:r>
            <a:endParaRPr lang="en-US" sz="2000" b="1">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spTree>
    <p:extLst>
      <p:ext uri="{BB962C8B-B14F-4D97-AF65-F5344CB8AC3E}">
        <p14:creationId xmlns:p14="http://schemas.microsoft.com/office/powerpoint/2010/main" val="351256245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EC917-02A2-4152-9EE3-DFE2775A77C7}" type="slidenum">
              <a:rPr lang="en-US" smtClean="0"/>
              <a:t>‹#›</a:t>
            </a:fld>
            <a:endParaRPr lang="en-US"/>
          </a:p>
        </p:txBody>
      </p:sp>
    </p:spTree>
    <p:extLst>
      <p:ext uri="{BB962C8B-B14F-4D97-AF65-F5344CB8AC3E}">
        <p14:creationId xmlns:p14="http://schemas.microsoft.com/office/powerpoint/2010/main" val="273211678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www.w3schools.com/python/python_lists.asp" TargetMode="External"/><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hyperlink" Target="https://www.w3schools.com/python/python_ref_tuple.asp" TargetMode="External"/><Relationship Id="rId5" Type="http://schemas.openxmlformats.org/officeDocument/2006/relationships/hyperlink" Target="https://www.w3schools.com/python/python_tuples.asp" TargetMode="External"/><Relationship Id="rId4" Type="http://schemas.openxmlformats.org/officeDocument/2006/relationships/hyperlink" Target="https://www.w3schools.com/python/python_lists_methods.asp"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2502"/>
            <a:ext cx="9144000" cy="1924493"/>
          </a:xfrm>
          <a:prstGeom prst="rect">
            <a:avLst/>
          </a:pr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032185" y="3058568"/>
            <a:ext cx="3079630" cy="646331"/>
          </a:xfrm>
          <a:prstGeom prst="rect">
            <a:avLst/>
          </a:prstGeom>
          <a:noFill/>
        </p:spPr>
        <p:txBody>
          <a:bodyPr wrap="square" rtlCol="0">
            <a:spAutoFit/>
          </a:bodyPr>
          <a:lstStyle/>
          <a:p>
            <a:pPr algn="ctr"/>
            <a:r>
              <a:rPr lang="en-US" sz="3600" b="1">
                <a:solidFill>
                  <a:schemeClr val="bg1"/>
                </a:solidFill>
              </a:rPr>
              <a:t>BÀI </a:t>
            </a:r>
            <a:r>
              <a:rPr lang="en-US" sz="3600" b="1" smtClean="0">
                <a:solidFill>
                  <a:schemeClr val="bg1"/>
                </a:solidFill>
              </a:rPr>
              <a:t>5</a:t>
            </a:r>
            <a:endParaRPr lang="en-US" sz="3600" b="1">
              <a:solidFill>
                <a:schemeClr val="bg1"/>
              </a:solidFill>
            </a:endParaRPr>
          </a:p>
        </p:txBody>
      </p:sp>
      <p:sp>
        <p:nvSpPr>
          <p:cNvPr id="7" name="TextBox 6"/>
          <p:cNvSpPr txBox="1"/>
          <p:nvPr/>
        </p:nvSpPr>
        <p:spPr>
          <a:xfrm>
            <a:off x="1137019" y="3838896"/>
            <a:ext cx="6869962" cy="1323439"/>
          </a:xfrm>
          <a:prstGeom prst="rect">
            <a:avLst/>
          </a:prstGeom>
          <a:noFill/>
        </p:spPr>
        <p:txBody>
          <a:bodyPr wrap="square" rtlCol="0">
            <a:spAutoFit/>
          </a:bodyPr>
          <a:lstStyle/>
          <a:p>
            <a:pPr algn="ctr"/>
            <a:r>
              <a:rPr lang="en-US" sz="4000" b="1" err="1" smtClean="0">
                <a:solidFill>
                  <a:schemeClr val="bg1"/>
                </a:solidFill>
                <a:ea typeface="Roboto" pitchFamily="2" charset="0"/>
              </a:rPr>
              <a:t>Kiểu</a:t>
            </a:r>
            <a:r>
              <a:rPr lang="en-US" sz="4000" b="1" smtClean="0">
                <a:solidFill>
                  <a:schemeClr val="bg1"/>
                </a:solidFill>
                <a:ea typeface="Roboto" pitchFamily="2" charset="0"/>
              </a:rPr>
              <a:t> </a:t>
            </a:r>
            <a:r>
              <a:rPr lang="en-US" sz="4000" b="1" err="1" smtClean="0">
                <a:solidFill>
                  <a:schemeClr val="bg1"/>
                </a:solidFill>
                <a:ea typeface="Roboto" pitchFamily="2" charset="0"/>
              </a:rPr>
              <a:t>dữ</a:t>
            </a:r>
            <a:r>
              <a:rPr lang="en-US" sz="4000" b="1" smtClean="0">
                <a:solidFill>
                  <a:schemeClr val="bg1"/>
                </a:solidFill>
                <a:ea typeface="Roboto" pitchFamily="2" charset="0"/>
              </a:rPr>
              <a:t> </a:t>
            </a:r>
            <a:r>
              <a:rPr lang="en-US" sz="4000" b="1" err="1" smtClean="0">
                <a:solidFill>
                  <a:schemeClr val="bg1"/>
                </a:solidFill>
                <a:ea typeface="Roboto" pitchFamily="2" charset="0"/>
              </a:rPr>
              <a:t>liệu</a:t>
            </a:r>
            <a:r>
              <a:rPr lang="en-US" sz="4000" b="1" smtClean="0">
                <a:solidFill>
                  <a:schemeClr val="bg1"/>
                </a:solidFill>
                <a:ea typeface="Roboto" pitchFamily="2" charset="0"/>
              </a:rPr>
              <a:t> Lists, </a:t>
            </a:r>
            <a:r>
              <a:rPr lang="en-US" sz="4000" b="1" smtClean="0">
                <a:solidFill>
                  <a:schemeClr val="bg1"/>
                </a:solidFill>
                <a:ea typeface="Roboto" pitchFamily="2" charset="0"/>
              </a:rPr>
              <a:t>Tuples, Set </a:t>
            </a:r>
            <a:r>
              <a:rPr lang="en-US" sz="4000" b="1" err="1" smtClean="0">
                <a:solidFill>
                  <a:schemeClr val="bg1"/>
                </a:solidFill>
                <a:ea typeface="Roboto" pitchFamily="2" charset="0"/>
              </a:rPr>
              <a:t>trong</a:t>
            </a:r>
            <a:r>
              <a:rPr lang="en-US" sz="4000" b="1" smtClean="0">
                <a:solidFill>
                  <a:schemeClr val="bg1"/>
                </a:solidFill>
                <a:ea typeface="Roboto" pitchFamily="2" charset="0"/>
              </a:rPr>
              <a:t> Python</a:t>
            </a:r>
            <a:endParaRPr lang="en-US" sz="4000" b="1">
              <a:solidFill>
                <a:schemeClr val="bg1"/>
              </a:solidFill>
              <a:ea typeface="Roboto" pitchFamily="2" charset="0"/>
            </a:endParaRPr>
          </a:p>
        </p:txBody>
      </p:sp>
      <p:pic>
        <p:nvPicPr>
          <p:cNvPr id="2050" name="Picture 2" descr="https://aptech-danang.edu.vn/Content/ace/images/banner-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978" y="1263702"/>
            <a:ext cx="4766044" cy="116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468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a:t>
            </a:fld>
            <a:endParaRPr lang="en-US"/>
          </a:p>
        </p:txBody>
      </p:sp>
      <p:sp>
        <p:nvSpPr>
          <p:cNvPr id="3" name="Text Placeholder 2"/>
          <p:cNvSpPr>
            <a:spLocks noGrp="1"/>
          </p:cNvSpPr>
          <p:nvPr>
            <p:ph type="body" sz="quarter" idx="13"/>
          </p:nvPr>
        </p:nvSpPr>
        <p:spPr>
          <a:xfrm>
            <a:off x="301926" y="797441"/>
            <a:ext cx="8454964" cy="424732"/>
          </a:xfrm>
        </p:spPr>
        <p:txBody>
          <a:bodyPr/>
          <a:lstStyle/>
          <a:p>
            <a:r>
              <a:rPr lang="en-US" err="1" smtClean="0"/>
              <a:t>Tóm</a:t>
            </a:r>
            <a:r>
              <a:rPr lang="en-US" smtClean="0"/>
              <a:t> </a:t>
            </a:r>
            <a:r>
              <a:rPr lang="en-US" err="1" smtClean="0"/>
              <a:t>Tắt</a:t>
            </a:r>
            <a:r>
              <a:rPr lang="en-US" smtClean="0"/>
              <a:t> </a:t>
            </a:r>
            <a:r>
              <a:rPr lang="en-US" err="1" smtClean="0"/>
              <a:t>Nội</a:t>
            </a:r>
            <a:r>
              <a:rPr lang="en-US" smtClean="0"/>
              <a:t> Dung</a:t>
            </a:r>
            <a:endParaRPr lang="en-US"/>
          </a:p>
        </p:txBody>
      </p:sp>
      <p:sp>
        <p:nvSpPr>
          <p:cNvPr id="4" name="Oval 3"/>
          <p:cNvSpPr/>
          <p:nvPr/>
        </p:nvSpPr>
        <p:spPr>
          <a:xfrm>
            <a:off x="602143" y="2101899"/>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1</a:t>
            </a:r>
            <a:endParaRPr lang="en-US" b="1"/>
          </a:p>
        </p:txBody>
      </p:sp>
      <p:sp>
        <p:nvSpPr>
          <p:cNvPr id="6" name="TextBox 5"/>
          <p:cNvSpPr txBox="1"/>
          <p:nvPr/>
        </p:nvSpPr>
        <p:spPr>
          <a:xfrm>
            <a:off x="1201478" y="2119251"/>
            <a:ext cx="6485861" cy="369332"/>
          </a:xfrm>
          <a:prstGeom prst="rect">
            <a:avLst/>
          </a:prstGeom>
          <a:noFill/>
        </p:spPr>
        <p:txBody>
          <a:bodyPr wrap="square" rtlCol="0">
            <a:spAutoFit/>
          </a:bodyPr>
          <a:lstStyle/>
          <a:p>
            <a:r>
              <a:rPr lang="en-US" err="1" smtClean="0"/>
              <a:t>Làm</a:t>
            </a:r>
            <a:r>
              <a:rPr lang="en-US" smtClean="0"/>
              <a:t> </a:t>
            </a:r>
            <a:r>
              <a:rPr lang="en-US" err="1" smtClean="0"/>
              <a:t>quen</a:t>
            </a:r>
            <a:r>
              <a:rPr lang="en-US" smtClean="0"/>
              <a:t> </a:t>
            </a:r>
            <a:r>
              <a:rPr lang="en-US" err="1" smtClean="0"/>
              <a:t>với</a:t>
            </a:r>
            <a:r>
              <a:rPr lang="en-US" smtClean="0"/>
              <a:t> </a:t>
            </a:r>
            <a:r>
              <a:rPr lang="en-US" err="1" smtClean="0"/>
              <a:t>các</a:t>
            </a:r>
            <a:r>
              <a:rPr lang="en-US" smtClean="0"/>
              <a:t> </a:t>
            </a:r>
            <a:r>
              <a:rPr lang="en-US" err="1" smtClean="0"/>
              <a:t>kiểu</a:t>
            </a:r>
            <a:r>
              <a:rPr lang="en-US" smtClean="0"/>
              <a:t> </a:t>
            </a:r>
            <a:r>
              <a:rPr lang="en-US" err="1" smtClean="0"/>
              <a:t>dữ</a:t>
            </a:r>
            <a:r>
              <a:rPr lang="en-US" smtClean="0"/>
              <a:t> </a:t>
            </a:r>
            <a:r>
              <a:rPr lang="en-US" err="1" smtClean="0"/>
              <a:t>liệu</a:t>
            </a:r>
            <a:r>
              <a:rPr lang="en-US" smtClean="0"/>
              <a:t> </a:t>
            </a:r>
            <a:r>
              <a:rPr lang="en-US" err="1" smtClean="0"/>
              <a:t>mảng</a:t>
            </a:r>
            <a:r>
              <a:rPr lang="en-US" smtClean="0"/>
              <a:t> </a:t>
            </a:r>
            <a:r>
              <a:rPr lang="en-US" err="1" smtClean="0"/>
              <a:t>với</a:t>
            </a:r>
            <a:r>
              <a:rPr lang="en-US" smtClean="0"/>
              <a:t> List</a:t>
            </a:r>
            <a:endParaRPr lang="en-US"/>
          </a:p>
        </p:txBody>
      </p:sp>
      <p:sp>
        <p:nvSpPr>
          <p:cNvPr id="7" name="Oval 6"/>
          <p:cNvSpPr/>
          <p:nvPr/>
        </p:nvSpPr>
        <p:spPr>
          <a:xfrm>
            <a:off x="602143" y="2726859"/>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2</a:t>
            </a:r>
          </a:p>
        </p:txBody>
      </p:sp>
      <p:sp>
        <p:nvSpPr>
          <p:cNvPr id="8" name="TextBox 7"/>
          <p:cNvSpPr txBox="1"/>
          <p:nvPr/>
        </p:nvSpPr>
        <p:spPr>
          <a:xfrm>
            <a:off x="1201479" y="4130657"/>
            <a:ext cx="6717570" cy="369332"/>
          </a:xfrm>
          <a:prstGeom prst="rect">
            <a:avLst/>
          </a:prstGeom>
          <a:noFill/>
        </p:spPr>
        <p:txBody>
          <a:bodyPr wrap="square" rtlCol="0">
            <a:spAutoFit/>
          </a:bodyPr>
          <a:lstStyle/>
          <a:p>
            <a:r>
              <a:rPr lang="en-US" err="1"/>
              <a:t>Các</a:t>
            </a:r>
            <a:r>
              <a:rPr lang="en-US"/>
              <a:t> </a:t>
            </a:r>
            <a:r>
              <a:rPr lang="en-US" err="1"/>
              <a:t>phương</a:t>
            </a:r>
            <a:r>
              <a:rPr lang="en-US"/>
              <a:t> </a:t>
            </a:r>
            <a:r>
              <a:rPr lang="en-US" err="1"/>
              <a:t>thức</a:t>
            </a:r>
            <a:r>
              <a:rPr lang="en-US"/>
              <a:t> </a:t>
            </a:r>
            <a:r>
              <a:rPr lang="en-US" err="1"/>
              <a:t>xử</a:t>
            </a:r>
            <a:r>
              <a:rPr lang="en-US"/>
              <a:t> </a:t>
            </a:r>
            <a:r>
              <a:rPr lang="en-US" err="1"/>
              <a:t>lý</a:t>
            </a:r>
            <a:r>
              <a:rPr lang="en-US"/>
              <a:t> </a:t>
            </a:r>
            <a:r>
              <a:rPr lang="en-US" err="1"/>
              <a:t>dữ</a:t>
            </a:r>
            <a:r>
              <a:rPr lang="en-US"/>
              <a:t> </a:t>
            </a:r>
            <a:r>
              <a:rPr lang="en-US" err="1"/>
              <a:t>liệu</a:t>
            </a:r>
            <a:r>
              <a:rPr lang="en-US"/>
              <a:t> </a:t>
            </a:r>
            <a:r>
              <a:rPr lang="en-US" err="1"/>
              <a:t>với</a:t>
            </a:r>
            <a:r>
              <a:rPr lang="en-US"/>
              <a:t> </a:t>
            </a:r>
            <a:r>
              <a:rPr lang="en-US" smtClean="0"/>
              <a:t>Tuple</a:t>
            </a:r>
            <a:endParaRPr lang="en-US"/>
          </a:p>
        </p:txBody>
      </p:sp>
      <p:sp>
        <p:nvSpPr>
          <p:cNvPr id="11" name="Oval 10"/>
          <p:cNvSpPr/>
          <p:nvPr/>
        </p:nvSpPr>
        <p:spPr>
          <a:xfrm>
            <a:off x="602143" y="3428758"/>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3</a:t>
            </a:r>
            <a:endParaRPr lang="en-US" b="1"/>
          </a:p>
        </p:txBody>
      </p:sp>
      <p:sp>
        <p:nvSpPr>
          <p:cNvPr id="12" name="TextBox 11"/>
          <p:cNvSpPr txBox="1"/>
          <p:nvPr/>
        </p:nvSpPr>
        <p:spPr>
          <a:xfrm>
            <a:off x="1201479" y="2797375"/>
            <a:ext cx="5178056" cy="369332"/>
          </a:xfrm>
          <a:prstGeom prst="rect">
            <a:avLst/>
          </a:prstGeom>
          <a:noFill/>
        </p:spPr>
        <p:txBody>
          <a:bodyPr wrap="square" rtlCol="0">
            <a:spAutoFit/>
          </a:bodyPr>
          <a:lstStyle/>
          <a:p>
            <a:r>
              <a:rPr lang="en-US" err="1" smtClean="0"/>
              <a:t>Các</a:t>
            </a:r>
            <a:r>
              <a:rPr lang="en-US" smtClean="0"/>
              <a:t> </a:t>
            </a:r>
            <a:r>
              <a:rPr lang="en-US" err="1" smtClean="0"/>
              <a:t>phương</a:t>
            </a:r>
            <a:r>
              <a:rPr lang="en-US" smtClean="0"/>
              <a:t> </a:t>
            </a:r>
            <a:r>
              <a:rPr lang="en-US" err="1" smtClean="0"/>
              <a:t>thức</a:t>
            </a:r>
            <a:r>
              <a:rPr lang="en-US" smtClean="0"/>
              <a:t> </a:t>
            </a:r>
            <a:r>
              <a:rPr lang="en-US" err="1" smtClean="0"/>
              <a:t>xử</a:t>
            </a:r>
            <a:r>
              <a:rPr lang="en-US" smtClean="0"/>
              <a:t> </a:t>
            </a:r>
            <a:r>
              <a:rPr lang="en-US" err="1" smtClean="0"/>
              <a:t>lý</a:t>
            </a:r>
            <a:r>
              <a:rPr lang="en-US" smtClean="0"/>
              <a:t> </a:t>
            </a:r>
            <a:r>
              <a:rPr lang="en-US" err="1" smtClean="0"/>
              <a:t>dữ</a:t>
            </a:r>
            <a:r>
              <a:rPr lang="en-US" smtClean="0"/>
              <a:t> </a:t>
            </a:r>
            <a:r>
              <a:rPr lang="en-US" err="1" smtClean="0"/>
              <a:t>liệu</a:t>
            </a:r>
            <a:r>
              <a:rPr lang="en-US" smtClean="0"/>
              <a:t> </a:t>
            </a:r>
            <a:r>
              <a:rPr lang="en-US" err="1" smtClean="0"/>
              <a:t>với</a:t>
            </a:r>
            <a:r>
              <a:rPr lang="en-US" smtClean="0"/>
              <a:t> List</a:t>
            </a:r>
            <a:endParaRPr lang="en-US"/>
          </a:p>
        </p:txBody>
      </p:sp>
      <p:sp>
        <p:nvSpPr>
          <p:cNvPr id="15" name="Oval 14"/>
          <p:cNvSpPr/>
          <p:nvPr/>
        </p:nvSpPr>
        <p:spPr>
          <a:xfrm>
            <a:off x="602143" y="4130657"/>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4</a:t>
            </a:r>
          </a:p>
        </p:txBody>
      </p:sp>
      <p:sp>
        <p:nvSpPr>
          <p:cNvPr id="16" name="TextBox 15"/>
          <p:cNvSpPr txBox="1"/>
          <p:nvPr/>
        </p:nvSpPr>
        <p:spPr>
          <a:xfrm>
            <a:off x="1201479" y="3475499"/>
            <a:ext cx="5178056" cy="369332"/>
          </a:xfrm>
          <a:prstGeom prst="rect">
            <a:avLst/>
          </a:prstGeom>
          <a:noFill/>
        </p:spPr>
        <p:txBody>
          <a:bodyPr wrap="square" rtlCol="0">
            <a:spAutoFit/>
          </a:bodyPr>
          <a:lstStyle/>
          <a:p>
            <a:r>
              <a:rPr lang="en-US" err="1"/>
              <a:t>Làm</a:t>
            </a:r>
            <a:r>
              <a:rPr lang="en-US"/>
              <a:t> </a:t>
            </a:r>
            <a:r>
              <a:rPr lang="en-US" err="1"/>
              <a:t>quen</a:t>
            </a:r>
            <a:r>
              <a:rPr lang="en-US"/>
              <a:t> </a:t>
            </a:r>
            <a:r>
              <a:rPr lang="en-US" err="1"/>
              <a:t>với</a:t>
            </a:r>
            <a:r>
              <a:rPr lang="en-US"/>
              <a:t> </a:t>
            </a:r>
            <a:r>
              <a:rPr lang="en-US" err="1"/>
              <a:t>các</a:t>
            </a:r>
            <a:r>
              <a:rPr lang="en-US"/>
              <a:t> </a:t>
            </a:r>
            <a:r>
              <a:rPr lang="en-US" err="1"/>
              <a:t>kiểu</a:t>
            </a:r>
            <a:r>
              <a:rPr lang="en-US"/>
              <a:t> </a:t>
            </a:r>
            <a:r>
              <a:rPr lang="en-US" err="1"/>
              <a:t>dữ</a:t>
            </a:r>
            <a:r>
              <a:rPr lang="en-US"/>
              <a:t> </a:t>
            </a:r>
            <a:r>
              <a:rPr lang="en-US" err="1"/>
              <a:t>liệu</a:t>
            </a:r>
            <a:r>
              <a:rPr lang="en-US"/>
              <a:t> </a:t>
            </a:r>
            <a:r>
              <a:rPr lang="en-US" err="1"/>
              <a:t>mảng</a:t>
            </a:r>
            <a:r>
              <a:rPr lang="en-US"/>
              <a:t> </a:t>
            </a:r>
            <a:r>
              <a:rPr lang="en-US" err="1"/>
              <a:t>với</a:t>
            </a:r>
            <a:r>
              <a:rPr lang="en-US"/>
              <a:t> </a:t>
            </a:r>
            <a:r>
              <a:rPr lang="en-US" smtClean="0"/>
              <a:t>Tuple</a:t>
            </a:r>
            <a:endParaRPr lang="en-US"/>
          </a:p>
        </p:txBody>
      </p:sp>
      <p:sp>
        <p:nvSpPr>
          <p:cNvPr id="14" name="TextBox 13"/>
          <p:cNvSpPr txBox="1"/>
          <p:nvPr/>
        </p:nvSpPr>
        <p:spPr>
          <a:xfrm>
            <a:off x="516657" y="1526604"/>
            <a:ext cx="8240233" cy="369332"/>
          </a:xfrm>
          <a:prstGeom prst="rect">
            <a:avLst/>
          </a:prstGeom>
          <a:noFill/>
        </p:spPr>
        <p:txBody>
          <a:bodyPr wrap="square" rtlCol="0">
            <a:spAutoFit/>
          </a:bodyPr>
          <a:lstStyle/>
          <a:p>
            <a:r>
              <a:rPr lang="en-US" err="1" smtClean="0"/>
              <a:t>Trong</a:t>
            </a:r>
            <a:r>
              <a:rPr lang="en-US" smtClean="0"/>
              <a:t> </a:t>
            </a:r>
            <a:r>
              <a:rPr lang="en-US" err="1" smtClean="0"/>
              <a:t>bài</a:t>
            </a:r>
            <a:r>
              <a:rPr lang="en-US" smtClean="0"/>
              <a:t> </a:t>
            </a:r>
            <a:r>
              <a:rPr lang="en-US" err="1" smtClean="0"/>
              <a:t>học</a:t>
            </a:r>
            <a:r>
              <a:rPr lang="en-US" smtClean="0"/>
              <a:t> </a:t>
            </a:r>
            <a:r>
              <a:rPr lang="en-US" err="1" smtClean="0"/>
              <a:t>này</a:t>
            </a:r>
            <a:r>
              <a:rPr lang="en-US" smtClean="0"/>
              <a:t> </a:t>
            </a:r>
            <a:r>
              <a:rPr lang="en-US" err="1" smtClean="0"/>
              <a:t>chúng</a:t>
            </a:r>
            <a:r>
              <a:rPr lang="en-US" smtClean="0"/>
              <a:t> ta </a:t>
            </a:r>
            <a:r>
              <a:rPr lang="en-US" err="1" smtClean="0"/>
              <a:t>sẽ</a:t>
            </a:r>
            <a:r>
              <a:rPr lang="en-US" smtClean="0"/>
              <a:t> </a:t>
            </a:r>
            <a:r>
              <a:rPr lang="en-US" err="1" smtClean="0"/>
              <a:t>đi</a:t>
            </a:r>
            <a:r>
              <a:rPr lang="en-US" smtClean="0"/>
              <a:t> </a:t>
            </a:r>
            <a:r>
              <a:rPr lang="en-US" err="1" smtClean="0"/>
              <a:t>tìm</a:t>
            </a:r>
            <a:r>
              <a:rPr lang="en-US" smtClean="0"/>
              <a:t> </a:t>
            </a:r>
            <a:r>
              <a:rPr lang="en-US" err="1" smtClean="0"/>
              <a:t>hiều</a:t>
            </a:r>
            <a:r>
              <a:rPr lang="en-US" smtClean="0"/>
              <a:t> </a:t>
            </a:r>
            <a:r>
              <a:rPr lang="en-US" err="1" smtClean="0"/>
              <a:t>lần</a:t>
            </a:r>
            <a:r>
              <a:rPr lang="en-US" smtClean="0"/>
              <a:t> </a:t>
            </a:r>
            <a:r>
              <a:rPr lang="en-US" err="1" smtClean="0"/>
              <a:t>lượt</a:t>
            </a:r>
            <a:r>
              <a:rPr lang="en-US" smtClean="0"/>
              <a:t> </a:t>
            </a:r>
            <a:r>
              <a:rPr lang="en-US" err="1" smtClean="0"/>
              <a:t>các</a:t>
            </a:r>
            <a:r>
              <a:rPr lang="en-US" smtClean="0"/>
              <a:t> </a:t>
            </a:r>
            <a:r>
              <a:rPr lang="en-US" err="1" smtClean="0"/>
              <a:t>nội</a:t>
            </a:r>
            <a:r>
              <a:rPr lang="en-US" smtClean="0"/>
              <a:t> dung</a:t>
            </a:r>
            <a:endParaRPr lang="en-US"/>
          </a:p>
        </p:txBody>
      </p:sp>
      <p:sp>
        <p:nvSpPr>
          <p:cNvPr id="13" name="TextBox 12"/>
          <p:cNvSpPr txBox="1"/>
          <p:nvPr/>
        </p:nvSpPr>
        <p:spPr>
          <a:xfrm>
            <a:off x="1201479" y="5536123"/>
            <a:ext cx="6717570" cy="369332"/>
          </a:xfrm>
          <a:prstGeom prst="rect">
            <a:avLst/>
          </a:prstGeom>
          <a:noFill/>
        </p:spPr>
        <p:txBody>
          <a:bodyPr wrap="square" rtlCol="0">
            <a:spAutoFit/>
          </a:bodyPr>
          <a:lstStyle/>
          <a:p>
            <a:r>
              <a:rPr lang="en-US" err="1"/>
              <a:t>Các</a:t>
            </a:r>
            <a:r>
              <a:rPr lang="en-US"/>
              <a:t> </a:t>
            </a:r>
            <a:r>
              <a:rPr lang="en-US" err="1"/>
              <a:t>phương</a:t>
            </a:r>
            <a:r>
              <a:rPr lang="en-US"/>
              <a:t> </a:t>
            </a:r>
            <a:r>
              <a:rPr lang="en-US" err="1"/>
              <a:t>thức</a:t>
            </a:r>
            <a:r>
              <a:rPr lang="en-US"/>
              <a:t> </a:t>
            </a:r>
            <a:r>
              <a:rPr lang="en-US" err="1"/>
              <a:t>xử</a:t>
            </a:r>
            <a:r>
              <a:rPr lang="en-US"/>
              <a:t> </a:t>
            </a:r>
            <a:r>
              <a:rPr lang="en-US" err="1"/>
              <a:t>lý</a:t>
            </a:r>
            <a:r>
              <a:rPr lang="en-US"/>
              <a:t> </a:t>
            </a:r>
            <a:r>
              <a:rPr lang="en-US" err="1"/>
              <a:t>dữ</a:t>
            </a:r>
            <a:r>
              <a:rPr lang="en-US"/>
              <a:t> </a:t>
            </a:r>
            <a:r>
              <a:rPr lang="en-US" err="1"/>
              <a:t>liệu</a:t>
            </a:r>
            <a:r>
              <a:rPr lang="en-US"/>
              <a:t> </a:t>
            </a:r>
            <a:r>
              <a:rPr lang="en-US" err="1"/>
              <a:t>với</a:t>
            </a:r>
            <a:r>
              <a:rPr lang="en-US"/>
              <a:t> </a:t>
            </a:r>
            <a:r>
              <a:rPr lang="en-US" smtClean="0"/>
              <a:t>Set</a:t>
            </a:r>
            <a:endParaRPr lang="en-US"/>
          </a:p>
        </p:txBody>
      </p:sp>
      <p:sp>
        <p:nvSpPr>
          <p:cNvPr id="17" name="Oval 16"/>
          <p:cNvSpPr/>
          <p:nvPr/>
        </p:nvSpPr>
        <p:spPr>
          <a:xfrm>
            <a:off x="602143" y="483422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5</a:t>
            </a:r>
            <a:endParaRPr lang="en-US" b="1"/>
          </a:p>
        </p:txBody>
      </p:sp>
      <p:sp>
        <p:nvSpPr>
          <p:cNvPr id="18" name="Oval 17"/>
          <p:cNvSpPr/>
          <p:nvPr/>
        </p:nvSpPr>
        <p:spPr>
          <a:xfrm>
            <a:off x="602143" y="5536123"/>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6</a:t>
            </a:r>
            <a:endParaRPr lang="en-US" b="1"/>
          </a:p>
        </p:txBody>
      </p:sp>
      <p:sp>
        <p:nvSpPr>
          <p:cNvPr id="19" name="TextBox 18"/>
          <p:cNvSpPr txBox="1"/>
          <p:nvPr/>
        </p:nvSpPr>
        <p:spPr>
          <a:xfrm>
            <a:off x="1201479" y="4880965"/>
            <a:ext cx="5178056" cy="369332"/>
          </a:xfrm>
          <a:prstGeom prst="rect">
            <a:avLst/>
          </a:prstGeom>
          <a:noFill/>
        </p:spPr>
        <p:txBody>
          <a:bodyPr wrap="square" rtlCol="0">
            <a:spAutoFit/>
          </a:bodyPr>
          <a:lstStyle/>
          <a:p>
            <a:r>
              <a:rPr lang="en-US" err="1"/>
              <a:t>Làm</a:t>
            </a:r>
            <a:r>
              <a:rPr lang="en-US"/>
              <a:t> </a:t>
            </a:r>
            <a:r>
              <a:rPr lang="en-US" err="1"/>
              <a:t>quen</a:t>
            </a:r>
            <a:r>
              <a:rPr lang="en-US"/>
              <a:t> </a:t>
            </a:r>
            <a:r>
              <a:rPr lang="en-US" err="1"/>
              <a:t>với</a:t>
            </a:r>
            <a:r>
              <a:rPr lang="en-US"/>
              <a:t> </a:t>
            </a:r>
            <a:r>
              <a:rPr lang="en-US" err="1"/>
              <a:t>các</a:t>
            </a:r>
            <a:r>
              <a:rPr lang="en-US"/>
              <a:t> </a:t>
            </a:r>
            <a:r>
              <a:rPr lang="en-US" err="1"/>
              <a:t>kiểu</a:t>
            </a:r>
            <a:r>
              <a:rPr lang="en-US"/>
              <a:t> </a:t>
            </a:r>
            <a:r>
              <a:rPr lang="en-US" err="1"/>
              <a:t>dữ</a:t>
            </a:r>
            <a:r>
              <a:rPr lang="en-US"/>
              <a:t> </a:t>
            </a:r>
            <a:r>
              <a:rPr lang="en-US" err="1"/>
              <a:t>liệu</a:t>
            </a:r>
            <a:r>
              <a:rPr lang="en-US"/>
              <a:t> </a:t>
            </a:r>
            <a:r>
              <a:rPr lang="en-US" err="1"/>
              <a:t>mảng</a:t>
            </a:r>
            <a:r>
              <a:rPr lang="en-US"/>
              <a:t> </a:t>
            </a:r>
            <a:r>
              <a:rPr lang="en-US" err="1"/>
              <a:t>với</a:t>
            </a:r>
            <a:r>
              <a:rPr lang="en-US"/>
              <a:t> </a:t>
            </a:r>
            <a:r>
              <a:rPr lang="en-US" smtClean="0"/>
              <a:t>Set</a:t>
            </a:r>
            <a:endParaRPr lang="en-US"/>
          </a:p>
        </p:txBody>
      </p:sp>
    </p:spTree>
    <p:extLst>
      <p:ext uri="{BB962C8B-B14F-4D97-AF65-F5344CB8AC3E}">
        <p14:creationId xmlns:p14="http://schemas.microsoft.com/office/powerpoint/2010/main" val="19358138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5.1 </a:t>
            </a:r>
            <a:r>
              <a:rPr lang="en-US" err="1" smtClean="0"/>
              <a:t>Tổng</a:t>
            </a:r>
            <a:r>
              <a:rPr lang="en-US" smtClean="0"/>
              <a:t> </a:t>
            </a:r>
            <a:r>
              <a:rPr lang="en-US" err="1" smtClean="0"/>
              <a:t>quan</a:t>
            </a:r>
            <a:r>
              <a:rPr lang="en-US" smtClean="0"/>
              <a:t> </a:t>
            </a:r>
            <a:r>
              <a:rPr lang="en-US" err="1" smtClean="0"/>
              <a:t>về</a:t>
            </a:r>
            <a:r>
              <a:rPr lang="en-US" smtClean="0"/>
              <a:t> List</a:t>
            </a:r>
            <a:endParaRPr lang="en-US"/>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err="1" smtClean="0"/>
              <a:t>Giới</a:t>
            </a:r>
            <a:r>
              <a:rPr lang="en-US" b="1" smtClean="0"/>
              <a:t> </a:t>
            </a:r>
            <a:r>
              <a:rPr lang="en-US" b="1" err="1" smtClean="0"/>
              <a:t>thiệu</a:t>
            </a:r>
            <a:r>
              <a:rPr lang="en-US" b="1" smtClean="0"/>
              <a:t> </a:t>
            </a:r>
            <a:r>
              <a:rPr lang="en-US" b="1" err="1" smtClean="0"/>
              <a:t>về</a:t>
            </a:r>
            <a:r>
              <a:rPr lang="en-US" b="1" smtClean="0"/>
              <a:t> List (hay </a:t>
            </a:r>
            <a:r>
              <a:rPr lang="en-US" b="1" err="1" smtClean="0"/>
              <a:t>còn</a:t>
            </a:r>
            <a:r>
              <a:rPr lang="en-US" b="1" smtClean="0"/>
              <a:t> </a:t>
            </a:r>
            <a:r>
              <a:rPr lang="en-US" b="1" err="1" smtClean="0"/>
              <a:t>gọi</a:t>
            </a:r>
            <a:r>
              <a:rPr lang="en-US" b="1" smtClean="0"/>
              <a:t> </a:t>
            </a:r>
            <a:r>
              <a:rPr lang="en-US" b="1" err="1" smtClean="0"/>
              <a:t>là</a:t>
            </a:r>
            <a:r>
              <a:rPr lang="en-US" b="1" smtClean="0"/>
              <a:t> </a:t>
            </a:r>
            <a:r>
              <a:rPr lang="en-US" b="1" err="1" smtClean="0"/>
              <a:t>danh</a:t>
            </a:r>
            <a:r>
              <a:rPr lang="en-US" b="1" smtClean="0"/>
              <a:t> </a:t>
            </a:r>
            <a:r>
              <a:rPr lang="en-US" b="1" err="1" smtClean="0"/>
              <a:t>sách</a:t>
            </a:r>
            <a:r>
              <a:rPr lang="en-US" b="1" smtClean="0"/>
              <a:t>)</a:t>
            </a:r>
            <a:endParaRPr lang="en-US" b="1">
              <a:solidFill>
                <a:srgbClr val="FF0000"/>
              </a:solidFill>
            </a:endParaRPr>
          </a:p>
        </p:txBody>
      </p:sp>
      <p:sp>
        <p:nvSpPr>
          <p:cNvPr id="8" name="TextBox 7"/>
          <p:cNvSpPr txBox="1"/>
          <p:nvPr/>
        </p:nvSpPr>
        <p:spPr>
          <a:xfrm>
            <a:off x="643270" y="1903017"/>
            <a:ext cx="8113619" cy="646331"/>
          </a:xfrm>
          <a:prstGeom prst="rect">
            <a:avLst/>
          </a:prstGeom>
          <a:noFill/>
        </p:spPr>
        <p:txBody>
          <a:bodyPr wrap="square" rtlCol="0">
            <a:spAutoFit/>
          </a:bodyPr>
          <a:lstStyle/>
          <a:p>
            <a:r>
              <a:rPr lang="en-US" b="1" smtClean="0">
                <a:solidFill>
                  <a:srgbClr val="FF0000"/>
                </a:solidFill>
              </a:rPr>
              <a:t>List</a:t>
            </a:r>
            <a:r>
              <a:rPr lang="en-US" smtClean="0"/>
              <a:t> </a:t>
            </a:r>
            <a:r>
              <a:rPr lang="vi-VN" smtClean="0"/>
              <a:t>là </a:t>
            </a:r>
            <a:r>
              <a:rPr lang="vi-VN"/>
              <a:t>một kiểu dữ liệu được sử dụng để lưu trữ một tập hợp các phần tử </a:t>
            </a:r>
            <a:r>
              <a:rPr lang="en-US" err="1"/>
              <a:t>trong</a:t>
            </a:r>
            <a:r>
              <a:rPr lang="en-US"/>
              <a:t> </a:t>
            </a:r>
            <a:r>
              <a:rPr lang="en-US" err="1"/>
              <a:t>dấu</a:t>
            </a:r>
            <a:r>
              <a:rPr lang="en-US"/>
              <a:t> </a:t>
            </a:r>
            <a:r>
              <a:rPr lang="en-US" err="1"/>
              <a:t>ngoặc</a:t>
            </a:r>
            <a:r>
              <a:rPr lang="en-US"/>
              <a:t> </a:t>
            </a:r>
            <a:r>
              <a:rPr lang="en-US" err="1" smtClean="0"/>
              <a:t>vuông</a:t>
            </a:r>
            <a:r>
              <a:rPr lang="en-US" smtClean="0"/>
              <a:t> []</a:t>
            </a:r>
            <a:endParaRPr lang="en-US"/>
          </a:p>
        </p:txBody>
      </p:sp>
      <p:sp>
        <p:nvSpPr>
          <p:cNvPr id="14" name="TextBox 13"/>
          <p:cNvSpPr txBox="1"/>
          <p:nvPr/>
        </p:nvSpPr>
        <p:spPr>
          <a:xfrm>
            <a:off x="925033" y="2589865"/>
            <a:ext cx="7697972" cy="646331"/>
          </a:xfrm>
          <a:prstGeom prst="rect">
            <a:avLst/>
          </a:prstGeom>
          <a:noFill/>
        </p:spPr>
        <p:txBody>
          <a:bodyPr wrap="square" rtlCol="0">
            <a:spAutoFit/>
          </a:bodyPr>
          <a:lstStyle/>
          <a:p>
            <a:r>
              <a:rPr lang="en-US" err="1"/>
              <a:t>C</a:t>
            </a:r>
            <a:r>
              <a:rPr lang="en-US" err="1" smtClean="0"/>
              <a:t>hứa</a:t>
            </a:r>
            <a:r>
              <a:rPr lang="en-US" smtClean="0"/>
              <a:t> </a:t>
            </a:r>
            <a:r>
              <a:rPr lang="en-US" err="1"/>
              <a:t>các</a:t>
            </a:r>
            <a:r>
              <a:rPr lang="en-US"/>
              <a:t> </a:t>
            </a:r>
            <a:r>
              <a:rPr lang="en-US" err="1"/>
              <a:t>phần</a:t>
            </a:r>
            <a:r>
              <a:rPr lang="en-US"/>
              <a:t> </a:t>
            </a:r>
            <a:r>
              <a:rPr lang="en-US" err="1"/>
              <a:t>tử</a:t>
            </a:r>
            <a:r>
              <a:rPr lang="en-US"/>
              <a:t> </a:t>
            </a:r>
            <a:r>
              <a:rPr lang="en-US" err="1"/>
              <a:t>có</a:t>
            </a:r>
            <a:r>
              <a:rPr lang="en-US"/>
              <a:t> </a:t>
            </a:r>
            <a:r>
              <a:rPr lang="en-US" err="1"/>
              <a:t>cùng</a:t>
            </a:r>
            <a:r>
              <a:rPr lang="en-US"/>
              <a:t> </a:t>
            </a:r>
            <a:r>
              <a:rPr lang="en-US" err="1"/>
              <a:t>hoặc</a:t>
            </a:r>
            <a:r>
              <a:rPr lang="en-US"/>
              <a:t> </a:t>
            </a:r>
            <a:r>
              <a:rPr lang="en-US" err="1"/>
              <a:t>khác</a:t>
            </a:r>
            <a:r>
              <a:rPr lang="en-US"/>
              <a:t> </a:t>
            </a:r>
            <a:r>
              <a:rPr lang="en-US" err="1"/>
              <a:t>kiểu</a:t>
            </a:r>
            <a:r>
              <a:rPr lang="en-US"/>
              <a:t> </a:t>
            </a:r>
            <a:r>
              <a:rPr lang="en-US" err="1"/>
              <a:t>dữ</a:t>
            </a:r>
            <a:r>
              <a:rPr lang="en-US"/>
              <a:t> </a:t>
            </a:r>
            <a:r>
              <a:rPr lang="en-US" err="1" smtClean="0"/>
              <a:t>liệu</a:t>
            </a:r>
            <a:r>
              <a:rPr lang="en-US" smtClean="0"/>
              <a:t>, </a:t>
            </a:r>
            <a:r>
              <a:rPr lang="en-US" err="1" smtClean="0"/>
              <a:t>cho</a:t>
            </a:r>
            <a:r>
              <a:rPr lang="en-US" smtClean="0"/>
              <a:t> </a:t>
            </a:r>
            <a:r>
              <a:rPr lang="en-US" err="1" smtClean="0"/>
              <a:t>phép</a:t>
            </a:r>
            <a:r>
              <a:rPr lang="en-US" smtClean="0"/>
              <a:t> </a:t>
            </a:r>
            <a:r>
              <a:rPr lang="en-US" err="1" smtClean="0"/>
              <a:t>trùng</a:t>
            </a:r>
            <a:r>
              <a:rPr lang="en-US" smtClean="0"/>
              <a:t> </a:t>
            </a:r>
            <a:r>
              <a:rPr lang="en-US" err="1" smtClean="0"/>
              <a:t>lặp</a:t>
            </a:r>
            <a:r>
              <a:rPr lang="en-US" smtClean="0"/>
              <a:t> </a:t>
            </a:r>
            <a:r>
              <a:rPr lang="en-US" err="1" smtClean="0"/>
              <a:t>phần</a:t>
            </a:r>
            <a:r>
              <a:rPr lang="en-US" smtClean="0"/>
              <a:t> </a:t>
            </a:r>
            <a:r>
              <a:rPr lang="en-US" err="1" smtClean="0"/>
              <a:t>tử</a:t>
            </a:r>
            <a:endParaRPr lang="en-US"/>
          </a:p>
        </p:txBody>
      </p:sp>
      <p:sp>
        <p:nvSpPr>
          <p:cNvPr id="15" name="Flowchart: Decision 14"/>
          <p:cNvSpPr/>
          <p:nvPr/>
        </p:nvSpPr>
        <p:spPr>
          <a:xfrm>
            <a:off x="710426" y="2727037"/>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925033" y="3218096"/>
            <a:ext cx="7697972" cy="646331"/>
          </a:xfrm>
          <a:prstGeom prst="rect">
            <a:avLst/>
          </a:prstGeom>
          <a:noFill/>
        </p:spPr>
        <p:txBody>
          <a:bodyPr wrap="square" rtlCol="0">
            <a:spAutoFit/>
          </a:bodyPr>
          <a:lstStyle/>
          <a:p>
            <a:r>
              <a:rPr lang="vi-VN" smtClean="0"/>
              <a:t>Có thứ tự, tức là các phần tử trong list được sắp xếp theo một vị trí cụ thể</a:t>
            </a:r>
            <a:r>
              <a:rPr lang="en-US" smtClean="0"/>
              <a:t> </a:t>
            </a:r>
            <a:r>
              <a:rPr lang="en-US" err="1" smtClean="0"/>
              <a:t>và</a:t>
            </a:r>
            <a:r>
              <a:rPr lang="en-US" smtClean="0"/>
              <a:t> </a:t>
            </a:r>
            <a:r>
              <a:rPr lang="en-US" err="1" smtClean="0"/>
              <a:t>không</a:t>
            </a:r>
            <a:r>
              <a:rPr lang="en-US" smtClean="0"/>
              <a:t> </a:t>
            </a:r>
            <a:r>
              <a:rPr lang="en-US" err="1" smtClean="0"/>
              <a:t>thay</a:t>
            </a:r>
            <a:r>
              <a:rPr lang="en-US" smtClean="0"/>
              <a:t> </a:t>
            </a:r>
            <a:r>
              <a:rPr lang="en-US" err="1" smtClean="0"/>
              <a:t>đổi</a:t>
            </a:r>
            <a:r>
              <a:rPr lang="en-US" smtClean="0"/>
              <a:t>, </a:t>
            </a:r>
            <a:r>
              <a:rPr lang="en-US" b="1" err="1" smtClean="0"/>
              <a:t>vị</a:t>
            </a:r>
            <a:r>
              <a:rPr lang="en-US" b="1" smtClean="0"/>
              <a:t> </a:t>
            </a:r>
            <a:r>
              <a:rPr lang="en-US" b="1" err="1" smtClean="0"/>
              <a:t>trí</a:t>
            </a:r>
            <a:r>
              <a:rPr lang="en-US" b="1" smtClean="0"/>
              <a:t> </a:t>
            </a:r>
            <a:r>
              <a:rPr lang="en-US" b="1" err="1" smtClean="0"/>
              <a:t>bắt</a:t>
            </a:r>
            <a:r>
              <a:rPr lang="en-US" b="1" smtClean="0"/>
              <a:t> </a:t>
            </a:r>
            <a:r>
              <a:rPr lang="en-US" b="1" err="1" smtClean="0"/>
              <a:t>đầu</a:t>
            </a:r>
            <a:r>
              <a:rPr lang="en-US" b="1" smtClean="0"/>
              <a:t> </a:t>
            </a:r>
            <a:r>
              <a:rPr lang="en-US" b="1" err="1" smtClean="0"/>
              <a:t>là</a:t>
            </a:r>
            <a:r>
              <a:rPr lang="en-US" b="1" smtClean="0"/>
              <a:t> </a:t>
            </a:r>
            <a:r>
              <a:rPr lang="en-US" b="1" err="1" smtClean="0"/>
              <a:t>số</a:t>
            </a:r>
            <a:r>
              <a:rPr lang="en-US" b="1" smtClean="0"/>
              <a:t> 0</a:t>
            </a:r>
            <a:endParaRPr lang="en-US" b="1"/>
          </a:p>
        </p:txBody>
      </p:sp>
      <p:sp>
        <p:nvSpPr>
          <p:cNvPr id="17" name="Flowchart: Decision 16"/>
          <p:cNvSpPr/>
          <p:nvPr/>
        </p:nvSpPr>
        <p:spPr>
          <a:xfrm>
            <a:off x="710426" y="331272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25033" y="3922844"/>
            <a:ext cx="7697972" cy="646331"/>
          </a:xfrm>
          <a:prstGeom prst="rect">
            <a:avLst/>
          </a:prstGeom>
          <a:noFill/>
        </p:spPr>
        <p:txBody>
          <a:bodyPr wrap="square" rtlCol="0">
            <a:spAutoFit/>
          </a:bodyPr>
          <a:lstStyle/>
          <a:p>
            <a:r>
              <a:rPr lang="vi-VN"/>
              <a:t>Có thể thay đổi, tức là bạn có thể thêm, sửa đổi, hoặc xóa các phần tử trong list sau khi nó đã được </a:t>
            </a:r>
            <a:r>
              <a:rPr lang="vi-VN" smtClean="0"/>
              <a:t>tạo</a:t>
            </a:r>
            <a:r>
              <a:rPr lang="en-US" smtClean="0"/>
              <a:t>.</a:t>
            </a:r>
            <a:endParaRPr lang="en-US"/>
          </a:p>
        </p:txBody>
      </p:sp>
      <p:sp>
        <p:nvSpPr>
          <p:cNvPr id="19" name="Flowchart: Decision 18"/>
          <p:cNvSpPr/>
          <p:nvPr/>
        </p:nvSpPr>
        <p:spPr>
          <a:xfrm>
            <a:off x="710426" y="401747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10426" y="5063283"/>
            <a:ext cx="4127388" cy="68926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891180" y="5196001"/>
            <a:ext cx="3946634" cy="369332"/>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a:solidFill>
                  <a:schemeClr val="accent2">
                    <a:lumMod val="75000"/>
                  </a:schemeClr>
                </a:solidFill>
              </a:rPr>
              <a:t>"cherry"</a:t>
            </a:r>
            <a:r>
              <a:rPr lang="en-US">
                <a:solidFill>
                  <a:schemeClr val="accent4">
                    <a:lumMod val="60000"/>
                    <a:lumOff val="40000"/>
                  </a:schemeClr>
                </a:solidFill>
              </a:rPr>
              <a:t>]</a:t>
            </a:r>
            <a:endParaRPr lang="en-US" smtClean="0">
              <a:solidFill>
                <a:schemeClr val="accent4">
                  <a:lumMod val="60000"/>
                  <a:lumOff val="40000"/>
                </a:schemeClr>
              </a:solidFill>
            </a:endParaRPr>
          </a:p>
        </p:txBody>
      </p:sp>
      <p:sp>
        <p:nvSpPr>
          <p:cNvPr id="22" name="TextBox 21"/>
          <p:cNvSpPr txBox="1"/>
          <p:nvPr/>
        </p:nvSpPr>
        <p:spPr>
          <a:xfrm>
            <a:off x="639997" y="4627592"/>
            <a:ext cx="7697972" cy="369332"/>
          </a:xfrm>
          <a:prstGeom prst="rect">
            <a:avLst/>
          </a:prstGeom>
          <a:noFill/>
        </p:spPr>
        <p:txBody>
          <a:bodyPr wrap="square" rtlCol="0">
            <a:spAutoFit/>
          </a:bodyPr>
          <a:lstStyle/>
          <a:p>
            <a:r>
              <a:rPr lang="en-US" err="1" smtClean="0"/>
              <a:t>Ví</a:t>
            </a:r>
            <a:r>
              <a:rPr lang="en-US" smtClean="0"/>
              <a:t> </a:t>
            </a:r>
            <a:r>
              <a:rPr lang="en-US" err="1" smtClean="0"/>
              <a:t>dụ</a:t>
            </a:r>
            <a:r>
              <a:rPr lang="en-US" smtClean="0"/>
              <a:t>:</a:t>
            </a:r>
            <a:endParaRPr lang="en-US"/>
          </a:p>
        </p:txBody>
      </p:sp>
      <p:sp>
        <p:nvSpPr>
          <p:cNvPr id="23" name="TextBox 22"/>
          <p:cNvSpPr txBox="1"/>
          <p:nvPr/>
        </p:nvSpPr>
        <p:spPr>
          <a:xfrm>
            <a:off x="639997" y="5874649"/>
            <a:ext cx="7697972" cy="646331"/>
          </a:xfrm>
          <a:prstGeom prst="rect">
            <a:avLst/>
          </a:prstGeom>
          <a:noFill/>
        </p:spPr>
        <p:txBody>
          <a:bodyPr wrap="square" rtlCol="0">
            <a:spAutoFit/>
          </a:bodyPr>
          <a:lstStyle/>
          <a:p>
            <a:r>
              <a:rPr lang="en-US" err="1" smtClean="0"/>
              <a:t>Các</a:t>
            </a:r>
            <a:r>
              <a:rPr lang="en-US" smtClean="0"/>
              <a:t> </a:t>
            </a:r>
            <a:r>
              <a:rPr lang="en-US" err="1" smtClean="0"/>
              <a:t>phần</a:t>
            </a:r>
            <a:r>
              <a:rPr lang="en-US" smtClean="0"/>
              <a:t> </a:t>
            </a:r>
            <a:r>
              <a:rPr lang="en-US" err="1" smtClean="0"/>
              <a:t>tử</a:t>
            </a:r>
            <a:r>
              <a:rPr lang="en-US" smtClean="0"/>
              <a:t> </a:t>
            </a:r>
            <a:r>
              <a:rPr lang="en-US" err="1" smtClean="0"/>
              <a:t>dược</a:t>
            </a:r>
            <a:r>
              <a:rPr lang="en-US" smtClean="0"/>
              <a:t> </a:t>
            </a:r>
            <a:r>
              <a:rPr lang="en-US" err="1" smtClean="0"/>
              <a:t>đặt</a:t>
            </a:r>
            <a:r>
              <a:rPr lang="en-US" smtClean="0"/>
              <a:t> </a:t>
            </a:r>
            <a:r>
              <a:rPr lang="en-US" err="1" smtClean="0"/>
              <a:t>trong</a:t>
            </a:r>
            <a:r>
              <a:rPr lang="en-US" smtClean="0"/>
              <a:t> </a:t>
            </a:r>
            <a:r>
              <a:rPr lang="en-US" err="1" smtClean="0"/>
              <a:t>dấu</a:t>
            </a:r>
            <a:r>
              <a:rPr lang="en-US" smtClean="0"/>
              <a:t> </a:t>
            </a:r>
            <a:r>
              <a:rPr lang="en-US" err="1" smtClean="0"/>
              <a:t>ngoặc</a:t>
            </a:r>
            <a:r>
              <a:rPr lang="en-US" smtClean="0"/>
              <a:t> </a:t>
            </a:r>
            <a:r>
              <a:rPr lang="en-US" err="1" smtClean="0"/>
              <a:t>vuông</a:t>
            </a:r>
            <a:r>
              <a:rPr lang="en-US" smtClean="0"/>
              <a:t> </a:t>
            </a:r>
            <a:r>
              <a:rPr lang="en-US" err="1" smtClean="0"/>
              <a:t>và</a:t>
            </a:r>
            <a:r>
              <a:rPr lang="en-US" smtClean="0"/>
              <a:t> </a:t>
            </a:r>
            <a:r>
              <a:rPr lang="en-US" err="1" smtClean="0"/>
              <a:t>cách</a:t>
            </a:r>
            <a:r>
              <a:rPr lang="en-US" smtClean="0"/>
              <a:t> </a:t>
            </a:r>
            <a:r>
              <a:rPr lang="en-US" err="1" smtClean="0"/>
              <a:t>nhau</a:t>
            </a:r>
            <a:r>
              <a:rPr lang="en-US" smtClean="0"/>
              <a:t> </a:t>
            </a:r>
            <a:r>
              <a:rPr lang="en-US" err="1" smtClean="0"/>
              <a:t>bằng</a:t>
            </a:r>
            <a:r>
              <a:rPr lang="en-US" smtClean="0"/>
              <a:t> </a:t>
            </a:r>
            <a:r>
              <a:rPr lang="en-US" err="1" smtClean="0"/>
              <a:t>dấu</a:t>
            </a:r>
            <a:r>
              <a:rPr lang="en-US" smtClean="0"/>
              <a:t> </a:t>
            </a:r>
            <a:r>
              <a:rPr lang="en-US" err="1" smtClean="0"/>
              <a:t>phẩy</a:t>
            </a:r>
            <a:r>
              <a:rPr lang="en-US" smtClean="0"/>
              <a:t> ,. </a:t>
            </a:r>
            <a:r>
              <a:rPr lang="en-US" err="1" smtClean="0"/>
              <a:t>Có</a:t>
            </a:r>
            <a:r>
              <a:rPr lang="en-US" smtClean="0"/>
              <a:t> </a:t>
            </a:r>
            <a:r>
              <a:rPr lang="en-US" err="1" smtClean="0"/>
              <a:t>thể</a:t>
            </a:r>
            <a:r>
              <a:rPr lang="en-US" smtClean="0"/>
              <a:t> </a:t>
            </a:r>
            <a:r>
              <a:rPr lang="en-US" err="1" smtClean="0"/>
              <a:t>là</a:t>
            </a:r>
            <a:r>
              <a:rPr lang="en-US" smtClean="0"/>
              <a:t> </a:t>
            </a:r>
            <a:r>
              <a:rPr lang="en-US" err="1" smtClean="0"/>
              <a:t>một</a:t>
            </a:r>
            <a:r>
              <a:rPr lang="en-US" smtClean="0"/>
              <a:t> list </a:t>
            </a:r>
            <a:r>
              <a:rPr lang="en-US" err="1" smtClean="0"/>
              <a:t>rỗng</a:t>
            </a:r>
            <a:endParaRPr lang="en-US"/>
          </a:p>
        </p:txBody>
      </p:sp>
      <p:sp>
        <p:nvSpPr>
          <p:cNvPr id="24" name="Rectangle 23"/>
          <p:cNvSpPr/>
          <p:nvPr/>
        </p:nvSpPr>
        <p:spPr>
          <a:xfrm>
            <a:off x="5005980" y="5063283"/>
            <a:ext cx="3617025" cy="68926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5186734" y="5196001"/>
            <a:ext cx="1777592" cy="369332"/>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smtClean="0">
                <a:solidFill>
                  <a:schemeClr val="accent4">
                    <a:lumMod val="60000"/>
                    <a:lumOff val="40000"/>
                  </a:schemeClr>
                </a:solidFill>
              </a:rPr>
              <a:t>[]</a:t>
            </a:r>
          </a:p>
        </p:txBody>
      </p:sp>
    </p:spTree>
    <p:extLst>
      <p:ext uri="{BB962C8B-B14F-4D97-AF65-F5344CB8AC3E}">
        <p14:creationId xmlns:p14="http://schemas.microsoft.com/office/powerpoint/2010/main" val="3168920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smtClean="0"/>
              <a:t>Các</a:t>
            </a:r>
            <a:r>
              <a:rPr lang="en-US" smtClean="0"/>
              <a:t> </a:t>
            </a:r>
            <a:r>
              <a:rPr lang="en-US" err="1" smtClean="0"/>
              <a:t>phương</a:t>
            </a:r>
            <a:r>
              <a:rPr lang="en-US" smtClean="0"/>
              <a:t> </a:t>
            </a:r>
            <a:r>
              <a:rPr lang="en-US" err="1" smtClean="0"/>
              <a:t>thức</a:t>
            </a:r>
            <a:r>
              <a:rPr lang="en-US" smtClean="0"/>
              <a:t> </a:t>
            </a:r>
            <a:r>
              <a:rPr lang="en-US" err="1" smtClean="0"/>
              <a:t>tương</a:t>
            </a:r>
            <a:r>
              <a:rPr lang="en-US" smtClean="0"/>
              <a:t> </a:t>
            </a:r>
            <a:r>
              <a:rPr lang="en-US" err="1" smtClean="0"/>
              <a:t>tác</a:t>
            </a:r>
            <a:r>
              <a:rPr lang="en-US" smtClean="0"/>
              <a:t> </a:t>
            </a:r>
            <a:r>
              <a:rPr lang="en-US" err="1" smtClean="0"/>
              <a:t>với</a:t>
            </a:r>
            <a:r>
              <a:rPr lang="en-US" smtClean="0"/>
              <a:t> List</a:t>
            </a:r>
            <a:endParaRPr lang="en-US"/>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Truy</a:t>
            </a:r>
            <a:r>
              <a:rPr lang="en-US" b="1" smtClean="0"/>
              <a:t> </a:t>
            </a:r>
            <a:r>
              <a:rPr lang="en-US" b="1" err="1" smtClean="0"/>
              <a:t>cập</a:t>
            </a:r>
            <a:r>
              <a:rPr lang="en-US" b="1" smtClean="0"/>
              <a:t> </a:t>
            </a:r>
            <a:r>
              <a:rPr lang="en-US" b="1" err="1" smtClean="0"/>
              <a:t>đến</a:t>
            </a:r>
            <a:r>
              <a:rPr lang="en-US" b="1" smtClean="0"/>
              <a:t> </a:t>
            </a:r>
            <a:r>
              <a:rPr lang="en-US" b="1" err="1" smtClean="0"/>
              <a:t>phần</a:t>
            </a:r>
            <a:r>
              <a:rPr lang="en-US" b="1" smtClean="0"/>
              <a:t> </a:t>
            </a:r>
            <a:r>
              <a:rPr lang="en-US" b="1" err="1" smtClean="0"/>
              <a:t>tử</a:t>
            </a:r>
            <a:r>
              <a:rPr lang="en-US" b="1" smtClean="0"/>
              <a:t> </a:t>
            </a:r>
            <a:r>
              <a:rPr lang="en-US" b="1" err="1" smtClean="0"/>
              <a:t>của</a:t>
            </a:r>
            <a:r>
              <a:rPr lang="en-US" b="1" smtClean="0"/>
              <a:t> List</a:t>
            </a:r>
            <a:endParaRPr lang="en-US" b="1">
              <a:solidFill>
                <a:srgbClr val="FF0000"/>
              </a:solidFill>
            </a:endParaRPr>
          </a:p>
        </p:txBody>
      </p:sp>
      <p:sp>
        <p:nvSpPr>
          <p:cNvPr id="26" name="Rectangle 25"/>
          <p:cNvSpPr/>
          <p:nvPr/>
        </p:nvSpPr>
        <p:spPr>
          <a:xfrm>
            <a:off x="699793" y="2208207"/>
            <a:ext cx="7774356" cy="175773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880547" y="2340926"/>
            <a:ext cx="7402216" cy="1477328"/>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a:solidFill>
                  <a:schemeClr val="accent2">
                    <a:lumMod val="75000"/>
                  </a:schemeClr>
                </a:solidFill>
              </a:rPr>
              <a:t>"cherry“, "orange", "kiwi", "melon</a:t>
            </a:r>
            <a:r>
              <a:rPr lang="en-US" smtClean="0">
                <a:solidFill>
                  <a:schemeClr val="accent2">
                    <a:lumMod val="75000"/>
                  </a:schemeClr>
                </a:solidFill>
              </a:rPr>
              <a:t>"</a:t>
            </a:r>
            <a:r>
              <a:rPr lang="en-US" smtClean="0">
                <a:solidFill>
                  <a:schemeClr val="accent4">
                    <a:lumMod val="60000"/>
                    <a:lumOff val="40000"/>
                  </a:schemeClr>
                </a:solidFill>
              </a:rPr>
              <a:t>]</a:t>
            </a:r>
          </a:p>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mylist</a:t>
            </a:r>
            <a:r>
              <a:rPr lang="en-US" smtClean="0">
                <a:solidFill>
                  <a:srgbClr val="FF66CC"/>
                </a:solidFill>
              </a:rPr>
              <a:t>[</a:t>
            </a:r>
            <a:r>
              <a:rPr lang="en-US" smtClean="0">
                <a:solidFill>
                  <a:schemeClr val="accent6">
                    <a:lumMod val="60000"/>
                    <a:lumOff val="40000"/>
                  </a:schemeClr>
                </a:solidFill>
              </a:rPr>
              <a:t>1</a:t>
            </a:r>
            <a:r>
              <a:rPr lang="en-US" smtClean="0">
                <a:solidFill>
                  <a:srgbClr val="FF66CC"/>
                </a:solidFill>
              </a:rPr>
              <a:t>]</a:t>
            </a:r>
            <a:r>
              <a:rPr lang="en-US" smtClean="0">
                <a:solidFill>
                  <a:schemeClr val="accent4">
                    <a:lumMod val="60000"/>
                    <a:lumOff val="40000"/>
                  </a:schemeClr>
                </a:solidFill>
              </a:rPr>
              <a:t>) </a:t>
            </a:r>
          </a:p>
          <a:p>
            <a:r>
              <a:rPr lang="en-US" smtClean="0">
                <a:solidFill>
                  <a:schemeClr val="accent6">
                    <a:lumMod val="75000"/>
                  </a:schemeClr>
                </a:solidFill>
              </a:rPr>
              <a:t>#output: </a:t>
            </a:r>
            <a:r>
              <a:rPr lang="en-US" smtClean="0">
                <a:solidFill>
                  <a:schemeClr val="accent4">
                    <a:lumMod val="60000"/>
                    <a:lumOff val="40000"/>
                  </a:schemeClr>
                </a:solidFill>
              </a:rPr>
              <a:t>banana</a:t>
            </a:r>
          </a:p>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mylist</a:t>
            </a:r>
            <a:r>
              <a:rPr lang="en-US" smtClean="0">
                <a:solidFill>
                  <a:srgbClr val="FF66CC"/>
                </a:solidFill>
              </a:rPr>
              <a:t>[-</a:t>
            </a:r>
            <a:r>
              <a:rPr lang="en-US" smtClean="0">
                <a:solidFill>
                  <a:schemeClr val="accent6">
                    <a:lumMod val="60000"/>
                    <a:lumOff val="40000"/>
                  </a:schemeClr>
                </a:solidFill>
              </a:rPr>
              <a:t>1</a:t>
            </a:r>
            <a:r>
              <a:rPr lang="en-US" smtClean="0">
                <a:solidFill>
                  <a:srgbClr val="FF66CC"/>
                </a:solidFill>
              </a:rPr>
              <a:t>]</a:t>
            </a:r>
            <a:r>
              <a:rPr lang="en-US" smtClean="0">
                <a:solidFill>
                  <a:schemeClr val="accent4">
                    <a:lumMod val="60000"/>
                    <a:lumOff val="40000"/>
                  </a:schemeClr>
                </a:solidFill>
              </a:rPr>
              <a:t>) </a:t>
            </a:r>
          </a:p>
          <a:p>
            <a:r>
              <a:rPr lang="en-US" smtClean="0">
                <a:solidFill>
                  <a:schemeClr val="accent6">
                    <a:lumMod val="75000"/>
                  </a:schemeClr>
                </a:solidFill>
              </a:rPr>
              <a:t>#</a:t>
            </a:r>
            <a:r>
              <a:rPr lang="en-US">
                <a:solidFill>
                  <a:schemeClr val="accent6">
                    <a:lumMod val="75000"/>
                  </a:schemeClr>
                </a:solidFill>
              </a:rPr>
              <a:t>output: </a:t>
            </a:r>
            <a:r>
              <a:rPr lang="en-US" smtClean="0">
                <a:solidFill>
                  <a:schemeClr val="accent4">
                    <a:lumMod val="60000"/>
                    <a:lumOff val="40000"/>
                  </a:schemeClr>
                </a:solidFill>
              </a:rPr>
              <a:t>cherry</a:t>
            </a:r>
            <a:r>
              <a:rPr lang="en-US" smtClean="0">
                <a:solidFill>
                  <a:schemeClr val="accent6">
                    <a:lumMod val="75000"/>
                  </a:schemeClr>
                </a:solidFill>
              </a:rPr>
              <a:t> (</a:t>
            </a:r>
            <a:r>
              <a:rPr lang="en-US" err="1" smtClean="0">
                <a:solidFill>
                  <a:schemeClr val="accent6">
                    <a:lumMod val="75000"/>
                  </a:schemeClr>
                </a:solidFill>
              </a:rPr>
              <a:t>chiều</a:t>
            </a:r>
            <a:r>
              <a:rPr lang="en-US" smtClean="0">
                <a:solidFill>
                  <a:schemeClr val="accent6">
                    <a:lumMod val="75000"/>
                  </a:schemeClr>
                </a:solidFill>
              </a:rPr>
              <a:t> </a:t>
            </a:r>
            <a:r>
              <a:rPr lang="en-US" err="1" smtClean="0">
                <a:solidFill>
                  <a:schemeClr val="accent6">
                    <a:lumMod val="75000"/>
                  </a:schemeClr>
                </a:solidFill>
              </a:rPr>
              <a:t>ngược</a:t>
            </a:r>
            <a:r>
              <a:rPr lang="en-US" smtClean="0">
                <a:solidFill>
                  <a:schemeClr val="accent6">
                    <a:lumMod val="75000"/>
                  </a:schemeClr>
                </a:solidFill>
              </a:rPr>
              <a:t> </a:t>
            </a:r>
            <a:r>
              <a:rPr lang="en-US" err="1" smtClean="0">
                <a:solidFill>
                  <a:schemeClr val="accent6">
                    <a:lumMod val="75000"/>
                  </a:schemeClr>
                </a:solidFill>
              </a:rPr>
              <a:t>lại</a:t>
            </a:r>
            <a:r>
              <a:rPr lang="en-US" smtClean="0">
                <a:solidFill>
                  <a:schemeClr val="accent6">
                    <a:lumMod val="75000"/>
                  </a:schemeClr>
                </a:solidFill>
              </a:rPr>
              <a:t>)</a:t>
            </a:r>
          </a:p>
        </p:txBody>
      </p:sp>
      <p:sp>
        <p:nvSpPr>
          <p:cNvPr id="28" name="TextBox 27"/>
          <p:cNvSpPr txBox="1"/>
          <p:nvPr/>
        </p:nvSpPr>
        <p:spPr>
          <a:xfrm>
            <a:off x="699793" y="4087147"/>
            <a:ext cx="7697972" cy="369332"/>
          </a:xfrm>
          <a:prstGeom prst="rect">
            <a:avLst/>
          </a:prstGeom>
          <a:noFill/>
        </p:spPr>
        <p:txBody>
          <a:bodyPr wrap="square" rtlCol="0">
            <a:spAutoFit/>
          </a:bodyPr>
          <a:lstStyle/>
          <a:p>
            <a:r>
              <a:rPr lang="en-US" err="1" smtClean="0"/>
              <a:t>Cú</a:t>
            </a:r>
            <a:r>
              <a:rPr lang="en-US" smtClean="0"/>
              <a:t> </a:t>
            </a:r>
            <a:r>
              <a:rPr lang="en-US" err="1" smtClean="0"/>
              <a:t>pháp</a:t>
            </a:r>
            <a:r>
              <a:rPr lang="en-US" smtClean="0"/>
              <a:t>: </a:t>
            </a:r>
            <a:r>
              <a:rPr lang="en-US" b="1" smtClean="0"/>
              <a:t>list[</a:t>
            </a:r>
            <a:r>
              <a:rPr lang="en-US" b="1" err="1" smtClean="0"/>
              <a:t>start:end</a:t>
            </a:r>
            <a:r>
              <a:rPr lang="en-US" b="1" smtClean="0"/>
              <a:t>]</a:t>
            </a:r>
            <a:endParaRPr lang="en-US" b="1"/>
          </a:p>
        </p:txBody>
      </p:sp>
      <p:sp>
        <p:nvSpPr>
          <p:cNvPr id="29" name="Rectangle 28"/>
          <p:cNvSpPr/>
          <p:nvPr/>
        </p:nvSpPr>
        <p:spPr>
          <a:xfrm>
            <a:off x="699793" y="5405391"/>
            <a:ext cx="7774356" cy="97416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5538110"/>
            <a:ext cx="7402216" cy="646331"/>
          </a:xfrm>
          <a:prstGeom prst="rect">
            <a:avLst/>
          </a:prstGeom>
          <a:noFill/>
        </p:spPr>
        <p:txBody>
          <a:bodyPr wrap="square" rtlCol="0">
            <a:spAutoFit/>
          </a:bodyPr>
          <a:lstStyle/>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mylist</a:t>
            </a:r>
            <a:r>
              <a:rPr lang="en-US" smtClean="0">
                <a:solidFill>
                  <a:srgbClr val="FF66CC"/>
                </a:solidFill>
              </a:rPr>
              <a:t>[</a:t>
            </a:r>
            <a:r>
              <a:rPr lang="en-US" smtClean="0">
                <a:solidFill>
                  <a:schemeClr val="bg1"/>
                </a:solidFill>
              </a:rPr>
              <a:t>1:4</a:t>
            </a:r>
            <a:r>
              <a:rPr lang="en-US" smtClean="0">
                <a:solidFill>
                  <a:srgbClr val="FF66CC"/>
                </a:solidFill>
              </a:rPr>
              <a:t>]</a:t>
            </a:r>
            <a:r>
              <a:rPr lang="en-US" smtClean="0">
                <a:solidFill>
                  <a:schemeClr val="accent4">
                    <a:lumMod val="60000"/>
                    <a:lumOff val="40000"/>
                  </a:schemeClr>
                </a:solidFill>
              </a:rPr>
              <a:t>)</a:t>
            </a:r>
          </a:p>
          <a:p>
            <a:r>
              <a:rPr lang="en-US">
                <a:solidFill>
                  <a:schemeClr val="accent6">
                    <a:lumMod val="75000"/>
                  </a:schemeClr>
                </a:solidFill>
              </a:rPr>
              <a:t>#output: </a:t>
            </a:r>
            <a:r>
              <a:rPr lang="en-US" smtClean="0">
                <a:solidFill>
                  <a:schemeClr val="accent4">
                    <a:lumMod val="60000"/>
                    <a:lumOff val="40000"/>
                  </a:schemeClr>
                </a:solidFill>
              </a:rPr>
              <a:t>banana, cherry, orange (</a:t>
            </a:r>
            <a:r>
              <a:rPr lang="en-US" err="1" smtClean="0">
                <a:solidFill>
                  <a:schemeClr val="accent4">
                    <a:lumMod val="60000"/>
                    <a:lumOff val="40000"/>
                  </a:schemeClr>
                </a:solidFill>
              </a:rPr>
              <a:t>không</a:t>
            </a:r>
            <a:r>
              <a:rPr lang="en-US" smtClean="0">
                <a:solidFill>
                  <a:schemeClr val="accent4">
                    <a:lumMod val="60000"/>
                    <a:lumOff val="40000"/>
                  </a:schemeClr>
                </a:solidFill>
              </a:rPr>
              <a:t> </a:t>
            </a:r>
            <a:r>
              <a:rPr lang="en-US" err="1" smtClean="0">
                <a:solidFill>
                  <a:schemeClr val="accent4">
                    <a:lumMod val="60000"/>
                    <a:lumOff val="40000"/>
                  </a:schemeClr>
                </a:solidFill>
              </a:rPr>
              <a:t>tính</a:t>
            </a:r>
            <a:r>
              <a:rPr lang="en-US" smtClean="0">
                <a:solidFill>
                  <a:schemeClr val="accent4">
                    <a:lumMod val="60000"/>
                    <a:lumOff val="40000"/>
                  </a:schemeClr>
                </a:solidFill>
              </a:rPr>
              <a:t> kiwi)</a:t>
            </a:r>
            <a:endParaRPr lang="en-US">
              <a:solidFill>
                <a:schemeClr val="accent4">
                  <a:lumMod val="60000"/>
                  <a:lumOff val="40000"/>
                </a:schemeClr>
              </a:solidFill>
            </a:endParaRPr>
          </a:p>
        </p:txBody>
      </p:sp>
      <p:sp>
        <p:nvSpPr>
          <p:cNvPr id="31" name="TextBox 30"/>
          <p:cNvSpPr txBox="1"/>
          <p:nvPr/>
        </p:nvSpPr>
        <p:spPr>
          <a:xfrm>
            <a:off x="699793" y="4608142"/>
            <a:ext cx="7697972" cy="646331"/>
          </a:xfrm>
          <a:prstGeom prst="rect">
            <a:avLst/>
          </a:prstGeom>
          <a:noFill/>
        </p:spPr>
        <p:txBody>
          <a:bodyPr wrap="square" rtlCol="0">
            <a:spAutoFit/>
          </a:bodyPr>
          <a:lstStyle/>
          <a:p>
            <a:pPr marL="285750" indent="-285750">
              <a:buFontTx/>
              <a:buChar char="-"/>
            </a:pPr>
            <a:r>
              <a:rPr lang="en-US" smtClean="0"/>
              <a:t>start (</a:t>
            </a:r>
            <a:r>
              <a:rPr lang="en-US" err="1" smtClean="0"/>
              <a:t>tùy</a:t>
            </a:r>
            <a:r>
              <a:rPr lang="en-US" smtClean="0"/>
              <a:t> </a:t>
            </a:r>
            <a:r>
              <a:rPr lang="en-US" err="1" smtClean="0"/>
              <a:t>chọn</a:t>
            </a:r>
            <a:r>
              <a:rPr lang="en-US"/>
              <a:t>)</a:t>
            </a:r>
            <a:r>
              <a:rPr lang="en-US" smtClean="0"/>
              <a:t> </a:t>
            </a:r>
            <a:r>
              <a:rPr lang="en-US" err="1" smtClean="0"/>
              <a:t>mặc</a:t>
            </a:r>
            <a:r>
              <a:rPr lang="en-US" smtClean="0"/>
              <a:t> </a:t>
            </a:r>
            <a:r>
              <a:rPr lang="en-US" err="1" smtClean="0"/>
              <a:t>định</a:t>
            </a:r>
            <a:r>
              <a:rPr lang="en-US" smtClean="0"/>
              <a:t> </a:t>
            </a:r>
            <a:r>
              <a:rPr lang="en-US" err="1" smtClean="0"/>
              <a:t>là</a:t>
            </a:r>
            <a:r>
              <a:rPr lang="en-US" smtClean="0"/>
              <a:t> 0, </a:t>
            </a:r>
            <a:r>
              <a:rPr lang="en-US" err="1" smtClean="0"/>
              <a:t>có</a:t>
            </a:r>
            <a:r>
              <a:rPr lang="en-US" smtClean="0"/>
              <a:t> </a:t>
            </a:r>
            <a:r>
              <a:rPr lang="en-US" err="1" smtClean="0"/>
              <a:t>thể</a:t>
            </a:r>
            <a:r>
              <a:rPr lang="en-US" smtClean="0"/>
              <a:t> </a:t>
            </a:r>
            <a:r>
              <a:rPr lang="en-US" err="1" smtClean="0"/>
              <a:t>là</a:t>
            </a:r>
            <a:r>
              <a:rPr lang="en-US" smtClean="0"/>
              <a:t> </a:t>
            </a:r>
            <a:r>
              <a:rPr lang="en-US" err="1" smtClean="0"/>
              <a:t>số</a:t>
            </a:r>
            <a:r>
              <a:rPr lang="en-US" smtClean="0"/>
              <a:t> </a:t>
            </a:r>
            <a:r>
              <a:rPr lang="en-US" err="1" smtClean="0"/>
              <a:t>âm</a:t>
            </a:r>
            <a:endParaRPr lang="en-US" smtClean="0"/>
          </a:p>
          <a:p>
            <a:pPr marL="285750" indent="-285750">
              <a:buFontTx/>
              <a:buChar char="-"/>
            </a:pPr>
            <a:r>
              <a:rPr lang="en-US"/>
              <a:t>e</a:t>
            </a:r>
            <a:r>
              <a:rPr lang="en-US" smtClean="0"/>
              <a:t>nd (</a:t>
            </a:r>
            <a:r>
              <a:rPr lang="en-US" err="1" smtClean="0"/>
              <a:t>tùy</a:t>
            </a:r>
            <a:r>
              <a:rPr lang="en-US" smtClean="0"/>
              <a:t> </a:t>
            </a:r>
            <a:r>
              <a:rPr lang="en-US" err="1" smtClean="0"/>
              <a:t>chọn</a:t>
            </a:r>
            <a:r>
              <a:rPr lang="en-US" smtClean="0"/>
              <a:t>) </a:t>
            </a:r>
            <a:r>
              <a:rPr lang="en-US" err="1" smtClean="0"/>
              <a:t>mặc</a:t>
            </a:r>
            <a:r>
              <a:rPr lang="en-US" smtClean="0"/>
              <a:t> </a:t>
            </a:r>
            <a:r>
              <a:rPr lang="en-US" err="1" smtClean="0"/>
              <a:t>định</a:t>
            </a:r>
            <a:r>
              <a:rPr lang="en-US" smtClean="0"/>
              <a:t> </a:t>
            </a:r>
            <a:r>
              <a:rPr lang="en-US" err="1" smtClean="0"/>
              <a:t>lấy</a:t>
            </a:r>
            <a:r>
              <a:rPr lang="en-US" smtClean="0"/>
              <a:t> </a:t>
            </a:r>
            <a:r>
              <a:rPr lang="en-US" err="1" smtClean="0"/>
              <a:t>đến</a:t>
            </a:r>
            <a:r>
              <a:rPr lang="en-US" smtClean="0"/>
              <a:t> </a:t>
            </a:r>
            <a:r>
              <a:rPr lang="en-US" err="1" smtClean="0"/>
              <a:t>cuối</a:t>
            </a:r>
            <a:r>
              <a:rPr lang="en-US" smtClean="0"/>
              <a:t> list, </a:t>
            </a:r>
            <a:r>
              <a:rPr lang="en-US"/>
              <a:t>, </a:t>
            </a:r>
            <a:r>
              <a:rPr lang="en-US" err="1"/>
              <a:t>có</a:t>
            </a:r>
            <a:r>
              <a:rPr lang="en-US"/>
              <a:t> </a:t>
            </a:r>
            <a:r>
              <a:rPr lang="en-US" err="1"/>
              <a:t>thể</a:t>
            </a:r>
            <a:r>
              <a:rPr lang="en-US"/>
              <a:t> </a:t>
            </a:r>
            <a:r>
              <a:rPr lang="en-US" err="1"/>
              <a:t>là</a:t>
            </a:r>
            <a:r>
              <a:rPr lang="en-US"/>
              <a:t> </a:t>
            </a:r>
            <a:r>
              <a:rPr lang="en-US" err="1"/>
              <a:t>số</a:t>
            </a:r>
            <a:r>
              <a:rPr lang="en-US"/>
              <a:t> </a:t>
            </a:r>
            <a:r>
              <a:rPr lang="en-US" err="1" smtClean="0"/>
              <a:t>âm</a:t>
            </a:r>
            <a:endParaRPr lang="en-US" b="1"/>
          </a:p>
        </p:txBody>
      </p:sp>
    </p:spTree>
    <p:extLst>
      <p:ext uri="{BB962C8B-B14F-4D97-AF65-F5344CB8AC3E}">
        <p14:creationId xmlns:p14="http://schemas.microsoft.com/office/powerpoint/2010/main" val="16294650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List</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Truy</a:t>
            </a:r>
            <a:r>
              <a:rPr lang="en-US" b="1" smtClean="0"/>
              <a:t> </a:t>
            </a:r>
            <a:r>
              <a:rPr lang="en-US" b="1" err="1" smtClean="0"/>
              <a:t>cập</a:t>
            </a:r>
            <a:r>
              <a:rPr lang="en-US" b="1" smtClean="0"/>
              <a:t> </a:t>
            </a:r>
            <a:r>
              <a:rPr lang="en-US" b="1" err="1" smtClean="0"/>
              <a:t>đến</a:t>
            </a:r>
            <a:r>
              <a:rPr lang="en-US" b="1" smtClean="0"/>
              <a:t> </a:t>
            </a:r>
            <a:r>
              <a:rPr lang="en-US" b="1" err="1" smtClean="0"/>
              <a:t>phần</a:t>
            </a:r>
            <a:r>
              <a:rPr lang="en-US" b="1" smtClean="0"/>
              <a:t> </a:t>
            </a:r>
            <a:r>
              <a:rPr lang="en-US" b="1" err="1" smtClean="0"/>
              <a:t>tử</a:t>
            </a:r>
            <a:r>
              <a:rPr lang="en-US" b="1" smtClean="0"/>
              <a:t> </a:t>
            </a:r>
            <a:r>
              <a:rPr lang="en-US" b="1" err="1" smtClean="0"/>
              <a:t>của</a:t>
            </a:r>
            <a:r>
              <a:rPr lang="en-US" b="1" smtClean="0"/>
              <a:t> List</a:t>
            </a:r>
            <a:endParaRPr lang="en-US" b="1">
              <a:solidFill>
                <a:srgbClr val="FF0000"/>
              </a:solidFill>
            </a:endParaRPr>
          </a:p>
        </p:txBody>
      </p:sp>
      <p:sp>
        <p:nvSpPr>
          <p:cNvPr id="29" name="Rectangle 28"/>
          <p:cNvSpPr/>
          <p:nvPr/>
        </p:nvSpPr>
        <p:spPr>
          <a:xfrm>
            <a:off x="699793" y="2485041"/>
            <a:ext cx="7774356" cy="97416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17760"/>
            <a:ext cx="7402216" cy="646331"/>
          </a:xfrm>
          <a:prstGeom prst="rect">
            <a:avLst/>
          </a:prstGeom>
          <a:noFill/>
        </p:spPr>
        <p:txBody>
          <a:bodyPr wrap="square" rtlCol="0">
            <a:spAutoFit/>
          </a:bodyPr>
          <a:lstStyle/>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mylist</a:t>
            </a:r>
            <a:r>
              <a:rPr lang="en-US" smtClean="0">
                <a:solidFill>
                  <a:srgbClr val="FF66CC"/>
                </a:solidFill>
              </a:rPr>
              <a:t>[</a:t>
            </a:r>
            <a:r>
              <a:rPr lang="en-US" smtClean="0">
                <a:solidFill>
                  <a:schemeClr val="bg1"/>
                </a:solidFill>
              </a:rPr>
              <a:t>:4</a:t>
            </a:r>
            <a:r>
              <a:rPr lang="en-US" smtClean="0">
                <a:solidFill>
                  <a:srgbClr val="FF66CC"/>
                </a:solidFill>
              </a:rPr>
              <a:t>]</a:t>
            </a:r>
            <a:r>
              <a:rPr lang="en-US" smtClean="0">
                <a:solidFill>
                  <a:schemeClr val="accent4">
                    <a:lumMod val="60000"/>
                    <a:lumOff val="40000"/>
                  </a:schemeClr>
                </a:solidFill>
              </a:rPr>
              <a:t>)</a:t>
            </a:r>
          </a:p>
          <a:p>
            <a:r>
              <a:rPr lang="en-US">
                <a:solidFill>
                  <a:schemeClr val="accent6">
                    <a:lumMod val="75000"/>
                  </a:schemeClr>
                </a:solidFill>
              </a:rPr>
              <a:t>#output: </a:t>
            </a:r>
            <a:r>
              <a:rPr lang="en-US" smtClean="0">
                <a:solidFill>
                  <a:schemeClr val="accent4">
                    <a:lumMod val="60000"/>
                    <a:lumOff val="40000"/>
                  </a:schemeClr>
                </a:solidFill>
              </a:rPr>
              <a:t>banana, cherry, orange (</a:t>
            </a:r>
            <a:r>
              <a:rPr lang="en-US" err="1" smtClean="0">
                <a:solidFill>
                  <a:schemeClr val="accent4">
                    <a:lumMod val="60000"/>
                    <a:lumOff val="40000"/>
                  </a:schemeClr>
                </a:solidFill>
              </a:rPr>
              <a:t>không</a:t>
            </a:r>
            <a:r>
              <a:rPr lang="en-US" smtClean="0">
                <a:solidFill>
                  <a:schemeClr val="accent4">
                    <a:lumMod val="60000"/>
                    <a:lumOff val="40000"/>
                  </a:schemeClr>
                </a:solidFill>
              </a:rPr>
              <a:t> </a:t>
            </a:r>
            <a:r>
              <a:rPr lang="en-US" err="1" smtClean="0">
                <a:solidFill>
                  <a:schemeClr val="accent4">
                    <a:lumMod val="60000"/>
                    <a:lumOff val="40000"/>
                  </a:schemeClr>
                </a:solidFill>
              </a:rPr>
              <a:t>tính</a:t>
            </a:r>
            <a:r>
              <a:rPr lang="en-US" smtClean="0">
                <a:solidFill>
                  <a:schemeClr val="accent4">
                    <a:lumMod val="60000"/>
                    <a:lumOff val="40000"/>
                  </a:schemeClr>
                </a:solidFill>
              </a:rPr>
              <a:t> kiwi)</a:t>
            </a:r>
            <a:endParaRPr lang="en-US">
              <a:solidFill>
                <a:schemeClr val="accent4">
                  <a:lumMod val="60000"/>
                  <a:lumOff val="40000"/>
                </a:schemeClr>
              </a:solidFill>
            </a:endParaRPr>
          </a:p>
        </p:txBody>
      </p:sp>
      <p:sp>
        <p:nvSpPr>
          <p:cNvPr id="12" name="Rectangle 11"/>
          <p:cNvSpPr/>
          <p:nvPr/>
        </p:nvSpPr>
        <p:spPr>
          <a:xfrm>
            <a:off x="699793" y="4046737"/>
            <a:ext cx="7774356" cy="97416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880547" y="4179456"/>
            <a:ext cx="7402216" cy="646331"/>
          </a:xfrm>
          <a:prstGeom prst="rect">
            <a:avLst/>
          </a:prstGeom>
          <a:noFill/>
        </p:spPr>
        <p:txBody>
          <a:bodyPr wrap="square" rtlCol="0">
            <a:spAutoFit/>
          </a:bodyPr>
          <a:lstStyle/>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mylist</a:t>
            </a:r>
            <a:r>
              <a:rPr lang="en-US" smtClean="0">
                <a:solidFill>
                  <a:srgbClr val="FF66CC"/>
                </a:solidFill>
              </a:rPr>
              <a:t>[</a:t>
            </a:r>
            <a:r>
              <a:rPr lang="en-US" smtClean="0">
                <a:solidFill>
                  <a:schemeClr val="bg1"/>
                </a:solidFill>
              </a:rPr>
              <a:t>4:</a:t>
            </a:r>
            <a:r>
              <a:rPr lang="en-US" smtClean="0">
                <a:solidFill>
                  <a:srgbClr val="FF66CC"/>
                </a:solidFill>
              </a:rPr>
              <a:t>]</a:t>
            </a:r>
            <a:r>
              <a:rPr lang="en-US" smtClean="0">
                <a:solidFill>
                  <a:schemeClr val="accent4">
                    <a:lumMod val="60000"/>
                    <a:lumOff val="40000"/>
                  </a:schemeClr>
                </a:solidFill>
              </a:rPr>
              <a:t>)</a:t>
            </a:r>
          </a:p>
          <a:p>
            <a:r>
              <a:rPr lang="en-US">
                <a:solidFill>
                  <a:schemeClr val="accent6">
                    <a:lumMod val="75000"/>
                  </a:schemeClr>
                </a:solidFill>
              </a:rPr>
              <a:t>#output: </a:t>
            </a:r>
            <a:r>
              <a:rPr lang="en-US" smtClean="0">
                <a:solidFill>
                  <a:schemeClr val="accent4">
                    <a:lumMod val="60000"/>
                    <a:lumOff val="40000"/>
                  </a:schemeClr>
                </a:solidFill>
              </a:rPr>
              <a:t>kiwi, melon</a:t>
            </a:r>
            <a:endParaRPr lang="en-US">
              <a:solidFill>
                <a:schemeClr val="accent4">
                  <a:lumMod val="60000"/>
                  <a:lumOff val="40000"/>
                </a:schemeClr>
              </a:solidFill>
            </a:endParaRPr>
          </a:p>
        </p:txBody>
      </p:sp>
      <p:sp>
        <p:nvSpPr>
          <p:cNvPr id="14" name="TextBox 13"/>
          <p:cNvSpPr txBox="1"/>
          <p:nvPr/>
        </p:nvSpPr>
        <p:spPr>
          <a:xfrm>
            <a:off x="699793" y="2015148"/>
            <a:ext cx="7697972" cy="369332"/>
          </a:xfrm>
          <a:prstGeom prst="rect">
            <a:avLst/>
          </a:prstGeom>
          <a:noFill/>
        </p:spPr>
        <p:txBody>
          <a:bodyPr wrap="square" rtlCol="0">
            <a:spAutoFit/>
          </a:bodyPr>
          <a:lstStyle/>
          <a:p>
            <a:r>
              <a:rPr lang="en-US" err="1" smtClean="0"/>
              <a:t>Ví</a:t>
            </a:r>
            <a:r>
              <a:rPr lang="en-US" smtClean="0"/>
              <a:t> </a:t>
            </a:r>
            <a:r>
              <a:rPr lang="en-US" err="1" smtClean="0"/>
              <a:t>dụ</a:t>
            </a:r>
            <a:r>
              <a:rPr lang="en-US" smtClean="0"/>
              <a:t> </a:t>
            </a:r>
            <a:r>
              <a:rPr lang="en-US" err="1" smtClean="0"/>
              <a:t>với</a:t>
            </a:r>
            <a:r>
              <a:rPr lang="en-US" smtClean="0"/>
              <a:t> start </a:t>
            </a:r>
            <a:r>
              <a:rPr lang="en-US" err="1" smtClean="0"/>
              <a:t>không</a:t>
            </a:r>
            <a:r>
              <a:rPr lang="en-US" smtClean="0"/>
              <a:t> </a:t>
            </a:r>
            <a:r>
              <a:rPr lang="en-US" err="1" smtClean="0"/>
              <a:t>được</a:t>
            </a:r>
            <a:r>
              <a:rPr lang="en-US" smtClean="0"/>
              <a:t> </a:t>
            </a:r>
            <a:r>
              <a:rPr lang="en-US" err="1" smtClean="0"/>
              <a:t>điền</a:t>
            </a:r>
            <a:r>
              <a:rPr lang="en-US" smtClean="0"/>
              <a:t>, </a:t>
            </a:r>
            <a:r>
              <a:rPr lang="en-US" err="1" smtClean="0"/>
              <a:t>thì</a:t>
            </a:r>
            <a:r>
              <a:rPr lang="en-US" smtClean="0"/>
              <a:t> </a:t>
            </a:r>
            <a:r>
              <a:rPr lang="en-US" err="1" smtClean="0"/>
              <a:t>mặc</a:t>
            </a:r>
            <a:r>
              <a:rPr lang="en-US" smtClean="0"/>
              <a:t> </a:t>
            </a:r>
            <a:r>
              <a:rPr lang="en-US" err="1" smtClean="0"/>
              <a:t>định</a:t>
            </a:r>
            <a:r>
              <a:rPr lang="en-US" smtClean="0"/>
              <a:t> start </a:t>
            </a:r>
            <a:r>
              <a:rPr lang="en-US" err="1" smtClean="0"/>
              <a:t>là</a:t>
            </a:r>
            <a:r>
              <a:rPr lang="en-US" smtClean="0"/>
              <a:t> 0</a:t>
            </a:r>
            <a:endParaRPr lang="en-US"/>
          </a:p>
        </p:txBody>
      </p:sp>
      <p:sp>
        <p:nvSpPr>
          <p:cNvPr id="15" name="TextBox 14"/>
          <p:cNvSpPr txBox="1"/>
          <p:nvPr/>
        </p:nvSpPr>
        <p:spPr>
          <a:xfrm>
            <a:off x="699793" y="3556867"/>
            <a:ext cx="7697972" cy="369332"/>
          </a:xfrm>
          <a:prstGeom prst="rect">
            <a:avLst/>
          </a:prstGeom>
          <a:noFill/>
        </p:spPr>
        <p:txBody>
          <a:bodyPr wrap="square" rtlCol="0">
            <a:spAutoFit/>
          </a:bodyPr>
          <a:lstStyle/>
          <a:p>
            <a:r>
              <a:rPr lang="en-US" err="1" smtClean="0"/>
              <a:t>Ví</a:t>
            </a:r>
            <a:r>
              <a:rPr lang="en-US" smtClean="0"/>
              <a:t> </a:t>
            </a:r>
            <a:r>
              <a:rPr lang="en-US" err="1" smtClean="0"/>
              <a:t>dụ</a:t>
            </a:r>
            <a:r>
              <a:rPr lang="en-US" smtClean="0"/>
              <a:t> </a:t>
            </a:r>
            <a:r>
              <a:rPr lang="en-US" err="1" smtClean="0"/>
              <a:t>với</a:t>
            </a:r>
            <a:r>
              <a:rPr lang="en-US" smtClean="0"/>
              <a:t> end </a:t>
            </a:r>
            <a:r>
              <a:rPr lang="en-US" err="1" smtClean="0"/>
              <a:t>không</a:t>
            </a:r>
            <a:r>
              <a:rPr lang="en-US" smtClean="0"/>
              <a:t> </a:t>
            </a:r>
            <a:r>
              <a:rPr lang="en-US" err="1" smtClean="0"/>
              <a:t>được</a:t>
            </a:r>
            <a:r>
              <a:rPr lang="en-US" smtClean="0"/>
              <a:t> </a:t>
            </a:r>
            <a:r>
              <a:rPr lang="en-US" err="1" smtClean="0"/>
              <a:t>điền</a:t>
            </a:r>
            <a:r>
              <a:rPr lang="en-US" smtClean="0"/>
              <a:t>, </a:t>
            </a:r>
            <a:r>
              <a:rPr lang="en-US" err="1" smtClean="0"/>
              <a:t>thì</a:t>
            </a:r>
            <a:r>
              <a:rPr lang="en-US" smtClean="0"/>
              <a:t> </a:t>
            </a:r>
            <a:r>
              <a:rPr lang="en-US" err="1" smtClean="0"/>
              <a:t>mặc</a:t>
            </a:r>
            <a:r>
              <a:rPr lang="en-US" smtClean="0"/>
              <a:t> </a:t>
            </a:r>
            <a:r>
              <a:rPr lang="en-US" err="1" smtClean="0"/>
              <a:t>định</a:t>
            </a:r>
            <a:r>
              <a:rPr lang="en-US" smtClean="0"/>
              <a:t> </a:t>
            </a:r>
            <a:r>
              <a:rPr lang="en-US" err="1" smtClean="0"/>
              <a:t>lấy</a:t>
            </a:r>
            <a:r>
              <a:rPr lang="en-US" smtClean="0"/>
              <a:t> </a:t>
            </a:r>
            <a:r>
              <a:rPr lang="en-US" err="1" smtClean="0"/>
              <a:t>đến</a:t>
            </a:r>
            <a:r>
              <a:rPr lang="en-US" smtClean="0"/>
              <a:t> </a:t>
            </a:r>
            <a:r>
              <a:rPr lang="en-US" err="1" smtClean="0"/>
              <a:t>cuối</a:t>
            </a:r>
            <a:r>
              <a:rPr lang="en-US" smtClean="0"/>
              <a:t> </a:t>
            </a:r>
            <a:r>
              <a:rPr lang="en-US" err="1" smtClean="0"/>
              <a:t>danh</a:t>
            </a:r>
            <a:r>
              <a:rPr lang="en-US" smtClean="0"/>
              <a:t> </a:t>
            </a:r>
            <a:r>
              <a:rPr lang="en-US" err="1" smtClean="0"/>
              <a:t>sách</a:t>
            </a:r>
            <a:endParaRPr lang="en-US"/>
          </a:p>
        </p:txBody>
      </p:sp>
      <p:sp>
        <p:nvSpPr>
          <p:cNvPr id="18" name="TextBox 17"/>
          <p:cNvSpPr txBox="1"/>
          <p:nvPr/>
        </p:nvSpPr>
        <p:spPr>
          <a:xfrm>
            <a:off x="699793" y="5156852"/>
            <a:ext cx="7697972" cy="369332"/>
          </a:xfrm>
          <a:prstGeom prst="rect">
            <a:avLst/>
          </a:prstGeom>
          <a:noFill/>
        </p:spPr>
        <p:txBody>
          <a:bodyPr wrap="square" rtlCol="0">
            <a:spAutoFit/>
          </a:bodyPr>
          <a:lstStyle/>
          <a:p>
            <a:r>
              <a:rPr lang="en-US" b="1" err="1" smtClean="0"/>
              <a:t>Kiểm</a:t>
            </a:r>
            <a:r>
              <a:rPr lang="en-US" b="1" smtClean="0"/>
              <a:t> </a:t>
            </a:r>
            <a:r>
              <a:rPr lang="en-US" b="1" err="1" smtClean="0"/>
              <a:t>tra</a:t>
            </a:r>
            <a:r>
              <a:rPr lang="en-US" b="1" smtClean="0"/>
              <a:t> </a:t>
            </a:r>
            <a:r>
              <a:rPr lang="en-US" b="1" err="1" smtClean="0"/>
              <a:t>xem</a:t>
            </a:r>
            <a:r>
              <a:rPr lang="en-US" b="1" smtClean="0"/>
              <a:t> </a:t>
            </a:r>
            <a:r>
              <a:rPr lang="en-US" b="1" err="1" smtClean="0"/>
              <a:t>phần</a:t>
            </a:r>
            <a:r>
              <a:rPr lang="en-US" b="1" smtClean="0"/>
              <a:t> </a:t>
            </a:r>
            <a:r>
              <a:rPr lang="en-US" b="1" err="1" smtClean="0"/>
              <a:t>tử</a:t>
            </a:r>
            <a:r>
              <a:rPr lang="en-US" b="1" smtClean="0"/>
              <a:t> </a:t>
            </a:r>
            <a:r>
              <a:rPr lang="en-US" b="1" err="1" smtClean="0"/>
              <a:t>trong</a:t>
            </a:r>
            <a:r>
              <a:rPr lang="en-US" b="1" smtClean="0"/>
              <a:t> list </a:t>
            </a:r>
            <a:r>
              <a:rPr lang="en-US" b="1" err="1" smtClean="0"/>
              <a:t>có</a:t>
            </a:r>
            <a:r>
              <a:rPr lang="en-US" b="1" smtClean="0"/>
              <a:t> </a:t>
            </a:r>
            <a:r>
              <a:rPr lang="en-US" b="1" err="1" smtClean="0"/>
              <a:t>tồn</a:t>
            </a:r>
            <a:r>
              <a:rPr lang="en-US" b="1" smtClean="0"/>
              <a:t> </a:t>
            </a:r>
            <a:r>
              <a:rPr lang="en-US" b="1" err="1" smtClean="0"/>
              <a:t>tại</a:t>
            </a:r>
            <a:r>
              <a:rPr lang="en-US" b="1" smtClean="0"/>
              <a:t> </a:t>
            </a:r>
            <a:r>
              <a:rPr lang="en-US" b="1" err="1" smtClean="0"/>
              <a:t>không</a:t>
            </a:r>
            <a:endParaRPr lang="en-US" b="1"/>
          </a:p>
        </p:txBody>
      </p:sp>
      <p:sp>
        <p:nvSpPr>
          <p:cNvPr id="20" name="Rectangle 19"/>
          <p:cNvSpPr/>
          <p:nvPr/>
        </p:nvSpPr>
        <p:spPr>
          <a:xfrm>
            <a:off x="699793" y="5567195"/>
            <a:ext cx="7774356" cy="97416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880547" y="5699914"/>
            <a:ext cx="7402216" cy="646331"/>
          </a:xfrm>
          <a:prstGeom prst="rect">
            <a:avLst/>
          </a:prstGeom>
          <a:noFill/>
        </p:spPr>
        <p:txBody>
          <a:bodyPr wrap="square" rtlCol="0">
            <a:spAutoFit/>
          </a:bodyPr>
          <a:lstStyle/>
          <a:p>
            <a:r>
              <a:rPr lang="en-US">
                <a:solidFill>
                  <a:srgbClr val="00B0F0"/>
                </a:solidFill>
              </a:rPr>
              <a:t>i</a:t>
            </a:r>
            <a:r>
              <a:rPr lang="en-US" smtClean="0">
                <a:solidFill>
                  <a:srgbClr val="00B0F0"/>
                </a:solidFill>
              </a:rPr>
              <a:t>f</a:t>
            </a:r>
            <a:r>
              <a:rPr lang="en-US" smtClean="0">
                <a:solidFill>
                  <a:schemeClr val="bg1"/>
                </a:solidFill>
              </a:rPr>
              <a:t> </a:t>
            </a:r>
            <a:r>
              <a:rPr lang="en-US" smtClean="0">
                <a:solidFill>
                  <a:schemeClr val="accent2">
                    <a:lumMod val="75000"/>
                  </a:schemeClr>
                </a:solidFill>
              </a:rPr>
              <a:t>‘apple’ </a:t>
            </a:r>
            <a:r>
              <a:rPr lang="en-US" smtClean="0">
                <a:solidFill>
                  <a:srgbClr val="00B0F0"/>
                </a:solidFill>
              </a:rPr>
              <a:t>in</a:t>
            </a:r>
            <a:r>
              <a:rPr lang="en-US" smtClean="0">
                <a:solidFill>
                  <a:schemeClr val="bg1"/>
                </a:solidFill>
              </a:rPr>
              <a:t> </a:t>
            </a:r>
            <a:r>
              <a:rPr lang="en-US" err="1" smtClean="0">
                <a:solidFill>
                  <a:schemeClr val="bg1"/>
                </a:solidFill>
              </a:rPr>
              <a:t>mylist</a:t>
            </a:r>
            <a:r>
              <a:rPr lang="en-US" smtClean="0">
                <a:solidFill>
                  <a:schemeClr val="bg1"/>
                </a:solidFill>
              </a:rPr>
              <a:t>:</a:t>
            </a:r>
          </a:p>
          <a:p>
            <a:r>
              <a:rPr lang="en-US" smtClean="0">
                <a:solidFill>
                  <a:schemeClr val="bg1"/>
                </a:solidFill>
              </a:rPr>
              <a:t>     print</a:t>
            </a:r>
            <a:r>
              <a:rPr lang="en-US" smtClean="0">
                <a:solidFill>
                  <a:schemeClr val="accent4">
                    <a:lumMod val="60000"/>
                    <a:lumOff val="40000"/>
                  </a:schemeClr>
                </a:solidFill>
              </a:rPr>
              <a:t>(</a:t>
            </a:r>
            <a:r>
              <a:rPr lang="en-US" smtClean="0">
                <a:solidFill>
                  <a:schemeClr val="bg1"/>
                </a:solidFill>
              </a:rPr>
              <a:t>‘Apple </a:t>
            </a:r>
            <a:r>
              <a:rPr lang="en-US" err="1" smtClean="0">
                <a:solidFill>
                  <a:schemeClr val="bg1"/>
                </a:solidFill>
              </a:rPr>
              <a:t>có</a:t>
            </a:r>
            <a:r>
              <a:rPr lang="en-US" smtClean="0">
                <a:solidFill>
                  <a:schemeClr val="bg1"/>
                </a:solidFill>
              </a:rPr>
              <a:t> </a:t>
            </a:r>
            <a:r>
              <a:rPr lang="en-US" err="1" smtClean="0">
                <a:solidFill>
                  <a:schemeClr val="bg1"/>
                </a:solidFill>
              </a:rPr>
              <a:t>tồn</a:t>
            </a:r>
            <a:r>
              <a:rPr lang="en-US" smtClean="0">
                <a:solidFill>
                  <a:schemeClr val="bg1"/>
                </a:solidFill>
              </a:rPr>
              <a:t> </a:t>
            </a:r>
            <a:r>
              <a:rPr lang="en-US" err="1" smtClean="0">
                <a:solidFill>
                  <a:schemeClr val="bg1"/>
                </a:solidFill>
              </a:rPr>
              <a:t>tại</a:t>
            </a:r>
            <a:r>
              <a:rPr lang="en-US" smtClean="0">
                <a:solidFill>
                  <a:schemeClr val="bg1"/>
                </a:solidFill>
              </a:rPr>
              <a:t>’</a:t>
            </a:r>
            <a:r>
              <a:rPr lang="en-US" smtClean="0">
                <a:solidFill>
                  <a:schemeClr val="accent4">
                    <a:lumMod val="60000"/>
                    <a:lumOff val="40000"/>
                  </a:schemeClr>
                </a:solidFill>
              </a:rPr>
              <a:t>)</a:t>
            </a:r>
          </a:p>
        </p:txBody>
      </p:sp>
    </p:spTree>
    <p:extLst>
      <p:ext uri="{BB962C8B-B14F-4D97-AF65-F5344CB8AC3E}">
        <p14:creationId xmlns:p14="http://schemas.microsoft.com/office/powerpoint/2010/main" val="37436896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List</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Thay</a:t>
            </a:r>
            <a:r>
              <a:rPr lang="en-US" b="1" smtClean="0"/>
              <a:t> </a:t>
            </a:r>
            <a:r>
              <a:rPr lang="en-US" b="1" err="1" smtClean="0"/>
              <a:t>đổi</a:t>
            </a:r>
            <a:r>
              <a:rPr lang="en-US" b="1" smtClean="0"/>
              <a:t> </a:t>
            </a:r>
            <a:r>
              <a:rPr lang="en-US" b="1" err="1" smtClean="0"/>
              <a:t>giá</a:t>
            </a:r>
            <a:r>
              <a:rPr lang="en-US" b="1" smtClean="0"/>
              <a:t> </a:t>
            </a:r>
            <a:r>
              <a:rPr lang="en-US" b="1" err="1" smtClean="0"/>
              <a:t>trị</a:t>
            </a:r>
            <a:r>
              <a:rPr lang="en-US" b="1" smtClean="0"/>
              <a:t> </a:t>
            </a:r>
            <a:r>
              <a:rPr lang="en-US" b="1" err="1" smtClean="0"/>
              <a:t>của</a:t>
            </a:r>
            <a:r>
              <a:rPr lang="en-US" b="1" smtClean="0"/>
              <a:t> </a:t>
            </a:r>
            <a:r>
              <a:rPr lang="en-US" b="1" err="1" smtClean="0"/>
              <a:t>phần</a:t>
            </a:r>
            <a:r>
              <a:rPr lang="en-US" b="1" smtClean="0"/>
              <a:t> </a:t>
            </a:r>
            <a:r>
              <a:rPr lang="en-US" b="1" err="1" smtClean="0"/>
              <a:t>tử</a:t>
            </a:r>
            <a:r>
              <a:rPr lang="en-US" b="1" smtClean="0"/>
              <a:t> </a:t>
            </a:r>
            <a:r>
              <a:rPr lang="en-US" b="1" err="1" smtClean="0"/>
              <a:t>trong</a:t>
            </a:r>
            <a:r>
              <a:rPr lang="en-US" b="1" smtClean="0"/>
              <a:t> List</a:t>
            </a:r>
            <a:endParaRPr lang="en-US" b="1">
              <a:solidFill>
                <a:srgbClr val="FF0000"/>
              </a:solidFill>
            </a:endParaRPr>
          </a:p>
        </p:txBody>
      </p:sp>
      <p:sp>
        <p:nvSpPr>
          <p:cNvPr id="29" name="Rectangle 28"/>
          <p:cNvSpPr/>
          <p:nvPr/>
        </p:nvSpPr>
        <p:spPr>
          <a:xfrm>
            <a:off x="699793" y="2498652"/>
            <a:ext cx="7774356" cy="88564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646331"/>
          </a:xfrm>
          <a:prstGeom prst="rect">
            <a:avLst/>
          </a:prstGeom>
          <a:noFill/>
        </p:spPr>
        <p:txBody>
          <a:bodyPr wrap="square" rtlCol="0">
            <a:spAutoFit/>
          </a:bodyPr>
          <a:lstStyle/>
          <a:p>
            <a:r>
              <a:rPr lang="en-US" err="1">
                <a:solidFill>
                  <a:schemeClr val="bg1"/>
                </a:solidFill>
              </a:rPr>
              <a:t>m</a:t>
            </a:r>
            <a:r>
              <a:rPr lang="en-US" err="1" smtClean="0">
                <a:solidFill>
                  <a:schemeClr val="bg1"/>
                </a:solidFill>
              </a:rPr>
              <a:t>ylist</a:t>
            </a:r>
            <a:r>
              <a:rPr lang="en-US" smtClean="0">
                <a:solidFill>
                  <a:schemeClr val="accent4">
                    <a:lumMod val="60000"/>
                    <a:lumOff val="40000"/>
                  </a:schemeClr>
                </a:solidFill>
              </a:rPr>
              <a:t>[</a:t>
            </a:r>
            <a:r>
              <a:rPr lang="en-US" smtClean="0">
                <a:solidFill>
                  <a:schemeClr val="accent6">
                    <a:lumMod val="60000"/>
                    <a:lumOff val="40000"/>
                  </a:schemeClr>
                </a:solidFill>
              </a:rPr>
              <a:t>1</a:t>
            </a:r>
            <a:r>
              <a:rPr lang="en-US" smtClean="0">
                <a:solidFill>
                  <a:schemeClr val="accent4">
                    <a:lumMod val="60000"/>
                    <a:lumOff val="40000"/>
                  </a:schemeClr>
                </a:solidFill>
              </a:rPr>
              <a:t>]</a:t>
            </a:r>
            <a:r>
              <a:rPr lang="en-US" smtClean="0">
                <a:solidFill>
                  <a:schemeClr val="bg1"/>
                </a:solidFill>
              </a:rPr>
              <a:t> = </a:t>
            </a:r>
            <a:r>
              <a:rPr lang="en-US" smtClean="0">
                <a:solidFill>
                  <a:schemeClr val="accent2">
                    <a:lumMod val="75000"/>
                  </a:schemeClr>
                </a:solidFill>
              </a:rPr>
              <a:t>‘blackcurrant’</a:t>
            </a:r>
          </a:p>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mylist</a:t>
            </a:r>
            <a:r>
              <a:rPr lang="en-US" smtClean="0">
                <a:solidFill>
                  <a:schemeClr val="accent4">
                    <a:lumMod val="60000"/>
                    <a:lumOff val="40000"/>
                  </a:schemeClr>
                </a:solidFill>
              </a:rPr>
              <a:t>) </a:t>
            </a:r>
            <a:r>
              <a:rPr lang="en-US" sz="1600" smtClean="0">
                <a:solidFill>
                  <a:schemeClr val="accent6">
                    <a:lumMod val="75000"/>
                  </a:schemeClr>
                </a:solidFill>
              </a:rPr>
              <a:t>#</a:t>
            </a:r>
            <a:r>
              <a:rPr lang="en-US" sz="1600">
                <a:solidFill>
                  <a:schemeClr val="accent6">
                    <a:lumMod val="75000"/>
                  </a:schemeClr>
                </a:solidFill>
              </a:rPr>
              <a:t>output: </a:t>
            </a:r>
            <a:r>
              <a:rPr lang="en-US" sz="1600" smtClean="0">
                <a:solidFill>
                  <a:srgbClr val="FECC36"/>
                </a:solidFill>
              </a:rPr>
              <a:t>apple,</a:t>
            </a:r>
            <a:r>
              <a:rPr lang="en-US" sz="1600">
                <a:solidFill>
                  <a:srgbClr val="FECC36"/>
                </a:solidFill>
              </a:rPr>
              <a:t>  </a:t>
            </a:r>
            <a:r>
              <a:rPr lang="en-US" sz="1600" smtClean="0">
                <a:solidFill>
                  <a:srgbClr val="FECC36"/>
                </a:solidFill>
              </a:rPr>
              <a:t>blackcurrant,</a:t>
            </a:r>
            <a:r>
              <a:rPr lang="en-US" sz="1600">
                <a:solidFill>
                  <a:srgbClr val="FECC36"/>
                </a:solidFill>
              </a:rPr>
              <a:t> </a:t>
            </a:r>
            <a:r>
              <a:rPr lang="en-US" sz="1600" smtClean="0">
                <a:solidFill>
                  <a:srgbClr val="FECC36"/>
                </a:solidFill>
              </a:rPr>
              <a:t>cherry, orange, kiwi, melon</a:t>
            </a:r>
            <a:endParaRPr lang="en-US" sz="1600">
              <a:solidFill>
                <a:srgbClr val="FECC36"/>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Thay</a:t>
            </a:r>
            <a:r>
              <a:rPr lang="en-US" smtClean="0"/>
              <a:t> </a:t>
            </a:r>
            <a:r>
              <a:rPr lang="en-US" err="1" smtClean="0"/>
              <a:t>đổi</a:t>
            </a:r>
            <a:r>
              <a:rPr lang="en-US" smtClean="0"/>
              <a:t> </a:t>
            </a:r>
            <a:r>
              <a:rPr lang="en-US" err="1" smtClean="0"/>
              <a:t>giá</a:t>
            </a:r>
            <a:r>
              <a:rPr lang="en-US" smtClean="0"/>
              <a:t> </a:t>
            </a:r>
            <a:r>
              <a:rPr lang="en-US" err="1" smtClean="0"/>
              <a:t>trị</a:t>
            </a:r>
            <a:r>
              <a:rPr lang="en-US" smtClean="0"/>
              <a:t> </a:t>
            </a:r>
            <a:r>
              <a:rPr lang="en-US" err="1" smtClean="0"/>
              <a:t>dựa</a:t>
            </a:r>
            <a:r>
              <a:rPr lang="en-US" smtClean="0"/>
              <a:t> </a:t>
            </a:r>
            <a:r>
              <a:rPr lang="en-US" err="1" smtClean="0"/>
              <a:t>vào</a:t>
            </a:r>
            <a:r>
              <a:rPr lang="en-US" smtClean="0"/>
              <a:t> </a:t>
            </a:r>
            <a:r>
              <a:rPr lang="en-US" b="1" err="1" smtClean="0"/>
              <a:t>vị</a:t>
            </a:r>
            <a:r>
              <a:rPr lang="en-US" b="1" smtClean="0"/>
              <a:t> </a:t>
            </a:r>
            <a:r>
              <a:rPr lang="en-US" b="1" err="1" smtClean="0"/>
              <a:t>trí</a:t>
            </a:r>
            <a:r>
              <a:rPr lang="en-US" b="1" smtClean="0"/>
              <a:t> </a:t>
            </a:r>
            <a:r>
              <a:rPr lang="en-US" err="1" smtClean="0"/>
              <a:t>của</a:t>
            </a:r>
            <a:r>
              <a:rPr lang="en-US" smtClean="0"/>
              <a:t> </a:t>
            </a:r>
            <a:r>
              <a:rPr lang="en-US" err="1" smtClean="0"/>
              <a:t>phần</a:t>
            </a:r>
            <a:r>
              <a:rPr lang="en-US" smtClean="0"/>
              <a:t> </a:t>
            </a:r>
            <a:r>
              <a:rPr lang="en-US" err="1" smtClean="0"/>
              <a:t>tử</a:t>
            </a:r>
            <a:r>
              <a:rPr lang="en-US" smtClean="0"/>
              <a:t> </a:t>
            </a:r>
            <a:r>
              <a:rPr lang="en-US" err="1" smtClean="0"/>
              <a:t>đó</a:t>
            </a:r>
            <a:r>
              <a:rPr lang="en-US" smtClean="0"/>
              <a:t> </a:t>
            </a:r>
            <a:r>
              <a:rPr lang="en-US" err="1" smtClean="0"/>
              <a:t>trong</a:t>
            </a:r>
            <a:r>
              <a:rPr lang="en-US" smtClean="0"/>
              <a:t> List</a:t>
            </a:r>
            <a:endParaRPr lang="en-US"/>
          </a:p>
        </p:txBody>
      </p:sp>
      <p:sp>
        <p:nvSpPr>
          <p:cNvPr id="22" name="TextBox 21"/>
          <p:cNvSpPr txBox="1"/>
          <p:nvPr/>
        </p:nvSpPr>
        <p:spPr>
          <a:xfrm>
            <a:off x="639997" y="3445805"/>
            <a:ext cx="7697972" cy="369332"/>
          </a:xfrm>
          <a:prstGeom prst="rect">
            <a:avLst/>
          </a:prstGeom>
          <a:noFill/>
        </p:spPr>
        <p:txBody>
          <a:bodyPr wrap="square" rtlCol="0">
            <a:spAutoFit/>
          </a:bodyPr>
          <a:lstStyle/>
          <a:p>
            <a:r>
              <a:rPr lang="en-US" err="1" smtClean="0"/>
              <a:t>Thay</a:t>
            </a:r>
            <a:r>
              <a:rPr lang="en-US" smtClean="0"/>
              <a:t> </a:t>
            </a:r>
            <a:r>
              <a:rPr lang="en-US" err="1" smtClean="0"/>
              <a:t>đổi</a:t>
            </a:r>
            <a:r>
              <a:rPr lang="en-US" smtClean="0"/>
              <a:t> </a:t>
            </a:r>
            <a:r>
              <a:rPr lang="en-US" err="1" smtClean="0"/>
              <a:t>một</a:t>
            </a:r>
            <a:r>
              <a:rPr lang="en-US" smtClean="0"/>
              <a:t> </a:t>
            </a:r>
            <a:r>
              <a:rPr lang="en-US" err="1" smtClean="0"/>
              <a:t>lúc</a:t>
            </a:r>
            <a:r>
              <a:rPr lang="en-US" smtClean="0"/>
              <a:t> </a:t>
            </a:r>
            <a:r>
              <a:rPr lang="en-US" b="1" err="1" smtClean="0"/>
              <a:t>nhiều</a:t>
            </a:r>
            <a:r>
              <a:rPr lang="en-US" smtClean="0"/>
              <a:t> </a:t>
            </a:r>
            <a:r>
              <a:rPr lang="en-US" err="1" smtClean="0"/>
              <a:t>giá</a:t>
            </a:r>
            <a:r>
              <a:rPr lang="en-US" smtClean="0"/>
              <a:t> </a:t>
            </a:r>
            <a:r>
              <a:rPr lang="en-US" err="1" smtClean="0"/>
              <a:t>trị</a:t>
            </a:r>
            <a:r>
              <a:rPr lang="en-US" smtClean="0"/>
              <a:t> </a:t>
            </a:r>
            <a:r>
              <a:rPr lang="en-US" err="1" smtClean="0"/>
              <a:t>với</a:t>
            </a:r>
            <a:r>
              <a:rPr lang="en-US" smtClean="0"/>
              <a:t> </a:t>
            </a:r>
            <a:r>
              <a:rPr lang="en-US" b="1" err="1" smtClean="0"/>
              <a:t>nhiều</a:t>
            </a:r>
            <a:r>
              <a:rPr lang="en-US" smtClean="0"/>
              <a:t> </a:t>
            </a:r>
            <a:r>
              <a:rPr lang="en-US" err="1" smtClean="0"/>
              <a:t>vị</a:t>
            </a:r>
            <a:r>
              <a:rPr lang="en-US" smtClean="0"/>
              <a:t> </a:t>
            </a:r>
            <a:r>
              <a:rPr lang="en-US" err="1" smtClean="0"/>
              <a:t>trí</a:t>
            </a:r>
            <a:r>
              <a:rPr lang="en-US" smtClean="0"/>
              <a:t> </a:t>
            </a:r>
            <a:r>
              <a:rPr lang="en-US" err="1" smtClean="0"/>
              <a:t>tương</a:t>
            </a:r>
            <a:r>
              <a:rPr lang="en-US" smtClean="0"/>
              <a:t> </a:t>
            </a:r>
            <a:r>
              <a:rPr lang="en-US" err="1" smtClean="0"/>
              <a:t>tứng</a:t>
            </a:r>
            <a:endParaRPr lang="en-US"/>
          </a:p>
        </p:txBody>
      </p:sp>
      <p:sp>
        <p:nvSpPr>
          <p:cNvPr id="23" name="Rectangle 22"/>
          <p:cNvSpPr/>
          <p:nvPr/>
        </p:nvSpPr>
        <p:spPr>
          <a:xfrm>
            <a:off x="699793" y="3882640"/>
            <a:ext cx="7774356" cy="99382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880547" y="4027197"/>
            <a:ext cx="7402216" cy="646331"/>
          </a:xfrm>
          <a:prstGeom prst="rect">
            <a:avLst/>
          </a:prstGeom>
          <a:noFill/>
        </p:spPr>
        <p:txBody>
          <a:bodyPr wrap="square" rtlCol="0">
            <a:spAutoFit/>
          </a:bodyPr>
          <a:lstStyle/>
          <a:p>
            <a:r>
              <a:rPr lang="en-US" err="1" smtClean="0">
                <a:solidFill>
                  <a:schemeClr val="bg1"/>
                </a:solidFill>
              </a:rPr>
              <a:t>mylist</a:t>
            </a:r>
            <a:r>
              <a:rPr lang="en-US" smtClean="0">
                <a:solidFill>
                  <a:schemeClr val="accent4">
                    <a:lumMod val="60000"/>
                    <a:lumOff val="40000"/>
                  </a:schemeClr>
                </a:solidFill>
              </a:rPr>
              <a:t>[</a:t>
            </a:r>
            <a:r>
              <a:rPr lang="en-US" smtClean="0">
                <a:solidFill>
                  <a:schemeClr val="accent6">
                    <a:lumMod val="60000"/>
                    <a:lumOff val="40000"/>
                  </a:schemeClr>
                </a:solidFill>
              </a:rPr>
              <a:t>1:3</a:t>
            </a:r>
            <a:r>
              <a:rPr lang="en-US" smtClean="0">
                <a:solidFill>
                  <a:schemeClr val="accent4">
                    <a:lumMod val="60000"/>
                    <a:lumOff val="40000"/>
                  </a:schemeClr>
                </a:solidFill>
              </a:rPr>
              <a:t>]</a:t>
            </a:r>
            <a:r>
              <a:rPr lang="en-US" smtClean="0">
                <a:solidFill>
                  <a:schemeClr val="bg1"/>
                </a:solidFill>
              </a:rPr>
              <a:t> = </a:t>
            </a:r>
            <a:r>
              <a:rPr lang="en-US">
                <a:solidFill>
                  <a:schemeClr val="bg1"/>
                </a:solidFill>
              </a:rPr>
              <a:t>[</a:t>
            </a:r>
            <a:r>
              <a:rPr lang="en-US" smtClean="0">
                <a:solidFill>
                  <a:schemeClr val="accent2">
                    <a:lumMod val="75000"/>
                  </a:schemeClr>
                </a:solidFill>
              </a:rPr>
              <a:t>‘blackcurrant’</a:t>
            </a:r>
            <a:r>
              <a:rPr lang="en-US" smtClean="0">
                <a:solidFill>
                  <a:schemeClr val="bg1"/>
                </a:solidFill>
              </a:rPr>
              <a:t>,</a:t>
            </a:r>
            <a:r>
              <a:rPr lang="en-US" smtClean="0">
                <a:solidFill>
                  <a:schemeClr val="accent2">
                    <a:lumMod val="75000"/>
                  </a:schemeClr>
                </a:solidFill>
              </a:rPr>
              <a:t> ‘watermelon’</a:t>
            </a:r>
            <a:r>
              <a:rPr lang="en-US" smtClean="0">
                <a:solidFill>
                  <a:schemeClr val="bg1"/>
                </a:solidFill>
              </a:rPr>
              <a:t>]</a:t>
            </a:r>
          </a:p>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mylist</a:t>
            </a:r>
            <a:r>
              <a:rPr lang="en-US" smtClean="0">
                <a:solidFill>
                  <a:schemeClr val="accent4">
                    <a:lumMod val="60000"/>
                    <a:lumOff val="40000"/>
                  </a:schemeClr>
                </a:solidFill>
              </a:rPr>
              <a:t>) </a:t>
            </a:r>
            <a:r>
              <a:rPr lang="en-US" sz="1600" smtClean="0">
                <a:solidFill>
                  <a:schemeClr val="accent6">
                    <a:lumMod val="75000"/>
                  </a:schemeClr>
                </a:solidFill>
              </a:rPr>
              <a:t>#</a:t>
            </a:r>
            <a:r>
              <a:rPr lang="en-US" sz="1600">
                <a:solidFill>
                  <a:schemeClr val="accent6">
                    <a:lumMod val="75000"/>
                  </a:schemeClr>
                </a:solidFill>
              </a:rPr>
              <a:t>output: </a:t>
            </a:r>
            <a:r>
              <a:rPr lang="en-US" sz="1600" smtClean="0">
                <a:solidFill>
                  <a:srgbClr val="FECC36"/>
                </a:solidFill>
              </a:rPr>
              <a:t>apple,</a:t>
            </a:r>
            <a:r>
              <a:rPr lang="en-US" sz="1600">
                <a:solidFill>
                  <a:srgbClr val="FECC36"/>
                </a:solidFill>
              </a:rPr>
              <a:t>  </a:t>
            </a:r>
            <a:r>
              <a:rPr lang="en-US" sz="1600" smtClean="0">
                <a:solidFill>
                  <a:srgbClr val="FECC36"/>
                </a:solidFill>
              </a:rPr>
              <a:t>blackcurrant,</a:t>
            </a:r>
            <a:r>
              <a:rPr lang="en-US" sz="1600">
                <a:solidFill>
                  <a:srgbClr val="FECC36"/>
                </a:solidFill>
              </a:rPr>
              <a:t>  watermelon</a:t>
            </a:r>
            <a:r>
              <a:rPr lang="en-US" sz="1600" smtClean="0">
                <a:solidFill>
                  <a:srgbClr val="FECC36"/>
                </a:solidFill>
              </a:rPr>
              <a:t>, orange, kiwi, melon</a:t>
            </a:r>
            <a:endParaRPr lang="en-US" sz="1600">
              <a:solidFill>
                <a:srgbClr val="FECC36"/>
              </a:solidFill>
            </a:endParaRPr>
          </a:p>
        </p:txBody>
      </p:sp>
      <p:sp>
        <p:nvSpPr>
          <p:cNvPr id="25" name="TextBox 24"/>
          <p:cNvSpPr txBox="1"/>
          <p:nvPr/>
        </p:nvSpPr>
        <p:spPr>
          <a:xfrm>
            <a:off x="639997" y="4959681"/>
            <a:ext cx="7697972" cy="369332"/>
          </a:xfrm>
          <a:prstGeom prst="rect">
            <a:avLst/>
          </a:prstGeom>
          <a:noFill/>
        </p:spPr>
        <p:txBody>
          <a:bodyPr wrap="square" rtlCol="0">
            <a:spAutoFit/>
          </a:bodyPr>
          <a:lstStyle/>
          <a:p>
            <a:r>
              <a:rPr lang="en-US" err="1" smtClean="0"/>
              <a:t>Nếu</a:t>
            </a:r>
            <a:r>
              <a:rPr lang="en-US" smtClean="0"/>
              <a:t> </a:t>
            </a:r>
            <a:r>
              <a:rPr lang="en-US" err="1" smtClean="0"/>
              <a:t>bạn</a:t>
            </a:r>
            <a:r>
              <a:rPr lang="en-US" smtClean="0"/>
              <a:t> </a:t>
            </a:r>
            <a:r>
              <a:rPr lang="en-US" err="1" smtClean="0"/>
              <a:t>có</a:t>
            </a:r>
            <a:r>
              <a:rPr lang="en-US" smtClean="0"/>
              <a:t> 1 </a:t>
            </a:r>
            <a:r>
              <a:rPr lang="en-US" err="1" smtClean="0"/>
              <a:t>vị</a:t>
            </a:r>
            <a:r>
              <a:rPr lang="en-US" smtClean="0"/>
              <a:t> </a:t>
            </a:r>
            <a:r>
              <a:rPr lang="en-US" err="1" smtClean="0"/>
              <a:t>trí</a:t>
            </a:r>
            <a:r>
              <a:rPr lang="en-US" smtClean="0"/>
              <a:t>, </a:t>
            </a:r>
            <a:r>
              <a:rPr lang="en-US" err="1" smtClean="0"/>
              <a:t>nhưng</a:t>
            </a:r>
            <a:r>
              <a:rPr lang="en-US" smtClean="0"/>
              <a:t> </a:t>
            </a:r>
            <a:r>
              <a:rPr lang="en-US" err="1" smtClean="0"/>
              <a:t>để</a:t>
            </a:r>
            <a:r>
              <a:rPr lang="en-US" smtClean="0"/>
              <a:t> </a:t>
            </a:r>
            <a:r>
              <a:rPr lang="en-US" err="1" smtClean="0"/>
              <a:t>nhiều</a:t>
            </a:r>
            <a:r>
              <a:rPr lang="en-US" smtClean="0"/>
              <a:t> </a:t>
            </a:r>
            <a:r>
              <a:rPr lang="en-US" err="1" smtClean="0"/>
              <a:t>giá</a:t>
            </a:r>
            <a:r>
              <a:rPr lang="en-US" smtClean="0"/>
              <a:t> </a:t>
            </a:r>
            <a:r>
              <a:rPr lang="en-US" err="1" smtClean="0"/>
              <a:t>trị</a:t>
            </a:r>
            <a:r>
              <a:rPr lang="en-US" smtClean="0"/>
              <a:t> </a:t>
            </a:r>
            <a:r>
              <a:rPr lang="en-US" err="1" smtClean="0"/>
              <a:t>thì</a:t>
            </a:r>
            <a:r>
              <a:rPr lang="en-US" smtClean="0"/>
              <a:t> </a:t>
            </a:r>
            <a:r>
              <a:rPr lang="en-US" err="1" smtClean="0"/>
              <a:t>nó</a:t>
            </a:r>
            <a:r>
              <a:rPr lang="en-US" smtClean="0"/>
              <a:t> </a:t>
            </a:r>
            <a:r>
              <a:rPr lang="en-US" err="1" smtClean="0"/>
              <a:t>sẽ</a:t>
            </a:r>
            <a:r>
              <a:rPr lang="en-US" smtClean="0"/>
              <a:t> </a:t>
            </a:r>
            <a:r>
              <a:rPr lang="en-US" err="1" smtClean="0"/>
              <a:t>chèn</a:t>
            </a:r>
            <a:r>
              <a:rPr lang="en-US" smtClean="0"/>
              <a:t> </a:t>
            </a:r>
            <a:r>
              <a:rPr lang="en-US" err="1" smtClean="0"/>
              <a:t>vào</a:t>
            </a:r>
            <a:endParaRPr lang="en-US"/>
          </a:p>
        </p:txBody>
      </p:sp>
      <p:sp>
        <p:nvSpPr>
          <p:cNvPr id="27" name="Rectangle 26"/>
          <p:cNvSpPr/>
          <p:nvPr/>
        </p:nvSpPr>
        <p:spPr>
          <a:xfrm>
            <a:off x="699793" y="5374809"/>
            <a:ext cx="7774356" cy="109874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880547" y="5519366"/>
            <a:ext cx="7593602" cy="923330"/>
          </a:xfrm>
          <a:prstGeom prst="rect">
            <a:avLst/>
          </a:prstGeom>
          <a:noFill/>
        </p:spPr>
        <p:txBody>
          <a:bodyPr wrap="square" rtlCol="0">
            <a:spAutoFit/>
          </a:bodyPr>
          <a:lstStyle/>
          <a:p>
            <a:r>
              <a:rPr lang="en-US" err="1" smtClean="0">
                <a:solidFill>
                  <a:schemeClr val="bg1"/>
                </a:solidFill>
              </a:rPr>
              <a:t>mylist</a:t>
            </a:r>
            <a:r>
              <a:rPr lang="en-US" smtClean="0">
                <a:solidFill>
                  <a:schemeClr val="accent4">
                    <a:lumMod val="60000"/>
                    <a:lumOff val="40000"/>
                  </a:schemeClr>
                </a:solidFill>
              </a:rPr>
              <a:t>[</a:t>
            </a:r>
            <a:r>
              <a:rPr lang="en-US" smtClean="0">
                <a:solidFill>
                  <a:schemeClr val="accent6">
                    <a:lumMod val="60000"/>
                    <a:lumOff val="40000"/>
                  </a:schemeClr>
                </a:solidFill>
              </a:rPr>
              <a:t>1:2</a:t>
            </a:r>
            <a:r>
              <a:rPr lang="en-US" smtClean="0">
                <a:solidFill>
                  <a:schemeClr val="accent4">
                    <a:lumMod val="60000"/>
                    <a:lumOff val="40000"/>
                  </a:schemeClr>
                </a:solidFill>
              </a:rPr>
              <a:t>]</a:t>
            </a:r>
            <a:r>
              <a:rPr lang="en-US" smtClean="0">
                <a:solidFill>
                  <a:schemeClr val="bg1"/>
                </a:solidFill>
              </a:rPr>
              <a:t> = </a:t>
            </a:r>
            <a:r>
              <a:rPr lang="en-US">
                <a:solidFill>
                  <a:schemeClr val="bg1"/>
                </a:solidFill>
              </a:rPr>
              <a:t>[</a:t>
            </a:r>
            <a:r>
              <a:rPr lang="en-US" smtClean="0">
                <a:solidFill>
                  <a:schemeClr val="accent2">
                    <a:lumMod val="75000"/>
                  </a:schemeClr>
                </a:solidFill>
              </a:rPr>
              <a:t>‘blackcurrant’</a:t>
            </a:r>
            <a:r>
              <a:rPr lang="en-US" smtClean="0">
                <a:solidFill>
                  <a:schemeClr val="bg1"/>
                </a:solidFill>
              </a:rPr>
              <a:t>,</a:t>
            </a:r>
            <a:r>
              <a:rPr lang="en-US" smtClean="0">
                <a:solidFill>
                  <a:schemeClr val="accent2">
                    <a:lumMod val="75000"/>
                  </a:schemeClr>
                </a:solidFill>
              </a:rPr>
              <a:t> ‘watermelon’</a:t>
            </a:r>
            <a:r>
              <a:rPr lang="en-US" smtClean="0">
                <a:solidFill>
                  <a:schemeClr val="bg1"/>
                </a:solidFill>
              </a:rPr>
              <a:t>]</a:t>
            </a:r>
          </a:p>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mylist</a:t>
            </a:r>
            <a:r>
              <a:rPr lang="en-US" smtClean="0">
                <a:solidFill>
                  <a:schemeClr val="accent4">
                    <a:lumMod val="60000"/>
                    <a:lumOff val="40000"/>
                  </a:schemeClr>
                </a:solidFill>
              </a:rPr>
              <a:t>) </a:t>
            </a:r>
            <a:r>
              <a:rPr lang="en-US" sz="1600" smtClean="0">
                <a:solidFill>
                  <a:schemeClr val="accent6">
                    <a:lumMod val="75000"/>
                  </a:schemeClr>
                </a:solidFill>
              </a:rPr>
              <a:t>#</a:t>
            </a:r>
            <a:r>
              <a:rPr lang="en-US" sz="1600">
                <a:solidFill>
                  <a:schemeClr val="accent6">
                    <a:lumMod val="75000"/>
                  </a:schemeClr>
                </a:solidFill>
              </a:rPr>
              <a:t>output: </a:t>
            </a:r>
            <a:r>
              <a:rPr lang="en-US" sz="1600" smtClean="0">
                <a:solidFill>
                  <a:srgbClr val="FECC36"/>
                </a:solidFill>
              </a:rPr>
              <a:t>apple,</a:t>
            </a:r>
            <a:r>
              <a:rPr lang="en-US" sz="1600">
                <a:solidFill>
                  <a:srgbClr val="FECC36"/>
                </a:solidFill>
              </a:rPr>
              <a:t>  </a:t>
            </a:r>
            <a:r>
              <a:rPr lang="en-US" sz="1600" smtClean="0">
                <a:solidFill>
                  <a:srgbClr val="FECC36"/>
                </a:solidFill>
              </a:rPr>
              <a:t>blackcurrant,</a:t>
            </a:r>
            <a:r>
              <a:rPr lang="en-US" sz="1600">
                <a:solidFill>
                  <a:srgbClr val="FECC36"/>
                </a:solidFill>
              </a:rPr>
              <a:t>  watermelon</a:t>
            </a:r>
            <a:r>
              <a:rPr lang="en-US" sz="1600" smtClean="0">
                <a:solidFill>
                  <a:srgbClr val="FECC36"/>
                </a:solidFill>
              </a:rPr>
              <a:t>, cherry, orange, kiwi, melon</a:t>
            </a:r>
            <a:endParaRPr lang="en-US" sz="1600">
              <a:solidFill>
                <a:srgbClr val="FECC36"/>
              </a:solidFill>
            </a:endParaRPr>
          </a:p>
        </p:txBody>
      </p:sp>
    </p:spTree>
    <p:extLst>
      <p:ext uri="{BB962C8B-B14F-4D97-AF65-F5344CB8AC3E}">
        <p14:creationId xmlns:p14="http://schemas.microsoft.com/office/powerpoint/2010/main" val="29793752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List</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Thêm</a:t>
            </a:r>
            <a:r>
              <a:rPr lang="en-US" b="1" smtClean="0"/>
              <a:t> </a:t>
            </a:r>
            <a:r>
              <a:rPr lang="en-US" b="1" err="1" smtClean="0"/>
              <a:t>mới</a:t>
            </a:r>
            <a:r>
              <a:rPr lang="en-US" b="1" smtClean="0"/>
              <a:t> </a:t>
            </a:r>
            <a:r>
              <a:rPr lang="en-US" b="1" err="1" smtClean="0"/>
              <a:t>phần</a:t>
            </a:r>
            <a:r>
              <a:rPr lang="en-US" b="1" smtClean="0"/>
              <a:t> </a:t>
            </a:r>
            <a:r>
              <a:rPr lang="en-US" b="1" err="1" smtClean="0"/>
              <a:t>tử</a:t>
            </a:r>
            <a:r>
              <a:rPr lang="en-US" b="1" smtClean="0"/>
              <a:t> </a:t>
            </a:r>
            <a:r>
              <a:rPr lang="en-US" b="1" err="1" smtClean="0"/>
              <a:t>vào</a:t>
            </a:r>
            <a:r>
              <a:rPr lang="en-US" b="1" smtClean="0"/>
              <a:t> List</a:t>
            </a:r>
            <a:endParaRPr lang="en-US" b="1">
              <a:solidFill>
                <a:srgbClr val="FF0000"/>
              </a:solidFill>
            </a:endParaRPr>
          </a:p>
        </p:txBody>
      </p:sp>
      <p:sp>
        <p:nvSpPr>
          <p:cNvPr id="29" name="Rectangle 28"/>
          <p:cNvSpPr/>
          <p:nvPr/>
        </p:nvSpPr>
        <p:spPr>
          <a:xfrm>
            <a:off x="699793" y="2498652"/>
            <a:ext cx="7774356" cy="130023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923330"/>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err="1" smtClean="0">
                <a:solidFill>
                  <a:schemeClr val="bg1"/>
                </a:solidFill>
              </a:rPr>
              <a:t>mylist.append</a:t>
            </a:r>
            <a:r>
              <a:rPr lang="en-US" smtClean="0">
                <a:solidFill>
                  <a:schemeClr val="accent4">
                    <a:lumMod val="60000"/>
                    <a:lumOff val="40000"/>
                  </a:schemeClr>
                </a:solidFill>
              </a:rPr>
              <a:t>(</a:t>
            </a:r>
            <a:r>
              <a:rPr lang="en-US" smtClean="0">
                <a:solidFill>
                  <a:schemeClr val="accent2">
                    <a:lumMod val="75000"/>
                  </a:schemeClr>
                </a:solidFill>
              </a:rPr>
              <a:t>“melon”</a:t>
            </a:r>
            <a:r>
              <a:rPr lang="en-US" smtClean="0">
                <a:solidFill>
                  <a:schemeClr val="accent4">
                    <a:lumMod val="60000"/>
                    <a:lumOff val="40000"/>
                  </a:schemeClr>
                </a:solidFill>
              </a:rPr>
              <a:t>)</a:t>
            </a:r>
          </a:p>
          <a:p>
            <a:r>
              <a:rPr lang="en-US">
                <a:solidFill>
                  <a:schemeClr val="bg1"/>
                </a:solidFill>
              </a:rPr>
              <a:t>print</a:t>
            </a:r>
            <a:r>
              <a:rPr lang="en-US">
                <a:solidFill>
                  <a:schemeClr val="accent4">
                    <a:lumMod val="60000"/>
                    <a:lumOff val="40000"/>
                  </a:schemeClr>
                </a:solidFill>
              </a:rPr>
              <a:t>(</a:t>
            </a:r>
            <a:r>
              <a:rPr lang="en-US" err="1">
                <a:solidFill>
                  <a:schemeClr val="bg1"/>
                </a:solidFill>
              </a:rPr>
              <a:t>mylist</a:t>
            </a:r>
            <a:r>
              <a:rPr lang="en-US">
                <a:solidFill>
                  <a:schemeClr val="accent4">
                    <a:lumMod val="60000"/>
                    <a:lumOff val="40000"/>
                  </a:schemeClr>
                </a:solidFill>
              </a:rPr>
              <a:t>) </a:t>
            </a:r>
            <a:r>
              <a:rPr lang="en-US" sz="1600" smtClean="0">
                <a:solidFill>
                  <a:schemeClr val="accent6">
                    <a:lumMod val="75000"/>
                  </a:schemeClr>
                </a:solidFill>
              </a:rPr>
              <a:t>#</a:t>
            </a:r>
            <a:r>
              <a:rPr lang="en-US" sz="1600">
                <a:solidFill>
                  <a:schemeClr val="accent6">
                    <a:lumMod val="75000"/>
                  </a:schemeClr>
                </a:solidFill>
              </a:rPr>
              <a:t>output: </a:t>
            </a:r>
            <a:r>
              <a:rPr lang="en-US" sz="1600" smtClean="0">
                <a:solidFill>
                  <a:srgbClr val="FECC36"/>
                </a:solidFill>
              </a:rPr>
              <a:t>apple,</a:t>
            </a:r>
            <a:r>
              <a:rPr lang="en-US" sz="1600">
                <a:solidFill>
                  <a:srgbClr val="FECC36"/>
                </a:solidFill>
              </a:rPr>
              <a:t> </a:t>
            </a:r>
            <a:r>
              <a:rPr lang="en-US" sz="1600" smtClean="0">
                <a:solidFill>
                  <a:srgbClr val="FECC36"/>
                </a:solidFill>
              </a:rPr>
              <a:t>banana,</a:t>
            </a:r>
            <a:r>
              <a:rPr lang="en-US" sz="1600">
                <a:solidFill>
                  <a:srgbClr val="FECC36"/>
                </a:solidFill>
              </a:rPr>
              <a:t> </a:t>
            </a:r>
            <a:r>
              <a:rPr lang="en-US" sz="1600" smtClean="0">
                <a:solidFill>
                  <a:srgbClr val="FECC36"/>
                </a:solidFill>
              </a:rPr>
              <a:t>kiwi, melon</a:t>
            </a:r>
            <a:endParaRPr lang="en-US" sz="1600">
              <a:solidFill>
                <a:srgbClr val="FECC36"/>
              </a:solidFill>
            </a:endParaRPr>
          </a:p>
        </p:txBody>
      </p:sp>
      <p:sp>
        <p:nvSpPr>
          <p:cNvPr id="19" name="TextBox 18"/>
          <p:cNvSpPr txBox="1"/>
          <p:nvPr/>
        </p:nvSpPr>
        <p:spPr>
          <a:xfrm>
            <a:off x="639997" y="2015148"/>
            <a:ext cx="7697972" cy="646331"/>
          </a:xfrm>
          <a:prstGeom prst="rect">
            <a:avLst/>
          </a:prstGeom>
          <a:noFill/>
        </p:spPr>
        <p:txBody>
          <a:bodyPr wrap="square" rtlCol="0">
            <a:spAutoFit/>
          </a:bodyPr>
          <a:lstStyle/>
          <a:p>
            <a:r>
              <a:rPr lang="en-US" smtClean="0"/>
              <a:t>Sử dụng phương thức </a:t>
            </a:r>
            <a:r>
              <a:rPr lang="en-US" b="1" smtClean="0"/>
              <a:t>append(element) </a:t>
            </a:r>
            <a:r>
              <a:rPr lang="en-US" smtClean="0"/>
              <a:t>để thêm một phần tử vào cuối List</a:t>
            </a:r>
            <a:endParaRPr lang="en-US"/>
          </a:p>
        </p:txBody>
      </p:sp>
      <p:sp>
        <p:nvSpPr>
          <p:cNvPr id="25" name="TextBox 24"/>
          <p:cNvSpPr txBox="1"/>
          <p:nvPr/>
        </p:nvSpPr>
        <p:spPr>
          <a:xfrm>
            <a:off x="639997" y="3940920"/>
            <a:ext cx="7697972" cy="369332"/>
          </a:xfrm>
          <a:prstGeom prst="rect">
            <a:avLst/>
          </a:prstGeom>
          <a:noFill/>
        </p:spPr>
        <p:txBody>
          <a:bodyPr wrap="square" rtlCol="0">
            <a:spAutoFit/>
          </a:bodyPr>
          <a:lstStyle/>
          <a:p>
            <a:r>
              <a:rPr lang="en-US" smtClean="0"/>
              <a:t>Sử dụng phương thức </a:t>
            </a:r>
            <a:r>
              <a:rPr lang="en-US" b="1" smtClean="0"/>
              <a:t>insert(index, value) </a:t>
            </a:r>
            <a:r>
              <a:rPr lang="en-US" smtClean="0"/>
              <a:t>để chèn vào giữa List</a:t>
            </a:r>
            <a:endParaRPr lang="en-US"/>
          </a:p>
        </p:txBody>
      </p:sp>
      <p:sp>
        <p:nvSpPr>
          <p:cNvPr id="15" name="Rectangle 14"/>
          <p:cNvSpPr/>
          <p:nvPr/>
        </p:nvSpPr>
        <p:spPr>
          <a:xfrm>
            <a:off x="699793" y="4529470"/>
            <a:ext cx="7774356" cy="130023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80547" y="4652762"/>
            <a:ext cx="7402216" cy="923330"/>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err="1" smtClean="0">
                <a:solidFill>
                  <a:schemeClr val="bg1"/>
                </a:solidFill>
              </a:rPr>
              <a:t>mylist.insert</a:t>
            </a:r>
            <a:r>
              <a:rPr lang="en-US" smtClean="0">
                <a:solidFill>
                  <a:schemeClr val="accent4">
                    <a:lumMod val="60000"/>
                    <a:lumOff val="40000"/>
                  </a:schemeClr>
                </a:solidFill>
              </a:rPr>
              <a:t>(</a:t>
            </a:r>
            <a:r>
              <a:rPr lang="en-US" smtClean="0">
                <a:solidFill>
                  <a:schemeClr val="accent6">
                    <a:lumMod val="60000"/>
                    <a:lumOff val="40000"/>
                  </a:schemeClr>
                </a:solidFill>
              </a:rPr>
              <a:t>1</a:t>
            </a:r>
            <a:r>
              <a:rPr lang="en-US" smtClean="0">
                <a:solidFill>
                  <a:schemeClr val="accent4">
                    <a:lumMod val="60000"/>
                    <a:lumOff val="40000"/>
                  </a:schemeClr>
                </a:solidFill>
              </a:rPr>
              <a:t>, </a:t>
            </a:r>
            <a:r>
              <a:rPr lang="en-US" smtClean="0">
                <a:solidFill>
                  <a:schemeClr val="accent2">
                    <a:lumMod val="75000"/>
                  </a:schemeClr>
                </a:solidFill>
              </a:rPr>
              <a:t>“melon”</a:t>
            </a:r>
            <a:r>
              <a:rPr lang="en-US" smtClean="0">
                <a:solidFill>
                  <a:schemeClr val="accent4">
                    <a:lumMod val="60000"/>
                    <a:lumOff val="40000"/>
                  </a:schemeClr>
                </a:solidFill>
              </a:rPr>
              <a:t>)</a:t>
            </a:r>
          </a:p>
          <a:p>
            <a:r>
              <a:rPr lang="en-US">
                <a:solidFill>
                  <a:schemeClr val="bg1"/>
                </a:solidFill>
              </a:rPr>
              <a:t>print</a:t>
            </a:r>
            <a:r>
              <a:rPr lang="en-US">
                <a:solidFill>
                  <a:schemeClr val="accent4">
                    <a:lumMod val="60000"/>
                    <a:lumOff val="40000"/>
                  </a:schemeClr>
                </a:solidFill>
              </a:rPr>
              <a:t>(</a:t>
            </a:r>
            <a:r>
              <a:rPr lang="en-US" err="1">
                <a:solidFill>
                  <a:schemeClr val="bg1"/>
                </a:solidFill>
              </a:rPr>
              <a:t>mylist</a:t>
            </a:r>
            <a:r>
              <a:rPr lang="en-US">
                <a:solidFill>
                  <a:schemeClr val="accent4">
                    <a:lumMod val="60000"/>
                    <a:lumOff val="40000"/>
                  </a:schemeClr>
                </a:solidFill>
              </a:rPr>
              <a:t>) </a:t>
            </a:r>
            <a:r>
              <a:rPr lang="en-US" sz="1600" smtClean="0">
                <a:solidFill>
                  <a:schemeClr val="accent6">
                    <a:lumMod val="75000"/>
                  </a:schemeClr>
                </a:solidFill>
              </a:rPr>
              <a:t>#</a:t>
            </a:r>
            <a:r>
              <a:rPr lang="en-US" sz="1600">
                <a:solidFill>
                  <a:schemeClr val="accent6">
                    <a:lumMod val="75000"/>
                  </a:schemeClr>
                </a:solidFill>
              </a:rPr>
              <a:t>output: </a:t>
            </a:r>
            <a:r>
              <a:rPr lang="en-US" sz="1600" smtClean="0">
                <a:solidFill>
                  <a:srgbClr val="FECC36"/>
                </a:solidFill>
              </a:rPr>
              <a:t>apple,</a:t>
            </a:r>
            <a:r>
              <a:rPr lang="en-US" sz="1600">
                <a:solidFill>
                  <a:srgbClr val="FECC36"/>
                </a:solidFill>
              </a:rPr>
              <a:t>  melon </a:t>
            </a:r>
            <a:r>
              <a:rPr lang="en-US" sz="1600" smtClean="0">
                <a:solidFill>
                  <a:srgbClr val="FECC36"/>
                </a:solidFill>
              </a:rPr>
              <a:t>, banana,</a:t>
            </a:r>
            <a:r>
              <a:rPr lang="en-US" sz="1600">
                <a:solidFill>
                  <a:srgbClr val="FECC36"/>
                </a:solidFill>
              </a:rPr>
              <a:t> </a:t>
            </a:r>
            <a:r>
              <a:rPr lang="en-US" sz="1600" smtClean="0">
                <a:solidFill>
                  <a:srgbClr val="FECC36"/>
                </a:solidFill>
              </a:rPr>
              <a:t>kiwi </a:t>
            </a:r>
            <a:endParaRPr lang="en-US" sz="1600">
              <a:solidFill>
                <a:srgbClr val="FECC36"/>
              </a:solidFill>
            </a:endParaRPr>
          </a:p>
        </p:txBody>
      </p:sp>
    </p:spTree>
    <p:extLst>
      <p:ext uri="{BB962C8B-B14F-4D97-AF65-F5344CB8AC3E}">
        <p14:creationId xmlns:p14="http://schemas.microsoft.com/office/powerpoint/2010/main" val="7091940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List</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Thêm</a:t>
            </a:r>
            <a:r>
              <a:rPr lang="en-US" b="1" smtClean="0"/>
              <a:t> </a:t>
            </a:r>
            <a:r>
              <a:rPr lang="en-US" b="1" err="1" smtClean="0"/>
              <a:t>mới</a:t>
            </a:r>
            <a:r>
              <a:rPr lang="en-US" b="1" smtClean="0"/>
              <a:t> </a:t>
            </a:r>
            <a:r>
              <a:rPr lang="en-US" b="1" err="1" smtClean="0"/>
              <a:t>phần</a:t>
            </a:r>
            <a:r>
              <a:rPr lang="en-US" b="1" smtClean="0"/>
              <a:t> </a:t>
            </a:r>
            <a:r>
              <a:rPr lang="en-US" b="1" err="1" smtClean="0"/>
              <a:t>tử</a:t>
            </a:r>
            <a:r>
              <a:rPr lang="en-US" b="1" smtClean="0"/>
              <a:t> </a:t>
            </a:r>
            <a:r>
              <a:rPr lang="en-US" b="1" err="1" smtClean="0"/>
              <a:t>vào</a:t>
            </a:r>
            <a:r>
              <a:rPr lang="en-US" b="1" smtClean="0"/>
              <a:t> List</a:t>
            </a:r>
            <a:endParaRPr lang="en-US" b="1">
              <a:solidFill>
                <a:srgbClr val="FF0000"/>
              </a:solidFill>
            </a:endParaRPr>
          </a:p>
        </p:txBody>
      </p:sp>
      <p:sp>
        <p:nvSpPr>
          <p:cNvPr id="29" name="Rectangle 28"/>
          <p:cNvSpPr/>
          <p:nvPr/>
        </p:nvSpPr>
        <p:spPr>
          <a:xfrm>
            <a:off x="699793" y="2965103"/>
            <a:ext cx="7774356" cy="149026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3088395"/>
            <a:ext cx="7402216" cy="1200329"/>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a:solidFill>
                  <a:schemeClr val="bg1"/>
                </a:solidFill>
              </a:rPr>
              <a:t>tropical = [</a:t>
            </a:r>
            <a:r>
              <a:rPr lang="en-US">
                <a:solidFill>
                  <a:schemeClr val="accent2">
                    <a:lumMod val="75000"/>
                  </a:schemeClr>
                </a:solidFill>
              </a:rPr>
              <a:t>"mango"</a:t>
            </a:r>
            <a:r>
              <a:rPr lang="en-US">
                <a:solidFill>
                  <a:schemeClr val="bg1"/>
                </a:solidFill>
              </a:rPr>
              <a:t>, </a:t>
            </a:r>
            <a:r>
              <a:rPr lang="en-US">
                <a:solidFill>
                  <a:schemeClr val="accent2">
                    <a:lumMod val="75000"/>
                  </a:schemeClr>
                </a:solidFill>
              </a:rPr>
              <a:t>"pineapple"</a:t>
            </a:r>
            <a:r>
              <a:rPr lang="en-US">
                <a:solidFill>
                  <a:schemeClr val="bg1"/>
                </a:solidFill>
              </a:rPr>
              <a:t>, </a:t>
            </a:r>
            <a:r>
              <a:rPr lang="en-US">
                <a:solidFill>
                  <a:schemeClr val="accent2">
                    <a:lumMod val="75000"/>
                  </a:schemeClr>
                </a:solidFill>
              </a:rPr>
              <a:t>"papaya"</a:t>
            </a:r>
            <a:r>
              <a:rPr lang="en-US">
                <a:solidFill>
                  <a:schemeClr val="bg1"/>
                </a:solidFill>
              </a:rPr>
              <a:t>]</a:t>
            </a:r>
            <a:endParaRPr lang="en-US" smtClean="0">
              <a:solidFill>
                <a:schemeClr val="bg1"/>
              </a:solidFill>
            </a:endParaRPr>
          </a:p>
          <a:p>
            <a:r>
              <a:rPr lang="en-US" err="1" smtClean="0">
                <a:solidFill>
                  <a:schemeClr val="bg1"/>
                </a:solidFill>
              </a:rPr>
              <a:t>mylist.extend</a:t>
            </a:r>
            <a:r>
              <a:rPr lang="en-US" smtClean="0">
                <a:solidFill>
                  <a:schemeClr val="accent4">
                    <a:lumMod val="60000"/>
                    <a:lumOff val="40000"/>
                  </a:schemeClr>
                </a:solidFill>
              </a:rPr>
              <a:t>(</a:t>
            </a:r>
            <a:r>
              <a:rPr lang="en-US" smtClean="0">
                <a:solidFill>
                  <a:schemeClr val="bg1"/>
                </a:solidFill>
              </a:rPr>
              <a:t>tropical</a:t>
            </a:r>
            <a:r>
              <a:rPr lang="en-US" smtClean="0">
                <a:solidFill>
                  <a:schemeClr val="accent4">
                    <a:lumMod val="60000"/>
                    <a:lumOff val="40000"/>
                  </a:schemeClr>
                </a:solidFill>
              </a:rPr>
              <a:t>)</a:t>
            </a:r>
          </a:p>
          <a:p>
            <a:r>
              <a:rPr lang="en-US">
                <a:solidFill>
                  <a:schemeClr val="bg1"/>
                </a:solidFill>
              </a:rPr>
              <a:t>print</a:t>
            </a:r>
            <a:r>
              <a:rPr lang="en-US">
                <a:solidFill>
                  <a:schemeClr val="accent4">
                    <a:lumMod val="60000"/>
                    <a:lumOff val="40000"/>
                  </a:schemeClr>
                </a:solidFill>
              </a:rPr>
              <a:t>(</a:t>
            </a:r>
            <a:r>
              <a:rPr lang="en-US" err="1">
                <a:solidFill>
                  <a:schemeClr val="bg1"/>
                </a:solidFill>
              </a:rPr>
              <a:t>mylist</a:t>
            </a:r>
            <a:r>
              <a:rPr lang="en-US">
                <a:solidFill>
                  <a:schemeClr val="accent4">
                    <a:lumMod val="60000"/>
                    <a:lumOff val="40000"/>
                  </a:schemeClr>
                </a:solidFill>
              </a:rPr>
              <a:t>) </a:t>
            </a:r>
            <a:r>
              <a:rPr lang="en-US" sz="1600" smtClean="0">
                <a:solidFill>
                  <a:schemeClr val="accent6">
                    <a:lumMod val="75000"/>
                  </a:schemeClr>
                </a:solidFill>
              </a:rPr>
              <a:t>#</a:t>
            </a:r>
            <a:r>
              <a:rPr lang="en-US" sz="1600">
                <a:solidFill>
                  <a:schemeClr val="accent6">
                    <a:lumMod val="75000"/>
                  </a:schemeClr>
                </a:solidFill>
              </a:rPr>
              <a:t>output: </a:t>
            </a:r>
            <a:r>
              <a:rPr lang="en-US" sz="1600" smtClean="0">
                <a:solidFill>
                  <a:srgbClr val="FECC36"/>
                </a:solidFill>
              </a:rPr>
              <a:t>apple,</a:t>
            </a:r>
            <a:r>
              <a:rPr lang="en-US" sz="1600">
                <a:solidFill>
                  <a:srgbClr val="FECC36"/>
                </a:solidFill>
              </a:rPr>
              <a:t> </a:t>
            </a:r>
            <a:r>
              <a:rPr lang="en-US" sz="1600" smtClean="0">
                <a:solidFill>
                  <a:srgbClr val="FECC36"/>
                </a:solidFill>
              </a:rPr>
              <a:t>banana,</a:t>
            </a:r>
            <a:r>
              <a:rPr lang="en-US" sz="1600">
                <a:solidFill>
                  <a:srgbClr val="FECC36"/>
                </a:solidFill>
              </a:rPr>
              <a:t> </a:t>
            </a:r>
            <a:r>
              <a:rPr lang="en-US" sz="1600" smtClean="0">
                <a:solidFill>
                  <a:srgbClr val="FFC500"/>
                </a:solidFill>
              </a:rPr>
              <a:t>kiwi, mango, pineapple, </a:t>
            </a:r>
            <a:r>
              <a:rPr lang="en-US" sz="1600">
                <a:solidFill>
                  <a:srgbClr val="FFC500"/>
                </a:solidFill>
              </a:rPr>
              <a:t>papaya</a:t>
            </a:r>
            <a:r>
              <a:rPr lang="en-US" sz="1600" smtClean="0">
                <a:solidFill>
                  <a:schemeClr val="accent2">
                    <a:lumMod val="75000"/>
                  </a:schemeClr>
                </a:solidFill>
              </a:rPr>
              <a:t> </a:t>
            </a:r>
            <a:endParaRPr lang="en-US" sz="1600">
              <a:solidFill>
                <a:srgbClr val="FECC36"/>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smtClean="0"/>
              <a:t>Nối List (mở rộng list) với phương thức </a:t>
            </a:r>
            <a:r>
              <a:rPr lang="en-US" b="1"/>
              <a:t>extend(iterable)</a:t>
            </a:r>
          </a:p>
        </p:txBody>
      </p:sp>
      <p:sp>
        <p:nvSpPr>
          <p:cNvPr id="25" name="TextBox 24"/>
          <p:cNvSpPr txBox="1"/>
          <p:nvPr/>
        </p:nvSpPr>
        <p:spPr>
          <a:xfrm>
            <a:off x="639997" y="4563496"/>
            <a:ext cx="7697972" cy="369332"/>
          </a:xfrm>
          <a:prstGeom prst="rect">
            <a:avLst/>
          </a:prstGeom>
          <a:noFill/>
        </p:spPr>
        <p:txBody>
          <a:bodyPr wrap="square" rtlCol="0">
            <a:spAutoFit/>
          </a:bodyPr>
          <a:lstStyle/>
          <a:p>
            <a:r>
              <a:rPr lang="en-US" err="1" smtClean="0"/>
              <a:t>Bạn</a:t>
            </a:r>
            <a:r>
              <a:rPr lang="en-US" smtClean="0"/>
              <a:t> </a:t>
            </a:r>
            <a:r>
              <a:rPr lang="en-US" err="1" smtClean="0"/>
              <a:t>có</a:t>
            </a:r>
            <a:r>
              <a:rPr lang="en-US" smtClean="0"/>
              <a:t> </a:t>
            </a:r>
            <a:r>
              <a:rPr lang="en-US" err="1" smtClean="0"/>
              <a:t>thể</a:t>
            </a:r>
            <a:r>
              <a:rPr lang="en-US" smtClean="0"/>
              <a:t> </a:t>
            </a:r>
            <a:r>
              <a:rPr lang="en-US" err="1" smtClean="0"/>
              <a:t>mở</a:t>
            </a:r>
            <a:r>
              <a:rPr lang="en-US" smtClean="0"/>
              <a:t> </a:t>
            </a:r>
            <a:r>
              <a:rPr lang="en-US" err="1" smtClean="0"/>
              <a:t>rộng</a:t>
            </a:r>
            <a:r>
              <a:rPr lang="en-US" smtClean="0"/>
              <a:t> list </a:t>
            </a:r>
            <a:r>
              <a:rPr lang="en-US" err="1" smtClean="0"/>
              <a:t>với</a:t>
            </a:r>
            <a:r>
              <a:rPr lang="en-US" smtClean="0"/>
              <a:t> </a:t>
            </a:r>
            <a:r>
              <a:rPr lang="en-US" b="1"/>
              <a:t>tuples, sets, </a:t>
            </a:r>
            <a:r>
              <a:rPr lang="en-US" b="1" smtClean="0"/>
              <a:t>dictionaries</a:t>
            </a:r>
            <a:r>
              <a:rPr lang="en-US" smtClean="0"/>
              <a:t>… </a:t>
            </a:r>
            <a:r>
              <a:rPr lang="en-US" err="1" smtClean="0"/>
              <a:t>bằng</a:t>
            </a:r>
            <a:r>
              <a:rPr lang="en-US" smtClean="0"/>
              <a:t> </a:t>
            </a:r>
            <a:r>
              <a:rPr lang="en-US" b="1" smtClean="0"/>
              <a:t>extend()</a:t>
            </a:r>
            <a:endParaRPr lang="en-US" b="1"/>
          </a:p>
        </p:txBody>
      </p:sp>
      <p:sp>
        <p:nvSpPr>
          <p:cNvPr id="15" name="Rectangle 14"/>
          <p:cNvSpPr/>
          <p:nvPr/>
        </p:nvSpPr>
        <p:spPr>
          <a:xfrm>
            <a:off x="699793" y="5115886"/>
            <a:ext cx="7774356" cy="130023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80547" y="5239178"/>
            <a:ext cx="7402216" cy="923330"/>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err="1">
                <a:solidFill>
                  <a:schemeClr val="bg1"/>
                </a:solidFill>
              </a:rPr>
              <a:t>thistuple</a:t>
            </a:r>
            <a:r>
              <a:rPr lang="en-US">
                <a:solidFill>
                  <a:schemeClr val="bg1"/>
                </a:solidFill>
              </a:rPr>
              <a:t> = (</a:t>
            </a:r>
            <a:r>
              <a:rPr lang="en-US">
                <a:solidFill>
                  <a:schemeClr val="accent2">
                    <a:lumMod val="75000"/>
                  </a:schemeClr>
                </a:solidFill>
              </a:rPr>
              <a:t>"kiwi"</a:t>
            </a:r>
            <a:r>
              <a:rPr lang="en-US">
                <a:solidFill>
                  <a:schemeClr val="bg1"/>
                </a:solidFill>
              </a:rPr>
              <a:t>, </a:t>
            </a:r>
            <a:r>
              <a:rPr lang="en-US">
                <a:solidFill>
                  <a:schemeClr val="accent2">
                    <a:lumMod val="75000"/>
                  </a:schemeClr>
                </a:solidFill>
              </a:rPr>
              <a:t>"orange</a:t>
            </a:r>
            <a:r>
              <a:rPr lang="en-US" smtClean="0">
                <a:solidFill>
                  <a:schemeClr val="accent2">
                    <a:lumMod val="75000"/>
                  </a:schemeClr>
                </a:solidFill>
              </a:rPr>
              <a:t>"</a:t>
            </a:r>
            <a:r>
              <a:rPr lang="en-US" smtClean="0">
                <a:solidFill>
                  <a:schemeClr val="bg1"/>
                </a:solidFill>
              </a:rPr>
              <a:t>)</a:t>
            </a:r>
          </a:p>
          <a:p>
            <a:r>
              <a:rPr lang="en-US" err="1" smtClean="0">
                <a:solidFill>
                  <a:schemeClr val="bg1"/>
                </a:solidFill>
              </a:rPr>
              <a:t>mylist.extend</a:t>
            </a:r>
            <a:r>
              <a:rPr lang="en-US" smtClean="0">
                <a:solidFill>
                  <a:schemeClr val="accent4">
                    <a:lumMod val="60000"/>
                    <a:lumOff val="40000"/>
                  </a:schemeClr>
                </a:solidFill>
              </a:rPr>
              <a:t>(</a:t>
            </a:r>
            <a:r>
              <a:rPr lang="en-US" err="1">
                <a:solidFill>
                  <a:schemeClr val="bg1"/>
                </a:solidFill>
              </a:rPr>
              <a:t>thistuple</a:t>
            </a:r>
            <a:r>
              <a:rPr lang="en-US" smtClean="0">
                <a:solidFill>
                  <a:schemeClr val="accent4">
                    <a:lumMod val="60000"/>
                    <a:lumOff val="40000"/>
                  </a:schemeClr>
                </a:solidFill>
              </a:rPr>
              <a:t>)</a:t>
            </a:r>
            <a:r>
              <a:rPr lang="en-US" smtClean="0"/>
              <a:t> </a:t>
            </a:r>
          </a:p>
        </p:txBody>
      </p:sp>
      <p:sp>
        <p:nvSpPr>
          <p:cNvPr id="12" name="TextBox 11"/>
          <p:cNvSpPr txBox="1"/>
          <p:nvPr/>
        </p:nvSpPr>
        <p:spPr>
          <a:xfrm>
            <a:off x="639997" y="2412713"/>
            <a:ext cx="7697972" cy="369332"/>
          </a:xfrm>
          <a:prstGeom prst="rect">
            <a:avLst/>
          </a:prstGeom>
          <a:noFill/>
        </p:spPr>
        <p:txBody>
          <a:bodyPr wrap="square" rtlCol="0">
            <a:spAutoFit/>
          </a:bodyPr>
          <a:lstStyle/>
          <a:p>
            <a:r>
              <a:rPr lang="vi-VN"/>
              <a:t>iterable: Đối tượng có thể lặp (list, tuple, set, string, etc.)</a:t>
            </a:r>
            <a:endParaRPr lang="en-US" b="1"/>
          </a:p>
        </p:txBody>
      </p:sp>
    </p:spTree>
    <p:extLst>
      <p:ext uri="{BB962C8B-B14F-4D97-AF65-F5344CB8AC3E}">
        <p14:creationId xmlns:p14="http://schemas.microsoft.com/office/powerpoint/2010/main" val="16743009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9</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List</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Thêm</a:t>
            </a:r>
            <a:r>
              <a:rPr lang="en-US" b="1" smtClean="0"/>
              <a:t> </a:t>
            </a:r>
            <a:r>
              <a:rPr lang="en-US" b="1" err="1" smtClean="0"/>
              <a:t>mới</a:t>
            </a:r>
            <a:r>
              <a:rPr lang="en-US" b="1" smtClean="0"/>
              <a:t> </a:t>
            </a:r>
            <a:r>
              <a:rPr lang="en-US" b="1" err="1" smtClean="0"/>
              <a:t>phần</a:t>
            </a:r>
            <a:r>
              <a:rPr lang="en-US" b="1" smtClean="0"/>
              <a:t> </a:t>
            </a:r>
            <a:r>
              <a:rPr lang="en-US" b="1" err="1" smtClean="0"/>
              <a:t>tử</a:t>
            </a:r>
            <a:r>
              <a:rPr lang="en-US" b="1" smtClean="0"/>
              <a:t> </a:t>
            </a:r>
            <a:r>
              <a:rPr lang="en-US" b="1" err="1" smtClean="0"/>
              <a:t>vào</a:t>
            </a:r>
            <a:r>
              <a:rPr lang="en-US" b="1" smtClean="0"/>
              <a:t> List</a:t>
            </a:r>
            <a:endParaRPr lang="en-US" b="1">
              <a:solidFill>
                <a:srgbClr val="FF0000"/>
              </a:solidFill>
            </a:endParaRPr>
          </a:p>
        </p:txBody>
      </p:sp>
      <p:sp>
        <p:nvSpPr>
          <p:cNvPr id="29" name="Rectangle 28"/>
          <p:cNvSpPr/>
          <p:nvPr/>
        </p:nvSpPr>
        <p:spPr>
          <a:xfrm>
            <a:off x="699793" y="2498651"/>
            <a:ext cx="7774356" cy="160354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1200329"/>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a:solidFill>
                  <a:schemeClr val="bg1"/>
                </a:solidFill>
              </a:rPr>
              <a:t>tropical = [</a:t>
            </a:r>
            <a:r>
              <a:rPr lang="en-US">
                <a:solidFill>
                  <a:schemeClr val="accent2">
                    <a:lumMod val="75000"/>
                  </a:schemeClr>
                </a:solidFill>
              </a:rPr>
              <a:t>"mango"</a:t>
            </a:r>
            <a:r>
              <a:rPr lang="en-US">
                <a:solidFill>
                  <a:schemeClr val="bg1"/>
                </a:solidFill>
              </a:rPr>
              <a:t>, </a:t>
            </a:r>
            <a:r>
              <a:rPr lang="en-US">
                <a:solidFill>
                  <a:schemeClr val="accent2">
                    <a:lumMod val="75000"/>
                  </a:schemeClr>
                </a:solidFill>
              </a:rPr>
              <a:t>"pineapple"</a:t>
            </a:r>
            <a:r>
              <a:rPr lang="en-US">
                <a:solidFill>
                  <a:schemeClr val="bg1"/>
                </a:solidFill>
              </a:rPr>
              <a:t>, </a:t>
            </a:r>
            <a:r>
              <a:rPr lang="en-US">
                <a:solidFill>
                  <a:schemeClr val="accent2">
                    <a:lumMod val="75000"/>
                  </a:schemeClr>
                </a:solidFill>
              </a:rPr>
              <a:t>"papaya"</a:t>
            </a:r>
            <a:r>
              <a:rPr lang="en-US">
                <a:solidFill>
                  <a:schemeClr val="bg1"/>
                </a:solidFill>
              </a:rPr>
              <a:t>]</a:t>
            </a:r>
            <a:endParaRPr lang="en-US" smtClean="0">
              <a:solidFill>
                <a:schemeClr val="bg1"/>
              </a:solidFill>
            </a:endParaRPr>
          </a:p>
          <a:p>
            <a:r>
              <a:rPr lang="en-US">
                <a:solidFill>
                  <a:schemeClr val="bg1"/>
                </a:solidFill>
              </a:rPr>
              <a:t>f</a:t>
            </a:r>
            <a:r>
              <a:rPr lang="en-US" smtClean="0">
                <a:solidFill>
                  <a:schemeClr val="bg1"/>
                </a:solidFill>
              </a:rPr>
              <a:t>ruits = </a:t>
            </a:r>
            <a:r>
              <a:rPr lang="en-US" err="1" smtClean="0">
                <a:solidFill>
                  <a:schemeClr val="bg1"/>
                </a:solidFill>
              </a:rPr>
              <a:t>mylist</a:t>
            </a:r>
            <a:r>
              <a:rPr lang="en-US" smtClean="0">
                <a:solidFill>
                  <a:schemeClr val="bg1"/>
                </a:solidFill>
              </a:rPr>
              <a:t> + topical</a:t>
            </a:r>
          </a:p>
          <a:p>
            <a:r>
              <a:rPr lang="en-US" smtClean="0">
                <a:solidFill>
                  <a:schemeClr val="bg1"/>
                </a:solidFill>
              </a:rPr>
              <a:t>print</a:t>
            </a:r>
            <a:r>
              <a:rPr lang="en-US" smtClean="0">
                <a:solidFill>
                  <a:schemeClr val="accent4">
                    <a:lumMod val="60000"/>
                    <a:lumOff val="40000"/>
                  </a:schemeClr>
                </a:solidFill>
              </a:rPr>
              <a:t>(</a:t>
            </a:r>
            <a:r>
              <a:rPr lang="en-US">
                <a:solidFill>
                  <a:schemeClr val="bg1"/>
                </a:solidFill>
              </a:rPr>
              <a:t>fruits</a:t>
            </a:r>
            <a:r>
              <a:rPr lang="en-US" smtClean="0">
                <a:solidFill>
                  <a:schemeClr val="accent4">
                    <a:lumMod val="60000"/>
                    <a:lumOff val="40000"/>
                  </a:schemeClr>
                </a:solidFill>
              </a:rPr>
              <a:t>) </a:t>
            </a:r>
            <a:r>
              <a:rPr lang="en-US" sz="1600" smtClean="0">
                <a:solidFill>
                  <a:schemeClr val="accent6">
                    <a:lumMod val="75000"/>
                  </a:schemeClr>
                </a:solidFill>
              </a:rPr>
              <a:t>#</a:t>
            </a:r>
            <a:r>
              <a:rPr lang="en-US" sz="1600">
                <a:solidFill>
                  <a:schemeClr val="accent6">
                    <a:lumMod val="75000"/>
                  </a:schemeClr>
                </a:solidFill>
              </a:rPr>
              <a:t>output: </a:t>
            </a:r>
            <a:r>
              <a:rPr lang="en-US" sz="1600" smtClean="0">
                <a:solidFill>
                  <a:srgbClr val="FECC36"/>
                </a:solidFill>
              </a:rPr>
              <a:t>apple,</a:t>
            </a:r>
            <a:r>
              <a:rPr lang="en-US" sz="1600">
                <a:solidFill>
                  <a:srgbClr val="FECC36"/>
                </a:solidFill>
              </a:rPr>
              <a:t> </a:t>
            </a:r>
            <a:r>
              <a:rPr lang="en-US" sz="1600" smtClean="0">
                <a:solidFill>
                  <a:srgbClr val="FECC36"/>
                </a:solidFill>
              </a:rPr>
              <a:t>banana,</a:t>
            </a:r>
            <a:r>
              <a:rPr lang="en-US" sz="1600">
                <a:solidFill>
                  <a:srgbClr val="FECC36"/>
                </a:solidFill>
              </a:rPr>
              <a:t> </a:t>
            </a:r>
            <a:r>
              <a:rPr lang="en-US" sz="1600" smtClean="0">
                <a:solidFill>
                  <a:srgbClr val="FFC500"/>
                </a:solidFill>
              </a:rPr>
              <a:t>kiwi, mango, pineapple, </a:t>
            </a:r>
            <a:r>
              <a:rPr lang="en-US" sz="1600">
                <a:solidFill>
                  <a:srgbClr val="FFC500"/>
                </a:solidFill>
              </a:rPr>
              <a:t>papaya</a:t>
            </a:r>
            <a:r>
              <a:rPr lang="en-US" sz="1600" smtClean="0">
                <a:solidFill>
                  <a:schemeClr val="accent2">
                    <a:lumMod val="75000"/>
                  </a:schemeClr>
                </a:solidFill>
              </a:rPr>
              <a:t> </a:t>
            </a:r>
            <a:endParaRPr lang="en-US" sz="1600">
              <a:solidFill>
                <a:srgbClr val="FECC36"/>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Hoặc</a:t>
            </a:r>
            <a:r>
              <a:rPr lang="en-US" smtClean="0"/>
              <a:t> </a:t>
            </a:r>
            <a:r>
              <a:rPr lang="en-US" err="1" smtClean="0"/>
              <a:t>bạn</a:t>
            </a:r>
            <a:r>
              <a:rPr lang="en-US" smtClean="0"/>
              <a:t> </a:t>
            </a:r>
            <a:r>
              <a:rPr lang="en-US" err="1" smtClean="0"/>
              <a:t>có</a:t>
            </a:r>
            <a:r>
              <a:rPr lang="en-US" smtClean="0"/>
              <a:t> </a:t>
            </a:r>
            <a:r>
              <a:rPr lang="en-US" err="1" smtClean="0"/>
              <a:t>thể</a:t>
            </a:r>
            <a:r>
              <a:rPr lang="en-US" smtClean="0"/>
              <a:t> </a:t>
            </a:r>
            <a:r>
              <a:rPr lang="en-US" err="1" smtClean="0"/>
              <a:t>sử</a:t>
            </a:r>
            <a:r>
              <a:rPr lang="en-US" smtClean="0"/>
              <a:t> </a:t>
            </a:r>
            <a:r>
              <a:rPr lang="en-US" err="1" smtClean="0"/>
              <a:t>dụng</a:t>
            </a:r>
            <a:r>
              <a:rPr lang="en-US" smtClean="0"/>
              <a:t> </a:t>
            </a:r>
            <a:r>
              <a:rPr lang="en-US" err="1" smtClean="0"/>
              <a:t>toán</a:t>
            </a:r>
            <a:r>
              <a:rPr lang="en-US" smtClean="0"/>
              <a:t> </a:t>
            </a:r>
            <a:r>
              <a:rPr lang="en-US" err="1" smtClean="0"/>
              <a:t>tử</a:t>
            </a:r>
            <a:r>
              <a:rPr lang="en-US" smtClean="0"/>
              <a:t> </a:t>
            </a:r>
            <a:r>
              <a:rPr lang="en-US" b="1" smtClean="0"/>
              <a:t>+</a:t>
            </a:r>
            <a:r>
              <a:rPr lang="en-US" smtClean="0"/>
              <a:t> </a:t>
            </a:r>
            <a:r>
              <a:rPr lang="en-US" err="1" smtClean="0"/>
              <a:t>để</a:t>
            </a:r>
            <a:r>
              <a:rPr lang="en-US" smtClean="0"/>
              <a:t> join 2 List </a:t>
            </a:r>
            <a:r>
              <a:rPr lang="en-US" err="1" smtClean="0"/>
              <a:t>với</a:t>
            </a:r>
            <a:r>
              <a:rPr lang="en-US" smtClean="0"/>
              <a:t> </a:t>
            </a:r>
            <a:r>
              <a:rPr lang="en-US" err="1" smtClean="0"/>
              <a:t>nhau</a:t>
            </a:r>
            <a:endParaRPr lang="en-US" b="1"/>
          </a:p>
        </p:txBody>
      </p:sp>
    </p:spTree>
    <p:extLst>
      <p:ext uri="{BB962C8B-B14F-4D97-AF65-F5344CB8AC3E}">
        <p14:creationId xmlns:p14="http://schemas.microsoft.com/office/powerpoint/2010/main" val="11822247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List</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Xóa</a:t>
            </a:r>
            <a:r>
              <a:rPr lang="en-US" b="1" smtClean="0"/>
              <a:t> </a:t>
            </a:r>
            <a:r>
              <a:rPr lang="en-US" b="1" err="1" smtClean="0"/>
              <a:t>phần</a:t>
            </a:r>
            <a:r>
              <a:rPr lang="en-US" b="1" smtClean="0"/>
              <a:t> </a:t>
            </a:r>
            <a:r>
              <a:rPr lang="en-US" b="1" err="1" smtClean="0"/>
              <a:t>tử</a:t>
            </a:r>
            <a:r>
              <a:rPr lang="en-US" b="1" smtClean="0"/>
              <a:t> </a:t>
            </a:r>
            <a:r>
              <a:rPr lang="en-US" b="1" err="1" smtClean="0"/>
              <a:t>trong</a:t>
            </a:r>
            <a:r>
              <a:rPr lang="en-US" b="1" smtClean="0"/>
              <a:t> List</a:t>
            </a:r>
            <a:endParaRPr lang="en-US" b="1">
              <a:solidFill>
                <a:srgbClr val="FF0000"/>
              </a:solidFill>
            </a:endParaRPr>
          </a:p>
        </p:txBody>
      </p:sp>
      <p:sp>
        <p:nvSpPr>
          <p:cNvPr id="29" name="Rectangle 28"/>
          <p:cNvSpPr/>
          <p:nvPr/>
        </p:nvSpPr>
        <p:spPr>
          <a:xfrm>
            <a:off x="699793" y="2498652"/>
            <a:ext cx="7774356" cy="121370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923330"/>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err="1" smtClean="0">
                <a:solidFill>
                  <a:schemeClr val="bg1"/>
                </a:solidFill>
              </a:rPr>
              <a:t>mylist.remove</a:t>
            </a:r>
            <a:r>
              <a:rPr lang="en-US" smtClean="0">
                <a:solidFill>
                  <a:schemeClr val="accent4">
                    <a:lumMod val="60000"/>
                    <a:lumOff val="40000"/>
                  </a:schemeClr>
                </a:solidFill>
              </a:rPr>
              <a:t>(</a:t>
            </a:r>
            <a:r>
              <a:rPr lang="en-US" smtClean="0">
                <a:solidFill>
                  <a:schemeClr val="accent2">
                    <a:lumMod val="75000"/>
                  </a:schemeClr>
                </a:solidFill>
              </a:rPr>
              <a:t>"</a:t>
            </a:r>
            <a:r>
              <a:rPr lang="en-US">
                <a:solidFill>
                  <a:schemeClr val="accent2">
                    <a:lumMod val="75000"/>
                  </a:schemeClr>
                </a:solidFill>
              </a:rPr>
              <a:t>banana"</a:t>
            </a:r>
            <a:r>
              <a:rPr lang="en-US" smtClean="0">
                <a:solidFill>
                  <a:schemeClr val="accent4">
                    <a:lumMod val="60000"/>
                    <a:lumOff val="40000"/>
                  </a:schemeClr>
                </a:solidFill>
              </a:rPr>
              <a:t>)</a:t>
            </a:r>
          </a:p>
          <a:p>
            <a:r>
              <a:rPr lang="en-US">
                <a:solidFill>
                  <a:schemeClr val="bg1"/>
                </a:solidFill>
              </a:rPr>
              <a:t>print</a:t>
            </a:r>
            <a:r>
              <a:rPr lang="en-US">
                <a:solidFill>
                  <a:schemeClr val="accent4">
                    <a:lumMod val="60000"/>
                    <a:lumOff val="40000"/>
                  </a:schemeClr>
                </a:solidFill>
              </a:rPr>
              <a:t>(</a:t>
            </a:r>
            <a:r>
              <a:rPr lang="en-US" err="1">
                <a:solidFill>
                  <a:schemeClr val="bg1"/>
                </a:solidFill>
              </a:rPr>
              <a:t>mylist</a:t>
            </a:r>
            <a:r>
              <a:rPr lang="en-US">
                <a:solidFill>
                  <a:schemeClr val="accent4">
                    <a:lumMod val="60000"/>
                    <a:lumOff val="40000"/>
                  </a:schemeClr>
                </a:solidFill>
              </a:rPr>
              <a:t>) </a:t>
            </a:r>
            <a:r>
              <a:rPr lang="en-US" sz="1600" smtClean="0">
                <a:solidFill>
                  <a:schemeClr val="accent6">
                    <a:lumMod val="75000"/>
                  </a:schemeClr>
                </a:solidFill>
              </a:rPr>
              <a:t>#</a:t>
            </a:r>
            <a:r>
              <a:rPr lang="en-US" sz="1600">
                <a:solidFill>
                  <a:schemeClr val="accent6">
                    <a:lumMod val="75000"/>
                  </a:schemeClr>
                </a:solidFill>
              </a:rPr>
              <a:t>output: </a:t>
            </a:r>
            <a:r>
              <a:rPr lang="en-US" sz="1600" smtClean="0">
                <a:solidFill>
                  <a:srgbClr val="FECC36"/>
                </a:solidFill>
              </a:rPr>
              <a:t>apple,</a:t>
            </a:r>
            <a:r>
              <a:rPr lang="en-US" sz="1600">
                <a:solidFill>
                  <a:srgbClr val="FECC36"/>
                </a:solidFill>
              </a:rPr>
              <a:t> </a:t>
            </a:r>
            <a:r>
              <a:rPr lang="en-US" sz="1600" smtClean="0">
                <a:solidFill>
                  <a:srgbClr val="FFC500"/>
                </a:solidFill>
              </a:rPr>
              <a:t>kiwi</a:t>
            </a:r>
            <a:endParaRPr lang="en-US" sz="1600">
              <a:solidFill>
                <a:srgbClr val="FECC36"/>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Sử</a:t>
            </a:r>
            <a:r>
              <a:rPr lang="en-US" smtClean="0"/>
              <a:t> </a:t>
            </a:r>
            <a:r>
              <a:rPr lang="en-US" err="1" smtClean="0"/>
              <a:t>dụng</a:t>
            </a:r>
            <a:r>
              <a:rPr lang="en-US" smtClean="0"/>
              <a:t> </a:t>
            </a:r>
            <a:r>
              <a:rPr lang="en-US" err="1" smtClean="0"/>
              <a:t>phương</a:t>
            </a:r>
            <a:r>
              <a:rPr lang="en-US" smtClean="0"/>
              <a:t> </a:t>
            </a:r>
            <a:r>
              <a:rPr lang="en-US" err="1" smtClean="0"/>
              <a:t>thức</a:t>
            </a:r>
            <a:r>
              <a:rPr lang="en-US" smtClean="0"/>
              <a:t> </a:t>
            </a:r>
            <a:r>
              <a:rPr lang="en-US" b="1" smtClean="0"/>
              <a:t>remove() </a:t>
            </a:r>
            <a:r>
              <a:rPr lang="en-US" smtClean="0"/>
              <a:t> </a:t>
            </a:r>
            <a:r>
              <a:rPr lang="en-US" err="1" smtClean="0"/>
              <a:t>để</a:t>
            </a:r>
            <a:r>
              <a:rPr lang="en-US" smtClean="0"/>
              <a:t> </a:t>
            </a:r>
            <a:r>
              <a:rPr lang="en-US" err="1" smtClean="0"/>
              <a:t>xóa</a:t>
            </a:r>
            <a:r>
              <a:rPr lang="en-US" smtClean="0"/>
              <a:t> </a:t>
            </a:r>
            <a:r>
              <a:rPr lang="en-US" err="1" smtClean="0"/>
              <a:t>phần</a:t>
            </a:r>
            <a:r>
              <a:rPr lang="en-US" smtClean="0"/>
              <a:t> </a:t>
            </a:r>
            <a:r>
              <a:rPr lang="en-US" err="1" smtClean="0"/>
              <a:t>tử</a:t>
            </a:r>
            <a:r>
              <a:rPr lang="en-US" smtClean="0"/>
              <a:t> </a:t>
            </a:r>
            <a:r>
              <a:rPr lang="en-US" err="1" smtClean="0"/>
              <a:t>mong</a:t>
            </a:r>
            <a:r>
              <a:rPr lang="en-US" smtClean="0"/>
              <a:t> </a:t>
            </a:r>
            <a:r>
              <a:rPr lang="en-US" err="1" smtClean="0"/>
              <a:t>muốn</a:t>
            </a:r>
            <a:endParaRPr lang="en-US" b="1"/>
          </a:p>
        </p:txBody>
      </p:sp>
      <p:sp>
        <p:nvSpPr>
          <p:cNvPr id="25" name="TextBox 24"/>
          <p:cNvSpPr txBox="1"/>
          <p:nvPr/>
        </p:nvSpPr>
        <p:spPr>
          <a:xfrm>
            <a:off x="639997" y="3838234"/>
            <a:ext cx="7834152" cy="369332"/>
          </a:xfrm>
          <a:prstGeom prst="rect">
            <a:avLst/>
          </a:prstGeom>
          <a:noFill/>
        </p:spPr>
        <p:txBody>
          <a:bodyPr wrap="square" rtlCol="0">
            <a:spAutoFit/>
          </a:bodyPr>
          <a:lstStyle/>
          <a:p>
            <a:r>
              <a:rPr lang="en-US" smtClean="0"/>
              <a:t>Xóa một phần tử dựa vào index với phương thức </a:t>
            </a:r>
            <a:r>
              <a:rPr lang="en-US" b="1" smtClean="0"/>
              <a:t>pop(index). </a:t>
            </a:r>
            <a:r>
              <a:rPr lang="en-US" smtClean="0"/>
              <a:t>Mặc định -1</a:t>
            </a:r>
            <a:endParaRPr lang="en-US"/>
          </a:p>
        </p:txBody>
      </p:sp>
      <p:sp>
        <p:nvSpPr>
          <p:cNvPr id="15" name="Rectangle 14"/>
          <p:cNvSpPr/>
          <p:nvPr/>
        </p:nvSpPr>
        <p:spPr>
          <a:xfrm>
            <a:off x="699793" y="4408241"/>
            <a:ext cx="7774356" cy="130023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80547" y="4531533"/>
            <a:ext cx="7402216" cy="923330"/>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err="1" smtClean="0">
                <a:solidFill>
                  <a:schemeClr val="bg1"/>
                </a:solidFill>
              </a:rPr>
              <a:t>mylist.pop</a:t>
            </a:r>
            <a:r>
              <a:rPr lang="en-US" smtClean="0">
                <a:solidFill>
                  <a:schemeClr val="bg1"/>
                </a:solidFill>
              </a:rPr>
              <a:t> </a:t>
            </a:r>
            <a:r>
              <a:rPr lang="en-US" smtClean="0">
                <a:solidFill>
                  <a:schemeClr val="accent4">
                    <a:lumMod val="60000"/>
                    <a:lumOff val="40000"/>
                  </a:schemeClr>
                </a:solidFill>
              </a:rPr>
              <a:t>(</a:t>
            </a:r>
            <a:r>
              <a:rPr lang="en-US">
                <a:solidFill>
                  <a:schemeClr val="accent6">
                    <a:lumMod val="60000"/>
                    <a:lumOff val="40000"/>
                  </a:schemeClr>
                </a:solidFill>
              </a:rPr>
              <a:t>1</a:t>
            </a:r>
            <a:r>
              <a:rPr lang="en-US" smtClean="0">
                <a:solidFill>
                  <a:schemeClr val="accent4">
                    <a:lumMod val="60000"/>
                    <a:lumOff val="40000"/>
                  </a:schemeClr>
                </a:solidFill>
              </a:rPr>
              <a:t>) </a:t>
            </a:r>
            <a:r>
              <a:rPr lang="en-US" smtClean="0">
                <a:solidFill>
                  <a:schemeClr val="accent6">
                    <a:lumMod val="75000"/>
                  </a:schemeClr>
                </a:solidFill>
              </a:rPr>
              <a:t>#</a:t>
            </a:r>
            <a:r>
              <a:rPr lang="en-US" err="1" smtClean="0">
                <a:solidFill>
                  <a:schemeClr val="accent6">
                    <a:lumMod val="75000"/>
                  </a:schemeClr>
                </a:solidFill>
              </a:rPr>
              <a:t>hoặc</a:t>
            </a:r>
            <a:r>
              <a:rPr lang="en-US" smtClean="0">
                <a:solidFill>
                  <a:schemeClr val="accent6">
                    <a:lumMod val="75000"/>
                  </a:schemeClr>
                </a:solidFill>
              </a:rPr>
              <a:t> del </a:t>
            </a:r>
            <a:r>
              <a:rPr lang="en-US" err="1" smtClean="0">
                <a:solidFill>
                  <a:schemeClr val="accent6">
                    <a:lumMod val="75000"/>
                  </a:schemeClr>
                </a:solidFill>
              </a:rPr>
              <a:t>mylist</a:t>
            </a:r>
            <a:r>
              <a:rPr lang="en-US" smtClean="0">
                <a:solidFill>
                  <a:schemeClr val="accent6">
                    <a:lumMod val="75000"/>
                  </a:schemeClr>
                </a:solidFill>
              </a:rPr>
              <a:t>[1]</a:t>
            </a:r>
            <a:endParaRPr lang="en-US">
              <a:solidFill>
                <a:schemeClr val="accent6">
                  <a:lumMod val="75000"/>
                </a:schemeClr>
              </a:solidFill>
            </a:endParaRPr>
          </a:p>
          <a:p>
            <a:r>
              <a:rPr lang="en-US">
                <a:solidFill>
                  <a:schemeClr val="bg1"/>
                </a:solidFill>
              </a:rPr>
              <a:t>print</a:t>
            </a:r>
            <a:r>
              <a:rPr lang="en-US">
                <a:solidFill>
                  <a:schemeClr val="accent4">
                    <a:lumMod val="60000"/>
                    <a:lumOff val="40000"/>
                  </a:schemeClr>
                </a:solidFill>
              </a:rPr>
              <a:t>(</a:t>
            </a:r>
            <a:r>
              <a:rPr lang="en-US" err="1">
                <a:solidFill>
                  <a:schemeClr val="bg1"/>
                </a:solidFill>
              </a:rPr>
              <a:t>mylist</a:t>
            </a:r>
            <a:r>
              <a:rPr lang="en-US">
                <a:solidFill>
                  <a:schemeClr val="accent4">
                    <a:lumMod val="60000"/>
                    <a:lumOff val="40000"/>
                  </a:schemeClr>
                </a:solidFill>
              </a:rPr>
              <a:t>) </a:t>
            </a:r>
            <a:r>
              <a:rPr lang="en-US">
                <a:solidFill>
                  <a:schemeClr val="accent6">
                    <a:lumMod val="75000"/>
                  </a:schemeClr>
                </a:solidFill>
              </a:rPr>
              <a:t>#output: </a:t>
            </a:r>
            <a:r>
              <a:rPr lang="en-US">
                <a:solidFill>
                  <a:srgbClr val="FECC36"/>
                </a:solidFill>
              </a:rPr>
              <a:t>apple, </a:t>
            </a:r>
            <a:r>
              <a:rPr lang="en-US">
                <a:solidFill>
                  <a:srgbClr val="FFC500"/>
                </a:solidFill>
              </a:rPr>
              <a:t>kiwi</a:t>
            </a:r>
            <a:endParaRPr lang="en-US">
              <a:solidFill>
                <a:srgbClr val="FECC36"/>
              </a:solidFill>
            </a:endParaRPr>
          </a:p>
        </p:txBody>
      </p:sp>
      <p:sp>
        <p:nvSpPr>
          <p:cNvPr id="13" name="TextBox 12"/>
          <p:cNvSpPr txBox="1"/>
          <p:nvPr/>
        </p:nvSpPr>
        <p:spPr>
          <a:xfrm>
            <a:off x="639997" y="5911582"/>
            <a:ext cx="7697972" cy="369332"/>
          </a:xfrm>
          <a:prstGeom prst="rect">
            <a:avLst/>
          </a:prstGeom>
          <a:noFill/>
        </p:spPr>
        <p:txBody>
          <a:bodyPr wrap="square" rtlCol="0">
            <a:spAutoFit/>
          </a:bodyPr>
          <a:lstStyle/>
          <a:p>
            <a:r>
              <a:rPr lang="en-US" smtClean="0"/>
              <a:t>Nếu pop() </a:t>
            </a:r>
            <a:r>
              <a:rPr lang="en-US" b="1" smtClean="0"/>
              <a:t>không</a:t>
            </a:r>
            <a:r>
              <a:rPr lang="en-US" smtClean="0"/>
              <a:t> truyền tham số, thì nó xóa phần tử ở cuối List</a:t>
            </a:r>
            <a:endParaRPr lang="en-US" b="1"/>
          </a:p>
        </p:txBody>
      </p:sp>
    </p:spTree>
    <p:extLst>
      <p:ext uri="{BB962C8B-B14F-4D97-AF65-F5344CB8AC3E}">
        <p14:creationId xmlns:p14="http://schemas.microsoft.com/office/powerpoint/2010/main" val="25369508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11</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List</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Xóa</a:t>
            </a:r>
            <a:r>
              <a:rPr lang="en-US" b="1" smtClean="0"/>
              <a:t> </a:t>
            </a:r>
            <a:r>
              <a:rPr lang="en-US" b="1" err="1" smtClean="0"/>
              <a:t>tất</a:t>
            </a:r>
            <a:r>
              <a:rPr lang="en-US" b="1" smtClean="0"/>
              <a:t> </a:t>
            </a:r>
            <a:r>
              <a:rPr lang="en-US" b="1" err="1" smtClean="0"/>
              <a:t>cả</a:t>
            </a:r>
            <a:r>
              <a:rPr lang="en-US" b="1" smtClean="0"/>
              <a:t> </a:t>
            </a:r>
            <a:r>
              <a:rPr lang="en-US" b="1" err="1" smtClean="0"/>
              <a:t>trong</a:t>
            </a:r>
            <a:r>
              <a:rPr lang="en-US" b="1" smtClean="0"/>
              <a:t> List</a:t>
            </a:r>
            <a:endParaRPr lang="en-US" b="1">
              <a:solidFill>
                <a:srgbClr val="FF0000"/>
              </a:solidFill>
            </a:endParaRPr>
          </a:p>
        </p:txBody>
      </p:sp>
      <p:sp>
        <p:nvSpPr>
          <p:cNvPr id="29" name="Rectangle 28"/>
          <p:cNvSpPr/>
          <p:nvPr/>
        </p:nvSpPr>
        <p:spPr>
          <a:xfrm>
            <a:off x="699793" y="2498652"/>
            <a:ext cx="7774356" cy="121370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646331"/>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a:solidFill>
                  <a:schemeClr val="bg1"/>
                </a:solidFill>
              </a:rPr>
              <a:t>d</a:t>
            </a:r>
            <a:r>
              <a:rPr lang="en-US" smtClean="0">
                <a:solidFill>
                  <a:schemeClr val="bg1"/>
                </a:solidFill>
              </a:rPr>
              <a:t>el </a:t>
            </a:r>
            <a:r>
              <a:rPr lang="en-US" err="1" smtClean="0">
                <a:solidFill>
                  <a:schemeClr val="bg1"/>
                </a:solidFill>
              </a:rPr>
              <a:t>mylist</a:t>
            </a:r>
            <a:endParaRPr lang="en-US" sz="1600">
              <a:solidFill>
                <a:srgbClr val="FECC36"/>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Dùng</a:t>
            </a:r>
            <a:r>
              <a:rPr lang="en-US" smtClean="0"/>
              <a:t> </a:t>
            </a:r>
            <a:r>
              <a:rPr lang="en-US" err="1" smtClean="0"/>
              <a:t>lệnh</a:t>
            </a:r>
            <a:r>
              <a:rPr lang="en-US" smtClean="0"/>
              <a:t> </a:t>
            </a:r>
            <a:r>
              <a:rPr lang="en-US" b="1" smtClean="0"/>
              <a:t>del</a:t>
            </a:r>
            <a:r>
              <a:rPr lang="en-US" smtClean="0"/>
              <a:t> </a:t>
            </a:r>
            <a:r>
              <a:rPr lang="en-US" err="1" smtClean="0"/>
              <a:t>để</a:t>
            </a:r>
            <a:r>
              <a:rPr lang="en-US" smtClean="0"/>
              <a:t> </a:t>
            </a:r>
            <a:r>
              <a:rPr lang="en-US" err="1" smtClean="0"/>
              <a:t>xóa</a:t>
            </a:r>
            <a:r>
              <a:rPr lang="en-US" smtClean="0"/>
              <a:t> </a:t>
            </a:r>
            <a:r>
              <a:rPr lang="en-US" err="1" smtClean="0"/>
              <a:t>luôn</a:t>
            </a:r>
            <a:r>
              <a:rPr lang="en-US" smtClean="0"/>
              <a:t> List</a:t>
            </a:r>
            <a:endParaRPr lang="en-US" b="1"/>
          </a:p>
        </p:txBody>
      </p:sp>
      <p:sp>
        <p:nvSpPr>
          <p:cNvPr id="25" name="TextBox 24"/>
          <p:cNvSpPr txBox="1"/>
          <p:nvPr/>
        </p:nvSpPr>
        <p:spPr>
          <a:xfrm>
            <a:off x="639997" y="3838234"/>
            <a:ext cx="7697972" cy="369332"/>
          </a:xfrm>
          <a:prstGeom prst="rect">
            <a:avLst/>
          </a:prstGeom>
          <a:noFill/>
        </p:spPr>
        <p:txBody>
          <a:bodyPr wrap="square" rtlCol="0">
            <a:spAutoFit/>
          </a:bodyPr>
          <a:lstStyle/>
          <a:p>
            <a:r>
              <a:rPr lang="en-US" err="1" smtClean="0"/>
              <a:t>Hoặc</a:t>
            </a:r>
            <a:r>
              <a:rPr lang="en-US" smtClean="0"/>
              <a:t> </a:t>
            </a:r>
            <a:r>
              <a:rPr lang="en-US" err="1" smtClean="0"/>
              <a:t>bạn</a:t>
            </a:r>
            <a:r>
              <a:rPr lang="en-US" smtClean="0"/>
              <a:t> </a:t>
            </a:r>
            <a:r>
              <a:rPr lang="en-US" err="1" smtClean="0"/>
              <a:t>có</a:t>
            </a:r>
            <a:r>
              <a:rPr lang="en-US" smtClean="0"/>
              <a:t> </a:t>
            </a:r>
            <a:r>
              <a:rPr lang="en-US" err="1" smtClean="0"/>
              <a:t>thể</a:t>
            </a:r>
            <a:r>
              <a:rPr lang="en-US" smtClean="0"/>
              <a:t> </a:t>
            </a:r>
            <a:r>
              <a:rPr lang="en-US" err="1" smtClean="0"/>
              <a:t>xóa</a:t>
            </a:r>
            <a:r>
              <a:rPr lang="en-US" smtClean="0"/>
              <a:t> </a:t>
            </a:r>
            <a:r>
              <a:rPr lang="en-US" err="1" smtClean="0"/>
              <a:t>tất</a:t>
            </a:r>
            <a:r>
              <a:rPr lang="en-US" smtClean="0"/>
              <a:t> </a:t>
            </a:r>
            <a:r>
              <a:rPr lang="en-US" err="1" smtClean="0"/>
              <a:t>cả</a:t>
            </a:r>
            <a:r>
              <a:rPr lang="en-US" smtClean="0"/>
              <a:t> </a:t>
            </a:r>
            <a:r>
              <a:rPr lang="en-US" err="1" smtClean="0"/>
              <a:t>phần</a:t>
            </a:r>
            <a:r>
              <a:rPr lang="en-US" smtClean="0"/>
              <a:t> </a:t>
            </a:r>
            <a:r>
              <a:rPr lang="en-US" err="1" smtClean="0"/>
              <a:t>tử</a:t>
            </a:r>
            <a:r>
              <a:rPr lang="en-US" smtClean="0"/>
              <a:t> </a:t>
            </a:r>
            <a:r>
              <a:rPr lang="en-US" err="1" smtClean="0"/>
              <a:t>trong</a:t>
            </a:r>
            <a:r>
              <a:rPr lang="en-US" smtClean="0"/>
              <a:t> List, </a:t>
            </a:r>
            <a:r>
              <a:rPr lang="en-US" err="1" smtClean="0"/>
              <a:t>còn</a:t>
            </a:r>
            <a:r>
              <a:rPr lang="en-US" smtClean="0"/>
              <a:t> </a:t>
            </a:r>
            <a:r>
              <a:rPr lang="en-US" err="1" smtClean="0"/>
              <a:t>lại</a:t>
            </a:r>
            <a:r>
              <a:rPr lang="en-US" smtClean="0"/>
              <a:t> list </a:t>
            </a:r>
            <a:r>
              <a:rPr lang="en-US" err="1" smtClean="0"/>
              <a:t>Rỗng</a:t>
            </a:r>
            <a:r>
              <a:rPr lang="en-US" smtClean="0"/>
              <a:t> </a:t>
            </a:r>
            <a:r>
              <a:rPr lang="en-US" err="1" smtClean="0"/>
              <a:t>với</a:t>
            </a:r>
            <a:r>
              <a:rPr lang="en-US" smtClean="0"/>
              <a:t> </a:t>
            </a:r>
            <a:r>
              <a:rPr lang="en-US" b="1" smtClean="0"/>
              <a:t>clear()</a:t>
            </a:r>
            <a:endParaRPr lang="en-US" b="1"/>
          </a:p>
        </p:txBody>
      </p:sp>
      <p:sp>
        <p:nvSpPr>
          <p:cNvPr id="15" name="Rectangle 14"/>
          <p:cNvSpPr/>
          <p:nvPr/>
        </p:nvSpPr>
        <p:spPr>
          <a:xfrm>
            <a:off x="699793" y="4408241"/>
            <a:ext cx="7774356" cy="130023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80547" y="4531533"/>
            <a:ext cx="7402216" cy="923330"/>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err="1" smtClean="0">
                <a:solidFill>
                  <a:schemeClr val="bg1"/>
                </a:solidFill>
              </a:rPr>
              <a:t>mylist.clear</a:t>
            </a:r>
            <a:r>
              <a:rPr lang="en-US" smtClean="0">
                <a:solidFill>
                  <a:schemeClr val="bg1"/>
                </a:solidFill>
              </a:rPr>
              <a:t> </a:t>
            </a:r>
            <a:r>
              <a:rPr lang="en-US" smtClean="0">
                <a:solidFill>
                  <a:schemeClr val="accent4">
                    <a:lumMod val="60000"/>
                    <a:lumOff val="40000"/>
                  </a:schemeClr>
                </a:solidFill>
              </a:rPr>
              <a:t>() </a:t>
            </a:r>
          </a:p>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mylist</a:t>
            </a:r>
            <a:r>
              <a:rPr lang="en-US">
                <a:solidFill>
                  <a:schemeClr val="accent4">
                    <a:lumMod val="60000"/>
                    <a:lumOff val="40000"/>
                  </a:schemeClr>
                </a:solidFill>
              </a:rPr>
              <a:t>) </a:t>
            </a:r>
            <a:r>
              <a:rPr lang="en-US">
                <a:solidFill>
                  <a:schemeClr val="accent6">
                    <a:lumMod val="75000"/>
                  </a:schemeClr>
                </a:solidFill>
              </a:rPr>
              <a:t>#output: </a:t>
            </a:r>
            <a:r>
              <a:rPr lang="en-US" smtClean="0">
                <a:solidFill>
                  <a:srgbClr val="FECC36"/>
                </a:solidFill>
              </a:rPr>
              <a:t>[] </a:t>
            </a:r>
            <a:r>
              <a:rPr lang="en-US" err="1" smtClean="0">
                <a:solidFill>
                  <a:srgbClr val="FECC36"/>
                </a:solidFill>
              </a:rPr>
              <a:t>một</a:t>
            </a:r>
            <a:r>
              <a:rPr lang="en-US" smtClean="0">
                <a:solidFill>
                  <a:srgbClr val="FECC36"/>
                </a:solidFill>
              </a:rPr>
              <a:t> List </a:t>
            </a:r>
            <a:r>
              <a:rPr lang="en-US" err="1" smtClean="0">
                <a:solidFill>
                  <a:srgbClr val="FECC36"/>
                </a:solidFill>
              </a:rPr>
              <a:t>rỗng</a:t>
            </a:r>
            <a:endParaRPr lang="en-US">
              <a:solidFill>
                <a:srgbClr val="FECC36"/>
              </a:solidFill>
            </a:endParaRPr>
          </a:p>
        </p:txBody>
      </p:sp>
    </p:spTree>
    <p:extLst>
      <p:ext uri="{BB962C8B-B14F-4D97-AF65-F5344CB8AC3E}">
        <p14:creationId xmlns:p14="http://schemas.microsoft.com/office/powerpoint/2010/main" val="34834648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12</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List</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Lặp</a:t>
            </a:r>
            <a:r>
              <a:rPr lang="en-US" b="1" smtClean="0"/>
              <a:t> </a:t>
            </a:r>
            <a:r>
              <a:rPr lang="en-US" b="1" err="1" smtClean="0"/>
              <a:t>các</a:t>
            </a:r>
            <a:r>
              <a:rPr lang="en-US" b="1" smtClean="0"/>
              <a:t> </a:t>
            </a:r>
            <a:r>
              <a:rPr lang="en-US" b="1" err="1" smtClean="0"/>
              <a:t>phần</a:t>
            </a:r>
            <a:r>
              <a:rPr lang="en-US" b="1" smtClean="0"/>
              <a:t> </a:t>
            </a:r>
            <a:r>
              <a:rPr lang="en-US" b="1" err="1" smtClean="0"/>
              <a:t>tử</a:t>
            </a:r>
            <a:r>
              <a:rPr lang="en-US" b="1" smtClean="0"/>
              <a:t> </a:t>
            </a:r>
            <a:r>
              <a:rPr lang="en-US" b="1" err="1" smtClean="0"/>
              <a:t>của</a:t>
            </a:r>
            <a:r>
              <a:rPr lang="en-US" b="1" smtClean="0"/>
              <a:t> List </a:t>
            </a:r>
            <a:r>
              <a:rPr lang="en-US" b="1" err="1" smtClean="0"/>
              <a:t>với</a:t>
            </a:r>
            <a:r>
              <a:rPr lang="en-US" b="1" smtClean="0"/>
              <a:t> for</a:t>
            </a:r>
            <a:endParaRPr lang="en-US" b="1">
              <a:solidFill>
                <a:srgbClr val="FF0000"/>
              </a:solidFill>
            </a:endParaRPr>
          </a:p>
        </p:txBody>
      </p:sp>
      <p:sp>
        <p:nvSpPr>
          <p:cNvPr id="29" name="Rectangle 28"/>
          <p:cNvSpPr/>
          <p:nvPr/>
        </p:nvSpPr>
        <p:spPr>
          <a:xfrm>
            <a:off x="699793" y="2498652"/>
            <a:ext cx="7774356" cy="121370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923330"/>
          </a:xfrm>
          <a:prstGeom prst="rect">
            <a:avLst/>
          </a:prstGeom>
          <a:noFill/>
        </p:spPr>
        <p:txBody>
          <a:bodyPr wrap="square" rtlCol="0">
            <a:spAutoFit/>
          </a:bodyPr>
          <a:lstStyle/>
          <a:p>
            <a:r>
              <a:rPr lang="en-US" err="1">
                <a:solidFill>
                  <a:schemeClr val="bg1"/>
                </a:solidFill>
              </a:rPr>
              <a:t>mylist</a:t>
            </a:r>
            <a:r>
              <a:rPr lang="en-US">
                <a:solidFill>
                  <a:schemeClr val="bg1"/>
                </a:solidFill>
              </a:rPr>
              <a:t> = </a:t>
            </a:r>
            <a:r>
              <a:rPr lang="en-US">
                <a:solidFill>
                  <a:schemeClr val="accent4">
                    <a:lumMod val="60000"/>
                    <a:lumOff val="40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a:t>
            </a:r>
            <a:r>
              <a:rPr lang="en-US">
                <a:solidFill>
                  <a:schemeClr val="accent2">
                    <a:lumMod val="75000"/>
                  </a:schemeClr>
                </a:solidFill>
              </a:rPr>
              <a:t>kiwi</a:t>
            </a:r>
            <a:r>
              <a:rPr lang="en-US" smtClean="0">
                <a:solidFill>
                  <a:schemeClr val="accent2">
                    <a:lumMod val="75000"/>
                  </a:schemeClr>
                </a:solidFill>
              </a:rPr>
              <a:t>"</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a:solidFill>
                  <a:srgbClr val="00B0F0"/>
                </a:solidFill>
              </a:rPr>
              <a:t>for</a:t>
            </a:r>
            <a:r>
              <a:rPr lang="en-US">
                <a:solidFill>
                  <a:schemeClr val="bg1"/>
                </a:solidFill>
              </a:rPr>
              <a:t> x </a:t>
            </a:r>
            <a:r>
              <a:rPr lang="en-US">
                <a:solidFill>
                  <a:srgbClr val="00B0F0"/>
                </a:solidFill>
              </a:rPr>
              <a:t>in</a:t>
            </a:r>
            <a:r>
              <a:rPr lang="en-US">
                <a:solidFill>
                  <a:schemeClr val="bg1"/>
                </a:solidFill>
              </a:rPr>
              <a:t> </a:t>
            </a:r>
            <a:r>
              <a:rPr lang="en-US" err="1" smtClean="0">
                <a:solidFill>
                  <a:schemeClr val="bg1"/>
                </a:solidFill>
              </a:rPr>
              <a:t>mylist</a:t>
            </a:r>
            <a:r>
              <a:rPr lang="en-US">
                <a:solidFill>
                  <a:schemeClr val="bg1"/>
                </a:solidFill>
              </a:rPr>
              <a:t>:</a:t>
            </a:r>
            <a:br>
              <a:rPr lang="en-US">
                <a:solidFill>
                  <a:schemeClr val="bg1"/>
                </a:solidFill>
              </a:rPr>
            </a:br>
            <a:r>
              <a:rPr lang="en-US">
                <a:solidFill>
                  <a:schemeClr val="bg1"/>
                </a:solidFill>
              </a:rPr>
              <a:t>  </a:t>
            </a:r>
            <a:r>
              <a:rPr lang="en-US" smtClean="0">
                <a:solidFill>
                  <a:schemeClr val="bg1"/>
                </a:solidFill>
              </a:rPr>
              <a:t>   print</a:t>
            </a:r>
            <a:r>
              <a:rPr lang="en-US" smtClean="0">
                <a:solidFill>
                  <a:schemeClr val="accent4">
                    <a:lumMod val="60000"/>
                    <a:lumOff val="40000"/>
                  </a:schemeClr>
                </a:solidFill>
              </a:rPr>
              <a:t>(</a:t>
            </a:r>
            <a:r>
              <a:rPr lang="en-US" smtClean="0">
                <a:solidFill>
                  <a:schemeClr val="bg1"/>
                </a:solidFill>
              </a:rPr>
              <a:t>x</a:t>
            </a:r>
            <a:r>
              <a:rPr lang="en-US">
                <a:solidFill>
                  <a:schemeClr val="accent4">
                    <a:lumMod val="60000"/>
                    <a:lumOff val="40000"/>
                  </a:schemeClr>
                </a:solidFill>
              </a:rPr>
              <a:t>)</a:t>
            </a:r>
            <a:endParaRPr lang="en-US" sz="1600">
              <a:solidFill>
                <a:schemeClr val="accent4">
                  <a:lumMod val="60000"/>
                  <a:lumOff val="40000"/>
                </a:schemeClr>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Dùng</a:t>
            </a:r>
            <a:r>
              <a:rPr lang="en-US" smtClean="0"/>
              <a:t> </a:t>
            </a:r>
            <a:r>
              <a:rPr lang="en-US" err="1" smtClean="0"/>
              <a:t>lệnh</a:t>
            </a:r>
            <a:r>
              <a:rPr lang="en-US" smtClean="0"/>
              <a:t> </a:t>
            </a:r>
            <a:r>
              <a:rPr lang="en-US" b="1" smtClean="0"/>
              <a:t>for </a:t>
            </a:r>
            <a:r>
              <a:rPr lang="en-US" err="1" smtClean="0"/>
              <a:t>đã</a:t>
            </a:r>
            <a:r>
              <a:rPr lang="en-US" smtClean="0"/>
              <a:t> </a:t>
            </a:r>
            <a:r>
              <a:rPr lang="en-US" err="1" smtClean="0"/>
              <a:t>học</a:t>
            </a:r>
            <a:r>
              <a:rPr lang="en-US" smtClean="0"/>
              <a:t> </a:t>
            </a:r>
            <a:r>
              <a:rPr lang="en-US" err="1" smtClean="0"/>
              <a:t>bài</a:t>
            </a:r>
            <a:r>
              <a:rPr lang="en-US" smtClean="0"/>
              <a:t> </a:t>
            </a:r>
            <a:r>
              <a:rPr lang="en-US" err="1" smtClean="0"/>
              <a:t>trước</a:t>
            </a:r>
            <a:r>
              <a:rPr lang="en-US" smtClean="0"/>
              <a:t> </a:t>
            </a:r>
            <a:r>
              <a:rPr lang="en-US" err="1" smtClean="0"/>
              <a:t>để</a:t>
            </a:r>
            <a:r>
              <a:rPr lang="en-US" smtClean="0"/>
              <a:t> </a:t>
            </a:r>
            <a:r>
              <a:rPr lang="en-US" err="1" smtClean="0"/>
              <a:t>lặp</a:t>
            </a:r>
            <a:r>
              <a:rPr lang="en-US" smtClean="0"/>
              <a:t> qua </a:t>
            </a:r>
            <a:r>
              <a:rPr lang="en-US" err="1" smtClean="0"/>
              <a:t>các</a:t>
            </a:r>
            <a:r>
              <a:rPr lang="en-US" smtClean="0"/>
              <a:t> </a:t>
            </a:r>
            <a:r>
              <a:rPr lang="en-US" err="1" smtClean="0"/>
              <a:t>phần</a:t>
            </a:r>
            <a:r>
              <a:rPr lang="en-US" smtClean="0"/>
              <a:t> </a:t>
            </a:r>
            <a:r>
              <a:rPr lang="en-US" err="1" smtClean="0"/>
              <a:t>tử</a:t>
            </a:r>
            <a:r>
              <a:rPr lang="en-US" smtClean="0"/>
              <a:t> </a:t>
            </a:r>
            <a:r>
              <a:rPr lang="en-US" err="1" smtClean="0"/>
              <a:t>của</a:t>
            </a:r>
            <a:r>
              <a:rPr lang="en-US" smtClean="0"/>
              <a:t> List</a:t>
            </a:r>
            <a:endParaRPr lang="en-US" b="1"/>
          </a:p>
        </p:txBody>
      </p:sp>
      <p:sp>
        <p:nvSpPr>
          <p:cNvPr id="25" name="TextBox 24"/>
          <p:cNvSpPr txBox="1"/>
          <p:nvPr/>
        </p:nvSpPr>
        <p:spPr>
          <a:xfrm>
            <a:off x="639997" y="3770666"/>
            <a:ext cx="7697972" cy="369332"/>
          </a:xfrm>
          <a:prstGeom prst="rect">
            <a:avLst/>
          </a:prstGeom>
          <a:noFill/>
        </p:spPr>
        <p:txBody>
          <a:bodyPr wrap="square" rtlCol="0">
            <a:spAutoFit/>
          </a:bodyPr>
          <a:lstStyle/>
          <a:p>
            <a:r>
              <a:rPr lang="en-US" err="1" smtClean="0"/>
              <a:t>Hoặc</a:t>
            </a:r>
            <a:r>
              <a:rPr lang="en-US" smtClean="0"/>
              <a:t> </a:t>
            </a:r>
            <a:r>
              <a:rPr lang="en-US" err="1" smtClean="0"/>
              <a:t>cú</a:t>
            </a:r>
            <a:r>
              <a:rPr lang="en-US" smtClean="0"/>
              <a:t> </a:t>
            </a:r>
            <a:r>
              <a:rPr lang="en-US" err="1" smtClean="0"/>
              <a:t>pháp</a:t>
            </a:r>
            <a:r>
              <a:rPr lang="en-US" smtClean="0"/>
              <a:t> </a:t>
            </a:r>
            <a:r>
              <a:rPr lang="en-US" err="1" smtClean="0"/>
              <a:t>ngắn</a:t>
            </a:r>
            <a:r>
              <a:rPr lang="en-US" smtClean="0"/>
              <a:t> (short hand)</a:t>
            </a:r>
            <a:endParaRPr lang="en-US" b="1"/>
          </a:p>
        </p:txBody>
      </p:sp>
      <p:sp>
        <p:nvSpPr>
          <p:cNvPr id="15" name="Rectangle 14"/>
          <p:cNvSpPr/>
          <p:nvPr/>
        </p:nvSpPr>
        <p:spPr>
          <a:xfrm>
            <a:off x="699793" y="4238039"/>
            <a:ext cx="7774356" cy="65285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80547" y="4361331"/>
            <a:ext cx="7402216" cy="369332"/>
          </a:xfrm>
          <a:prstGeom prst="rect">
            <a:avLst/>
          </a:prstGeom>
          <a:noFill/>
        </p:spPr>
        <p:txBody>
          <a:bodyPr wrap="square" rtlCol="0">
            <a:spAutoFit/>
          </a:bodyPr>
          <a:lstStyle/>
          <a:p>
            <a:r>
              <a:rPr lang="en-US">
                <a:solidFill>
                  <a:schemeClr val="accent4">
                    <a:lumMod val="60000"/>
                    <a:lumOff val="40000"/>
                  </a:schemeClr>
                </a:solidFill>
              </a:rPr>
              <a:t>[</a:t>
            </a:r>
            <a:r>
              <a:rPr lang="en-US">
                <a:solidFill>
                  <a:schemeClr val="bg1"/>
                </a:solidFill>
              </a:rPr>
              <a:t>print</a:t>
            </a:r>
            <a:r>
              <a:rPr lang="en-US">
                <a:solidFill>
                  <a:srgbClr val="FF66CC"/>
                </a:solidFill>
              </a:rPr>
              <a:t>(</a:t>
            </a:r>
            <a:r>
              <a:rPr lang="en-US">
                <a:solidFill>
                  <a:schemeClr val="bg1"/>
                </a:solidFill>
              </a:rPr>
              <a:t>x</a:t>
            </a:r>
            <a:r>
              <a:rPr lang="en-US">
                <a:solidFill>
                  <a:srgbClr val="FF66CC"/>
                </a:solidFill>
              </a:rPr>
              <a:t>)</a:t>
            </a:r>
            <a:r>
              <a:rPr lang="en-US">
                <a:solidFill>
                  <a:schemeClr val="bg1"/>
                </a:solidFill>
              </a:rPr>
              <a:t> </a:t>
            </a:r>
            <a:r>
              <a:rPr lang="en-US">
                <a:solidFill>
                  <a:srgbClr val="00B0F0"/>
                </a:solidFill>
              </a:rPr>
              <a:t>for</a:t>
            </a:r>
            <a:r>
              <a:rPr lang="en-US">
                <a:solidFill>
                  <a:schemeClr val="bg1"/>
                </a:solidFill>
              </a:rPr>
              <a:t> x </a:t>
            </a:r>
            <a:r>
              <a:rPr lang="en-US">
                <a:solidFill>
                  <a:srgbClr val="00B0F0"/>
                </a:solidFill>
              </a:rPr>
              <a:t>in</a:t>
            </a:r>
            <a:r>
              <a:rPr lang="en-US">
                <a:solidFill>
                  <a:schemeClr val="bg1"/>
                </a:solidFill>
              </a:rPr>
              <a:t> </a:t>
            </a:r>
            <a:r>
              <a:rPr lang="en-US" err="1" smtClean="0">
                <a:solidFill>
                  <a:schemeClr val="bg1"/>
                </a:solidFill>
              </a:rPr>
              <a:t>mylist</a:t>
            </a:r>
            <a:r>
              <a:rPr lang="en-US" smtClean="0">
                <a:solidFill>
                  <a:schemeClr val="accent4">
                    <a:lumMod val="60000"/>
                    <a:lumOff val="40000"/>
                  </a:schemeClr>
                </a:solidFill>
              </a:rPr>
              <a:t>]</a:t>
            </a:r>
            <a:endParaRPr lang="en-US">
              <a:solidFill>
                <a:schemeClr val="accent4">
                  <a:lumMod val="60000"/>
                  <a:lumOff val="40000"/>
                </a:schemeClr>
              </a:solidFill>
            </a:endParaRPr>
          </a:p>
        </p:txBody>
      </p:sp>
      <p:sp>
        <p:nvSpPr>
          <p:cNvPr id="12" name="TextBox 11"/>
          <p:cNvSpPr txBox="1"/>
          <p:nvPr/>
        </p:nvSpPr>
        <p:spPr>
          <a:xfrm>
            <a:off x="639997" y="4993410"/>
            <a:ext cx="7697972" cy="369332"/>
          </a:xfrm>
          <a:prstGeom prst="rect">
            <a:avLst/>
          </a:prstGeom>
          <a:noFill/>
        </p:spPr>
        <p:txBody>
          <a:bodyPr wrap="square" rtlCol="0">
            <a:spAutoFit/>
          </a:bodyPr>
          <a:lstStyle/>
          <a:p>
            <a:r>
              <a:rPr lang="en-US" err="1" smtClean="0"/>
              <a:t>Lặp</a:t>
            </a:r>
            <a:r>
              <a:rPr lang="en-US" smtClean="0"/>
              <a:t> qua </a:t>
            </a:r>
            <a:r>
              <a:rPr lang="en-US" err="1" smtClean="0"/>
              <a:t>và</a:t>
            </a:r>
            <a:r>
              <a:rPr lang="en-US" smtClean="0"/>
              <a:t> in </a:t>
            </a:r>
            <a:r>
              <a:rPr lang="en-US" err="1" smtClean="0"/>
              <a:t>ra</a:t>
            </a:r>
            <a:r>
              <a:rPr lang="en-US" smtClean="0"/>
              <a:t> </a:t>
            </a:r>
            <a:r>
              <a:rPr lang="en-US" err="1" smtClean="0"/>
              <a:t>vị</a:t>
            </a:r>
            <a:r>
              <a:rPr lang="en-US" smtClean="0"/>
              <a:t> </a:t>
            </a:r>
            <a:r>
              <a:rPr lang="en-US" err="1" smtClean="0"/>
              <a:t>trí</a:t>
            </a:r>
            <a:r>
              <a:rPr lang="en-US" smtClean="0"/>
              <a:t> index </a:t>
            </a:r>
            <a:r>
              <a:rPr lang="en-US" err="1" smtClean="0"/>
              <a:t>của</a:t>
            </a:r>
            <a:r>
              <a:rPr lang="en-US" smtClean="0"/>
              <a:t> </a:t>
            </a:r>
            <a:r>
              <a:rPr lang="en-US" err="1" smtClean="0"/>
              <a:t>phần</a:t>
            </a:r>
            <a:r>
              <a:rPr lang="en-US" smtClean="0"/>
              <a:t> </a:t>
            </a:r>
            <a:r>
              <a:rPr lang="en-US" err="1" smtClean="0"/>
              <a:t>tử</a:t>
            </a:r>
            <a:r>
              <a:rPr lang="en-US" smtClean="0"/>
              <a:t> </a:t>
            </a:r>
            <a:r>
              <a:rPr lang="en-US" err="1" smtClean="0"/>
              <a:t>trong</a:t>
            </a:r>
            <a:r>
              <a:rPr lang="en-US"/>
              <a:t> </a:t>
            </a:r>
            <a:r>
              <a:rPr lang="en-US" smtClean="0"/>
              <a:t>List</a:t>
            </a:r>
            <a:endParaRPr lang="en-US" b="1"/>
          </a:p>
        </p:txBody>
      </p:sp>
      <p:sp>
        <p:nvSpPr>
          <p:cNvPr id="13" name="Rectangle 12"/>
          <p:cNvSpPr/>
          <p:nvPr/>
        </p:nvSpPr>
        <p:spPr>
          <a:xfrm>
            <a:off x="699793" y="5418253"/>
            <a:ext cx="7774356" cy="106996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880547" y="5541545"/>
            <a:ext cx="7402216" cy="646331"/>
          </a:xfrm>
          <a:prstGeom prst="rect">
            <a:avLst/>
          </a:prstGeom>
          <a:noFill/>
        </p:spPr>
        <p:txBody>
          <a:bodyPr wrap="square" rtlCol="0">
            <a:spAutoFit/>
          </a:bodyPr>
          <a:lstStyle/>
          <a:p>
            <a:r>
              <a:rPr lang="en-US">
                <a:solidFill>
                  <a:srgbClr val="00B0F0"/>
                </a:solidFill>
              </a:rPr>
              <a:t>for</a:t>
            </a:r>
            <a:r>
              <a:rPr lang="en-US">
                <a:solidFill>
                  <a:schemeClr val="bg1"/>
                </a:solidFill>
              </a:rPr>
              <a:t> </a:t>
            </a:r>
            <a:r>
              <a:rPr lang="en-US" err="1" smtClean="0">
                <a:solidFill>
                  <a:schemeClr val="bg1"/>
                </a:solidFill>
              </a:rPr>
              <a:t>i</a:t>
            </a:r>
            <a:r>
              <a:rPr lang="en-US">
                <a:solidFill>
                  <a:schemeClr val="bg1"/>
                </a:solidFill>
              </a:rPr>
              <a:t> </a:t>
            </a:r>
            <a:r>
              <a:rPr lang="en-US">
                <a:solidFill>
                  <a:srgbClr val="00B0F0"/>
                </a:solidFill>
              </a:rPr>
              <a:t>in</a:t>
            </a:r>
            <a:r>
              <a:rPr lang="en-US">
                <a:solidFill>
                  <a:schemeClr val="bg1"/>
                </a:solidFill>
              </a:rPr>
              <a:t> </a:t>
            </a:r>
            <a:r>
              <a:rPr lang="en-US" smtClean="0">
                <a:solidFill>
                  <a:schemeClr val="bg1"/>
                </a:solidFill>
              </a:rPr>
              <a:t>range</a:t>
            </a:r>
            <a:r>
              <a:rPr lang="en-US" smtClean="0">
                <a:solidFill>
                  <a:schemeClr val="accent4">
                    <a:lumMod val="60000"/>
                    <a:lumOff val="40000"/>
                  </a:schemeClr>
                </a:solidFill>
              </a:rPr>
              <a:t>(</a:t>
            </a:r>
            <a:r>
              <a:rPr lang="en-US" err="1" smtClean="0">
                <a:solidFill>
                  <a:srgbClr val="00B0F0"/>
                </a:solidFill>
              </a:rPr>
              <a:t>len</a:t>
            </a:r>
            <a:r>
              <a:rPr lang="en-US" smtClean="0">
                <a:solidFill>
                  <a:srgbClr val="FF66CC"/>
                </a:solidFill>
              </a:rPr>
              <a:t>(</a:t>
            </a:r>
            <a:r>
              <a:rPr lang="en-US" err="1" smtClean="0">
                <a:solidFill>
                  <a:schemeClr val="bg1"/>
                </a:solidFill>
              </a:rPr>
              <a:t>mylist</a:t>
            </a:r>
            <a:r>
              <a:rPr lang="en-US" smtClean="0">
                <a:solidFill>
                  <a:srgbClr val="FF66CC"/>
                </a:solidFill>
              </a:rPr>
              <a:t>)</a:t>
            </a:r>
            <a:r>
              <a:rPr lang="en-US" smtClean="0">
                <a:solidFill>
                  <a:schemeClr val="accent4">
                    <a:lumMod val="60000"/>
                    <a:lumOff val="40000"/>
                  </a:schemeClr>
                </a:solidFill>
              </a:rPr>
              <a:t>)</a:t>
            </a:r>
            <a:r>
              <a:rPr lang="en-US" smtClean="0">
                <a:solidFill>
                  <a:schemeClr val="bg1"/>
                </a:solidFill>
              </a:rPr>
              <a:t>:</a:t>
            </a:r>
            <a:r>
              <a:rPr lang="en-US">
                <a:solidFill>
                  <a:schemeClr val="bg1"/>
                </a:solidFill>
              </a:rPr>
              <a:t/>
            </a:r>
            <a:br>
              <a:rPr lang="en-US">
                <a:solidFill>
                  <a:schemeClr val="bg1"/>
                </a:solidFill>
              </a:rPr>
            </a:br>
            <a:r>
              <a:rPr lang="en-US">
                <a:solidFill>
                  <a:schemeClr val="bg1"/>
                </a:solidFill>
              </a:rPr>
              <a:t>     </a:t>
            </a:r>
            <a:r>
              <a:rPr lang="en-US" smtClean="0">
                <a:solidFill>
                  <a:schemeClr val="bg1"/>
                </a:solidFill>
              </a:rPr>
              <a:t>print</a:t>
            </a:r>
            <a:r>
              <a:rPr lang="en-US" smtClean="0">
                <a:solidFill>
                  <a:schemeClr val="accent4">
                    <a:lumMod val="60000"/>
                    <a:lumOff val="40000"/>
                  </a:schemeClr>
                </a:solidFill>
              </a:rPr>
              <a:t>(</a:t>
            </a:r>
            <a:r>
              <a:rPr lang="en-US" smtClean="0">
                <a:solidFill>
                  <a:schemeClr val="bg1"/>
                </a:solidFill>
              </a:rPr>
              <a:t>i</a:t>
            </a:r>
            <a:r>
              <a:rPr lang="en-US" smtClean="0">
                <a:solidFill>
                  <a:schemeClr val="accent4">
                    <a:lumMod val="60000"/>
                    <a:lumOff val="40000"/>
                  </a:schemeClr>
                </a:solidFill>
              </a:rPr>
              <a:t>)</a:t>
            </a:r>
            <a:endParaRPr lang="en-US" sz="1600">
              <a:solidFill>
                <a:schemeClr val="accent4">
                  <a:lumMod val="60000"/>
                  <a:lumOff val="40000"/>
                </a:schemeClr>
              </a:solidFill>
            </a:endParaRPr>
          </a:p>
        </p:txBody>
      </p:sp>
    </p:spTree>
    <p:extLst>
      <p:ext uri="{BB962C8B-B14F-4D97-AF65-F5344CB8AC3E}">
        <p14:creationId xmlns:p14="http://schemas.microsoft.com/office/powerpoint/2010/main" val="37176604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List</a:t>
            </a:r>
          </a:p>
        </p:txBody>
      </p:sp>
      <p:graphicFrame>
        <p:nvGraphicFramePr>
          <p:cNvPr id="4" name="Table 3"/>
          <p:cNvGraphicFramePr>
            <a:graphicFrameLocks noGrp="1"/>
          </p:cNvGraphicFramePr>
          <p:nvPr>
            <p:extLst>
              <p:ext uri="{D42A27DB-BD31-4B8C-83A1-F6EECF244321}">
                <p14:modId xmlns:p14="http://schemas.microsoft.com/office/powerpoint/2010/main" val="2235609279"/>
              </p:ext>
            </p:extLst>
          </p:nvPr>
        </p:nvGraphicFramePr>
        <p:xfrm>
          <a:off x="301925" y="1439582"/>
          <a:ext cx="8454964" cy="4079240"/>
        </p:xfrm>
        <a:graphic>
          <a:graphicData uri="http://schemas.openxmlformats.org/drawingml/2006/table">
            <a:tbl>
              <a:tblPr firstRow="1" bandRow="1">
                <a:tableStyleId>{5C22544A-7EE6-4342-B048-85BDC9FD1C3A}</a:tableStyleId>
              </a:tblPr>
              <a:tblGrid>
                <a:gridCol w="3448440">
                  <a:extLst>
                    <a:ext uri="{9D8B030D-6E8A-4147-A177-3AD203B41FA5}">
                      <a16:colId xmlns="" xmlns:a16="http://schemas.microsoft.com/office/drawing/2014/main" val="806692863"/>
                    </a:ext>
                  </a:extLst>
                </a:gridCol>
                <a:gridCol w="5006524">
                  <a:extLst>
                    <a:ext uri="{9D8B030D-6E8A-4147-A177-3AD203B41FA5}">
                      <a16:colId xmlns="" xmlns:a16="http://schemas.microsoft.com/office/drawing/2014/main" val="2744980085"/>
                    </a:ext>
                  </a:extLst>
                </a:gridCol>
              </a:tblGrid>
              <a:tr h="370840">
                <a:tc>
                  <a:txBody>
                    <a:bodyPr/>
                    <a:lstStyle/>
                    <a:p>
                      <a:pPr algn="l" latinLnBrk="0"/>
                      <a:r>
                        <a:rPr lang="vi-VN" sz="1600">
                          <a:effectLst/>
                        </a:rPr>
                        <a:t>Phương thức</a:t>
                      </a:r>
                    </a:p>
                  </a:txBody>
                  <a:tcPr anchor="ctr"/>
                </a:tc>
                <a:tc>
                  <a:txBody>
                    <a:bodyPr/>
                    <a:lstStyle/>
                    <a:p>
                      <a:pPr algn="l" latinLnBrk="0"/>
                      <a:r>
                        <a:rPr lang="en-US" sz="1600">
                          <a:effectLst/>
                        </a:rPr>
                        <a:t>Mô tả</a:t>
                      </a:r>
                    </a:p>
                  </a:txBody>
                  <a:tcPr anchor="ctr"/>
                </a:tc>
                <a:extLst>
                  <a:ext uri="{0D108BD9-81ED-4DB2-BD59-A6C34878D82A}">
                    <a16:rowId xmlns="" xmlns:a16="http://schemas.microsoft.com/office/drawing/2014/main" val="3225416477"/>
                  </a:ext>
                </a:extLst>
              </a:tr>
              <a:tr h="370840">
                <a:tc>
                  <a:txBody>
                    <a:bodyPr/>
                    <a:lstStyle/>
                    <a:p>
                      <a:pPr latinLnBrk="0"/>
                      <a:r>
                        <a:rPr lang="en-US" sz="1600">
                          <a:effectLst/>
                        </a:rPr>
                        <a:t>list.append(element)</a:t>
                      </a:r>
                    </a:p>
                  </a:txBody>
                  <a:tcPr anchor="ctr"/>
                </a:tc>
                <a:tc>
                  <a:txBody>
                    <a:bodyPr/>
                    <a:lstStyle/>
                    <a:p>
                      <a:pPr latinLnBrk="0"/>
                      <a:r>
                        <a:rPr lang="en-US" sz="1600">
                          <a:effectLst/>
                        </a:rPr>
                        <a:t>Thêm phần tử vào cuối List</a:t>
                      </a:r>
                    </a:p>
                  </a:txBody>
                  <a:tcPr anchor="ctr"/>
                </a:tc>
                <a:extLst>
                  <a:ext uri="{0D108BD9-81ED-4DB2-BD59-A6C34878D82A}">
                    <a16:rowId xmlns="" xmlns:a16="http://schemas.microsoft.com/office/drawing/2014/main" val="3390659960"/>
                  </a:ext>
                </a:extLst>
              </a:tr>
              <a:tr h="370840">
                <a:tc>
                  <a:txBody>
                    <a:bodyPr/>
                    <a:lstStyle/>
                    <a:p>
                      <a:pPr latinLnBrk="0"/>
                      <a:r>
                        <a:rPr lang="en-US" sz="1600">
                          <a:effectLst/>
                        </a:rPr>
                        <a:t>list.clear()</a:t>
                      </a:r>
                    </a:p>
                  </a:txBody>
                  <a:tcPr anchor="ctr"/>
                </a:tc>
                <a:tc>
                  <a:txBody>
                    <a:bodyPr/>
                    <a:lstStyle/>
                    <a:p>
                      <a:pPr latinLnBrk="0"/>
                      <a:r>
                        <a:rPr lang="en-US" sz="1600">
                          <a:effectLst/>
                        </a:rPr>
                        <a:t>Xóa tất cả phần tử trong mảng, cho ra List rỗng</a:t>
                      </a:r>
                    </a:p>
                  </a:txBody>
                  <a:tcPr anchor="ctr"/>
                </a:tc>
                <a:extLst>
                  <a:ext uri="{0D108BD9-81ED-4DB2-BD59-A6C34878D82A}">
                    <a16:rowId xmlns="" xmlns:a16="http://schemas.microsoft.com/office/drawing/2014/main" val="1071303196"/>
                  </a:ext>
                </a:extLst>
              </a:tr>
              <a:tr h="370840">
                <a:tc>
                  <a:txBody>
                    <a:bodyPr/>
                    <a:lstStyle/>
                    <a:p>
                      <a:pPr latinLnBrk="0"/>
                      <a:r>
                        <a:rPr lang="en-US" sz="1600">
                          <a:effectLst/>
                        </a:rPr>
                        <a:t>new_list = list.copy()</a:t>
                      </a:r>
                    </a:p>
                  </a:txBody>
                  <a:tcPr anchor="ctr"/>
                </a:tc>
                <a:tc>
                  <a:txBody>
                    <a:bodyPr/>
                    <a:lstStyle/>
                    <a:p>
                      <a:pPr latinLnBrk="0"/>
                      <a:r>
                        <a:rPr lang="en-US" sz="1600">
                          <a:effectLst/>
                        </a:rPr>
                        <a:t>Trả lại bản copy của List</a:t>
                      </a:r>
                    </a:p>
                  </a:txBody>
                  <a:tcPr anchor="ctr"/>
                </a:tc>
                <a:extLst>
                  <a:ext uri="{0D108BD9-81ED-4DB2-BD59-A6C34878D82A}">
                    <a16:rowId xmlns="" xmlns:a16="http://schemas.microsoft.com/office/drawing/2014/main" val="294234541"/>
                  </a:ext>
                </a:extLst>
              </a:tr>
              <a:tr h="370840">
                <a:tc>
                  <a:txBody>
                    <a:bodyPr/>
                    <a:lstStyle/>
                    <a:p>
                      <a:pPr latinLnBrk="0"/>
                      <a:r>
                        <a:rPr lang="en-US" sz="1600">
                          <a:effectLst/>
                        </a:rPr>
                        <a:t>list.count(element)</a:t>
                      </a:r>
                    </a:p>
                  </a:txBody>
                  <a:tcPr anchor="ctr"/>
                </a:tc>
                <a:tc>
                  <a:txBody>
                    <a:bodyPr/>
                    <a:lstStyle/>
                    <a:p>
                      <a:pPr latinLnBrk="0"/>
                      <a:r>
                        <a:rPr lang="en-US" sz="1600">
                          <a:effectLst/>
                        </a:rPr>
                        <a:t>Đếm số lần xuất hiện của phần tử trong List</a:t>
                      </a:r>
                    </a:p>
                  </a:txBody>
                  <a:tcPr anchor="ctr"/>
                </a:tc>
                <a:extLst>
                  <a:ext uri="{0D108BD9-81ED-4DB2-BD59-A6C34878D82A}">
                    <a16:rowId xmlns="" xmlns:a16="http://schemas.microsoft.com/office/drawing/2014/main" val="2219826698"/>
                  </a:ext>
                </a:extLst>
              </a:tr>
              <a:tr h="370840">
                <a:tc>
                  <a:txBody>
                    <a:bodyPr/>
                    <a:lstStyle/>
                    <a:p>
                      <a:pPr latinLnBrk="0"/>
                      <a:r>
                        <a:rPr lang="en-US" sz="1600">
                          <a:effectLst/>
                        </a:rPr>
                        <a:t>list.extend(iterable)</a:t>
                      </a:r>
                    </a:p>
                  </a:txBody>
                  <a:tcPr anchor="ctr"/>
                </a:tc>
                <a:tc>
                  <a:txBody>
                    <a:bodyPr/>
                    <a:lstStyle/>
                    <a:p>
                      <a:pPr latinLnBrk="0"/>
                      <a:r>
                        <a:rPr lang="en-US" sz="1600">
                          <a:effectLst/>
                        </a:rPr>
                        <a:t>Mở rộng List hay gộp các List lại với nhau</a:t>
                      </a:r>
                    </a:p>
                  </a:txBody>
                  <a:tcPr anchor="ctr"/>
                </a:tc>
                <a:extLst>
                  <a:ext uri="{0D108BD9-81ED-4DB2-BD59-A6C34878D82A}">
                    <a16:rowId xmlns="" xmlns:a16="http://schemas.microsoft.com/office/drawing/2014/main" val="273594286"/>
                  </a:ext>
                </a:extLst>
              </a:tr>
              <a:tr h="370840">
                <a:tc>
                  <a:txBody>
                    <a:bodyPr/>
                    <a:lstStyle/>
                    <a:p>
                      <a:pPr latinLnBrk="0"/>
                      <a:r>
                        <a:rPr lang="en-US" sz="1600">
                          <a:effectLst/>
                        </a:rPr>
                        <a:t>list.index(element, start, end)</a:t>
                      </a:r>
                    </a:p>
                  </a:txBody>
                  <a:tcPr anchor="ctr"/>
                </a:tc>
                <a:tc>
                  <a:txBody>
                    <a:bodyPr/>
                    <a:lstStyle/>
                    <a:p>
                      <a:pPr latinLnBrk="0"/>
                      <a:r>
                        <a:rPr lang="en-US" sz="1600" err="1">
                          <a:effectLst/>
                        </a:rPr>
                        <a:t>Trả</a:t>
                      </a:r>
                      <a:r>
                        <a:rPr lang="en-US" sz="1600">
                          <a:effectLst/>
                        </a:rPr>
                        <a:t> </a:t>
                      </a:r>
                      <a:r>
                        <a:rPr lang="en-US" sz="1600" err="1">
                          <a:effectLst/>
                        </a:rPr>
                        <a:t>về</a:t>
                      </a:r>
                      <a:r>
                        <a:rPr lang="en-US" sz="1600">
                          <a:effectLst/>
                        </a:rPr>
                        <a:t> </a:t>
                      </a:r>
                      <a:r>
                        <a:rPr lang="en-US" sz="1600" err="1">
                          <a:effectLst/>
                        </a:rPr>
                        <a:t>vị</a:t>
                      </a:r>
                      <a:r>
                        <a:rPr lang="en-US" sz="1600">
                          <a:effectLst/>
                        </a:rPr>
                        <a:t> </a:t>
                      </a:r>
                      <a:r>
                        <a:rPr lang="en-US" sz="1600" err="1">
                          <a:effectLst/>
                        </a:rPr>
                        <a:t>trí</a:t>
                      </a:r>
                      <a:r>
                        <a:rPr lang="en-US" sz="1600">
                          <a:effectLst/>
                        </a:rPr>
                        <a:t> </a:t>
                      </a:r>
                      <a:r>
                        <a:rPr lang="en-US" sz="1600" err="1">
                          <a:effectLst/>
                        </a:rPr>
                        <a:t>của</a:t>
                      </a:r>
                      <a:r>
                        <a:rPr lang="en-US" sz="1600">
                          <a:effectLst/>
                        </a:rPr>
                        <a:t> </a:t>
                      </a:r>
                      <a:r>
                        <a:rPr lang="en-US" sz="1600" err="1">
                          <a:effectLst/>
                        </a:rPr>
                        <a:t>phần</a:t>
                      </a:r>
                      <a:r>
                        <a:rPr lang="en-US" sz="1600">
                          <a:effectLst/>
                        </a:rPr>
                        <a:t> </a:t>
                      </a:r>
                      <a:r>
                        <a:rPr lang="en-US" sz="1600" err="1">
                          <a:effectLst/>
                        </a:rPr>
                        <a:t>tử</a:t>
                      </a:r>
                      <a:r>
                        <a:rPr lang="en-US" sz="1600">
                          <a:effectLst/>
                        </a:rPr>
                        <a:t> </a:t>
                      </a:r>
                      <a:r>
                        <a:rPr lang="en-US" sz="1600" err="1">
                          <a:effectLst/>
                        </a:rPr>
                        <a:t>trong</a:t>
                      </a:r>
                      <a:r>
                        <a:rPr lang="en-US" sz="1600">
                          <a:effectLst/>
                        </a:rPr>
                        <a:t> List</a:t>
                      </a:r>
                    </a:p>
                  </a:txBody>
                  <a:tcPr anchor="ctr"/>
                </a:tc>
                <a:extLst>
                  <a:ext uri="{0D108BD9-81ED-4DB2-BD59-A6C34878D82A}">
                    <a16:rowId xmlns="" xmlns:a16="http://schemas.microsoft.com/office/drawing/2014/main" val="3716519998"/>
                  </a:ext>
                </a:extLst>
              </a:tr>
              <a:tr h="370840">
                <a:tc>
                  <a:txBody>
                    <a:bodyPr/>
                    <a:lstStyle/>
                    <a:p>
                      <a:pPr latinLnBrk="0"/>
                      <a:r>
                        <a:rPr lang="en-US" sz="1600">
                          <a:effectLst/>
                        </a:rPr>
                        <a:t>list.insert(index, element)</a:t>
                      </a:r>
                    </a:p>
                  </a:txBody>
                  <a:tcPr anchor="ctr"/>
                </a:tc>
                <a:tc>
                  <a:txBody>
                    <a:bodyPr/>
                    <a:lstStyle/>
                    <a:p>
                      <a:pPr latinLnBrk="0"/>
                      <a:r>
                        <a:rPr lang="en-US" sz="1600">
                          <a:effectLst/>
                        </a:rPr>
                        <a:t>Chèn phần tử vào giữa List</a:t>
                      </a:r>
                    </a:p>
                  </a:txBody>
                  <a:tcPr anchor="ctr"/>
                </a:tc>
                <a:extLst>
                  <a:ext uri="{0D108BD9-81ED-4DB2-BD59-A6C34878D82A}">
                    <a16:rowId xmlns="" xmlns:a16="http://schemas.microsoft.com/office/drawing/2014/main" val="3950865961"/>
                  </a:ext>
                </a:extLst>
              </a:tr>
              <a:tr h="370840">
                <a:tc>
                  <a:txBody>
                    <a:bodyPr/>
                    <a:lstStyle/>
                    <a:p>
                      <a:pPr latinLnBrk="0"/>
                      <a:r>
                        <a:rPr lang="en-US" sz="1600">
                          <a:effectLst/>
                        </a:rPr>
                        <a:t>list.pop(index)</a:t>
                      </a:r>
                    </a:p>
                  </a:txBody>
                  <a:tcPr anchor="ctr"/>
                </a:tc>
                <a:tc>
                  <a:txBody>
                    <a:bodyPr/>
                    <a:lstStyle/>
                    <a:p>
                      <a:pPr latinLnBrk="0"/>
                      <a:r>
                        <a:rPr lang="en-US" sz="1600">
                          <a:effectLst/>
                        </a:rPr>
                        <a:t>Xóa phần tử dựa vào vị trí chỉ định</a:t>
                      </a:r>
                    </a:p>
                  </a:txBody>
                  <a:tcPr anchor="ctr"/>
                </a:tc>
                <a:extLst>
                  <a:ext uri="{0D108BD9-81ED-4DB2-BD59-A6C34878D82A}">
                    <a16:rowId xmlns="" xmlns:a16="http://schemas.microsoft.com/office/drawing/2014/main" val="2215583523"/>
                  </a:ext>
                </a:extLst>
              </a:tr>
              <a:tr h="370840">
                <a:tc>
                  <a:txBody>
                    <a:bodyPr/>
                    <a:lstStyle/>
                    <a:p>
                      <a:pPr latinLnBrk="0"/>
                      <a:r>
                        <a:rPr lang="en-US" sz="1600">
                          <a:effectLst/>
                        </a:rPr>
                        <a:t>list.remove(element)</a:t>
                      </a:r>
                    </a:p>
                  </a:txBody>
                  <a:tcPr anchor="ctr"/>
                </a:tc>
                <a:tc>
                  <a:txBody>
                    <a:bodyPr/>
                    <a:lstStyle/>
                    <a:p>
                      <a:pPr latinLnBrk="0"/>
                      <a:r>
                        <a:rPr lang="en-US" sz="1600">
                          <a:effectLst/>
                        </a:rPr>
                        <a:t>Xóa phần tử dựa vào giá trị của phần tử</a:t>
                      </a:r>
                    </a:p>
                  </a:txBody>
                  <a:tcPr anchor="ctr"/>
                </a:tc>
                <a:extLst>
                  <a:ext uri="{0D108BD9-81ED-4DB2-BD59-A6C34878D82A}">
                    <a16:rowId xmlns="" xmlns:a16="http://schemas.microsoft.com/office/drawing/2014/main" val="3371232878"/>
                  </a:ext>
                </a:extLst>
              </a:tr>
              <a:tr h="370840">
                <a:tc>
                  <a:txBody>
                    <a:bodyPr/>
                    <a:lstStyle/>
                    <a:p>
                      <a:pPr latinLnBrk="0"/>
                      <a:r>
                        <a:rPr lang="en-US" sz="1600">
                          <a:effectLst/>
                        </a:rPr>
                        <a:t>list.sort(key=None, reverse=False)</a:t>
                      </a:r>
                    </a:p>
                  </a:txBody>
                  <a:tcPr anchor="ctr"/>
                </a:tc>
                <a:tc>
                  <a:txBody>
                    <a:bodyPr/>
                    <a:lstStyle/>
                    <a:p>
                      <a:pPr latinLnBrk="0"/>
                      <a:r>
                        <a:rPr lang="en-US" sz="1600">
                          <a:effectLst/>
                        </a:rPr>
                        <a:t>Sắp xếp phần tử trong List</a:t>
                      </a:r>
                    </a:p>
                  </a:txBody>
                  <a:tcPr anchor="ctr"/>
                </a:tc>
                <a:extLst>
                  <a:ext uri="{0D108BD9-81ED-4DB2-BD59-A6C34878D82A}">
                    <a16:rowId xmlns="" xmlns:a16="http://schemas.microsoft.com/office/drawing/2014/main" val="684675882"/>
                  </a:ext>
                </a:extLst>
              </a:tr>
            </a:tbl>
          </a:graphicData>
        </a:graphic>
      </p:graphicFrame>
    </p:spTree>
    <p:extLst>
      <p:ext uri="{BB962C8B-B14F-4D97-AF65-F5344CB8AC3E}">
        <p14:creationId xmlns:p14="http://schemas.microsoft.com/office/powerpoint/2010/main" val="38169587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5.3 </a:t>
            </a:r>
            <a:r>
              <a:rPr lang="en-US" err="1" smtClean="0"/>
              <a:t>Tổng</a:t>
            </a:r>
            <a:r>
              <a:rPr lang="en-US" smtClean="0"/>
              <a:t> </a:t>
            </a:r>
            <a:r>
              <a:rPr lang="en-US" err="1" smtClean="0"/>
              <a:t>quan</a:t>
            </a:r>
            <a:r>
              <a:rPr lang="en-US" smtClean="0"/>
              <a:t> </a:t>
            </a:r>
            <a:r>
              <a:rPr lang="en-US" err="1" smtClean="0"/>
              <a:t>về</a:t>
            </a:r>
            <a:r>
              <a:rPr lang="en-US" smtClean="0"/>
              <a:t> Tuple</a:t>
            </a:r>
            <a:endParaRPr lang="en-US"/>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err="1" smtClean="0"/>
              <a:t>Giới</a:t>
            </a:r>
            <a:r>
              <a:rPr lang="en-US" b="1" smtClean="0"/>
              <a:t> </a:t>
            </a:r>
            <a:r>
              <a:rPr lang="en-US" b="1" err="1" smtClean="0"/>
              <a:t>thiệu</a:t>
            </a:r>
            <a:r>
              <a:rPr lang="en-US" b="1" smtClean="0"/>
              <a:t> </a:t>
            </a:r>
            <a:r>
              <a:rPr lang="en-US" b="1" err="1" smtClean="0"/>
              <a:t>về</a:t>
            </a:r>
            <a:r>
              <a:rPr lang="en-US" b="1" smtClean="0"/>
              <a:t> Tuple (hay </a:t>
            </a:r>
            <a:r>
              <a:rPr lang="en-US" b="1" err="1" smtClean="0"/>
              <a:t>còn</a:t>
            </a:r>
            <a:r>
              <a:rPr lang="en-US" b="1" smtClean="0"/>
              <a:t> </a:t>
            </a:r>
            <a:r>
              <a:rPr lang="en-US" b="1" err="1" smtClean="0"/>
              <a:t>gọi</a:t>
            </a:r>
            <a:r>
              <a:rPr lang="en-US" b="1" smtClean="0"/>
              <a:t> </a:t>
            </a:r>
            <a:r>
              <a:rPr lang="en-US" b="1" err="1" smtClean="0"/>
              <a:t>là</a:t>
            </a:r>
            <a:r>
              <a:rPr lang="en-US" b="1" smtClean="0"/>
              <a:t> </a:t>
            </a:r>
            <a:r>
              <a:rPr lang="en-US" b="1" err="1" smtClean="0"/>
              <a:t>dãy</a:t>
            </a:r>
            <a:r>
              <a:rPr lang="en-US" b="1" smtClean="0"/>
              <a:t> </a:t>
            </a:r>
            <a:r>
              <a:rPr lang="en-US" b="1" err="1" smtClean="0"/>
              <a:t>số</a:t>
            </a:r>
            <a:r>
              <a:rPr lang="en-US" b="1" smtClean="0"/>
              <a:t>)</a:t>
            </a:r>
            <a:endParaRPr lang="en-US" b="1">
              <a:solidFill>
                <a:srgbClr val="FF0000"/>
              </a:solidFill>
            </a:endParaRPr>
          </a:p>
        </p:txBody>
      </p:sp>
      <p:sp>
        <p:nvSpPr>
          <p:cNvPr id="8" name="TextBox 7"/>
          <p:cNvSpPr txBox="1"/>
          <p:nvPr/>
        </p:nvSpPr>
        <p:spPr>
          <a:xfrm>
            <a:off x="643270" y="1903017"/>
            <a:ext cx="8113619" cy="646331"/>
          </a:xfrm>
          <a:prstGeom prst="rect">
            <a:avLst/>
          </a:prstGeom>
          <a:noFill/>
        </p:spPr>
        <p:txBody>
          <a:bodyPr wrap="square" rtlCol="0">
            <a:spAutoFit/>
          </a:bodyPr>
          <a:lstStyle/>
          <a:p>
            <a:r>
              <a:rPr lang="en-US" b="1" smtClean="0">
                <a:solidFill>
                  <a:srgbClr val="FF0000"/>
                </a:solidFill>
              </a:rPr>
              <a:t>Tuple</a:t>
            </a:r>
            <a:r>
              <a:rPr lang="en-US" smtClean="0"/>
              <a:t> </a:t>
            </a:r>
            <a:r>
              <a:rPr lang="vi-VN" smtClean="0"/>
              <a:t>là </a:t>
            </a:r>
            <a:r>
              <a:rPr lang="vi-VN"/>
              <a:t>một kiểu dữ liệu được sử dụng để lưu trữ một tập hợp các phần tử </a:t>
            </a:r>
            <a:r>
              <a:rPr lang="en-US" err="1"/>
              <a:t>trong</a:t>
            </a:r>
            <a:r>
              <a:rPr lang="en-US"/>
              <a:t> </a:t>
            </a:r>
            <a:r>
              <a:rPr lang="en-US" err="1"/>
              <a:t>dấu</a:t>
            </a:r>
            <a:r>
              <a:rPr lang="en-US"/>
              <a:t> </a:t>
            </a:r>
            <a:r>
              <a:rPr lang="en-US" err="1"/>
              <a:t>ngoặc</a:t>
            </a:r>
            <a:r>
              <a:rPr lang="en-US"/>
              <a:t> </a:t>
            </a:r>
            <a:r>
              <a:rPr lang="en-US" err="1" smtClean="0"/>
              <a:t>tròn</a:t>
            </a:r>
            <a:r>
              <a:rPr lang="en-US" smtClean="0"/>
              <a:t> ()</a:t>
            </a:r>
            <a:endParaRPr lang="en-US"/>
          </a:p>
        </p:txBody>
      </p:sp>
      <p:sp>
        <p:nvSpPr>
          <p:cNvPr id="14" name="TextBox 13"/>
          <p:cNvSpPr txBox="1"/>
          <p:nvPr/>
        </p:nvSpPr>
        <p:spPr>
          <a:xfrm>
            <a:off x="925033" y="2589865"/>
            <a:ext cx="7697972" cy="369332"/>
          </a:xfrm>
          <a:prstGeom prst="rect">
            <a:avLst/>
          </a:prstGeom>
          <a:noFill/>
        </p:spPr>
        <p:txBody>
          <a:bodyPr wrap="square" rtlCol="0">
            <a:spAutoFit/>
          </a:bodyPr>
          <a:lstStyle/>
          <a:p>
            <a:r>
              <a:rPr lang="en-US" err="1"/>
              <a:t>Không</a:t>
            </a:r>
            <a:r>
              <a:rPr lang="en-US"/>
              <a:t> </a:t>
            </a:r>
            <a:r>
              <a:rPr lang="en-US" err="1"/>
              <a:t>thể</a:t>
            </a:r>
            <a:r>
              <a:rPr lang="en-US"/>
              <a:t> </a:t>
            </a:r>
            <a:r>
              <a:rPr lang="en-US" err="1"/>
              <a:t>thay</a:t>
            </a:r>
            <a:r>
              <a:rPr lang="en-US"/>
              <a:t> </a:t>
            </a:r>
            <a:r>
              <a:rPr lang="en-US" err="1"/>
              <a:t>đổi</a:t>
            </a:r>
            <a:r>
              <a:rPr lang="en-US"/>
              <a:t> </a:t>
            </a:r>
            <a:r>
              <a:rPr lang="en-US" err="1"/>
              <a:t>giá</a:t>
            </a:r>
            <a:r>
              <a:rPr lang="en-US"/>
              <a:t> </a:t>
            </a:r>
            <a:r>
              <a:rPr lang="en-US" err="1"/>
              <a:t>trị</a:t>
            </a:r>
            <a:r>
              <a:rPr lang="en-US"/>
              <a:t> </a:t>
            </a:r>
            <a:r>
              <a:rPr lang="en-US" err="1"/>
              <a:t>các</a:t>
            </a:r>
            <a:r>
              <a:rPr lang="en-US"/>
              <a:t> </a:t>
            </a:r>
            <a:r>
              <a:rPr lang="en-US" err="1"/>
              <a:t>phần</a:t>
            </a:r>
            <a:r>
              <a:rPr lang="en-US"/>
              <a:t> </a:t>
            </a:r>
            <a:r>
              <a:rPr lang="en-US" err="1"/>
              <a:t>tử</a:t>
            </a:r>
            <a:r>
              <a:rPr lang="en-US"/>
              <a:t> </a:t>
            </a:r>
            <a:r>
              <a:rPr lang="en-US" err="1"/>
              <a:t>bên</a:t>
            </a:r>
            <a:r>
              <a:rPr lang="en-US"/>
              <a:t> </a:t>
            </a:r>
            <a:r>
              <a:rPr lang="en-US" err="1"/>
              <a:t>trong</a:t>
            </a:r>
            <a:r>
              <a:rPr lang="en-US"/>
              <a:t> </a:t>
            </a:r>
            <a:r>
              <a:rPr lang="en-US" smtClean="0"/>
              <a:t>tuple </a:t>
            </a:r>
            <a:r>
              <a:rPr lang="en-US" err="1" smtClean="0"/>
              <a:t>sau</a:t>
            </a:r>
            <a:r>
              <a:rPr lang="en-US" smtClean="0"/>
              <a:t> </a:t>
            </a:r>
            <a:r>
              <a:rPr lang="en-US" err="1" smtClean="0"/>
              <a:t>khi</a:t>
            </a:r>
            <a:r>
              <a:rPr lang="en-US" smtClean="0"/>
              <a:t> </a:t>
            </a:r>
            <a:r>
              <a:rPr lang="en-US" err="1" smtClean="0"/>
              <a:t>tạo</a:t>
            </a:r>
            <a:r>
              <a:rPr lang="en-US" smtClean="0"/>
              <a:t> </a:t>
            </a:r>
            <a:r>
              <a:rPr lang="en-US" err="1" smtClean="0"/>
              <a:t>ra</a:t>
            </a:r>
            <a:endParaRPr lang="en-US"/>
          </a:p>
        </p:txBody>
      </p:sp>
      <p:sp>
        <p:nvSpPr>
          <p:cNvPr id="15" name="Flowchart: Decision 14"/>
          <p:cNvSpPr/>
          <p:nvPr/>
        </p:nvSpPr>
        <p:spPr>
          <a:xfrm>
            <a:off x="710426" y="2727037"/>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925033" y="3070096"/>
            <a:ext cx="7697972" cy="369332"/>
          </a:xfrm>
          <a:prstGeom prst="rect">
            <a:avLst/>
          </a:prstGeom>
          <a:noFill/>
        </p:spPr>
        <p:txBody>
          <a:bodyPr wrap="square" rtlCol="0">
            <a:spAutoFit/>
          </a:bodyPr>
          <a:lstStyle/>
          <a:p>
            <a:r>
              <a:rPr lang="vi-VN"/>
              <a:t>Có thể truy cập các phần tử bên trong </a:t>
            </a:r>
            <a:r>
              <a:rPr lang="vi-VN" smtClean="0"/>
              <a:t>tuple</a:t>
            </a:r>
            <a:r>
              <a:rPr lang="en-US" smtClean="0"/>
              <a:t> </a:t>
            </a:r>
            <a:r>
              <a:rPr lang="en-US" err="1" smtClean="0"/>
              <a:t>dựa</a:t>
            </a:r>
            <a:r>
              <a:rPr lang="en-US" smtClean="0"/>
              <a:t> </a:t>
            </a:r>
            <a:r>
              <a:rPr lang="en-US" err="1" smtClean="0"/>
              <a:t>vào</a:t>
            </a:r>
            <a:r>
              <a:rPr lang="en-US" smtClean="0"/>
              <a:t> index</a:t>
            </a:r>
            <a:endParaRPr lang="en-US" b="1"/>
          </a:p>
        </p:txBody>
      </p:sp>
      <p:sp>
        <p:nvSpPr>
          <p:cNvPr id="17" name="Flowchart: Decision 16"/>
          <p:cNvSpPr/>
          <p:nvPr/>
        </p:nvSpPr>
        <p:spPr>
          <a:xfrm>
            <a:off x="710426" y="316472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25033" y="3513756"/>
            <a:ext cx="7697972" cy="646331"/>
          </a:xfrm>
          <a:prstGeom prst="rect">
            <a:avLst/>
          </a:prstGeom>
          <a:noFill/>
        </p:spPr>
        <p:txBody>
          <a:bodyPr wrap="square" rtlCol="0">
            <a:spAutoFit/>
          </a:bodyPr>
          <a:lstStyle/>
          <a:p>
            <a:r>
              <a:rPr lang="vi-VN"/>
              <a:t>Tuple có thể chứa các kiểu dữ liệu khác </a:t>
            </a:r>
            <a:r>
              <a:rPr lang="vi-VN" smtClean="0"/>
              <a:t>nhau</a:t>
            </a:r>
            <a:r>
              <a:rPr lang="en-US" smtClean="0"/>
              <a:t>: </a:t>
            </a:r>
            <a:r>
              <a:rPr lang="en-US" err="1"/>
              <a:t>số</a:t>
            </a:r>
            <a:r>
              <a:rPr lang="en-US"/>
              <a:t> </a:t>
            </a:r>
            <a:r>
              <a:rPr lang="en-US" err="1"/>
              <a:t>nguyên</a:t>
            </a:r>
            <a:r>
              <a:rPr lang="en-US"/>
              <a:t>, </a:t>
            </a:r>
            <a:r>
              <a:rPr lang="en-US" err="1"/>
              <a:t>số</a:t>
            </a:r>
            <a:r>
              <a:rPr lang="en-US"/>
              <a:t> </a:t>
            </a:r>
            <a:r>
              <a:rPr lang="en-US" err="1"/>
              <a:t>thực</a:t>
            </a:r>
            <a:r>
              <a:rPr lang="en-US"/>
              <a:t>, </a:t>
            </a:r>
            <a:r>
              <a:rPr lang="en-US" err="1"/>
              <a:t>chuỗi</a:t>
            </a:r>
            <a:r>
              <a:rPr lang="en-US"/>
              <a:t>, </a:t>
            </a:r>
            <a:r>
              <a:rPr lang="en-US" err="1"/>
              <a:t>boolean</a:t>
            </a:r>
            <a:r>
              <a:rPr lang="en-US"/>
              <a:t>, </a:t>
            </a:r>
            <a:r>
              <a:rPr lang="en-US" err="1"/>
              <a:t>và</a:t>
            </a:r>
            <a:r>
              <a:rPr lang="en-US"/>
              <a:t> </a:t>
            </a:r>
            <a:r>
              <a:rPr lang="en-US" err="1"/>
              <a:t>thậm</a:t>
            </a:r>
            <a:r>
              <a:rPr lang="en-US"/>
              <a:t> </a:t>
            </a:r>
            <a:r>
              <a:rPr lang="en-US" err="1"/>
              <a:t>chí</a:t>
            </a:r>
            <a:r>
              <a:rPr lang="en-US"/>
              <a:t> tuple </a:t>
            </a:r>
            <a:r>
              <a:rPr lang="en-US" err="1"/>
              <a:t>khác</a:t>
            </a:r>
            <a:endParaRPr lang="en-US"/>
          </a:p>
        </p:txBody>
      </p:sp>
      <p:sp>
        <p:nvSpPr>
          <p:cNvPr id="19" name="Flowchart: Decision 18"/>
          <p:cNvSpPr/>
          <p:nvPr/>
        </p:nvSpPr>
        <p:spPr>
          <a:xfrm>
            <a:off x="710426" y="360838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10426" y="4838024"/>
            <a:ext cx="7742458" cy="91451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891180" y="4962421"/>
            <a:ext cx="7306522" cy="646331"/>
          </a:xfrm>
          <a:prstGeom prst="rect">
            <a:avLst/>
          </a:prstGeom>
          <a:noFill/>
        </p:spPr>
        <p:txBody>
          <a:bodyPr wrap="square" rtlCol="0">
            <a:spAutoFit/>
          </a:bodyPr>
          <a:lstStyle/>
          <a:p>
            <a:r>
              <a:rPr lang="en-US" err="1">
                <a:solidFill>
                  <a:schemeClr val="bg1"/>
                </a:solidFill>
              </a:rPr>
              <a:t>thistuple</a:t>
            </a:r>
            <a:r>
              <a:rPr lang="en-US">
                <a:solidFill>
                  <a:schemeClr val="bg1"/>
                </a:solidFill>
              </a:rPr>
              <a:t> = (</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a:solidFill>
                  <a:schemeClr val="accent2">
                    <a:lumMod val="75000"/>
                  </a:schemeClr>
                </a:solidFill>
              </a:rPr>
              <a:t>"cherry"</a:t>
            </a:r>
            <a:r>
              <a:rPr lang="en-US">
                <a:solidFill>
                  <a:schemeClr val="bg1"/>
                </a:solidFill>
              </a:rPr>
              <a:t>, </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"cherry"</a:t>
            </a:r>
            <a:r>
              <a:rPr lang="en-US">
                <a:solidFill>
                  <a:schemeClr val="bg1"/>
                </a:solidFill>
              </a:rPr>
              <a:t>)</a:t>
            </a:r>
            <a:br>
              <a:rPr lang="en-US">
                <a:solidFill>
                  <a:schemeClr val="bg1"/>
                </a:solidFill>
              </a:rPr>
            </a:br>
            <a:r>
              <a:rPr lang="en-US">
                <a:solidFill>
                  <a:schemeClr val="bg1"/>
                </a:solidFill>
              </a:rPr>
              <a:t>print</a:t>
            </a:r>
            <a:r>
              <a:rPr lang="en-US">
                <a:solidFill>
                  <a:schemeClr val="accent4">
                    <a:lumMod val="60000"/>
                    <a:lumOff val="40000"/>
                  </a:schemeClr>
                </a:solidFill>
              </a:rPr>
              <a:t>(</a:t>
            </a:r>
            <a:r>
              <a:rPr lang="en-US" err="1">
                <a:solidFill>
                  <a:schemeClr val="bg1"/>
                </a:solidFill>
              </a:rPr>
              <a:t>thistuple</a:t>
            </a:r>
            <a:r>
              <a:rPr lang="en-US">
                <a:solidFill>
                  <a:schemeClr val="accent4">
                    <a:lumMod val="60000"/>
                    <a:lumOff val="40000"/>
                  </a:schemeClr>
                </a:solidFill>
              </a:rPr>
              <a:t>)</a:t>
            </a:r>
            <a:endParaRPr lang="en-US" smtClean="0">
              <a:solidFill>
                <a:schemeClr val="accent4">
                  <a:lumMod val="60000"/>
                  <a:lumOff val="40000"/>
                </a:schemeClr>
              </a:solidFill>
            </a:endParaRPr>
          </a:p>
        </p:txBody>
      </p:sp>
      <p:sp>
        <p:nvSpPr>
          <p:cNvPr id="23" name="TextBox 22"/>
          <p:cNvSpPr txBox="1"/>
          <p:nvPr/>
        </p:nvSpPr>
        <p:spPr>
          <a:xfrm>
            <a:off x="639997" y="5874649"/>
            <a:ext cx="7983008" cy="369332"/>
          </a:xfrm>
          <a:prstGeom prst="rect">
            <a:avLst/>
          </a:prstGeom>
          <a:noFill/>
        </p:spPr>
        <p:txBody>
          <a:bodyPr wrap="square" rtlCol="0">
            <a:spAutoFit/>
          </a:bodyPr>
          <a:lstStyle/>
          <a:p>
            <a:r>
              <a:rPr lang="en-US" err="1" smtClean="0"/>
              <a:t>Các</a:t>
            </a:r>
            <a:r>
              <a:rPr lang="en-US" smtClean="0"/>
              <a:t> </a:t>
            </a:r>
            <a:r>
              <a:rPr lang="en-US" err="1" smtClean="0"/>
              <a:t>phần</a:t>
            </a:r>
            <a:r>
              <a:rPr lang="en-US" smtClean="0"/>
              <a:t> </a:t>
            </a:r>
            <a:r>
              <a:rPr lang="en-US" err="1" smtClean="0"/>
              <a:t>tử</a:t>
            </a:r>
            <a:r>
              <a:rPr lang="en-US" smtClean="0"/>
              <a:t> </a:t>
            </a:r>
            <a:r>
              <a:rPr lang="en-US" err="1" smtClean="0"/>
              <a:t>dược</a:t>
            </a:r>
            <a:r>
              <a:rPr lang="en-US" smtClean="0"/>
              <a:t> </a:t>
            </a:r>
            <a:r>
              <a:rPr lang="en-US" err="1" smtClean="0"/>
              <a:t>đặt</a:t>
            </a:r>
            <a:r>
              <a:rPr lang="en-US" smtClean="0"/>
              <a:t> </a:t>
            </a:r>
            <a:r>
              <a:rPr lang="en-US" err="1" smtClean="0"/>
              <a:t>trong</a:t>
            </a:r>
            <a:r>
              <a:rPr lang="en-US" smtClean="0"/>
              <a:t> </a:t>
            </a:r>
            <a:r>
              <a:rPr lang="en-US" err="1" smtClean="0"/>
              <a:t>dấu</a:t>
            </a:r>
            <a:r>
              <a:rPr lang="en-US" smtClean="0"/>
              <a:t> </a:t>
            </a:r>
            <a:r>
              <a:rPr lang="en-US" err="1" smtClean="0"/>
              <a:t>ngoặc</a:t>
            </a:r>
            <a:r>
              <a:rPr lang="en-US" smtClean="0"/>
              <a:t> </a:t>
            </a:r>
            <a:r>
              <a:rPr lang="en-US" err="1" smtClean="0"/>
              <a:t>tròn</a:t>
            </a:r>
            <a:r>
              <a:rPr lang="en-US" smtClean="0"/>
              <a:t> </a:t>
            </a:r>
            <a:r>
              <a:rPr lang="en-US" err="1" smtClean="0"/>
              <a:t>và</a:t>
            </a:r>
            <a:r>
              <a:rPr lang="en-US" smtClean="0"/>
              <a:t> </a:t>
            </a:r>
            <a:r>
              <a:rPr lang="en-US" err="1" smtClean="0"/>
              <a:t>cách</a:t>
            </a:r>
            <a:r>
              <a:rPr lang="en-US" smtClean="0"/>
              <a:t> </a:t>
            </a:r>
            <a:r>
              <a:rPr lang="en-US" err="1" smtClean="0"/>
              <a:t>nhau</a:t>
            </a:r>
            <a:r>
              <a:rPr lang="en-US" smtClean="0"/>
              <a:t> </a:t>
            </a:r>
            <a:r>
              <a:rPr lang="en-US" err="1" smtClean="0"/>
              <a:t>bằng</a:t>
            </a:r>
            <a:r>
              <a:rPr lang="en-US" smtClean="0"/>
              <a:t> </a:t>
            </a:r>
            <a:r>
              <a:rPr lang="en-US" err="1" smtClean="0"/>
              <a:t>dấu</a:t>
            </a:r>
            <a:r>
              <a:rPr lang="en-US" smtClean="0"/>
              <a:t> </a:t>
            </a:r>
            <a:r>
              <a:rPr lang="en-US" err="1" smtClean="0"/>
              <a:t>phẩy</a:t>
            </a:r>
            <a:r>
              <a:rPr lang="en-US" smtClean="0"/>
              <a:t> ,</a:t>
            </a:r>
            <a:endParaRPr lang="en-US"/>
          </a:p>
        </p:txBody>
      </p:sp>
      <p:sp>
        <p:nvSpPr>
          <p:cNvPr id="26" name="TextBox 25"/>
          <p:cNvSpPr txBox="1"/>
          <p:nvPr/>
        </p:nvSpPr>
        <p:spPr>
          <a:xfrm>
            <a:off x="925033" y="4237052"/>
            <a:ext cx="7697972" cy="369332"/>
          </a:xfrm>
          <a:prstGeom prst="rect">
            <a:avLst/>
          </a:prstGeom>
          <a:noFill/>
        </p:spPr>
        <p:txBody>
          <a:bodyPr wrap="square" rtlCol="0">
            <a:spAutoFit/>
          </a:bodyPr>
          <a:lstStyle/>
          <a:p>
            <a:r>
              <a:rPr lang="vi-VN"/>
              <a:t>Có thể </a:t>
            </a:r>
            <a:r>
              <a:rPr lang="en-US" err="1" smtClean="0"/>
              <a:t>trùng</a:t>
            </a:r>
            <a:r>
              <a:rPr lang="en-US" smtClean="0"/>
              <a:t> </a:t>
            </a:r>
            <a:r>
              <a:rPr lang="vi-VN" smtClean="0"/>
              <a:t>lặp các </a:t>
            </a:r>
            <a:r>
              <a:rPr lang="vi-VN"/>
              <a:t>phần tử trong tuple</a:t>
            </a:r>
            <a:endParaRPr lang="en-US"/>
          </a:p>
        </p:txBody>
      </p:sp>
      <p:sp>
        <p:nvSpPr>
          <p:cNvPr id="27" name="Flowchart: Decision 26"/>
          <p:cNvSpPr/>
          <p:nvPr/>
        </p:nvSpPr>
        <p:spPr>
          <a:xfrm>
            <a:off x="710426" y="433168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70454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5.3 </a:t>
            </a:r>
            <a:r>
              <a:rPr lang="en-US" err="1"/>
              <a:t>Tổng</a:t>
            </a:r>
            <a:r>
              <a:rPr lang="en-US"/>
              <a:t> </a:t>
            </a:r>
            <a:r>
              <a:rPr lang="en-US" err="1"/>
              <a:t>quan</a:t>
            </a:r>
            <a:r>
              <a:rPr lang="en-US"/>
              <a:t> </a:t>
            </a:r>
            <a:r>
              <a:rPr lang="en-US" err="1"/>
              <a:t>về</a:t>
            </a:r>
            <a:r>
              <a:rPr lang="en-US"/>
              <a:t> Tuple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Ví</a:t>
            </a:r>
            <a:r>
              <a:rPr lang="en-US" b="1" smtClean="0"/>
              <a:t> </a:t>
            </a:r>
            <a:r>
              <a:rPr lang="en-US" b="1" err="1" smtClean="0"/>
              <a:t>dụ</a:t>
            </a:r>
            <a:r>
              <a:rPr lang="en-US" b="1" smtClean="0"/>
              <a:t> </a:t>
            </a:r>
            <a:r>
              <a:rPr lang="en-US" b="1" err="1" smtClean="0"/>
              <a:t>về</a:t>
            </a:r>
            <a:r>
              <a:rPr lang="en-US" b="1" smtClean="0"/>
              <a:t> Tuple</a:t>
            </a:r>
            <a:endParaRPr lang="en-US" b="1">
              <a:solidFill>
                <a:srgbClr val="FF0000"/>
              </a:solidFill>
            </a:endParaRPr>
          </a:p>
        </p:txBody>
      </p:sp>
      <p:sp>
        <p:nvSpPr>
          <p:cNvPr id="29" name="Rectangle 28"/>
          <p:cNvSpPr/>
          <p:nvPr/>
        </p:nvSpPr>
        <p:spPr>
          <a:xfrm>
            <a:off x="699793" y="2498652"/>
            <a:ext cx="7774356" cy="9716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646331"/>
          </a:xfrm>
          <a:prstGeom prst="rect">
            <a:avLst/>
          </a:prstGeom>
          <a:noFill/>
        </p:spPr>
        <p:txBody>
          <a:bodyPr wrap="square" rtlCol="0">
            <a:spAutoFit/>
          </a:bodyPr>
          <a:lstStyle/>
          <a:p>
            <a:r>
              <a:rPr lang="en-US" err="1">
                <a:solidFill>
                  <a:schemeClr val="bg1"/>
                </a:solidFill>
              </a:rPr>
              <a:t>thistuple</a:t>
            </a:r>
            <a:r>
              <a:rPr lang="en-US">
                <a:solidFill>
                  <a:schemeClr val="bg1"/>
                </a:solidFill>
              </a:rPr>
              <a:t> = (</a:t>
            </a:r>
            <a:r>
              <a:rPr lang="en-US">
                <a:solidFill>
                  <a:schemeClr val="accent2">
                    <a:lumMod val="75000"/>
                  </a:schemeClr>
                </a:solidFill>
              </a:rPr>
              <a:t>"apple"</a:t>
            </a:r>
            <a:r>
              <a:rPr lang="en-US">
                <a:solidFill>
                  <a:schemeClr val="bg1"/>
                </a:solidFill>
              </a:rPr>
              <a:t>,)</a:t>
            </a:r>
          </a:p>
          <a:p>
            <a:r>
              <a:rPr lang="en-US">
                <a:solidFill>
                  <a:schemeClr val="bg1"/>
                </a:solidFill>
              </a:rPr>
              <a:t>print</a:t>
            </a:r>
            <a:r>
              <a:rPr lang="en-US">
                <a:solidFill>
                  <a:schemeClr val="accent4">
                    <a:lumMod val="60000"/>
                    <a:lumOff val="40000"/>
                  </a:schemeClr>
                </a:solidFill>
              </a:rPr>
              <a:t>(</a:t>
            </a:r>
            <a:r>
              <a:rPr lang="en-US">
                <a:solidFill>
                  <a:schemeClr val="bg1"/>
                </a:solidFill>
              </a:rPr>
              <a:t>type</a:t>
            </a:r>
            <a:r>
              <a:rPr lang="en-US">
                <a:solidFill>
                  <a:srgbClr val="FF66CC"/>
                </a:solidFill>
              </a:rPr>
              <a:t>(</a:t>
            </a:r>
            <a:r>
              <a:rPr lang="en-US" err="1">
                <a:solidFill>
                  <a:schemeClr val="bg1"/>
                </a:solidFill>
              </a:rPr>
              <a:t>thistuple</a:t>
            </a:r>
            <a:r>
              <a:rPr lang="en-US" smtClean="0">
                <a:solidFill>
                  <a:srgbClr val="FF66CC"/>
                </a:solidFill>
              </a:rPr>
              <a:t>)</a:t>
            </a:r>
            <a:r>
              <a:rPr lang="en-US" smtClean="0">
                <a:solidFill>
                  <a:schemeClr val="accent4">
                    <a:lumMod val="60000"/>
                    <a:lumOff val="40000"/>
                  </a:schemeClr>
                </a:solidFill>
              </a:rPr>
              <a:t>) #output: tuple</a:t>
            </a:r>
            <a:endParaRPr lang="en-US" sz="1600">
              <a:solidFill>
                <a:schemeClr val="accent4">
                  <a:lumMod val="60000"/>
                  <a:lumOff val="40000"/>
                </a:schemeClr>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smtClean="0"/>
              <a:t>Tuple </a:t>
            </a:r>
            <a:r>
              <a:rPr lang="en-US" err="1" smtClean="0"/>
              <a:t>với</a:t>
            </a:r>
            <a:r>
              <a:rPr lang="en-US" smtClean="0"/>
              <a:t> 1 </a:t>
            </a:r>
            <a:r>
              <a:rPr lang="en-US" err="1" smtClean="0"/>
              <a:t>giá</a:t>
            </a:r>
            <a:r>
              <a:rPr lang="en-US" smtClean="0"/>
              <a:t> </a:t>
            </a:r>
            <a:r>
              <a:rPr lang="en-US" err="1" smtClean="0"/>
              <a:t>trị</a:t>
            </a:r>
            <a:r>
              <a:rPr lang="en-US" smtClean="0"/>
              <a:t>, </a:t>
            </a:r>
            <a:r>
              <a:rPr lang="en-US" err="1" smtClean="0"/>
              <a:t>lưu</a:t>
            </a:r>
            <a:r>
              <a:rPr lang="en-US" smtClean="0"/>
              <a:t> ý </a:t>
            </a:r>
            <a:r>
              <a:rPr lang="en-US" err="1" smtClean="0"/>
              <a:t>phải</a:t>
            </a:r>
            <a:r>
              <a:rPr lang="en-US" smtClean="0"/>
              <a:t> </a:t>
            </a:r>
            <a:r>
              <a:rPr lang="en-US" err="1" smtClean="0"/>
              <a:t>có</a:t>
            </a:r>
            <a:r>
              <a:rPr lang="en-US" smtClean="0"/>
              <a:t> </a:t>
            </a:r>
            <a:r>
              <a:rPr lang="en-US" err="1" smtClean="0"/>
              <a:t>dấu</a:t>
            </a:r>
            <a:r>
              <a:rPr lang="en-US" smtClean="0"/>
              <a:t> </a:t>
            </a:r>
            <a:r>
              <a:rPr lang="en-US" err="1" smtClean="0"/>
              <a:t>phẩy</a:t>
            </a:r>
            <a:r>
              <a:rPr lang="en-US" smtClean="0"/>
              <a:t> , </a:t>
            </a:r>
            <a:r>
              <a:rPr lang="en-US" err="1" smtClean="0"/>
              <a:t>phía</a:t>
            </a:r>
            <a:r>
              <a:rPr lang="en-US" smtClean="0"/>
              <a:t> </a:t>
            </a:r>
            <a:r>
              <a:rPr lang="en-US" err="1" smtClean="0"/>
              <a:t>sau</a:t>
            </a:r>
            <a:r>
              <a:rPr lang="en-US" smtClean="0"/>
              <a:t> </a:t>
            </a:r>
            <a:r>
              <a:rPr lang="en-US" err="1" smtClean="0"/>
              <a:t>phần</a:t>
            </a:r>
            <a:r>
              <a:rPr lang="en-US" smtClean="0"/>
              <a:t> </a:t>
            </a:r>
            <a:r>
              <a:rPr lang="en-US" err="1" smtClean="0"/>
              <a:t>tử</a:t>
            </a:r>
            <a:r>
              <a:rPr lang="en-US" smtClean="0"/>
              <a:t> </a:t>
            </a:r>
            <a:r>
              <a:rPr lang="en-US" err="1" smtClean="0"/>
              <a:t>đó</a:t>
            </a:r>
            <a:endParaRPr lang="en-US" b="1"/>
          </a:p>
        </p:txBody>
      </p:sp>
      <p:sp>
        <p:nvSpPr>
          <p:cNvPr id="25" name="TextBox 24"/>
          <p:cNvSpPr txBox="1"/>
          <p:nvPr/>
        </p:nvSpPr>
        <p:spPr>
          <a:xfrm>
            <a:off x="639997" y="3640998"/>
            <a:ext cx="7697972" cy="369332"/>
          </a:xfrm>
          <a:prstGeom prst="rect">
            <a:avLst/>
          </a:prstGeom>
          <a:noFill/>
        </p:spPr>
        <p:txBody>
          <a:bodyPr wrap="square" rtlCol="0">
            <a:spAutoFit/>
          </a:bodyPr>
          <a:lstStyle/>
          <a:p>
            <a:r>
              <a:rPr lang="en-US" err="1" smtClean="0"/>
              <a:t>Cú</a:t>
            </a:r>
            <a:r>
              <a:rPr lang="en-US" smtClean="0"/>
              <a:t> </a:t>
            </a:r>
            <a:r>
              <a:rPr lang="en-US" err="1" smtClean="0"/>
              <a:t>pháp</a:t>
            </a:r>
            <a:r>
              <a:rPr lang="en-US" smtClean="0"/>
              <a:t> </a:t>
            </a:r>
            <a:r>
              <a:rPr lang="en-US" err="1" smtClean="0"/>
              <a:t>sau</a:t>
            </a:r>
            <a:r>
              <a:rPr lang="en-US" smtClean="0"/>
              <a:t> </a:t>
            </a:r>
            <a:r>
              <a:rPr lang="en-US" err="1" smtClean="0"/>
              <a:t>đây</a:t>
            </a:r>
            <a:r>
              <a:rPr lang="en-US" smtClean="0"/>
              <a:t> </a:t>
            </a:r>
            <a:r>
              <a:rPr lang="en-US" err="1" smtClean="0"/>
              <a:t>có</a:t>
            </a:r>
            <a:r>
              <a:rPr lang="en-US" smtClean="0"/>
              <a:t> </a:t>
            </a:r>
            <a:r>
              <a:rPr lang="en-US" err="1" smtClean="0"/>
              <a:t>vẻ</a:t>
            </a:r>
            <a:r>
              <a:rPr lang="en-US" smtClean="0"/>
              <a:t> ok </a:t>
            </a:r>
            <a:r>
              <a:rPr lang="en-US" err="1" smtClean="0"/>
              <a:t>nhưng</a:t>
            </a:r>
            <a:r>
              <a:rPr lang="en-US" smtClean="0"/>
              <a:t> </a:t>
            </a:r>
            <a:r>
              <a:rPr lang="en-US" err="1" smtClean="0"/>
              <a:t>nó</a:t>
            </a:r>
            <a:r>
              <a:rPr lang="en-US" smtClean="0"/>
              <a:t> </a:t>
            </a:r>
            <a:r>
              <a:rPr lang="en-US" err="1" smtClean="0"/>
              <a:t>không</a:t>
            </a:r>
            <a:r>
              <a:rPr lang="en-US" smtClean="0"/>
              <a:t> </a:t>
            </a:r>
            <a:r>
              <a:rPr lang="en-US" err="1" smtClean="0"/>
              <a:t>phải</a:t>
            </a:r>
            <a:r>
              <a:rPr lang="en-US" smtClean="0"/>
              <a:t> tuple </a:t>
            </a:r>
            <a:r>
              <a:rPr lang="en-US" err="1" smtClean="0"/>
              <a:t>mà</a:t>
            </a:r>
            <a:r>
              <a:rPr lang="en-US" smtClean="0"/>
              <a:t> </a:t>
            </a:r>
            <a:r>
              <a:rPr lang="en-US" err="1" smtClean="0"/>
              <a:t>là</a:t>
            </a:r>
            <a:r>
              <a:rPr lang="en-US" smtClean="0"/>
              <a:t> </a:t>
            </a:r>
            <a:r>
              <a:rPr lang="en-US" err="1" smtClean="0"/>
              <a:t>str</a:t>
            </a:r>
            <a:endParaRPr lang="en-US" b="1"/>
          </a:p>
        </p:txBody>
      </p:sp>
      <p:sp>
        <p:nvSpPr>
          <p:cNvPr id="20" name="Rectangle 19"/>
          <p:cNvSpPr/>
          <p:nvPr/>
        </p:nvSpPr>
        <p:spPr>
          <a:xfrm>
            <a:off x="699793" y="4133236"/>
            <a:ext cx="7774356" cy="9716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880547" y="4256528"/>
            <a:ext cx="7402216" cy="646331"/>
          </a:xfrm>
          <a:prstGeom prst="rect">
            <a:avLst/>
          </a:prstGeom>
          <a:noFill/>
        </p:spPr>
        <p:txBody>
          <a:bodyPr wrap="square" rtlCol="0">
            <a:spAutoFit/>
          </a:bodyPr>
          <a:lstStyle/>
          <a:p>
            <a:r>
              <a:rPr lang="en-US" err="1">
                <a:solidFill>
                  <a:schemeClr val="bg1"/>
                </a:solidFill>
              </a:rPr>
              <a:t>thistuple</a:t>
            </a:r>
            <a:r>
              <a:rPr lang="en-US">
                <a:solidFill>
                  <a:schemeClr val="bg1"/>
                </a:solidFill>
              </a:rPr>
              <a:t> = (</a:t>
            </a:r>
            <a:r>
              <a:rPr lang="en-US">
                <a:solidFill>
                  <a:schemeClr val="accent2">
                    <a:lumMod val="75000"/>
                  </a:schemeClr>
                </a:solidFill>
              </a:rPr>
              <a:t>"apple</a:t>
            </a:r>
            <a:r>
              <a:rPr lang="en-US" smtClean="0">
                <a:solidFill>
                  <a:schemeClr val="accent2">
                    <a:lumMod val="75000"/>
                  </a:schemeClr>
                </a:solidFill>
              </a:rPr>
              <a:t>"</a:t>
            </a:r>
            <a:r>
              <a:rPr lang="en-US" smtClean="0">
                <a:solidFill>
                  <a:schemeClr val="bg1"/>
                </a:solidFill>
              </a:rPr>
              <a:t>)</a:t>
            </a:r>
            <a:endParaRPr lang="en-US">
              <a:solidFill>
                <a:schemeClr val="bg1"/>
              </a:solidFill>
            </a:endParaRPr>
          </a:p>
          <a:p>
            <a:r>
              <a:rPr lang="en-US">
                <a:solidFill>
                  <a:schemeClr val="bg1"/>
                </a:solidFill>
              </a:rPr>
              <a:t>print</a:t>
            </a:r>
            <a:r>
              <a:rPr lang="en-US">
                <a:solidFill>
                  <a:schemeClr val="accent4">
                    <a:lumMod val="60000"/>
                    <a:lumOff val="40000"/>
                  </a:schemeClr>
                </a:solidFill>
              </a:rPr>
              <a:t>(</a:t>
            </a:r>
            <a:r>
              <a:rPr lang="en-US">
                <a:solidFill>
                  <a:schemeClr val="bg1"/>
                </a:solidFill>
              </a:rPr>
              <a:t>type</a:t>
            </a:r>
            <a:r>
              <a:rPr lang="en-US">
                <a:solidFill>
                  <a:srgbClr val="FF66CC"/>
                </a:solidFill>
              </a:rPr>
              <a:t>(</a:t>
            </a:r>
            <a:r>
              <a:rPr lang="en-US" err="1">
                <a:solidFill>
                  <a:schemeClr val="bg1"/>
                </a:solidFill>
              </a:rPr>
              <a:t>thistuple</a:t>
            </a:r>
            <a:r>
              <a:rPr lang="en-US" smtClean="0">
                <a:solidFill>
                  <a:srgbClr val="FF66CC"/>
                </a:solidFill>
              </a:rPr>
              <a:t>)</a:t>
            </a:r>
            <a:r>
              <a:rPr lang="en-US" smtClean="0">
                <a:solidFill>
                  <a:schemeClr val="accent4">
                    <a:lumMod val="60000"/>
                    <a:lumOff val="40000"/>
                  </a:schemeClr>
                </a:solidFill>
              </a:rPr>
              <a:t>) #output: </a:t>
            </a:r>
            <a:r>
              <a:rPr lang="en-US" err="1" smtClean="0">
                <a:solidFill>
                  <a:schemeClr val="accent4">
                    <a:lumMod val="60000"/>
                    <a:lumOff val="40000"/>
                  </a:schemeClr>
                </a:solidFill>
              </a:rPr>
              <a:t>str</a:t>
            </a:r>
            <a:endParaRPr lang="en-US" sz="1600">
              <a:solidFill>
                <a:schemeClr val="accent4">
                  <a:lumMod val="60000"/>
                  <a:lumOff val="40000"/>
                </a:schemeClr>
              </a:solidFill>
            </a:endParaRPr>
          </a:p>
        </p:txBody>
      </p:sp>
      <p:sp>
        <p:nvSpPr>
          <p:cNvPr id="22" name="TextBox 21"/>
          <p:cNvSpPr txBox="1"/>
          <p:nvPr/>
        </p:nvSpPr>
        <p:spPr>
          <a:xfrm>
            <a:off x="639997" y="5193275"/>
            <a:ext cx="7697972" cy="369332"/>
          </a:xfrm>
          <a:prstGeom prst="rect">
            <a:avLst/>
          </a:prstGeom>
          <a:noFill/>
        </p:spPr>
        <p:txBody>
          <a:bodyPr wrap="square" rtlCol="0">
            <a:spAutoFit/>
          </a:bodyPr>
          <a:lstStyle/>
          <a:p>
            <a:r>
              <a:rPr lang="en-US" smtClean="0"/>
              <a:t>Tuple </a:t>
            </a:r>
            <a:r>
              <a:rPr lang="en-US" err="1" smtClean="0"/>
              <a:t>chấp</a:t>
            </a:r>
            <a:r>
              <a:rPr lang="en-US" smtClean="0"/>
              <a:t> </a:t>
            </a:r>
            <a:r>
              <a:rPr lang="en-US" err="1" smtClean="0"/>
              <a:t>nhận</a:t>
            </a:r>
            <a:r>
              <a:rPr lang="en-US" smtClean="0"/>
              <a:t> </a:t>
            </a:r>
            <a:r>
              <a:rPr lang="en-US" err="1" smtClean="0"/>
              <a:t>nhiều</a:t>
            </a:r>
            <a:r>
              <a:rPr lang="en-US" smtClean="0"/>
              <a:t> </a:t>
            </a:r>
            <a:r>
              <a:rPr lang="en-US" err="1" smtClean="0"/>
              <a:t>kiểu</a:t>
            </a:r>
            <a:r>
              <a:rPr lang="en-US" smtClean="0"/>
              <a:t> </a:t>
            </a:r>
            <a:r>
              <a:rPr lang="en-US" err="1" smtClean="0"/>
              <a:t>giá</a:t>
            </a:r>
            <a:r>
              <a:rPr lang="en-US" smtClean="0"/>
              <a:t> </a:t>
            </a:r>
            <a:r>
              <a:rPr lang="en-US" err="1" smtClean="0"/>
              <a:t>trị</a:t>
            </a:r>
            <a:endParaRPr lang="en-US" b="1"/>
          </a:p>
        </p:txBody>
      </p:sp>
      <p:sp>
        <p:nvSpPr>
          <p:cNvPr id="23" name="Rectangle 22"/>
          <p:cNvSpPr/>
          <p:nvPr/>
        </p:nvSpPr>
        <p:spPr>
          <a:xfrm>
            <a:off x="710426" y="5638241"/>
            <a:ext cx="7742458" cy="91451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891180" y="5762638"/>
            <a:ext cx="7306522" cy="646331"/>
          </a:xfrm>
          <a:prstGeom prst="rect">
            <a:avLst/>
          </a:prstGeom>
          <a:noFill/>
        </p:spPr>
        <p:txBody>
          <a:bodyPr wrap="square" rtlCol="0">
            <a:spAutoFit/>
          </a:bodyPr>
          <a:lstStyle/>
          <a:p>
            <a:r>
              <a:rPr lang="en-US" err="1">
                <a:solidFill>
                  <a:schemeClr val="bg1"/>
                </a:solidFill>
              </a:rPr>
              <a:t>thistuple</a:t>
            </a:r>
            <a:r>
              <a:rPr lang="en-US">
                <a:solidFill>
                  <a:schemeClr val="bg1"/>
                </a:solidFill>
              </a:rPr>
              <a:t> = (</a:t>
            </a:r>
            <a:r>
              <a:rPr lang="en-US">
                <a:solidFill>
                  <a:schemeClr val="accent2">
                    <a:lumMod val="75000"/>
                  </a:schemeClr>
                </a:solidFill>
              </a:rPr>
              <a:t>"</a:t>
            </a:r>
            <a:r>
              <a:rPr lang="en-US" err="1">
                <a:solidFill>
                  <a:schemeClr val="accent2">
                    <a:lumMod val="75000"/>
                  </a:schemeClr>
                </a:solidFill>
              </a:rPr>
              <a:t>abc</a:t>
            </a:r>
            <a:r>
              <a:rPr lang="en-US">
                <a:solidFill>
                  <a:schemeClr val="accent2">
                    <a:lumMod val="75000"/>
                  </a:schemeClr>
                </a:solidFill>
              </a:rPr>
              <a:t>"</a:t>
            </a:r>
            <a:r>
              <a:rPr lang="en-US">
                <a:solidFill>
                  <a:schemeClr val="bg1"/>
                </a:solidFill>
              </a:rPr>
              <a:t>, </a:t>
            </a:r>
            <a:r>
              <a:rPr lang="en-US">
                <a:solidFill>
                  <a:schemeClr val="accent6">
                    <a:lumMod val="60000"/>
                    <a:lumOff val="40000"/>
                  </a:schemeClr>
                </a:solidFill>
              </a:rPr>
              <a:t>34</a:t>
            </a:r>
            <a:r>
              <a:rPr lang="en-US">
                <a:solidFill>
                  <a:schemeClr val="bg1"/>
                </a:solidFill>
              </a:rPr>
              <a:t>, </a:t>
            </a:r>
            <a:r>
              <a:rPr lang="en-US">
                <a:solidFill>
                  <a:srgbClr val="00B0F0"/>
                </a:solidFill>
              </a:rPr>
              <a:t>True</a:t>
            </a:r>
            <a:r>
              <a:rPr lang="en-US">
                <a:solidFill>
                  <a:schemeClr val="bg1"/>
                </a:solidFill>
              </a:rPr>
              <a:t>, </a:t>
            </a:r>
            <a:r>
              <a:rPr lang="en-US">
                <a:solidFill>
                  <a:schemeClr val="accent6">
                    <a:lumMod val="60000"/>
                    <a:lumOff val="40000"/>
                  </a:schemeClr>
                </a:solidFill>
              </a:rPr>
              <a:t>40</a:t>
            </a:r>
            <a:r>
              <a:rPr lang="en-US">
                <a:solidFill>
                  <a:schemeClr val="bg1"/>
                </a:solidFill>
              </a:rPr>
              <a:t>, </a:t>
            </a:r>
            <a:r>
              <a:rPr lang="en-US">
                <a:solidFill>
                  <a:schemeClr val="accent2">
                    <a:lumMod val="75000"/>
                  </a:schemeClr>
                </a:solidFill>
              </a:rPr>
              <a:t>"male</a:t>
            </a:r>
            <a:r>
              <a:rPr lang="en-US" smtClean="0">
                <a:solidFill>
                  <a:schemeClr val="accent2">
                    <a:lumMod val="75000"/>
                  </a:schemeClr>
                </a:solidFill>
              </a:rPr>
              <a:t>"</a:t>
            </a:r>
            <a:r>
              <a:rPr lang="en-US" smtClean="0">
                <a:solidFill>
                  <a:schemeClr val="bg1"/>
                </a:solidFill>
              </a:rPr>
              <a:t>)</a:t>
            </a:r>
          </a:p>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thistuple</a:t>
            </a:r>
            <a:r>
              <a:rPr lang="en-US">
                <a:solidFill>
                  <a:schemeClr val="accent4">
                    <a:lumMod val="60000"/>
                    <a:lumOff val="40000"/>
                  </a:schemeClr>
                </a:solidFill>
              </a:rPr>
              <a:t>)</a:t>
            </a:r>
            <a:endParaRPr lang="en-US" smtClean="0">
              <a:solidFill>
                <a:schemeClr val="accent4">
                  <a:lumMod val="60000"/>
                  <a:lumOff val="40000"/>
                </a:schemeClr>
              </a:solidFill>
            </a:endParaRPr>
          </a:p>
        </p:txBody>
      </p:sp>
    </p:spTree>
    <p:extLst>
      <p:ext uri="{BB962C8B-B14F-4D97-AF65-F5344CB8AC3E}">
        <p14:creationId xmlns:p14="http://schemas.microsoft.com/office/powerpoint/2010/main" val="11941529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5.4 </a:t>
            </a:r>
            <a:r>
              <a:rPr lang="en-US" err="1" smtClean="0"/>
              <a:t>Các</a:t>
            </a:r>
            <a:r>
              <a:rPr lang="en-US" smtClean="0"/>
              <a:t> </a:t>
            </a:r>
            <a:r>
              <a:rPr lang="en-US" err="1" smtClean="0"/>
              <a:t>phương</a:t>
            </a:r>
            <a:r>
              <a:rPr lang="en-US" smtClean="0"/>
              <a:t> </a:t>
            </a:r>
            <a:r>
              <a:rPr lang="en-US" err="1" smtClean="0"/>
              <a:t>thức</a:t>
            </a:r>
            <a:r>
              <a:rPr lang="en-US" smtClean="0"/>
              <a:t> </a:t>
            </a:r>
            <a:r>
              <a:rPr lang="en-US" err="1" smtClean="0"/>
              <a:t>tương</a:t>
            </a:r>
            <a:r>
              <a:rPr lang="en-US" smtClean="0"/>
              <a:t> </a:t>
            </a:r>
            <a:r>
              <a:rPr lang="en-US" err="1" smtClean="0"/>
              <a:t>tác</a:t>
            </a:r>
            <a:r>
              <a:rPr lang="en-US" smtClean="0"/>
              <a:t> </a:t>
            </a:r>
            <a:r>
              <a:rPr lang="en-US" err="1" smtClean="0"/>
              <a:t>với</a:t>
            </a:r>
            <a:r>
              <a:rPr lang="en-US" smtClean="0"/>
              <a:t> Tuple</a:t>
            </a:r>
            <a:endParaRPr lang="en-US"/>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Truy</a:t>
            </a:r>
            <a:r>
              <a:rPr lang="en-US" b="1" smtClean="0"/>
              <a:t> </a:t>
            </a:r>
            <a:r>
              <a:rPr lang="en-US" b="1" err="1" smtClean="0"/>
              <a:t>cập</a:t>
            </a:r>
            <a:r>
              <a:rPr lang="en-US" b="1" smtClean="0"/>
              <a:t> </a:t>
            </a:r>
            <a:r>
              <a:rPr lang="en-US" b="1" err="1" smtClean="0"/>
              <a:t>đến</a:t>
            </a:r>
            <a:r>
              <a:rPr lang="en-US" b="1" smtClean="0"/>
              <a:t> </a:t>
            </a:r>
            <a:r>
              <a:rPr lang="en-US" b="1" err="1" smtClean="0"/>
              <a:t>phần</a:t>
            </a:r>
            <a:r>
              <a:rPr lang="en-US" b="1" smtClean="0"/>
              <a:t> </a:t>
            </a:r>
            <a:r>
              <a:rPr lang="en-US" b="1" err="1" smtClean="0"/>
              <a:t>tử</a:t>
            </a:r>
            <a:r>
              <a:rPr lang="en-US" b="1" smtClean="0"/>
              <a:t> </a:t>
            </a:r>
            <a:r>
              <a:rPr lang="en-US" b="1" err="1" smtClean="0"/>
              <a:t>của</a:t>
            </a:r>
            <a:r>
              <a:rPr lang="en-US" b="1" smtClean="0"/>
              <a:t> Tuple</a:t>
            </a:r>
            <a:endParaRPr lang="en-US" b="1">
              <a:solidFill>
                <a:srgbClr val="FF0000"/>
              </a:solidFill>
            </a:endParaRPr>
          </a:p>
        </p:txBody>
      </p:sp>
      <p:sp>
        <p:nvSpPr>
          <p:cNvPr id="29" name="Rectangle 28"/>
          <p:cNvSpPr/>
          <p:nvPr/>
        </p:nvSpPr>
        <p:spPr>
          <a:xfrm>
            <a:off x="699793" y="2498652"/>
            <a:ext cx="7774356" cy="9716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646331"/>
          </a:xfrm>
          <a:prstGeom prst="rect">
            <a:avLst/>
          </a:prstGeom>
          <a:noFill/>
        </p:spPr>
        <p:txBody>
          <a:bodyPr wrap="square" rtlCol="0">
            <a:spAutoFit/>
          </a:bodyPr>
          <a:lstStyle/>
          <a:p>
            <a:r>
              <a:rPr lang="en-US" err="1">
                <a:solidFill>
                  <a:schemeClr val="bg1"/>
                </a:solidFill>
              </a:rPr>
              <a:t>thistuple</a:t>
            </a:r>
            <a:r>
              <a:rPr lang="en-US">
                <a:solidFill>
                  <a:schemeClr val="bg1"/>
                </a:solidFill>
              </a:rPr>
              <a:t> = (</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a:solidFill>
                  <a:schemeClr val="accent2">
                    <a:lumMod val="75000"/>
                  </a:schemeClr>
                </a:solidFill>
              </a:rPr>
              <a:t>"</a:t>
            </a:r>
            <a:r>
              <a:rPr lang="en-US" smtClean="0">
                <a:solidFill>
                  <a:schemeClr val="accent2">
                    <a:lumMod val="75000"/>
                  </a:schemeClr>
                </a:solidFill>
              </a:rPr>
              <a:t>cherry“, </a:t>
            </a:r>
            <a:r>
              <a:rPr lang="en-US">
                <a:solidFill>
                  <a:schemeClr val="accent2">
                    <a:lumMod val="75000"/>
                  </a:schemeClr>
                </a:solidFill>
              </a:rPr>
              <a:t>"orange", "kiwi", "melon</a:t>
            </a:r>
            <a:r>
              <a:rPr lang="en-US" smtClean="0">
                <a:solidFill>
                  <a:schemeClr val="accent2">
                    <a:lumMod val="75000"/>
                  </a:schemeClr>
                </a:solidFill>
              </a:rPr>
              <a:t>"</a:t>
            </a:r>
            <a:r>
              <a:rPr lang="en-US" smtClean="0">
                <a:solidFill>
                  <a:schemeClr val="bg1"/>
                </a:solidFill>
              </a:rPr>
              <a:t>)</a:t>
            </a:r>
            <a:r>
              <a:rPr lang="en-US">
                <a:solidFill>
                  <a:schemeClr val="bg1"/>
                </a:solidFill>
              </a:rPr>
              <a:t/>
            </a:r>
            <a:br>
              <a:rPr lang="en-US">
                <a:solidFill>
                  <a:schemeClr val="bg1"/>
                </a:solidFill>
              </a:rPr>
            </a:br>
            <a:r>
              <a:rPr lang="en-US">
                <a:solidFill>
                  <a:schemeClr val="bg1"/>
                </a:solidFill>
              </a:rPr>
              <a:t>print</a:t>
            </a:r>
            <a:r>
              <a:rPr lang="en-US">
                <a:solidFill>
                  <a:schemeClr val="accent4">
                    <a:lumMod val="60000"/>
                    <a:lumOff val="40000"/>
                  </a:schemeClr>
                </a:solidFill>
              </a:rPr>
              <a:t>(</a:t>
            </a:r>
            <a:r>
              <a:rPr lang="en-US" err="1">
                <a:solidFill>
                  <a:schemeClr val="bg1"/>
                </a:solidFill>
              </a:rPr>
              <a:t>thistuple</a:t>
            </a:r>
            <a:r>
              <a:rPr lang="en-US">
                <a:solidFill>
                  <a:srgbClr val="FF66CC"/>
                </a:solidFill>
              </a:rPr>
              <a:t>[</a:t>
            </a:r>
            <a:r>
              <a:rPr lang="en-US">
                <a:solidFill>
                  <a:schemeClr val="accent6">
                    <a:lumMod val="60000"/>
                    <a:lumOff val="40000"/>
                  </a:schemeClr>
                </a:solidFill>
              </a:rPr>
              <a:t>1</a:t>
            </a:r>
            <a:r>
              <a:rPr lang="en-US" smtClean="0">
                <a:solidFill>
                  <a:srgbClr val="FF66CC"/>
                </a:solidFill>
              </a:rPr>
              <a:t>]</a:t>
            </a:r>
            <a:r>
              <a:rPr lang="en-US" smtClean="0">
                <a:solidFill>
                  <a:schemeClr val="accent4">
                    <a:lumMod val="60000"/>
                    <a:lumOff val="40000"/>
                  </a:schemeClr>
                </a:solidFill>
              </a:rPr>
              <a:t>) </a:t>
            </a:r>
            <a:r>
              <a:rPr lang="en-US" sz="1600" smtClean="0">
                <a:solidFill>
                  <a:schemeClr val="accent4">
                    <a:lumMod val="60000"/>
                    <a:lumOff val="40000"/>
                  </a:schemeClr>
                </a:solidFill>
              </a:rPr>
              <a:t> </a:t>
            </a:r>
            <a:r>
              <a:rPr lang="en-US" sz="1600">
                <a:solidFill>
                  <a:schemeClr val="accent4">
                    <a:lumMod val="60000"/>
                    <a:lumOff val="40000"/>
                  </a:schemeClr>
                </a:solidFill>
              </a:rPr>
              <a:t>#output: banana</a:t>
            </a: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Truy</a:t>
            </a:r>
            <a:r>
              <a:rPr lang="en-US" smtClean="0"/>
              <a:t> </a:t>
            </a:r>
            <a:r>
              <a:rPr lang="en-US" err="1" smtClean="0"/>
              <a:t>cập</a:t>
            </a:r>
            <a:r>
              <a:rPr lang="en-US" smtClean="0"/>
              <a:t> </a:t>
            </a:r>
            <a:r>
              <a:rPr lang="en-US" err="1" smtClean="0"/>
              <a:t>đến</a:t>
            </a:r>
            <a:r>
              <a:rPr lang="en-US" smtClean="0"/>
              <a:t> </a:t>
            </a:r>
            <a:r>
              <a:rPr lang="en-US" err="1" smtClean="0"/>
              <a:t>phần</a:t>
            </a:r>
            <a:r>
              <a:rPr lang="en-US" smtClean="0"/>
              <a:t> </a:t>
            </a:r>
            <a:r>
              <a:rPr lang="en-US" err="1" smtClean="0"/>
              <a:t>tử</a:t>
            </a:r>
            <a:r>
              <a:rPr lang="en-US" smtClean="0"/>
              <a:t> </a:t>
            </a:r>
            <a:r>
              <a:rPr lang="en-US" err="1" smtClean="0"/>
              <a:t>dựa</a:t>
            </a:r>
            <a:r>
              <a:rPr lang="en-US" smtClean="0"/>
              <a:t> </a:t>
            </a:r>
            <a:r>
              <a:rPr lang="en-US" err="1" smtClean="0"/>
              <a:t>vào</a:t>
            </a:r>
            <a:r>
              <a:rPr lang="en-US" smtClean="0"/>
              <a:t> </a:t>
            </a:r>
            <a:r>
              <a:rPr lang="en-US" err="1" smtClean="0"/>
              <a:t>vị</a:t>
            </a:r>
            <a:r>
              <a:rPr lang="en-US" smtClean="0"/>
              <a:t> </a:t>
            </a:r>
            <a:r>
              <a:rPr lang="en-US" err="1" smtClean="0"/>
              <a:t>trí</a:t>
            </a:r>
            <a:r>
              <a:rPr lang="en-US" smtClean="0"/>
              <a:t> index </a:t>
            </a:r>
            <a:r>
              <a:rPr lang="en-US" err="1" smtClean="0"/>
              <a:t>của</a:t>
            </a:r>
            <a:r>
              <a:rPr lang="en-US" smtClean="0"/>
              <a:t> </a:t>
            </a:r>
            <a:r>
              <a:rPr lang="en-US" err="1" smtClean="0"/>
              <a:t>phần</a:t>
            </a:r>
            <a:r>
              <a:rPr lang="en-US" smtClean="0"/>
              <a:t> </a:t>
            </a:r>
            <a:r>
              <a:rPr lang="en-US" err="1" smtClean="0"/>
              <a:t>tử</a:t>
            </a:r>
            <a:r>
              <a:rPr lang="en-US" smtClean="0"/>
              <a:t> </a:t>
            </a:r>
            <a:r>
              <a:rPr lang="en-US" err="1" smtClean="0"/>
              <a:t>đó</a:t>
            </a:r>
            <a:r>
              <a:rPr lang="en-US" smtClean="0"/>
              <a:t> </a:t>
            </a:r>
            <a:r>
              <a:rPr lang="en-US" err="1" smtClean="0"/>
              <a:t>trong</a:t>
            </a:r>
            <a:r>
              <a:rPr lang="en-US" smtClean="0"/>
              <a:t> Tuple</a:t>
            </a:r>
            <a:endParaRPr lang="en-US" b="1"/>
          </a:p>
        </p:txBody>
      </p:sp>
      <p:sp>
        <p:nvSpPr>
          <p:cNvPr id="25" name="TextBox 24"/>
          <p:cNvSpPr txBox="1"/>
          <p:nvPr/>
        </p:nvSpPr>
        <p:spPr>
          <a:xfrm>
            <a:off x="639997" y="3584496"/>
            <a:ext cx="7697972" cy="369332"/>
          </a:xfrm>
          <a:prstGeom prst="rect">
            <a:avLst/>
          </a:prstGeom>
          <a:noFill/>
        </p:spPr>
        <p:txBody>
          <a:bodyPr wrap="square" rtlCol="0">
            <a:spAutoFit/>
          </a:bodyPr>
          <a:lstStyle/>
          <a:p>
            <a:r>
              <a:rPr lang="en-US" err="1" smtClean="0"/>
              <a:t>Lấy</a:t>
            </a:r>
            <a:r>
              <a:rPr lang="en-US" smtClean="0"/>
              <a:t> </a:t>
            </a:r>
            <a:r>
              <a:rPr lang="en-US" err="1" smtClean="0"/>
              <a:t>theo</a:t>
            </a:r>
            <a:r>
              <a:rPr lang="en-US" smtClean="0"/>
              <a:t> </a:t>
            </a:r>
            <a:r>
              <a:rPr lang="en-US" err="1" smtClean="0"/>
              <a:t>chiều</a:t>
            </a:r>
            <a:r>
              <a:rPr lang="en-US" smtClean="0"/>
              <a:t> </a:t>
            </a:r>
            <a:r>
              <a:rPr lang="en-US" err="1" smtClean="0"/>
              <a:t>ngược</a:t>
            </a:r>
            <a:r>
              <a:rPr lang="en-US" smtClean="0"/>
              <a:t> </a:t>
            </a:r>
            <a:r>
              <a:rPr lang="en-US" err="1" smtClean="0"/>
              <a:t>lại</a:t>
            </a:r>
            <a:r>
              <a:rPr lang="en-US" smtClean="0"/>
              <a:t> (</a:t>
            </a:r>
            <a:r>
              <a:rPr lang="en-US" err="1" smtClean="0"/>
              <a:t>phải</a:t>
            </a:r>
            <a:r>
              <a:rPr lang="en-US" smtClean="0"/>
              <a:t> qua </a:t>
            </a:r>
            <a:r>
              <a:rPr lang="en-US" err="1" smtClean="0"/>
              <a:t>trái</a:t>
            </a:r>
            <a:r>
              <a:rPr lang="en-US" smtClean="0"/>
              <a:t>)</a:t>
            </a:r>
            <a:endParaRPr lang="en-US" b="1"/>
          </a:p>
        </p:txBody>
      </p:sp>
      <p:sp>
        <p:nvSpPr>
          <p:cNvPr id="20" name="Rectangle 19"/>
          <p:cNvSpPr/>
          <p:nvPr/>
        </p:nvSpPr>
        <p:spPr>
          <a:xfrm>
            <a:off x="699793" y="4047723"/>
            <a:ext cx="7774356" cy="66204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880547" y="4171015"/>
            <a:ext cx="7402216" cy="369332"/>
          </a:xfrm>
          <a:prstGeom prst="rect">
            <a:avLst/>
          </a:prstGeom>
          <a:noFill/>
        </p:spPr>
        <p:txBody>
          <a:bodyPr wrap="square" rtlCol="0">
            <a:spAutoFit/>
          </a:bodyPr>
          <a:lstStyle/>
          <a:p>
            <a:r>
              <a:rPr lang="en-US">
                <a:solidFill>
                  <a:schemeClr val="bg1"/>
                </a:solidFill>
              </a:rPr>
              <a:t>print</a:t>
            </a:r>
            <a:r>
              <a:rPr lang="en-US">
                <a:solidFill>
                  <a:schemeClr val="accent4">
                    <a:lumMod val="60000"/>
                    <a:lumOff val="40000"/>
                  </a:schemeClr>
                </a:solidFill>
              </a:rPr>
              <a:t>(</a:t>
            </a:r>
            <a:r>
              <a:rPr lang="en-US" err="1">
                <a:solidFill>
                  <a:schemeClr val="bg1"/>
                </a:solidFill>
              </a:rPr>
              <a:t>thistuple</a:t>
            </a:r>
            <a:r>
              <a:rPr lang="en-US" smtClean="0">
                <a:solidFill>
                  <a:srgbClr val="FF66CC"/>
                </a:solidFill>
              </a:rPr>
              <a:t>[-</a:t>
            </a:r>
            <a:r>
              <a:rPr lang="en-US" smtClean="0">
                <a:solidFill>
                  <a:schemeClr val="accent6">
                    <a:lumMod val="60000"/>
                    <a:lumOff val="40000"/>
                  </a:schemeClr>
                </a:solidFill>
              </a:rPr>
              <a:t>1</a:t>
            </a:r>
            <a:r>
              <a:rPr lang="en-US" smtClean="0">
                <a:solidFill>
                  <a:srgbClr val="FF66CC"/>
                </a:solidFill>
              </a:rPr>
              <a:t>]</a:t>
            </a:r>
            <a:r>
              <a:rPr lang="en-US" smtClean="0">
                <a:solidFill>
                  <a:schemeClr val="accent4">
                    <a:lumMod val="60000"/>
                    <a:lumOff val="40000"/>
                  </a:schemeClr>
                </a:solidFill>
              </a:rPr>
              <a:t>) #output: melon</a:t>
            </a:r>
            <a:endParaRPr lang="en-US" sz="1600">
              <a:solidFill>
                <a:schemeClr val="accent4">
                  <a:lumMod val="60000"/>
                  <a:lumOff val="40000"/>
                </a:schemeClr>
              </a:solidFill>
            </a:endParaRPr>
          </a:p>
        </p:txBody>
      </p:sp>
      <p:sp>
        <p:nvSpPr>
          <p:cNvPr id="22" name="TextBox 21"/>
          <p:cNvSpPr txBox="1"/>
          <p:nvPr/>
        </p:nvSpPr>
        <p:spPr>
          <a:xfrm>
            <a:off x="639997" y="4858086"/>
            <a:ext cx="7697972" cy="646331"/>
          </a:xfrm>
          <a:prstGeom prst="rect">
            <a:avLst/>
          </a:prstGeom>
          <a:noFill/>
        </p:spPr>
        <p:txBody>
          <a:bodyPr wrap="square" rtlCol="0">
            <a:spAutoFit/>
          </a:bodyPr>
          <a:lstStyle/>
          <a:p>
            <a:r>
              <a:rPr lang="en-US" err="1" smtClean="0"/>
              <a:t>Lấy</a:t>
            </a:r>
            <a:r>
              <a:rPr lang="en-US" smtClean="0"/>
              <a:t> </a:t>
            </a:r>
            <a:r>
              <a:rPr lang="en-US" err="1" smtClean="0"/>
              <a:t>theo</a:t>
            </a:r>
            <a:r>
              <a:rPr lang="en-US" smtClean="0"/>
              <a:t> </a:t>
            </a:r>
            <a:r>
              <a:rPr lang="en-US" err="1" smtClean="0"/>
              <a:t>một</a:t>
            </a:r>
            <a:r>
              <a:rPr lang="en-US" smtClean="0"/>
              <a:t> </a:t>
            </a:r>
            <a:r>
              <a:rPr lang="en-US" err="1" smtClean="0"/>
              <a:t>khoảng</a:t>
            </a:r>
            <a:r>
              <a:rPr lang="en-US" smtClean="0"/>
              <a:t>: [</a:t>
            </a:r>
            <a:r>
              <a:rPr lang="en-US" err="1" smtClean="0"/>
              <a:t>start:end</a:t>
            </a:r>
            <a:r>
              <a:rPr lang="en-US" smtClean="0"/>
              <a:t>] – start </a:t>
            </a:r>
            <a:r>
              <a:rPr lang="en-US" err="1" smtClean="0"/>
              <a:t>mặc</a:t>
            </a:r>
            <a:r>
              <a:rPr lang="en-US" smtClean="0"/>
              <a:t> </a:t>
            </a:r>
            <a:r>
              <a:rPr lang="en-US" err="1" smtClean="0"/>
              <a:t>định</a:t>
            </a:r>
            <a:r>
              <a:rPr lang="en-US" smtClean="0"/>
              <a:t> </a:t>
            </a:r>
            <a:r>
              <a:rPr lang="en-US" err="1" smtClean="0"/>
              <a:t>là</a:t>
            </a:r>
            <a:r>
              <a:rPr lang="en-US" smtClean="0"/>
              <a:t> 0, end </a:t>
            </a:r>
            <a:r>
              <a:rPr lang="en-US" err="1" smtClean="0"/>
              <a:t>mặc</a:t>
            </a:r>
            <a:r>
              <a:rPr lang="en-US" smtClean="0"/>
              <a:t> </a:t>
            </a:r>
            <a:r>
              <a:rPr lang="en-US" err="1" smtClean="0"/>
              <a:t>định</a:t>
            </a:r>
            <a:r>
              <a:rPr lang="en-US" smtClean="0"/>
              <a:t> </a:t>
            </a:r>
            <a:r>
              <a:rPr lang="en-US" err="1" smtClean="0"/>
              <a:t>vị</a:t>
            </a:r>
            <a:r>
              <a:rPr lang="en-US" smtClean="0"/>
              <a:t> </a:t>
            </a:r>
            <a:r>
              <a:rPr lang="en-US" err="1" smtClean="0"/>
              <a:t>trí</a:t>
            </a:r>
            <a:r>
              <a:rPr lang="en-US" smtClean="0"/>
              <a:t> </a:t>
            </a:r>
            <a:r>
              <a:rPr lang="en-US" err="1" smtClean="0"/>
              <a:t>cuối</a:t>
            </a:r>
            <a:r>
              <a:rPr lang="en-US" smtClean="0"/>
              <a:t> </a:t>
            </a:r>
            <a:r>
              <a:rPr lang="en-US" err="1" smtClean="0"/>
              <a:t>cùng</a:t>
            </a:r>
            <a:endParaRPr lang="en-US" b="1"/>
          </a:p>
        </p:txBody>
      </p:sp>
      <p:sp>
        <p:nvSpPr>
          <p:cNvPr id="23" name="Rectangle 22"/>
          <p:cNvSpPr/>
          <p:nvPr/>
        </p:nvSpPr>
        <p:spPr>
          <a:xfrm>
            <a:off x="710426" y="5572001"/>
            <a:ext cx="7742458" cy="91451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891180" y="5696398"/>
            <a:ext cx="7306522" cy="615553"/>
          </a:xfrm>
          <a:prstGeom prst="rect">
            <a:avLst/>
          </a:prstGeom>
          <a:noFill/>
        </p:spPr>
        <p:txBody>
          <a:bodyPr wrap="square" rtlCol="0">
            <a:spAutoFit/>
          </a:bodyPr>
          <a:lstStyle/>
          <a:p>
            <a:r>
              <a:rPr lang="en-US" smtClean="0">
                <a:solidFill>
                  <a:schemeClr val="bg1"/>
                </a:solidFill>
              </a:rPr>
              <a:t>print</a:t>
            </a:r>
            <a:r>
              <a:rPr lang="en-US" smtClean="0">
                <a:solidFill>
                  <a:schemeClr val="accent4">
                    <a:lumMod val="60000"/>
                    <a:lumOff val="40000"/>
                  </a:schemeClr>
                </a:solidFill>
              </a:rPr>
              <a:t>(</a:t>
            </a:r>
            <a:r>
              <a:rPr lang="en-US" err="1" smtClean="0">
                <a:solidFill>
                  <a:schemeClr val="bg1"/>
                </a:solidFill>
              </a:rPr>
              <a:t>thistuple</a:t>
            </a:r>
            <a:r>
              <a:rPr lang="en-US" smtClean="0">
                <a:solidFill>
                  <a:srgbClr val="FF66CC"/>
                </a:solidFill>
              </a:rPr>
              <a:t>[1:2]</a:t>
            </a:r>
            <a:r>
              <a:rPr lang="en-US" smtClean="0">
                <a:solidFill>
                  <a:schemeClr val="accent4">
                    <a:lumMod val="60000"/>
                    <a:lumOff val="40000"/>
                  </a:schemeClr>
                </a:solidFill>
              </a:rPr>
              <a:t>)</a:t>
            </a:r>
          </a:p>
          <a:p>
            <a:r>
              <a:rPr lang="en-US" sz="1600" smtClean="0">
                <a:solidFill>
                  <a:schemeClr val="accent4">
                    <a:lumMod val="60000"/>
                    <a:lumOff val="40000"/>
                  </a:schemeClr>
                </a:solidFill>
              </a:rPr>
              <a:t>#Output</a:t>
            </a:r>
            <a:r>
              <a:rPr lang="en-US" sz="1600">
                <a:solidFill>
                  <a:schemeClr val="accent4">
                    <a:lumMod val="60000"/>
                    <a:lumOff val="40000"/>
                  </a:schemeClr>
                </a:solidFill>
              </a:rPr>
              <a:t>: ('banana',)</a:t>
            </a:r>
          </a:p>
        </p:txBody>
      </p:sp>
    </p:spTree>
    <p:extLst>
      <p:ext uri="{BB962C8B-B14F-4D97-AF65-F5344CB8AC3E}">
        <p14:creationId xmlns:p14="http://schemas.microsoft.com/office/powerpoint/2010/main" val="28907823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5.4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Tuple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Thay</a:t>
            </a:r>
            <a:r>
              <a:rPr lang="en-US" b="1" smtClean="0"/>
              <a:t> </a:t>
            </a:r>
            <a:r>
              <a:rPr lang="en-US" b="1" err="1" smtClean="0"/>
              <a:t>đổi</a:t>
            </a:r>
            <a:r>
              <a:rPr lang="en-US" b="1" smtClean="0"/>
              <a:t> </a:t>
            </a:r>
            <a:r>
              <a:rPr lang="en-US" b="1" err="1" smtClean="0"/>
              <a:t>giá</a:t>
            </a:r>
            <a:r>
              <a:rPr lang="en-US" b="1" smtClean="0"/>
              <a:t> </a:t>
            </a:r>
            <a:r>
              <a:rPr lang="en-US" b="1" err="1" smtClean="0"/>
              <a:t>trị</a:t>
            </a:r>
            <a:r>
              <a:rPr lang="en-US" b="1" smtClean="0"/>
              <a:t> </a:t>
            </a:r>
            <a:r>
              <a:rPr lang="en-US" b="1" err="1" smtClean="0"/>
              <a:t>của</a:t>
            </a:r>
            <a:r>
              <a:rPr lang="en-US" b="1" smtClean="0"/>
              <a:t> </a:t>
            </a:r>
            <a:r>
              <a:rPr lang="en-US" b="1" err="1" smtClean="0"/>
              <a:t>phần</a:t>
            </a:r>
            <a:r>
              <a:rPr lang="en-US" b="1" smtClean="0"/>
              <a:t> </a:t>
            </a:r>
            <a:r>
              <a:rPr lang="en-US" b="1" err="1" smtClean="0"/>
              <a:t>tử</a:t>
            </a:r>
            <a:r>
              <a:rPr lang="en-US" b="1" smtClean="0"/>
              <a:t> </a:t>
            </a:r>
            <a:r>
              <a:rPr lang="en-US" b="1" err="1" smtClean="0"/>
              <a:t>trong</a:t>
            </a:r>
            <a:r>
              <a:rPr lang="en-US" b="1" smtClean="0"/>
              <a:t> Tuple</a:t>
            </a:r>
            <a:endParaRPr lang="en-US" b="1">
              <a:solidFill>
                <a:srgbClr val="FF0000"/>
              </a:solidFill>
            </a:endParaRPr>
          </a:p>
        </p:txBody>
      </p:sp>
      <p:sp>
        <p:nvSpPr>
          <p:cNvPr id="29" name="Rectangle 28"/>
          <p:cNvSpPr/>
          <p:nvPr/>
        </p:nvSpPr>
        <p:spPr>
          <a:xfrm>
            <a:off x="699793" y="3468517"/>
            <a:ext cx="7774356" cy="215928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3694497"/>
            <a:ext cx="7402216" cy="1754326"/>
          </a:xfrm>
          <a:prstGeom prst="rect">
            <a:avLst/>
          </a:prstGeom>
          <a:noFill/>
        </p:spPr>
        <p:txBody>
          <a:bodyPr wrap="square" rtlCol="0">
            <a:spAutoFit/>
          </a:bodyPr>
          <a:lstStyle/>
          <a:p>
            <a:r>
              <a:rPr lang="es-ES">
                <a:solidFill>
                  <a:schemeClr val="bg1"/>
                </a:solidFill>
              </a:rPr>
              <a:t>x = </a:t>
            </a:r>
            <a:r>
              <a:rPr lang="es-ES">
                <a:solidFill>
                  <a:schemeClr val="accent4">
                    <a:lumMod val="60000"/>
                    <a:lumOff val="40000"/>
                  </a:schemeClr>
                </a:solidFill>
              </a:rPr>
              <a:t>(</a:t>
            </a:r>
            <a:r>
              <a:rPr lang="es-ES">
                <a:solidFill>
                  <a:schemeClr val="accent2">
                    <a:lumMod val="75000"/>
                  </a:schemeClr>
                </a:solidFill>
              </a:rPr>
              <a:t>"</a:t>
            </a:r>
            <a:r>
              <a:rPr lang="es-ES" err="1">
                <a:solidFill>
                  <a:schemeClr val="accent2">
                    <a:lumMod val="75000"/>
                  </a:schemeClr>
                </a:solidFill>
              </a:rPr>
              <a:t>apple</a:t>
            </a:r>
            <a:r>
              <a:rPr lang="es-ES">
                <a:solidFill>
                  <a:schemeClr val="accent2">
                    <a:lumMod val="75000"/>
                  </a:schemeClr>
                </a:solidFill>
              </a:rPr>
              <a:t>"</a:t>
            </a:r>
            <a:r>
              <a:rPr lang="es-ES">
                <a:solidFill>
                  <a:schemeClr val="bg1"/>
                </a:solidFill>
              </a:rPr>
              <a:t>, </a:t>
            </a:r>
            <a:r>
              <a:rPr lang="es-ES">
                <a:solidFill>
                  <a:schemeClr val="accent2">
                    <a:lumMod val="75000"/>
                  </a:schemeClr>
                </a:solidFill>
              </a:rPr>
              <a:t>"banana"</a:t>
            </a:r>
            <a:r>
              <a:rPr lang="es-ES">
                <a:solidFill>
                  <a:schemeClr val="bg1"/>
                </a:solidFill>
              </a:rPr>
              <a:t>, </a:t>
            </a:r>
            <a:r>
              <a:rPr lang="es-ES">
                <a:solidFill>
                  <a:schemeClr val="accent2">
                    <a:lumMod val="75000"/>
                  </a:schemeClr>
                </a:solidFill>
              </a:rPr>
              <a:t>"</a:t>
            </a:r>
            <a:r>
              <a:rPr lang="es-ES" err="1">
                <a:solidFill>
                  <a:schemeClr val="accent2">
                    <a:lumMod val="75000"/>
                  </a:schemeClr>
                </a:solidFill>
              </a:rPr>
              <a:t>cherry</a:t>
            </a:r>
            <a:r>
              <a:rPr lang="es-ES">
                <a:solidFill>
                  <a:schemeClr val="accent2">
                    <a:lumMod val="75000"/>
                  </a:schemeClr>
                </a:solidFill>
              </a:rPr>
              <a:t>"</a:t>
            </a:r>
            <a:r>
              <a:rPr lang="es-ES">
                <a:solidFill>
                  <a:schemeClr val="accent4">
                    <a:lumMod val="60000"/>
                    <a:lumOff val="40000"/>
                  </a:schemeClr>
                </a:solidFill>
              </a:rPr>
              <a:t>)</a:t>
            </a:r>
            <a:r>
              <a:rPr lang="es-ES">
                <a:solidFill>
                  <a:schemeClr val="bg1"/>
                </a:solidFill>
              </a:rPr>
              <a:t/>
            </a:r>
            <a:br>
              <a:rPr lang="es-ES">
                <a:solidFill>
                  <a:schemeClr val="bg1"/>
                </a:solidFill>
              </a:rPr>
            </a:br>
            <a:r>
              <a:rPr lang="es-ES">
                <a:solidFill>
                  <a:schemeClr val="bg1"/>
                </a:solidFill>
              </a:rPr>
              <a:t>y = </a:t>
            </a:r>
            <a:r>
              <a:rPr lang="es-ES" err="1">
                <a:solidFill>
                  <a:schemeClr val="bg1"/>
                </a:solidFill>
              </a:rPr>
              <a:t>list</a:t>
            </a:r>
            <a:r>
              <a:rPr lang="es-ES">
                <a:solidFill>
                  <a:schemeClr val="accent4">
                    <a:lumMod val="60000"/>
                    <a:lumOff val="40000"/>
                  </a:schemeClr>
                </a:solidFill>
              </a:rPr>
              <a:t>(</a:t>
            </a:r>
            <a:r>
              <a:rPr lang="es-ES">
                <a:solidFill>
                  <a:schemeClr val="bg1"/>
                </a:solidFill>
              </a:rPr>
              <a:t>x</a:t>
            </a:r>
            <a:r>
              <a:rPr lang="es-ES" smtClean="0">
                <a:solidFill>
                  <a:schemeClr val="accent4">
                    <a:lumMod val="60000"/>
                    <a:lumOff val="40000"/>
                  </a:schemeClr>
                </a:solidFill>
              </a:rPr>
              <a:t>) </a:t>
            </a:r>
            <a:r>
              <a:rPr lang="es-ES" smtClean="0">
                <a:solidFill>
                  <a:schemeClr val="accent6">
                    <a:lumMod val="75000"/>
                  </a:schemeClr>
                </a:solidFill>
              </a:rPr>
              <a:t>#</a:t>
            </a:r>
            <a:r>
              <a:rPr lang="es-ES" err="1" smtClean="0">
                <a:solidFill>
                  <a:schemeClr val="accent6">
                    <a:lumMod val="75000"/>
                  </a:schemeClr>
                </a:solidFill>
              </a:rPr>
              <a:t>chuyển</a:t>
            </a:r>
            <a:r>
              <a:rPr lang="es-ES" smtClean="0">
                <a:solidFill>
                  <a:schemeClr val="accent6">
                    <a:lumMod val="75000"/>
                  </a:schemeClr>
                </a:solidFill>
              </a:rPr>
              <a:t> </a:t>
            </a:r>
            <a:r>
              <a:rPr lang="es-ES" err="1" smtClean="0">
                <a:solidFill>
                  <a:schemeClr val="accent6">
                    <a:lumMod val="75000"/>
                  </a:schemeClr>
                </a:solidFill>
              </a:rPr>
              <a:t>tuple</a:t>
            </a:r>
            <a:r>
              <a:rPr lang="es-ES" smtClean="0">
                <a:solidFill>
                  <a:schemeClr val="accent6">
                    <a:lumMod val="75000"/>
                  </a:schemeClr>
                </a:solidFill>
              </a:rPr>
              <a:t> </a:t>
            </a:r>
            <a:r>
              <a:rPr lang="es-ES" err="1" smtClean="0">
                <a:solidFill>
                  <a:schemeClr val="accent6">
                    <a:lumMod val="75000"/>
                  </a:schemeClr>
                </a:solidFill>
              </a:rPr>
              <a:t>thành</a:t>
            </a:r>
            <a:r>
              <a:rPr lang="es-ES" smtClean="0">
                <a:solidFill>
                  <a:schemeClr val="accent6">
                    <a:lumMod val="75000"/>
                  </a:schemeClr>
                </a:solidFill>
              </a:rPr>
              <a:t> </a:t>
            </a:r>
            <a:r>
              <a:rPr lang="es-ES" err="1" smtClean="0">
                <a:solidFill>
                  <a:schemeClr val="accent6">
                    <a:lumMod val="75000"/>
                  </a:schemeClr>
                </a:solidFill>
              </a:rPr>
              <a:t>list</a:t>
            </a:r>
            <a:r>
              <a:rPr lang="es-ES">
                <a:solidFill>
                  <a:schemeClr val="bg1"/>
                </a:solidFill>
              </a:rPr>
              <a:t/>
            </a:r>
            <a:br>
              <a:rPr lang="es-ES">
                <a:solidFill>
                  <a:schemeClr val="bg1"/>
                </a:solidFill>
              </a:rPr>
            </a:br>
            <a:r>
              <a:rPr lang="es-ES">
                <a:solidFill>
                  <a:schemeClr val="bg1"/>
                </a:solidFill>
              </a:rPr>
              <a:t>y[1] = </a:t>
            </a:r>
            <a:r>
              <a:rPr lang="es-ES">
                <a:solidFill>
                  <a:schemeClr val="accent2">
                    <a:lumMod val="75000"/>
                  </a:schemeClr>
                </a:solidFill>
              </a:rPr>
              <a:t>"</a:t>
            </a:r>
            <a:r>
              <a:rPr lang="es-ES" smtClean="0">
                <a:solidFill>
                  <a:schemeClr val="accent2">
                    <a:lumMod val="75000"/>
                  </a:schemeClr>
                </a:solidFill>
              </a:rPr>
              <a:t>kiwi“</a:t>
            </a:r>
            <a:r>
              <a:rPr lang="es-ES" smtClean="0">
                <a:solidFill>
                  <a:schemeClr val="accent6">
                    <a:lumMod val="75000"/>
                  </a:schemeClr>
                </a:solidFill>
              </a:rPr>
              <a:t>#</a:t>
            </a:r>
            <a:r>
              <a:rPr lang="es-ES" err="1" smtClean="0">
                <a:solidFill>
                  <a:schemeClr val="accent6">
                    <a:lumMod val="75000"/>
                  </a:schemeClr>
                </a:solidFill>
              </a:rPr>
              <a:t>thay</a:t>
            </a:r>
            <a:r>
              <a:rPr lang="es-ES" smtClean="0">
                <a:solidFill>
                  <a:schemeClr val="accent6">
                    <a:lumMod val="75000"/>
                  </a:schemeClr>
                </a:solidFill>
              </a:rPr>
              <a:t> </a:t>
            </a:r>
            <a:r>
              <a:rPr lang="es-ES" err="1" smtClean="0">
                <a:solidFill>
                  <a:schemeClr val="accent6">
                    <a:lumMod val="75000"/>
                  </a:schemeClr>
                </a:solidFill>
              </a:rPr>
              <a:t>đổi</a:t>
            </a:r>
            <a:r>
              <a:rPr lang="es-ES" smtClean="0">
                <a:solidFill>
                  <a:schemeClr val="accent6">
                    <a:lumMod val="75000"/>
                  </a:schemeClr>
                </a:solidFill>
              </a:rPr>
              <a:t> </a:t>
            </a:r>
            <a:r>
              <a:rPr lang="es-ES" err="1" smtClean="0">
                <a:solidFill>
                  <a:schemeClr val="accent6">
                    <a:lumMod val="75000"/>
                  </a:schemeClr>
                </a:solidFill>
              </a:rPr>
              <a:t>giá</a:t>
            </a:r>
            <a:r>
              <a:rPr lang="es-ES" smtClean="0">
                <a:solidFill>
                  <a:schemeClr val="accent6">
                    <a:lumMod val="75000"/>
                  </a:schemeClr>
                </a:solidFill>
              </a:rPr>
              <a:t> </a:t>
            </a:r>
            <a:r>
              <a:rPr lang="es-ES" err="1" smtClean="0">
                <a:solidFill>
                  <a:schemeClr val="accent6">
                    <a:lumMod val="75000"/>
                  </a:schemeClr>
                </a:solidFill>
              </a:rPr>
              <a:t>trị</a:t>
            </a:r>
            <a:r>
              <a:rPr lang="es-ES" smtClean="0">
                <a:solidFill>
                  <a:schemeClr val="accent6">
                    <a:lumMod val="75000"/>
                  </a:schemeClr>
                </a:solidFill>
              </a:rPr>
              <a:t> </a:t>
            </a:r>
            <a:r>
              <a:rPr lang="es-ES" err="1" smtClean="0">
                <a:solidFill>
                  <a:schemeClr val="accent6">
                    <a:lumMod val="75000"/>
                  </a:schemeClr>
                </a:solidFill>
              </a:rPr>
              <a:t>banane</a:t>
            </a:r>
            <a:r>
              <a:rPr lang="es-ES" smtClean="0">
                <a:solidFill>
                  <a:schemeClr val="accent6">
                    <a:lumMod val="75000"/>
                  </a:schemeClr>
                </a:solidFill>
              </a:rPr>
              <a:t> </a:t>
            </a:r>
            <a:r>
              <a:rPr lang="es-ES" err="1" smtClean="0">
                <a:solidFill>
                  <a:schemeClr val="accent6">
                    <a:lumMod val="75000"/>
                  </a:schemeClr>
                </a:solidFill>
              </a:rPr>
              <a:t>thành</a:t>
            </a:r>
            <a:r>
              <a:rPr lang="es-ES" smtClean="0">
                <a:solidFill>
                  <a:schemeClr val="accent6">
                    <a:lumMod val="75000"/>
                  </a:schemeClr>
                </a:solidFill>
              </a:rPr>
              <a:t> kiwi</a:t>
            </a:r>
            <a:r>
              <a:rPr lang="es-ES" smtClean="0">
                <a:solidFill>
                  <a:schemeClr val="bg1"/>
                </a:solidFill>
              </a:rPr>
              <a:t/>
            </a:r>
            <a:br>
              <a:rPr lang="es-ES" smtClean="0">
                <a:solidFill>
                  <a:schemeClr val="bg1"/>
                </a:solidFill>
              </a:rPr>
            </a:br>
            <a:r>
              <a:rPr lang="es-ES" smtClean="0">
                <a:solidFill>
                  <a:schemeClr val="bg1"/>
                </a:solidFill>
              </a:rPr>
              <a:t>x </a:t>
            </a:r>
            <a:r>
              <a:rPr lang="es-ES">
                <a:solidFill>
                  <a:schemeClr val="bg1"/>
                </a:solidFill>
              </a:rPr>
              <a:t>= </a:t>
            </a:r>
            <a:r>
              <a:rPr lang="es-ES" err="1">
                <a:solidFill>
                  <a:schemeClr val="bg1"/>
                </a:solidFill>
              </a:rPr>
              <a:t>tuple</a:t>
            </a:r>
            <a:r>
              <a:rPr lang="es-ES">
                <a:solidFill>
                  <a:schemeClr val="accent4">
                    <a:lumMod val="60000"/>
                    <a:lumOff val="40000"/>
                  </a:schemeClr>
                </a:solidFill>
              </a:rPr>
              <a:t>(</a:t>
            </a:r>
            <a:r>
              <a:rPr lang="es-ES">
                <a:solidFill>
                  <a:schemeClr val="bg1"/>
                </a:solidFill>
              </a:rPr>
              <a:t>y</a:t>
            </a:r>
            <a:r>
              <a:rPr lang="es-ES" smtClean="0">
                <a:solidFill>
                  <a:schemeClr val="accent4">
                    <a:lumMod val="60000"/>
                    <a:lumOff val="40000"/>
                  </a:schemeClr>
                </a:solidFill>
              </a:rPr>
              <a:t>) </a:t>
            </a:r>
            <a:r>
              <a:rPr lang="es-ES">
                <a:solidFill>
                  <a:schemeClr val="accent6">
                    <a:lumMod val="75000"/>
                  </a:schemeClr>
                </a:solidFill>
              </a:rPr>
              <a:t>#</a:t>
            </a:r>
            <a:r>
              <a:rPr lang="es-ES" err="1">
                <a:solidFill>
                  <a:schemeClr val="accent6">
                    <a:lumMod val="75000"/>
                  </a:schemeClr>
                </a:solidFill>
              </a:rPr>
              <a:t>chuyển</a:t>
            </a:r>
            <a:r>
              <a:rPr lang="es-ES">
                <a:solidFill>
                  <a:schemeClr val="accent6">
                    <a:lumMod val="75000"/>
                  </a:schemeClr>
                </a:solidFill>
              </a:rPr>
              <a:t> </a:t>
            </a:r>
            <a:r>
              <a:rPr lang="es-ES" err="1" smtClean="0">
                <a:solidFill>
                  <a:schemeClr val="accent6">
                    <a:lumMod val="75000"/>
                  </a:schemeClr>
                </a:solidFill>
              </a:rPr>
              <a:t>list</a:t>
            </a:r>
            <a:r>
              <a:rPr lang="es-ES" smtClean="0">
                <a:solidFill>
                  <a:schemeClr val="accent6">
                    <a:lumMod val="75000"/>
                  </a:schemeClr>
                </a:solidFill>
              </a:rPr>
              <a:t> </a:t>
            </a:r>
            <a:r>
              <a:rPr lang="es-ES" err="1">
                <a:solidFill>
                  <a:schemeClr val="accent6">
                    <a:lumMod val="75000"/>
                  </a:schemeClr>
                </a:solidFill>
              </a:rPr>
              <a:t>thành</a:t>
            </a:r>
            <a:r>
              <a:rPr lang="es-ES">
                <a:solidFill>
                  <a:schemeClr val="accent6">
                    <a:lumMod val="75000"/>
                  </a:schemeClr>
                </a:solidFill>
              </a:rPr>
              <a:t> </a:t>
            </a:r>
            <a:r>
              <a:rPr lang="es-ES" err="1" smtClean="0">
                <a:solidFill>
                  <a:schemeClr val="accent6">
                    <a:lumMod val="75000"/>
                  </a:schemeClr>
                </a:solidFill>
              </a:rPr>
              <a:t>tuple</a:t>
            </a:r>
            <a:r>
              <a:rPr lang="es-ES" smtClean="0">
                <a:solidFill>
                  <a:schemeClr val="accent6">
                    <a:lumMod val="75000"/>
                  </a:schemeClr>
                </a:solidFill>
              </a:rPr>
              <a:t> </a:t>
            </a:r>
            <a:r>
              <a:rPr lang="es-ES" err="1" smtClean="0">
                <a:solidFill>
                  <a:schemeClr val="accent6">
                    <a:lumMod val="75000"/>
                  </a:schemeClr>
                </a:solidFill>
              </a:rPr>
              <a:t>lại</a:t>
            </a:r>
            <a:r>
              <a:rPr lang="es-ES">
                <a:solidFill>
                  <a:schemeClr val="bg1"/>
                </a:solidFill>
              </a:rPr>
              <a:t/>
            </a:r>
            <a:br>
              <a:rPr lang="es-ES">
                <a:solidFill>
                  <a:schemeClr val="bg1"/>
                </a:solidFill>
              </a:rPr>
            </a:br>
            <a:r>
              <a:rPr lang="es-ES">
                <a:solidFill>
                  <a:schemeClr val="bg1"/>
                </a:solidFill>
              </a:rPr>
              <a:t/>
            </a:r>
            <a:br>
              <a:rPr lang="es-ES">
                <a:solidFill>
                  <a:schemeClr val="bg1"/>
                </a:solidFill>
              </a:rPr>
            </a:br>
            <a:r>
              <a:rPr lang="es-ES" err="1">
                <a:solidFill>
                  <a:schemeClr val="bg1"/>
                </a:solidFill>
              </a:rPr>
              <a:t>print</a:t>
            </a:r>
            <a:r>
              <a:rPr lang="es-ES">
                <a:solidFill>
                  <a:schemeClr val="accent4">
                    <a:lumMod val="60000"/>
                    <a:lumOff val="40000"/>
                  </a:schemeClr>
                </a:solidFill>
              </a:rPr>
              <a:t>(</a:t>
            </a:r>
            <a:r>
              <a:rPr lang="es-ES">
                <a:solidFill>
                  <a:schemeClr val="bg1"/>
                </a:solidFill>
              </a:rPr>
              <a:t>x</a:t>
            </a:r>
            <a:r>
              <a:rPr lang="es-ES">
                <a:solidFill>
                  <a:schemeClr val="accent4">
                    <a:lumMod val="60000"/>
                    <a:lumOff val="40000"/>
                  </a:schemeClr>
                </a:solidFill>
              </a:rPr>
              <a:t>)</a:t>
            </a:r>
            <a:endParaRPr lang="en-US" sz="1600">
              <a:solidFill>
                <a:schemeClr val="accent4">
                  <a:lumMod val="60000"/>
                  <a:lumOff val="40000"/>
                </a:schemeClr>
              </a:solidFill>
            </a:endParaRPr>
          </a:p>
        </p:txBody>
      </p:sp>
      <p:sp>
        <p:nvSpPr>
          <p:cNvPr id="19" name="TextBox 18"/>
          <p:cNvSpPr txBox="1"/>
          <p:nvPr/>
        </p:nvSpPr>
        <p:spPr>
          <a:xfrm>
            <a:off x="639997" y="2015148"/>
            <a:ext cx="7697972" cy="646331"/>
          </a:xfrm>
          <a:prstGeom prst="rect">
            <a:avLst/>
          </a:prstGeom>
          <a:noFill/>
        </p:spPr>
        <p:txBody>
          <a:bodyPr wrap="square" rtlCol="0">
            <a:spAutoFit/>
          </a:bodyPr>
          <a:lstStyle/>
          <a:p>
            <a:r>
              <a:rPr lang="en-US" smtClean="0"/>
              <a:t>Theo </a:t>
            </a:r>
            <a:r>
              <a:rPr lang="en-US" err="1" smtClean="0"/>
              <a:t>lý</a:t>
            </a:r>
            <a:r>
              <a:rPr lang="en-US" smtClean="0"/>
              <a:t> </a:t>
            </a:r>
            <a:r>
              <a:rPr lang="en-US" err="1" smtClean="0"/>
              <a:t>thuyết</a:t>
            </a:r>
            <a:r>
              <a:rPr lang="en-US" smtClean="0"/>
              <a:t> </a:t>
            </a:r>
            <a:r>
              <a:rPr lang="en-US" err="1" smtClean="0"/>
              <a:t>mỗi</a:t>
            </a:r>
            <a:r>
              <a:rPr lang="en-US" smtClean="0"/>
              <a:t> </a:t>
            </a:r>
            <a:r>
              <a:rPr lang="en-US" err="1" smtClean="0"/>
              <a:t>khi</a:t>
            </a:r>
            <a:r>
              <a:rPr lang="en-US" smtClean="0"/>
              <a:t> tuple </a:t>
            </a:r>
            <a:r>
              <a:rPr lang="en-US" err="1" smtClean="0"/>
              <a:t>được</a:t>
            </a:r>
            <a:r>
              <a:rPr lang="en-US" smtClean="0"/>
              <a:t> </a:t>
            </a:r>
            <a:r>
              <a:rPr lang="en-US" err="1" smtClean="0"/>
              <a:t>tạo</a:t>
            </a:r>
            <a:r>
              <a:rPr lang="en-US" smtClean="0"/>
              <a:t> </a:t>
            </a:r>
            <a:r>
              <a:rPr lang="en-US" err="1" smtClean="0"/>
              <a:t>thì</a:t>
            </a:r>
            <a:r>
              <a:rPr lang="en-US" smtClean="0"/>
              <a:t> </a:t>
            </a:r>
            <a:r>
              <a:rPr lang="en-US" err="1" smtClean="0"/>
              <a:t>bạn</a:t>
            </a:r>
            <a:r>
              <a:rPr lang="en-US" smtClean="0"/>
              <a:t> </a:t>
            </a:r>
            <a:r>
              <a:rPr lang="en-US" err="1" smtClean="0"/>
              <a:t>không</a:t>
            </a:r>
            <a:r>
              <a:rPr lang="en-US" smtClean="0"/>
              <a:t> </a:t>
            </a:r>
            <a:r>
              <a:rPr lang="en-US" err="1" smtClean="0"/>
              <a:t>thể</a:t>
            </a:r>
            <a:r>
              <a:rPr lang="en-US" smtClean="0"/>
              <a:t> </a:t>
            </a:r>
            <a:r>
              <a:rPr lang="en-US" err="1" smtClean="0"/>
              <a:t>thay</a:t>
            </a:r>
            <a:r>
              <a:rPr lang="en-US" smtClean="0"/>
              <a:t> </a:t>
            </a:r>
            <a:r>
              <a:rPr lang="en-US" err="1" smtClean="0"/>
              <a:t>đổi</a:t>
            </a:r>
            <a:r>
              <a:rPr lang="en-US" smtClean="0"/>
              <a:t>, </a:t>
            </a:r>
            <a:r>
              <a:rPr lang="en-US" err="1" smtClean="0"/>
              <a:t>thêm</a:t>
            </a:r>
            <a:r>
              <a:rPr lang="en-US" smtClean="0"/>
              <a:t>, </a:t>
            </a:r>
            <a:r>
              <a:rPr lang="en-US" err="1" smtClean="0"/>
              <a:t>sửa</a:t>
            </a:r>
            <a:r>
              <a:rPr lang="en-US" smtClean="0"/>
              <a:t>, </a:t>
            </a:r>
            <a:r>
              <a:rPr lang="en-US" err="1" smtClean="0"/>
              <a:t>xóa</a:t>
            </a:r>
            <a:r>
              <a:rPr lang="en-US" smtClean="0"/>
              <a:t>. </a:t>
            </a:r>
            <a:r>
              <a:rPr lang="en-US" err="1" smtClean="0"/>
              <a:t>Nhưng</a:t>
            </a:r>
            <a:r>
              <a:rPr lang="en-US" smtClean="0"/>
              <a:t> </a:t>
            </a:r>
            <a:r>
              <a:rPr lang="en-US" err="1" smtClean="0"/>
              <a:t>có</a:t>
            </a:r>
            <a:r>
              <a:rPr lang="en-US" smtClean="0"/>
              <a:t> </a:t>
            </a:r>
            <a:r>
              <a:rPr lang="en-US" err="1" smtClean="0"/>
              <a:t>một</a:t>
            </a:r>
            <a:r>
              <a:rPr lang="en-US" smtClean="0"/>
              <a:t> </a:t>
            </a:r>
            <a:r>
              <a:rPr lang="en-US" err="1" smtClean="0"/>
              <a:t>số</a:t>
            </a:r>
            <a:r>
              <a:rPr lang="en-US" smtClean="0"/>
              <a:t> </a:t>
            </a:r>
            <a:r>
              <a:rPr lang="en-US" err="1" smtClean="0"/>
              <a:t>cách</a:t>
            </a:r>
            <a:r>
              <a:rPr lang="en-US" smtClean="0"/>
              <a:t> </a:t>
            </a:r>
            <a:r>
              <a:rPr lang="en-US" err="1" smtClean="0"/>
              <a:t>giải</a:t>
            </a:r>
            <a:r>
              <a:rPr lang="en-US" smtClean="0"/>
              <a:t> </a:t>
            </a:r>
            <a:r>
              <a:rPr lang="en-US" err="1" smtClean="0"/>
              <a:t>quyết</a:t>
            </a:r>
            <a:r>
              <a:rPr lang="en-US" smtClean="0"/>
              <a:t>.</a:t>
            </a:r>
            <a:endParaRPr lang="en-US" b="1"/>
          </a:p>
        </p:txBody>
      </p:sp>
      <p:sp>
        <p:nvSpPr>
          <p:cNvPr id="15" name="TextBox 14"/>
          <p:cNvSpPr txBox="1"/>
          <p:nvPr/>
        </p:nvSpPr>
        <p:spPr>
          <a:xfrm>
            <a:off x="880547" y="2880332"/>
            <a:ext cx="7697972" cy="369332"/>
          </a:xfrm>
          <a:prstGeom prst="rect">
            <a:avLst/>
          </a:prstGeom>
          <a:noFill/>
        </p:spPr>
        <p:txBody>
          <a:bodyPr wrap="square" rtlCol="0">
            <a:spAutoFit/>
          </a:bodyPr>
          <a:lstStyle/>
          <a:p>
            <a:r>
              <a:rPr lang="en-US" smtClean="0">
                <a:solidFill>
                  <a:srgbClr val="FF0000"/>
                </a:solidFill>
              </a:rPr>
              <a:t>Convert </a:t>
            </a:r>
            <a:r>
              <a:rPr lang="en-US" err="1" smtClean="0">
                <a:solidFill>
                  <a:srgbClr val="FF0000"/>
                </a:solidFill>
              </a:rPr>
              <a:t>một</a:t>
            </a:r>
            <a:r>
              <a:rPr lang="en-US" smtClean="0">
                <a:solidFill>
                  <a:srgbClr val="FF0000"/>
                </a:solidFill>
              </a:rPr>
              <a:t> Tuple </a:t>
            </a:r>
            <a:r>
              <a:rPr lang="en-US" err="1" smtClean="0">
                <a:solidFill>
                  <a:srgbClr val="FF0000"/>
                </a:solidFill>
              </a:rPr>
              <a:t>thành</a:t>
            </a:r>
            <a:r>
              <a:rPr lang="en-US" smtClean="0">
                <a:solidFill>
                  <a:srgbClr val="FF0000"/>
                </a:solidFill>
              </a:rPr>
              <a:t> List </a:t>
            </a:r>
            <a:r>
              <a:rPr lang="en-US" smtClean="0">
                <a:solidFill>
                  <a:srgbClr val="FF0000"/>
                </a:solidFill>
                <a:sym typeface="Wingdings" panose="05000000000000000000" pitchFamily="2" charset="2"/>
              </a:rPr>
              <a:t> </a:t>
            </a:r>
            <a:r>
              <a:rPr lang="en-US" err="1" smtClean="0">
                <a:solidFill>
                  <a:srgbClr val="FF0000"/>
                </a:solidFill>
                <a:sym typeface="Wingdings" panose="05000000000000000000" pitchFamily="2" charset="2"/>
              </a:rPr>
              <a:t>Thay</a:t>
            </a:r>
            <a:r>
              <a:rPr lang="en-US" smtClean="0">
                <a:solidFill>
                  <a:srgbClr val="FF0000"/>
                </a:solidFill>
                <a:sym typeface="Wingdings" panose="05000000000000000000" pitchFamily="2" charset="2"/>
              </a:rPr>
              <a:t> </a:t>
            </a:r>
            <a:r>
              <a:rPr lang="en-US" err="1" smtClean="0">
                <a:solidFill>
                  <a:srgbClr val="FF0000"/>
                </a:solidFill>
                <a:sym typeface="Wingdings" panose="05000000000000000000" pitchFamily="2" charset="2"/>
              </a:rPr>
              <a:t>đổi</a:t>
            </a:r>
            <a:r>
              <a:rPr lang="en-US" smtClean="0">
                <a:solidFill>
                  <a:srgbClr val="FF0000"/>
                </a:solidFill>
                <a:sym typeface="Wingdings" panose="05000000000000000000" pitchFamily="2" charset="2"/>
              </a:rPr>
              <a:t>  </a:t>
            </a:r>
            <a:r>
              <a:rPr lang="en-US" err="1" smtClean="0">
                <a:solidFill>
                  <a:srgbClr val="FF0000"/>
                </a:solidFill>
                <a:sym typeface="Wingdings" panose="05000000000000000000" pitchFamily="2" charset="2"/>
              </a:rPr>
              <a:t>Conver</a:t>
            </a:r>
            <a:r>
              <a:rPr lang="en-US" smtClean="0">
                <a:solidFill>
                  <a:srgbClr val="FF0000"/>
                </a:solidFill>
                <a:sym typeface="Wingdings" panose="05000000000000000000" pitchFamily="2" charset="2"/>
              </a:rPr>
              <a:t> List </a:t>
            </a:r>
            <a:r>
              <a:rPr lang="en-US" err="1" smtClean="0">
                <a:solidFill>
                  <a:srgbClr val="FF0000"/>
                </a:solidFill>
                <a:sym typeface="Wingdings" panose="05000000000000000000" pitchFamily="2" charset="2"/>
              </a:rPr>
              <a:t>thành</a:t>
            </a:r>
            <a:r>
              <a:rPr lang="en-US" smtClean="0">
                <a:solidFill>
                  <a:srgbClr val="FF0000"/>
                </a:solidFill>
                <a:sym typeface="Wingdings" panose="05000000000000000000" pitchFamily="2" charset="2"/>
              </a:rPr>
              <a:t> Tuple</a:t>
            </a:r>
            <a:endParaRPr lang="en-US" b="1">
              <a:solidFill>
                <a:srgbClr val="FF0000"/>
              </a:solidFill>
            </a:endParaRPr>
          </a:p>
        </p:txBody>
      </p:sp>
      <p:sp>
        <p:nvSpPr>
          <p:cNvPr id="18" name="TextBox 17"/>
          <p:cNvSpPr txBox="1"/>
          <p:nvPr/>
        </p:nvSpPr>
        <p:spPr>
          <a:xfrm>
            <a:off x="639997" y="5874766"/>
            <a:ext cx="7697972" cy="369332"/>
          </a:xfrm>
          <a:prstGeom prst="rect">
            <a:avLst/>
          </a:prstGeom>
          <a:noFill/>
        </p:spPr>
        <p:txBody>
          <a:bodyPr wrap="square" rtlCol="0">
            <a:spAutoFit/>
          </a:bodyPr>
          <a:lstStyle/>
          <a:p>
            <a:r>
              <a:rPr lang="en-US" err="1" smtClean="0"/>
              <a:t>Như</a:t>
            </a:r>
            <a:r>
              <a:rPr lang="en-US" smtClean="0"/>
              <a:t> </a:t>
            </a:r>
            <a:r>
              <a:rPr lang="en-US" err="1" smtClean="0"/>
              <a:t>vậy</a:t>
            </a:r>
            <a:r>
              <a:rPr lang="en-US" smtClean="0"/>
              <a:t> </a:t>
            </a:r>
            <a:r>
              <a:rPr lang="en-US" err="1" smtClean="0"/>
              <a:t>bạn</a:t>
            </a:r>
            <a:r>
              <a:rPr lang="en-US" smtClean="0"/>
              <a:t> </a:t>
            </a:r>
            <a:r>
              <a:rPr lang="en-US" err="1" smtClean="0"/>
              <a:t>có</a:t>
            </a:r>
            <a:r>
              <a:rPr lang="en-US" smtClean="0"/>
              <a:t> </a:t>
            </a:r>
            <a:r>
              <a:rPr lang="en-US" err="1" smtClean="0"/>
              <a:t>thể</a:t>
            </a:r>
            <a:r>
              <a:rPr lang="en-US" smtClean="0"/>
              <a:t> </a:t>
            </a:r>
            <a:r>
              <a:rPr lang="en-US" err="1" smtClean="0"/>
              <a:t>áp</a:t>
            </a:r>
            <a:r>
              <a:rPr lang="en-US" smtClean="0"/>
              <a:t> </a:t>
            </a:r>
            <a:r>
              <a:rPr lang="en-US" err="1" smtClean="0"/>
              <a:t>dụng</a:t>
            </a:r>
            <a:r>
              <a:rPr lang="en-US" smtClean="0"/>
              <a:t> </a:t>
            </a:r>
            <a:r>
              <a:rPr lang="en-US" err="1" smtClean="0"/>
              <a:t>mọi</a:t>
            </a:r>
            <a:r>
              <a:rPr lang="en-US" smtClean="0"/>
              <a:t> </a:t>
            </a:r>
            <a:r>
              <a:rPr lang="en-US" err="1" smtClean="0"/>
              <a:t>phương</a:t>
            </a:r>
            <a:r>
              <a:rPr lang="en-US" smtClean="0"/>
              <a:t> </a:t>
            </a:r>
            <a:r>
              <a:rPr lang="en-US" err="1" smtClean="0"/>
              <a:t>thức</a:t>
            </a:r>
            <a:r>
              <a:rPr lang="en-US" smtClean="0"/>
              <a:t> </a:t>
            </a:r>
            <a:r>
              <a:rPr lang="en-US" err="1" smtClean="0"/>
              <a:t>của</a:t>
            </a:r>
            <a:r>
              <a:rPr lang="en-US" smtClean="0"/>
              <a:t> List </a:t>
            </a:r>
            <a:r>
              <a:rPr lang="en-US" err="1" smtClean="0"/>
              <a:t>để</a:t>
            </a:r>
            <a:r>
              <a:rPr lang="en-US" smtClean="0"/>
              <a:t> </a:t>
            </a:r>
            <a:r>
              <a:rPr lang="en-US" err="1" smtClean="0"/>
              <a:t>thay</a:t>
            </a:r>
            <a:r>
              <a:rPr lang="en-US" smtClean="0"/>
              <a:t> </a:t>
            </a:r>
            <a:r>
              <a:rPr lang="en-US" err="1" smtClean="0"/>
              <a:t>đổi</a:t>
            </a:r>
            <a:endParaRPr lang="en-US" b="1"/>
          </a:p>
        </p:txBody>
      </p:sp>
    </p:spTree>
    <p:extLst>
      <p:ext uri="{BB962C8B-B14F-4D97-AF65-F5344CB8AC3E}">
        <p14:creationId xmlns:p14="http://schemas.microsoft.com/office/powerpoint/2010/main" val="32784092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5.4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Tuple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Phân</a:t>
            </a:r>
            <a:r>
              <a:rPr lang="en-US" b="1" smtClean="0"/>
              <a:t> </a:t>
            </a:r>
            <a:r>
              <a:rPr lang="en-US" b="1" err="1" smtClean="0"/>
              <a:t>rã</a:t>
            </a:r>
            <a:r>
              <a:rPr lang="en-US" b="1" smtClean="0"/>
              <a:t> </a:t>
            </a:r>
            <a:r>
              <a:rPr lang="en-US" b="1" err="1" smtClean="0"/>
              <a:t>một</a:t>
            </a:r>
            <a:r>
              <a:rPr lang="en-US" b="1" smtClean="0"/>
              <a:t> Tuple</a:t>
            </a:r>
            <a:endParaRPr lang="en-US" b="1">
              <a:solidFill>
                <a:srgbClr val="FF0000"/>
              </a:solidFill>
            </a:endParaRPr>
          </a:p>
        </p:txBody>
      </p:sp>
      <p:sp>
        <p:nvSpPr>
          <p:cNvPr id="29" name="Rectangle 28"/>
          <p:cNvSpPr/>
          <p:nvPr/>
        </p:nvSpPr>
        <p:spPr>
          <a:xfrm>
            <a:off x="699793" y="3133744"/>
            <a:ext cx="7774356" cy="187462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3359724"/>
            <a:ext cx="7402216" cy="1446550"/>
          </a:xfrm>
          <a:prstGeom prst="rect">
            <a:avLst/>
          </a:prstGeom>
          <a:noFill/>
        </p:spPr>
        <p:txBody>
          <a:bodyPr wrap="square" rtlCol="0">
            <a:spAutoFit/>
          </a:bodyPr>
          <a:lstStyle/>
          <a:p>
            <a:r>
              <a:rPr lang="es-ES" err="1" smtClean="0">
                <a:solidFill>
                  <a:schemeClr val="bg1"/>
                </a:solidFill>
              </a:rPr>
              <a:t>fruits</a:t>
            </a:r>
            <a:r>
              <a:rPr lang="es-ES" smtClean="0">
                <a:solidFill>
                  <a:schemeClr val="bg1"/>
                </a:solidFill>
              </a:rPr>
              <a:t> </a:t>
            </a:r>
            <a:r>
              <a:rPr lang="es-ES">
                <a:solidFill>
                  <a:schemeClr val="bg1"/>
                </a:solidFill>
              </a:rPr>
              <a:t>= </a:t>
            </a:r>
            <a:r>
              <a:rPr lang="es-ES">
                <a:solidFill>
                  <a:schemeClr val="accent4">
                    <a:lumMod val="60000"/>
                    <a:lumOff val="40000"/>
                  </a:schemeClr>
                </a:solidFill>
              </a:rPr>
              <a:t>(</a:t>
            </a:r>
            <a:r>
              <a:rPr lang="es-ES">
                <a:solidFill>
                  <a:schemeClr val="accent2">
                    <a:lumMod val="75000"/>
                  </a:schemeClr>
                </a:solidFill>
              </a:rPr>
              <a:t>"</a:t>
            </a:r>
            <a:r>
              <a:rPr lang="es-ES" err="1">
                <a:solidFill>
                  <a:schemeClr val="accent2">
                    <a:lumMod val="75000"/>
                  </a:schemeClr>
                </a:solidFill>
              </a:rPr>
              <a:t>apple</a:t>
            </a:r>
            <a:r>
              <a:rPr lang="es-ES">
                <a:solidFill>
                  <a:schemeClr val="accent2">
                    <a:lumMod val="75000"/>
                  </a:schemeClr>
                </a:solidFill>
              </a:rPr>
              <a:t>"</a:t>
            </a:r>
            <a:r>
              <a:rPr lang="es-ES">
                <a:solidFill>
                  <a:schemeClr val="bg1"/>
                </a:solidFill>
              </a:rPr>
              <a:t>, </a:t>
            </a:r>
            <a:r>
              <a:rPr lang="es-ES">
                <a:solidFill>
                  <a:schemeClr val="accent2">
                    <a:lumMod val="75000"/>
                  </a:schemeClr>
                </a:solidFill>
              </a:rPr>
              <a:t>"banana"</a:t>
            </a:r>
            <a:r>
              <a:rPr lang="es-ES">
                <a:solidFill>
                  <a:schemeClr val="bg1"/>
                </a:solidFill>
              </a:rPr>
              <a:t>, </a:t>
            </a:r>
            <a:r>
              <a:rPr lang="es-ES">
                <a:solidFill>
                  <a:schemeClr val="accent2">
                    <a:lumMod val="75000"/>
                  </a:schemeClr>
                </a:solidFill>
              </a:rPr>
              <a:t>"</a:t>
            </a:r>
            <a:r>
              <a:rPr lang="es-ES" err="1">
                <a:solidFill>
                  <a:schemeClr val="accent2">
                    <a:lumMod val="75000"/>
                  </a:schemeClr>
                </a:solidFill>
              </a:rPr>
              <a:t>cherry</a:t>
            </a:r>
            <a:r>
              <a:rPr lang="es-ES">
                <a:solidFill>
                  <a:schemeClr val="accent2">
                    <a:lumMod val="75000"/>
                  </a:schemeClr>
                </a:solidFill>
              </a:rPr>
              <a:t>"</a:t>
            </a:r>
            <a:r>
              <a:rPr lang="es-ES">
                <a:solidFill>
                  <a:schemeClr val="accent4">
                    <a:lumMod val="60000"/>
                    <a:lumOff val="40000"/>
                  </a:schemeClr>
                </a:solidFill>
              </a:rPr>
              <a:t>)</a:t>
            </a:r>
            <a:r>
              <a:rPr lang="es-ES">
                <a:solidFill>
                  <a:schemeClr val="bg1"/>
                </a:solidFill>
              </a:rPr>
              <a:t/>
            </a:r>
            <a:br>
              <a:rPr lang="es-ES">
                <a:solidFill>
                  <a:schemeClr val="bg1"/>
                </a:solidFill>
              </a:rPr>
            </a:br>
            <a:r>
              <a:rPr lang="en-US">
                <a:solidFill>
                  <a:schemeClr val="accent4">
                    <a:lumMod val="60000"/>
                    <a:lumOff val="40000"/>
                  </a:schemeClr>
                </a:solidFill>
              </a:rPr>
              <a:t>(</a:t>
            </a:r>
            <a:r>
              <a:rPr lang="en-US">
                <a:solidFill>
                  <a:schemeClr val="bg1"/>
                </a:solidFill>
              </a:rPr>
              <a:t>green, yellow, red</a:t>
            </a:r>
            <a:r>
              <a:rPr lang="en-US">
                <a:solidFill>
                  <a:schemeClr val="accent4">
                    <a:lumMod val="60000"/>
                    <a:lumOff val="40000"/>
                  </a:schemeClr>
                </a:solidFill>
              </a:rPr>
              <a:t>)</a:t>
            </a:r>
            <a:r>
              <a:rPr lang="en-US">
                <a:solidFill>
                  <a:schemeClr val="bg1"/>
                </a:solidFill>
              </a:rPr>
              <a:t> = fruits</a:t>
            </a:r>
            <a:r>
              <a:rPr lang="es-ES">
                <a:solidFill>
                  <a:schemeClr val="bg1"/>
                </a:solidFill>
              </a:rPr>
              <a:t/>
            </a:r>
            <a:br>
              <a:rPr lang="es-ES">
                <a:solidFill>
                  <a:schemeClr val="bg1"/>
                </a:solidFill>
              </a:rPr>
            </a:br>
            <a:r>
              <a:rPr lang="es-ES" err="1" smtClean="0">
                <a:solidFill>
                  <a:schemeClr val="bg1"/>
                </a:solidFill>
              </a:rPr>
              <a:t>print</a:t>
            </a:r>
            <a:r>
              <a:rPr lang="es-ES" smtClean="0">
                <a:solidFill>
                  <a:schemeClr val="accent4">
                    <a:lumMod val="60000"/>
                    <a:lumOff val="40000"/>
                  </a:schemeClr>
                </a:solidFill>
              </a:rPr>
              <a:t>(</a:t>
            </a:r>
            <a:r>
              <a:rPr lang="es-ES" err="1" smtClean="0">
                <a:solidFill>
                  <a:schemeClr val="bg1"/>
                </a:solidFill>
              </a:rPr>
              <a:t>green</a:t>
            </a:r>
            <a:r>
              <a:rPr lang="es-ES" smtClean="0">
                <a:solidFill>
                  <a:schemeClr val="accent4">
                    <a:lumMod val="60000"/>
                    <a:lumOff val="40000"/>
                  </a:schemeClr>
                </a:solidFill>
              </a:rPr>
              <a:t>)</a:t>
            </a:r>
          </a:p>
          <a:p>
            <a:r>
              <a:rPr lang="es-ES" sz="1600" err="1" smtClean="0">
                <a:solidFill>
                  <a:schemeClr val="bg1"/>
                </a:solidFill>
              </a:rPr>
              <a:t>print</a:t>
            </a:r>
            <a:r>
              <a:rPr lang="es-ES" sz="1600" smtClean="0">
                <a:solidFill>
                  <a:schemeClr val="accent4">
                    <a:lumMod val="60000"/>
                    <a:lumOff val="40000"/>
                  </a:schemeClr>
                </a:solidFill>
              </a:rPr>
              <a:t>(</a:t>
            </a:r>
            <a:r>
              <a:rPr lang="es-ES" sz="1600" smtClean="0">
                <a:solidFill>
                  <a:schemeClr val="bg1"/>
                </a:solidFill>
              </a:rPr>
              <a:t>red</a:t>
            </a:r>
            <a:r>
              <a:rPr lang="es-ES" sz="1600" smtClean="0">
                <a:solidFill>
                  <a:schemeClr val="accent4">
                    <a:lumMod val="60000"/>
                    <a:lumOff val="40000"/>
                  </a:schemeClr>
                </a:solidFill>
              </a:rPr>
              <a:t>)</a:t>
            </a:r>
          </a:p>
          <a:p>
            <a:r>
              <a:rPr lang="es-ES" sz="1600" err="1" smtClean="0">
                <a:solidFill>
                  <a:schemeClr val="bg1"/>
                </a:solidFill>
              </a:rPr>
              <a:t>print</a:t>
            </a:r>
            <a:r>
              <a:rPr lang="es-ES" sz="1600" smtClean="0">
                <a:solidFill>
                  <a:schemeClr val="accent4">
                    <a:lumMod val="60000"/>
                    <a:lumOff val="40000"/>
                  </a:schemeClr>
                </a:solidFill>
              </a:rPr>
              <a:t>(</a:t>
            </a:r>
            <a:r>
              <a:rPr lang="es-ES" sz="1600" err="1" smtClean="0">
                <a:solidFill>
                  <a:schemeClr val="bg1"/>
                </a:solidFill>
              </a:rPr>
              <a:t>yellow</a:t>
            </a:r>
            <a:r>
              <a:rPr lang="es-ES" sz="1600" smtClean="0">
                <a:solidFill>
                  <a:schemeClr val="accent4">
                    <a:lumMod val="60000"/>
                    <a:lumOff val="40000"/>
                  </a:schemeClr>
                </a:solidFill>
              </a:rPr>
              <a:t>)</a:t>
            </a:r>
            <a:endParaRPr lang="en-US" sz="1600">
              <a:solidFill>
                <a:schemeClr val="accent4">
                  <a:lumMod val="60000"/>
                  <a:lumOff val="40000"/>
                </a:schemeClr>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Khi</a:t>
            </a:r>
            <a:r>
              <a:rPr lang="en-US" smtClean="0"/>
              <a:t> </a:t>
            </a:r>
            <a:r>
              <a:rPr lang="en-US" err="1" smtClean="0"/>
              <a:t>tạo</a:t>
            </a:r>
            <a:r>
              <a:rPr lang="en-US" smtClean="0"/>
              <a:t> </a:t>
            </a:r>
            <a:r>
              <a:rPr lang="en-US" err="1" smtClean="0"/>
              <a:t>ra</a:t>
            </a:r>
            <a:r>
              <a:rPr lang="en-US" smtClean="0"/>
              <a:t> </a:t>
            </a:r>
            <a:r>
              <a:rPr lang="en-US" err="1" smtClean="0"/>
              <a:t>một</a:t>
            </a:r>
            <a:r>
              <a:rPr lang="en-US" smtClean="0"/>
              <a:t> tuple </a:t>
            </a:r>
            <a:r>
              <a:rPr lang="en-US" err="1" smtClean="0"/>
              <a:t>thì</a:t>
            </a:r>
            <a:r>
              <a:rPr lang="en-US" smtClean="0"/>
              <a:t> </a:t>
            </a:r>
            <a:r>
              <a:rPr lang="en-US" err="1" smtClean="0"/>
              <a:t>có</a:t>
            </a:r>
            <a:r>
              <a:rPr lang="en-US" smtClean="0"/>
              <a:t> </a:t>
            </a:r>
            <a:r>
              <a:rPr lang="en-US" err="1" smtClean="0"/>
              <a:t>nghĩa</a:t>
            </a:r>
            <a:r>
              <a:rPr lang="en-US" smtClean="0"/>
              <a:t> </a:t>
            </a:r>
            <a:r>
              <a:rPr lang="en-US" err="1" smtClean="0"/>
              <a:t>bạn</a:t>
            </a:r>
            <a:r>
              <a:rPr lang="en-US" smtClean="0"/>
              <a:t> </a:t>
            </a:r>
            <a:r>
              <a:rPr lang="en-US" err="1" smtClean="0"/>
              <a:t>đang</a:t>
            </a:r>
            <a:r>
              <a:rPr lang="en-US" smtClean="0"/>
              <a:t> </a:t>
            </a:r>
            <a:r>
              <a:rPr lang="en-US" err="1" smtClean="0"/>
              <a:t>đóng</a:t>
            </a:r>
            <a:r>
              <a:rPr lang="en-US" smtClean="0"/>
              <a:t> </a:t>
            </a:r>
            <a:r>
              <a:rPr lang="en-US" err="1" smtClean="0"/>
              <a:t>gói</a:t>
            </a:r>
            <a:r>
              <a:rPr lang="en-US" smtClean="0"/>
              <a:t> </a:t>
            </a:r>
            <a:r>
              <a:rPr lang="en-US" err="1" smtClean="0"/>
              <a:t>nó</a:t>
            </a:r>
            <a:r>
              <a:rPr lang="en-US" smtClean="0"/>
              <a:t> (</a:t>
            </a:r>
            <a:r>
              <a:rPr lang="en-US"/>
              <a:t>packing</a:t>
            </a:r>
            <a:r>
              <a:rPr lang="en-US" smtClean="0"/>
              <a:t>)</a:t>
            </a:r>
            <a:endParaRPr lang="en-US" b="1"/>
          </a:p>
        </p:txBody>
      </p:sp>
      <p:sp>
        <p:nvSpPr>
          <p:cNvPr id="11" name="TextBox 10"/>
          <p:cNvSpPr txBox="1"/>
          <p:nvPr/>
        </p:nvSpPr>
        <p:spPr>
          <a:xfrm>
            <a:off x="639997" y="2546776"/>
            <a:ext cx="7697972" cy="369332"/>
          </a:xfrm>
          <a:prstGeom prst="rect">
            <a:avLst/>
          </a:prstGeom>
          <a:noFill/>
        </p:spPr>
        <p:txBody>
          <a:bodyPr wrap="square" rtlCol="0">
            <a:spAutoFit/>
          </a:bodyPr>
          <a:lstStyle/>
          <a:p>
            <a:r>
              <a:rPr lang="en-US" err="1" smtClean="0"/>
              <a:t>Trong</a:t>
            </a:r>
            <a:r>
              <a:rPr lang="en-US" smtClean="0"/>
              <a:t> Python </a:t>
            </a:r>
            <a:r>
              <a:rPr lang="en-US" err="1" smtClean="0"/>
              <a:t>bạn</a:t>
            </a:r>
            <a:r>
              <a:rPr lang="en-US" smtClean="0"/>
              <a:t> </a:t>
            </a:r>
            <a:r>
              <a:rPr lang="en-US" err="1" smtClean="0"/>
              <a:t>có</a:t>
            </a:r>
            <a:r>
              <a:rPr lang="en-US" smtClean="0"/>
              <a:t> </a:t>
            </a:r>
            <a:r>
              <a:rPr lang="en-US" err="1" smtClean="0"/>
              <a:t>thể</a:t>
            </a:r>
            <a:r>
              <a:rPr lang="en-US" smtClean="0"/>
              <a:t> </a:t>
            </a:r>
            <a:r>
              <a:rPr lang="en-US" err="1" smtClean="0"/>
              <a:t>mở</a:t>
            </a:r>
            <a:r>
              <a:rPr lang="en-US" smtClean="0"/>
              <a:t> </a:t>
            </a:r>
            <a:r>
              <a:rPr lang="en-US" err="1" smtClean="0"/>
              <a:t>gói</a:t>
            </a:r>
            <a:r>
              <a:rPr lang="en-US" smtClean="0"/>
              <a:t> hay </a:t>
            </a:r>
            <a:r>
              <a:rPr lang="en-US" err="1" smtClean="0"/>
              <a:t>xả</a:t>
            </a:r>
            <a:r>
              <a:rPr lang="en-US" smtClean="0"/>
              <a:t> </a:t>
            </a:r>
            <a:r>
              <a:rPr lang="en-US" err="1" smtClean="0"/>
              <a:t>một</a:t>
            </a:r>
            <a:r>
              <a:rPr lang="en-US" smtClean="0"/>
              <a:t> tuple (unpacking)</a:t>
            </a:r>
            <a:endParaRPr lang="en-US" b="1"/>
          </a:p>
        </p:txBody>
      </p:sp>
      <p:sp>
        <p:nvSpPr>
          <p:cNvPr id="12" name="TextBox 11"/>
          <p:cNvSpPr txBox="1"/>
          <p:nvPr/>
        </p:nvSpPr>
        <p:spPr>
          <a:xfrm>
            <a:off x="639997" y="5279343"/>
            <a:ext cx="7697972" cy="369332"/>
          </a:xfrm>
          <a:prstGeom prst="rect">
            <a:avLst/>
          </a:prstGeom>
          <a:noFill/>
        </p:spPr>
        <p:txBody>
          <a:bodyPr wrap="square" rtlCol="0">
            <a:spAutoFit/>
          </a:bodyPr>
          <a:lstStyle/>
          <a:p>
            <a:r>
              <a:rPr lang="en-US" err="1" smtClean="0"/>
              <a:t>Trong</a:t>
            </a:r>
            <a:r>
              <a:rPr lang="en-US" smtClean="0"/>
              <a:t> </a:t>
            </a:r>
            <a:r>
              <a:rPr lang="en-US" err="1" smtClean="0"/>
              <a:t>ví</a:t>
            </a:r>
            <a:r>
              <a:rPr lang="en-US" smtClean="0"/>
              <a:t> </a:t>
            </a:r>
            <a:r>
              <a:rPr lang="en-US" err="1" smtClean="0"/>
              <a:t>dụ</a:t>
            </a:r>
            <a:r>
              <a:rPr lang="en-US" smtClean="0"/>
              <a:t> </a:t>
            </a:r>
            <a:r>
              <a:rPr lang="en-US" err="1" smtClean="0"/>
              <a:t>trên</a:t>
            </a:r>
            <a:r>
              <a:rPr lang="en-US" smtClean="0"/>
              <a:t> </a:t>
            </a:r>
            <a:r>
              <a:rPr lang="en-US" err="1" smtClean="0"/>
              <a:t>xả</a:t>
            </a:r>
            <a:r>
              <a:rPr lang="en-US" smtClean="0"/>
              <a:t> fruits </a:t>
            </a:r>
            <a:r>
              <a:rPr lang="en-US" err="1" smtClean="0"/>
              <a:t>ra</a:t>
            </a:r>
            <a:r>
              <a:rPr lang="en-US" smtClean="0"/>
              <a:t> 3 </a:t>
            </a:r>
            <a:r>
              <a:rPr lang="en-US" err="1" smtClean="0"/>
              <a:t>giá</a:t>
            </a:r>
            <a:r>
              <a:rPr lang="en-US" smtClean="0"/>
              <a:t> </a:t>
            </a:r>
            <a:r>
              <a:rPr lang="en-US" err="1" smtClean="0"/>
              <a:t>trị</a:t>
            </a:r>
            <a:r>
              <a:rPr lang="en-US" smtClean="0"/>
              <a:t> </a:t>
            </a:r>
            <a:r>
              <a:rPr lang="en-US" err="1" smtClean="0"/>
              <a:t>gán</a:t>
            </a:r>
            <a:r>
              <a:rPr lang="en-US" smtClean="0"/>
              <a:t> </a:t>
            </a:r>
            <a:r>
              <a:rPr lang="en-US" err="1" smtClean="0"/>
              <a:t>cho</a:t>
            </a:r>
            <a:r>
              <a:rPr lang="en-US" smtClean="0"/>
              <a:t> 3 </a:t>
            </a:r>
            <a:r>
              <a:rPr lang="en-US" err="1" smtClean="0"/>
              <a:t>biến</a:t>
            </a:r>
            <a:r>
              <a:rPr lang="en-US" smtClean="0"/>
              <a:t> green, yellow, red</a:t>
            </a:r>
            <a:endParaRPr lang="en-US" b="1"/>
          </a:p>
        </p:txBody>
      </p:sp>
    </p:spTree>
    <p:extLst>
      <p:ext uri="{BB962C8B-B14F-4D97-AF65-F5344CB8AC3E}">
        <p14:creationId xmlns:p14="http://schemas.microsoft.com/office/powerpoint/2010/main" val="28135323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19</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5.4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Tuple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Phân</a:t>
            </a:r>
            <a:r>
              <a:rPr lang="en-US" b="1" smtClean="0"/>
              <a:t> </a:t>
            </a:r>
            <a:r>
              <a:rPr lang="en-US" b="1" err="1" smtClean="0"/>
              <a:t>rã</a:t>
            </a:r>
            <a:r>
              <a:rPr lang="en-US" b="1" smtClean="0"/>
              <a:t> </a:t>
            </a:r>
            <a:r>
              <a:rPr lang="en-US" b="1" err="1" smtClean="0"/>
              <a:t>và</a:t>
            </a:r>
            <a:r>
              <a:rPr lang="en-US" b="1" smtClean="0"/>
              <a:t> </a:t>
            </a:r>
            <a:r>
              <a:rPr lang="en-US" b="1" err="1" smtClean="0"/>
              <a:t>chỉ</a:t>
            </a:r>
            <a:r>
              <a:rPr lang="en-US" b="1" smtClean="0"/>
              <a:t> </a:t>
            </a:r>
            <a:r>
              <a:rPr lang="en-US" b="1" err="1" smtClean="0"/>
              <a:t>lấy</a:t>
            </a:r>
            <a:r>
              <a:rPr lang="en-US" b="1" smtClean="0"/>
              <a:t> </a:t>
            </a:r>
            <a:r>
              <a:rPr lang="en-US" b="1" err="1" smtClean="0"/>
              <a:t>một</a:t>
            </a:r>
            <a:r>
              <a:rPr lang="en-US" b="1" smtClean="0"/>
              <a:t> </a:t>
            </a:r>
            <a:r>
              <a:rPr lang="en-US" b="1" err="1" smtClean="0"/>
              <a:t>phần</a:t>
            </a:r>
            <a:r>
              <a:rPr lang="en-US" b="1" smtClean="0"/>
              <a:t> </a:t>
            </a:r>
            <a:r>
              <a:rPr lang="en-US" b="1" err="1" smtClean="0"/>
              <a:t>của</a:t>
            </a:r>
            <a:r>
              <a:rPr lang="en-US" b="1" smtClean="0"/>
              <a:t> Tuple</a:t>
            </a:r>
            <a:endParaRPr lang="en-US" b="1">
              <a:solidFill>
                <a:srgbClr val="FF0000"/>
              </a:solidFill>
            </a:endParaRPr>
          </a:p>
        </p:txBody>
      </p:sp>
      <p:sp>
        <p:nvSpPr>
          <p:cNvPr id="29" name="Rectangle 28"/>
          <p:cNvSpPr/>
          <p:nvPr/>
        </p:nvSpPr>
        <p:spPr>
          <a:xfrm>
            <a:off x="699793" y="3133744"/>
            <a:ext cx="7774356" cy="134549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3359724"/>
            <a:ext cx="7402216" cy="923330"/>
          </a:xfrm>
          <a:prstGeom prst="rect">
            <a:avLst/>
          </a:prstGeom>
          <a:noFill/>
        </p:spPr>
        <p:txBody>
          <a:bodyPr wrap="square" rtlCol="0">
            <a:spAutoFit/>
          </a:bodyPr>
          <a:lstStyle/>
          <a:p>
            <a:r>
              <a:rPr lang="es-ES" smtClean="0">
                <a:solidFill>
                  <a:schemeClr val="bg1"/>
                </a:solidFill>
              </a:rPr>
              <a:t>fruits </a:t>
            </a:r>
            <a:r>
              <a:rPr lang="es-ES">
                <a:solidFill>
                  <a:schemeClr val="bg1"/>
                </a:solidFill>
              </a:rPr>
              <a:t>= </a:t>
            </a:r>
            <a:r>
              <a:rPr lang="es-ES">
                <a:solidFill>
                  <a:schemeClr val="accent4">
                    <a:lumMod val="60000"/>
                    <a:lumOff val="40000"/>
                  </a:schemeClr>
                </a:solidFill>
              </a:rPr>
              <a:t>(</a:t>
            </a:r>
            <a:r>
              <a:rPr lang="es-ES">
                <a:solidFill>
                  <a:schemeClr val="accent2">
                    <a:lumMod val="75000"/>
                  </a:schemeClr>
                </a:solidFill>
              </a:rPr>
              <a:t>"apple"</a:t>
            </a:r>
            <a:r>
              <a:rPr lang="es-ES">
                <a:solidFill>
                  <a:schemeClr val="bg1"/>
                </a:solidFill>
              </a:rPr>
              <a:t>, </a:t>
            </a:r>
            <a:r>
              <a:rPr lang="es-ES">
                <a:solidFill>
                  <a:schemeClr val="accent2">
                    <a:lumMod val="75000"/>
                  </a:schemeClr>
                </a:solidFill>
              </a:rPr>
              <a:t>"banana"</a:t>
            </a:r>
            <a:r>
              <a:rPr lang="es-ES">
                <a:solidFill>
                  <a:schemeClr val="bg1"/>
                </a:solidFill>
              </a:rPr>
              <a:t>, </a:t>
            </a:r>
            <a:r>
              <a:rPr lang="es-ES">
                <a:solidFill>
                  <a:schemeClr val="accent2">
                    <a:lumMod val="75000"/>
                  </a:schemeClr>
                </a:solidFill>
              </a:rPr>
              <a:t>"cherry"</a:t>
            </a:r>
            <a:r>
              <a:rPr lang="es-ES">
                <a:solidFill>
                  <a:schemeClr val="accent4">
                    <a:lumMod val="60000"/>
                    <a:lumOff val="40000"/>
                  </a:schemeClr>
                </a:solidFill>
              </a:rPr>
              <a:t>)</a:t>
            </a:r>
            <a:r>
              <a:rPr lang="es-ES">
                <a:solidFill>
                  <a:schemeClr val="bg1"/>
                </a:solidFill>
              </a:rPr>
              <a:t/>
            </a:r>
            <a:br>
              <a:rPr lang="es-ES">
                <a:solidFill>
                  <a:schemeClr val="bg1"/>
                </a:solidFill>
              </a:rPr>
            </a:br>
            <a:r>
              <a:rPr lang="en-US" smtClean="0">
                <a:solidFill>
                  <a:schemeClr val="accent4">
                    <a:lumMod val="60000"/>
                    <a:lumOff val="40000"/>
                  </a:schemeClr>
                </a:solidFill>
              </a:rPr>
              <a:t>(</a:t>
            </a:r>
            <a:r>
              <a:rPr lang="en-US" smtClean="0">
                <a:solidFill>
                  <a:schemeClr val="bg1"/>
                </a:solidFill>
              </a:rPr>
              <a:t>_, selected_fruit, *_</a:t>
            </a:r>
            <a:r>
              <a:rPr lang="en-US" smtClean="0">
                <a:solidFill>
                  <a:schemeClr val="accent4">
                    <a:lumMod val="60000"/>
                    <a:lumOff val="40000"/>
                  </a:schemeClr>
                </a:solidFill>
              </a:rPr>
              <a:t>)</a:t>
            </a:r>
            <a:r>
              <a:rPr lang="en-US" smtClean="0">
                <a:solidFill>
                  <a:schemeClr val="bg1"/>
                </a:solidFill>
              </a:rPr>
              <a:t> </a:t>
            </a:r>
            <a:r>
              <a:rPr lang="en-US">
                <a:solidFill>
                  <a:schemeClr val="bg1"/>
                </a:solidFill>
              </a:rPr>
              <a:t>= fruits</a:t>
            </a:r>
            <a:r>
              <a:rPr lang="es-ES">
                <a:solidFill>
                  <a:schemeClr val="bg1"/>
                </a:solidFill>
              </a:rPr>
              <a:t/>
            </a:r>
            <a:br>
              <a:rPr lang="es-ES">
                <a:solidFill>
                  <a:schemeClr val="bg1"/>
                </a:solidFill>
              </a:rPr>
            </a:br>
            <a:r>
              <a:rPr lang="es-ES" sz="1600" smtClean="0">
                <a:solidFill>
                  <a:schemeClr val="bg1"/>
                </a:solidFill>
              </a:rPr>
              <a:t>print</a:t>
            </a:r>
            <a:r>
              <a:rPr lang="es-ES" sz="1600" smtClean="0">
                <a:solidFill>
                  <a:schemeClr val="accent4">
                    <a:lumMod val="60000"/>
                    <a:lumOff val="40000"/>
                  </a:schemeClr>
                </a:solidFill>
              </a:rPr>
              <a:t>(</a:t>
            </a:r>
            <a:r>
              <a:rPr lang="en-US" sz="1600">
                <a:solidFill>
                  <a:schemeClr val="bg1"/>
                </a:solidFill>
              </a:rPr>
              <a:t>selected_fruit</a:t>
            </a:r>
            <a:r>
              <a:rPr lang="es-ES" sz="1600" smtClean="0">
                <a:solidFill>
                  <a:schemeClr val="accent6">
                    <a:lumMod val="75000"/>
                  </a:schemeClr>
                </a:solidFill>
              </a:rPr>
              <a:t>) # output: banana</a:t>
            </a:r>
            <a:endParaRPr lang="en-US" sz="1600">
              <a:solidFill>
                <a:schemeClr val="accent6">
                  <a:lumMod val="75000"/>
                </a:schemeClr>
              </a:solidFill>
            </a:endParaRPr>
          </a:p>
        </p:txBody>
      </p:sp>
      <p:sp>
        <p:nvSpPr>
          <p:cNvPr id="19" name="TextBox 18"/>
          <p:cNvSpPr txBox="1"/>
          <p:nvPr/>
        </p:nvSpPr>
        <p:spPr>
          <a:xfrm>
            <a:off x="607949" y="2141067"/>
            <a:ext cx="7947412" cy="646331"/>
          </a:xfrm>
          <a:prstGeom prst="rect">
            <a:avLst/>
          </a:prstGeom>
          <a:noFill/>
        </p:spPr>
        <p:txBody>
          <a:bodyPr wrap="square" rtlCol="0">
            <a:spAutoFit/>
          </a:bodyPr>
          <a:lstStyle/>
          <a:p>
            <a:r>
              <a:rPr lang="en-US" smtClean="0"/>
              <a:t>Nếu bạn chỉ muốn lấy một phẩn tử trong Tuple với cách thức </a:t>
            </a:r>
            <a:r>
              <a:rPr lang="en-US" err="1" smtClean="0"/>
              <a:t>phân</a:t>
            </a:r>
            <a:r>
              <a:rPr lang="en-US" smtClean="0"/>
              <a:t> </a:t>
            </a:r>
            <a:r>
              <a:rPr lang="en-US" err="1" smtClean="0"/>
              <a:t>rã</a:t>
            </a:r>
            <a:r>
              <a:rPr lang="en-US" smtClean="0"/>
              <a:t>, bạn có thể sử dụng dấu _ (gạch dưới) để bỏ qua những phần tử không muốn lấy</a:t>
            </a:r>
            <a:endParaRPr lang="en-US" b="1"/>
          </a:p>
        </p:txBody>
      </p:sp>
      <p:sp>
        <p:nvSpPr>
          <p:cNvPr id="13" name="TextBox 12"/>
          <p:cNvSpPr txBox="1"/>
          <p:nvPr/>
        </p:nvSpPr>
        <p:spPr>
          <a:xfrm>
            <a:off x="607949" y="4831258"/>
            <a:ext cx="7947412" cy="1477328"/>
          </a:xfrm>
          <a:prstGeom prst="rect">
            <a:avLst/>
          </a:prstGeom>
          <a:noFill/>
        </p:spPr>
        <p:txBody>
          <a:bodyPr wrap="square" rtlCol="0">
            <a:spAutoFit/>
          </a:bodyPr>
          <a:lstStyle/>
          <a:p>
            <a:r>
              <a:rPr lang="vi-VN"/>
              <a:t>Trong trường hợp này, chúng ta sử dụng _ để bỏ qua phần tử "apple", "*_" để bỏ qua các phần tử còn lại trong tuple fruits. Các phần tử được bỏ qua không được lưu trữ trong bất kỳ biến nào. Biến selected_fruit sẽ chứa giá trị "banana" và bạn có thể sử dụng biến đó trong các phần khác của chương trình của mình.</a:t>
            </a:r>
            <a:endParaRPr lang="en-US" b="1"/>
          </a:p>
        </p:txBody>
      </p:sp>
    </p:spTree>
    <p:extLst>
      <p:ext uri="{BB962C8B-B14F-4D97-AF65-F5344CB8AC3E}">
        <p14:creationId xmlns:p14="http://schemas.microsoft.com/office/powerpoint/2010/main" val="7919101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5.4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Tuple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Phân</a:t>
            </a:r>
            <a:r>
              <a:rPr lang="en-US" b="1" smtClean="0"/>
              <a:t> </a:t>
            </a:r>
            <a:r>
              <a:rPr lang="en-US" b="1" err="1" smtClean="0"/>
              <a:t>rã</a:t>
            </a:r>
            <a:r>
              <a:rPr lang="en-US" b="1" smtClean="0"/>
              <a:t> </a:t>
            </a:r>
            <a:r>
              <a:rPr lang="en-US" b="1" err="1" smtClean="0"/>
              <a:t>một</a:t>
            </a:r>
            <a:r>
              <a:rPr lang="en-US" b="1" smtClean="0"/>
              <a:t> Tuple</a:t>
            </a:r>
            <a:endParaRPr lang="en-US" b="1">
              <a:solidFill>
                <a:srgbClr val="FF0000"/>
              </a:solidFill>
            </a:endParaRPr>
          </a:p>
        </p:txBody>
      </p:sp>
      <p:sp>
        <p:nvSpPr>
          <p:cNvPr id="29" name="Rectangle 28"/>
          <p:cNvSpPr/>
          <p:nvPr/>
        </p:nvSpPr>
        <p:spPr>
          <a:xfrm>
            <a:off x="699793" y="2480502"/>
            <a:ext cx="7774356" cy="187462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706482"/>
            <a:ext cx="7402216" cy="1446550"/>
          </a:xfrm>
          <a:prstGeom prst="rect">
            <a:avLst/>
          </a:prstGeom>
          <a:noFill/>
        </p:spPr>
        <p:txBody>
          <a:bodyPr wrap="square" rtlCol="0">
            <a:spAutoFit/>
          </a:bodyPr>
          <a:lstStyle/>
          <a:p>
            <a:r>
              <a:rPr lang="es-ES" err="1" smtClean="0">
                <a:solidFill>
                  <a:schemeClr val="bg1"/>
                </a:solidFill>
              </a:rPr>
              <a:t>fruits</a:t>
            </a:r>
            <a:r>
              <a:rPr lang="es-ES" smtClean="0">
                <a:solidFill>
                  <a:schemeClr val="bg1"/>
                </a:solidFill>
              </a:rPr>
              <a:t> </a:t>
            </a:r>
            <a:r>
              <a:rPr lang="es-ES">
                <a:solidFill>
                  <a:schemeClr val="bg1"/>
                </a:solidFill>
              </a:rPr>
              <a:t>= </a:t>
            </a:r>
            <a:r>
              <a:rPr lang="es-ES">
                <a:solidFill>
                  <a:schemeClr val="accent4">
                    <a:lumMod val="60000"/>
                    <a:lumOff val="40000"/>
                  </a:schemeClr>
                </a:solidFill>
              </a:rPr>
              <a:t>(</a:t>
            </a:r>
            <a:r>
              <a:rPr lang="es-ES">
                <a:solidFill>
                  <a:schemeClr val="accent2">
                    <a:lumMod val="75000"/>
                  </a:schemeClr>
                </a:solidFill>
              </a:rPr>
              <a:t>"</a:t>
            </a:r>
            <a:r>
              <a:rPr lang="es-ES" err="1">
                <a:solidFill>
                  <a:schemeClr val="accent2">
                    <a:lumMod val="75000"/>
                  </a:schemeClr>
                </a:solidFill>
              </a:rPr>
              <a:t>apple</a:t>
            </a:r>
            <a:r>
              <a:rPr lang="es-ES">
                <a:solidFill>
                  <a:schemeClr val="accent2">
                    <a:lumMod val="75000"/>
                  </a:schemeClr>
                </a:solidFill>
              </a:rPr>
              <a:t>"</a:t>
            </a:r>
            <a:r>
              <a:rPr lang="es-ES">
                <a:solidFill>
                  <a:schemeClr val="bg1"/>
                </a:solidFill>
              </a:rPr>
              <a:t>, </a:t>
            </a:r>
            <a:r>
              <a:rPr lang="es-ES">
                <a:solidFill>
                  <a:schemeClr val="accent2">
                    <a:lumMod val="75000"/>
                  </a:schemeClr>
                </a:solidFill>
              </a:rPr>
              <a:t>"banana"</a:t>
            </a:r>
            <a:r>
              <a:rPr lang="es-ES">
                <a:solidFill>
                  <a:schemeClr val="bg1"/>
                </a:solidFill>
              </a:rPr>
              <a:t>, </a:t>
            </a:r>
            <a:r>
              <a:rPr lang="es-ES">
                <a:solidFill>
                  <a:schemeClr val="accent2">
                    <a:lumMod val="75000"/>
                  </a:schemeClr>
                </a:solidFill>
              </a:rPr>
              <a:t>"</a:t>
            </a:r>
            <a:r>
              <a:rPr lang="es-ES" err="1" smtClean="0">
                <a:solidFill>
                  <a:schemeClr val="accent2">
                    <a:lumMod val="75000"/>
                  </a:schemeClr>
                </a:solidFill>
              </a:rPr>
              <a:t>cherry</a:t>
            </a:r>
            <a:r>
              <a:rPr lang="es-ES">
                <a:solidFill>
                  <a:schemeClr val="accent2">
                    <a:lumMod val="75000"/>
                  </a:schemeClr>
                </a:solidFill>
              </a:rPr>
              <a:t>“, "</a:t>
            </a:r>
            <a:r>
              <a:rPr lang="es-ES" err="1">
                <a:solidFill>
                  <a:schemeClr val="accent2">
                    <a:lumMod val="75000"/>
                  </a:schemeClr>
                </a:solidFill>
              </a:rPr>
              <a:t>strawberry</a:t>
            </a:r>
            <a:r>
              <a:rPr lang="es-ES">
                <a:solidFill>
                  <a:schemeClr val="accent2">
                    <a:lumMod val="75000"/>
                  </a:schemeClr>
                </a:solidFill>
              </a:rPr>
              <a:t>", "</a:t>
            </a:r>
            <a:r>
              <a:rPr lang="es-ES" err="1">
                <a:solidFill>
                  <a:schemeClr val="accent2">
                    <a:lumMod val="75000"/>
                  </a:schemeClr>
                </a:solidFill>
              </a:rPr>
              <a:t>raspberry</a:t>
            </a:r>
            <a:r>
              <a:rPr lang="es-ES">
                <a:solidFill>
                  <a:schemeClr val="accent2">
                    <a:lumMod val="75000"/>
                  </a:schemeClr>
                </a:solidFill>
              </a:rPr>
              <a:t>"</a:t>
            </a:r>
            <a:r>
              <a:rPr lang="es-ES" smtClean="0">
                <a:solidFill>
                  <a:schemeClr val="accent4">
                    <a:lumMod val="60000"/>
                    <a:lumOff val="40000"/>
                  </a:schemeClr>
                </a:solidFill>
              </a:rPr>
              <a:t>)</a:t>
            </a:r>
            <a:r>
              <a:rPr lang="es-ES">
                <a:solidFill>
                  <a:schemeClr val="bg1"/>
                </a:solidFill>
              </a:rPr>
              <a:t/>
            </a:r>
            <a:br>
              <a:rPr lang="es-ES">
                <a:solidFill>
                  <a:schemeClr val="bg1"/>
                </a:solidFill>
              </a:rPr>
            </a:br>
            <a:r>
              <a:rPr lang="en-US">
                <a:solidFill>
                  <a:schemeClr val="accent4">
                    <a:lumMod val="60000"/>
                    <a:lumOff val="40000"/>
                  </a:schemeClr>
                </a:solidFill>
              </a:rPr>
              <a:t>(</a:t>
            </a:r>
            <a:r>
              <a:rPr lang="en-US">
                <a:solidFill>
                  <a:schemeClr val="bg1"/>
                </a:solidFill>
              </a:rPr>
              <a:t>green, yellow, </a:t>
            </a:r>
            <a:r>
              <a:rPr lang="en-US" smtClean="0">
                <a:solidFill>
                  <a:schemeClr val="bg1"/>
                </a:solidFill>
              </a:rPr>
              <a:t>*red</a:t>
            </a:r>
            <a:r>
              <a:rPr lang="en-US">
                <a:solidFill>
                  <a:schemeClr val="accent4">
                    <a:lumMod val="60000"/>
                    <a:lumOff val="40000"/>
                  </a:schemeClr>
                </a:solidFill>
              </a:rPr>
              <a:t>)</a:t>
            </a:r>
            <a:r>
              <a:rPr lang="en-US">
                <a:solidFill>
                  <a:schemeClr val="bg1"/>
                </a:solidFill>
              </a:rPr>
              <a:t> = fruits</a:t>
            </a:r>
            <a:r>
              <a:rPr lang="es-ES">
                <a:solidFill>
                  <a:schemeClr val="bg1"/>
                </a:solidFill>
              </a:rPr>
              <a:t/>
            </a:r>
            <a:br>
              <a:rPr lang="es-ES">
                <a:solidFill>
                  <a:schemeClr val="bg1"/>
                </a:solidFill>
              </a:rPr>
            </a:br>
            <a:r>
              <a:rPr lang="es-ES" err="1" smtClean="0">
                <a:solidFill>
                  <a:schemeClr val="bg1"/>
                </a:solidFill>
              </a:rPr>
              <a:t>print</a:t>
            </a:r>
            <a:r>
              <a:rPr lang="es-ES" smtClean="0">
                <a:solidFill>
                  <a:schemeClr val="accent4">
                    <a:lumMod val="60000"/>
                    <a:lumOff val="40000"/>
                  </a:schemeClr>
                </a:solidFill>
              </a:rPr>
              <a:t>(</a:t>
            </a:r>
            <a:r>
              <a:rPr lang="es-ES" err="1" smtClean="0">
                <a:solidFill>
                  <a:schemeClr val="bg1"/>
                </a:solidFill>
              </a:rPr>
              <a:t>green</a:t>
            </a:r>
            <a:r>
              <a:rPr lang="es-ES" smtClean="0">
                <a:solidFill>
                  <a:schemeClr val="accent4">
                    <a:lumMod val="60000"/>
                    <a:lumOff val="40000"/>
                  </a:schemeClr>
                </a:solidFill>
              </a:rPr>
              <a:t>) #</a:t>
            </a:r>
            <a:r>
              <a:rPr lang="es-ES">
                <a:solidFill>
                  <a:schemeClr val="accent2">
                    <a:lumMod val="75000"/>
                  </a:schemeClr>
                </a:solidFill>
              </a:rPr>
              <a:t> </a:t>
            </a:r>
            <a:r>
              <a:rPr lang="es-ES" err="1">
                <a:solidFill>
                  <a:schemeClr val="accent2">
                    <a:lumMod val="75000"/>
                  </a:schemeClr>
                </a:solidFill>
              </a:rPr>
              <a:t>apple</a:t>
            </a:r>
            <a:endParaRPr lang="es-ES" smtClean="0">
              <a:solidFill>
                <a:schemeClr val="accent4">
                  <a:lumMod val="60000"/>
                  <a:lumOff val="40000"/>
                </a:schemeClr>
              </a:solidFill>
            </a:endParaRPr>
          </a:p>
          <a:p>
            <a:r>
              <a:rPr lang="es-ES" sz="1600" err="1" smtClean="0">
                <a:solidFill>
                  <a:schemeClr val="bg1"/>
                </a:solidFill>
              </a:rPr>
              <a:t>print</a:t>
            </a:r>
            <a:r>
              <a:rPr lang="es-ES" sz="1600" smtClean="0">
                <a:solidFill>
                  <a:schemeClr val="accent4">
                    <a:lumMod val="60000"/>
                    <a:lumOff val="40000"/>
                  </a:schemeClr>
                </a:solidFill>
              </a:rPr>
              <a:t>(</a:t>
            </a:r>
            <a:r>
              <a:rPr lang="es-ES" sz="1600" err="1" smtClean="0">
                <a:solidFill>
                  <a:schemeClr val="bg1"/>
                </a:solidFill>
              </a:rPr>
              <a:t>yellow</a:t>
            </a:r>
            <a:r>
              <a:rPr lang="es-ES" sz="1600" smtClean="0">
                <a:solidFill>
                  <a:schemeClr val="accent4">
                    <a:lumMod val="60000"/>
                    <a:lumOff val="40000"/>
                  </a:schemeClr>
                </a:solidFill>
              </a:rPr>
              <a:t>) #</a:t>
            </a:r>
            <a:r>
              <a:rPr lang="es-ES" sz="1600">
                <a:solidFill>
                  <a:schemeClr val="accent2">
                    <a:lumMod val="75000"/>
                  </a:schemeClr>
                </a:solidFill>
              </a:rPr>
              <a:t> banana</a:t>
            </a:r>
            <a:endParaRPr lang="es-ES" sz="1600" smtClean="0">
              <a:solidFill>
                <a:schemeClr val="accent4">
                  <a:lumMod val="60000"/>
                  <a:lumOff val="40000"/>
                </a:schemeClr>
              </a:solidFill>
            </a:endParaRPr>
          </a:p>
          <a:p>
            <a:r>
              <a:rPr lang="es-ES" sz="1600" err="1">
                <a:solidFill>
                  <a:schemeClr val="bg1"/>
                </a:solidFill>
              </a:rPr>
              <a:t>print</a:t>
            </a:r>
            <a:r>
              <a:rPr lang="es-ES" sz="1600">
                <a:solidFill>
                  <a:schemeClr val="accent4">
                    <a:lumMod val="60000"/>
                    <a:lumOff val="40000"/>
                  </a:schemeClr>
                </a:solidFill>
              </a:rPr>
              <a:t>(</a:t>
            </a:r>
            <a:r>
              <a:rPr lang="es-ES" sz="1600">
                <a:solidFill>
                  <a:schemeClr val="bg1"/>
                </a:solidFill>
              </a:rPr>
              <a:t>red</a:t>
            </a:r>
            <a:r>
              <a:rPr lang="es-ES" sz="1600" smtClean="0">
                <a:solidFill>
                  <a:schemeClr val="accent4">
                    <a:lumMod val="60000"/>
                    <a:lumOff val="40000"/>
                  </a:schemeClr>
                </a:solidFill>
              </a:rPr>
              <a:t>) #</a:t>
            </a:r>
            <a:r>
              <a:rPr lang="es-ES" sz="1600">
                <a:solidFill>
                  <a:schemeClr val="accent2">
                    <a:lumMod val="75000"/>
                  </a:schemeClr>
                </a:solidFill>
              </a:rPr>
              <a:t>"</a:t>
            </a:r>
            <a:r>
              <a:rPr lang="es-ES" sz="1600" err="1">
                <a:solidFill>
                  <a:schemeClr val="accent2">
                    <a:lumMod val="75000"/>
                  </a:schemeClr>
                </a:solidFill>
              </a:rPr>
              <a:t>cherry</a:t>
            </a:r>
            <a:r>
              <a:rPr lang="es-ES" sz="1600">
                <a:solidFill>
                  <a:schemeClr val="accent2">
                    <a:lumMod val="75000"/>
                  </a:schemeClr>
                </a:solidFill>
              </a:rPr>
              <a:t>“, "</a:t>
            </a:r>
            <a:r>
              <a:rPr lang="es-ES" sz="1600" err="1">
                <a:solidFill>
                  <a:schemeClr val="accent2">
                    <a:lumMod val="75000"/>
                  </a:schemeClr>
                </a:solidFill>
              </a:rPr>
              <a:t>strawberry</a:t>
            </a:r>
            <a:r>
              <a:rPr lang="es-ES" sz="1600">
                <a:solidFill>
                  <a:schemeClr val="accent2">
                    <a:lumMod val="75000"/>
                  </a:schemeClr>
                </a:solidFill>
              </a:rPr>
              <a:t>", "</a:t>
            </a:r>
            <a:r>
              <a:rPr lang="es-ES" sz="1600" err="1">
                <a:solidFill>
                  <a:schemeClr val="accent2">
                    <a:lumMod val="75000"/>
                  </a:schemeClr>
                </a:solidFill>
              </a:rPr>
              <a:t>raspberry</a:t>
            </a:r>
            <a:r>
              <a:rPr lang="es-ES" sz="1600">
                <a:solidFill>
                  <a:schemeClr val="accent2">
                    <a:lumMod val="75000"/>
                  </a:schemeClr>
                </a:solidFill>
              </a:rPr>
              <a:t>"</a:t>
            </a:r>
            <a:endParaRPr lang="es-ES" sz="1600">
              <a:solidFill>
                <a:schemeClr val="accent4">
                  <a:lumMod val="60000"/>
                  <a:lumOff val="40000"/>
                </a:schemeClr>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Phân</a:t>
            </a:r>
            <a:r>
              <a:rPr lang="en-US" smtClean="0"/>
              <a:t> </a:t>
            </a:r>
            <a:r>
              <a:rPr lang="en-US" err="1" smtClean="0"/>
              <a:t>rã</a:t>
            </a:r>
            <a:r>
              <a:rPr lang="en-US" smtClean="0"/>
              <a:t> tuple </a:t>
            </a:r>
            <a:r>
              <a:rPr lang="en-US" err="1" smtClean="0"/>
              <a:t>với</a:t>
            </a:r>
            <a:r>
              <a:rPr lang="en-US" smtClean="0"/>
              <a:t> </a:t>
            </a:r>
            <a:r>
              <a:rPr lang="en-US" err="1" smtClean="0"/>
              <a:t>dấu</a:t>
            </a:r>
            <a:r>
              <a:rPr lang="en-US" smtClean="0"/>
              <a:t> *</a:t>
            </a:r>
            <a:endParaRPr lang="en-US" b="1"/>
          </a:p>
        </p:txBody>
      </p:sp>
      <p:sp>
        <p:nvSpPr>
          <p:cNvPr id="12" name="TextBox 11"/>
          <p:cNvSpPr txBox="1"/>
          <p:nvPr/>
        </p:nvSpPr>
        <p:spPr>
          <a:xfrm>
            <a:off x="584791" y="4493142"/>
            <a:ext cx="7697972" cy="1200329"/>
          </a:xfrm>
          <a:prstGeom prst="rect">
            <a:avLst/>
          </a:prstGeom>
          <a:noFill/>
        </p:spPr>
        <p:txBody>
          <a:bodyPr wrap="square" rtlCol="0">
            <a:spAutoFit/>
          </a:bodyPr>
          <a:lstStyle/>
          <a:p>
            <a:r>
              <a:rPr lang="en-US" err="1" smtClean="0"/>
              <a:t>Trong</a:t>
            </a:r>
            <a:r>
              <a:rPr lang="en-US" smtClean="0"/>
              <a:t> </a:t>
            </a:r>
            <a:r>
              <a:rPr lang="en-US" err="1" smtClean="0"/>
              <a:t>ví</a:t>
            </a:r>
            <a:r>
              <a:rPr lang="en-US" smtClean="0"/>
              <a:t> </a:t>
            </a:r>
            <a:r>
              <a:rPr lang="en-US" err="1" smtClean="0"/>
              <a:t>dụ</a:t>
            </a:r>
            <a:r>
              <a:rPr lang="en-US" smtClean="0"/>
              <a:t> </a:t>
            </a:r>
            <a:r>
              <a:rPr lang="en-US" err="1" smtClean="0"/>
              <a:t>trên</a:t>
            </a:r>
            <a:r>
              <a:rPr lang="en-US" smtClean="0"/>
              <a:t> </a:t>
            </a:r>
            <a:r>
              <a:rPr lang="en-US" err="1" smtClean="0"/>
              <a:t>xả</a:t>
            </a:r>
            <a:r>
              <a:rPr lang="en-US" smtClean="0"/>
              <a:t> fruits </a:t>
            </a:r>
            <a:r>
              <a:rPr lang="en-US" err="1" smtClean="0"/>
              <a:t>ra</a:t>
            </a:r>
            <a:r>
              <a:rPr lang="en-US" smtClean="0"/>
              <a:t>:</a:t>
            </a:r>
          </a:p>
          <a:p>
            <a:pPr marL="285750" indent="-285750">
              <a:buFontTx/>
              <a:buChar char="-"/>
            </a:pPr>
            <a:r>
              <a:rPr lang="en-US" b="1" smtClean="0"/>
              <a:t>Apple</a:t>
            </a:r>
            <a:r>
              <a:rPr lang="en-US" smtClean="0"/>
              <a:t> </a:t>
            </a:r>
            <a:r>
              <a:rPr lang="en-US" err="1" smtClean="0"/>
              <a:t>được</a:t>
            </a:r>
            <a:r>
              <a:rPr lang="en-US" smtClean="0"/>
              <a:t> </a:t>
            </a:r>
            <a:r>
              <a:rPr lang="en-US" err="1" smtClean="0"/>
              <a:t>gán</a:t>
            </a:r>
            <a:r>
              <a:rPr lang="en-US" smtClean="0"/>
              <a:t> </a:t>
            </a:r>
            <a:r>
              <a:rPr lang="en-US" err="1" smtClean="0"/>
              <a:t>cho</a:t>
            </a:r>
            <a:r>
              <a:rPr lang="en-US" smtClean="0"/>
              <a:t> green</a:t>
            </a:r>
          </a:p>
          <a:p>
            <a:pPr marL="285750" indent="-285750">
              <a:buFontTx/>
              <a:buChar char="-"/>
            </a:pPr>
            <a:r>
              <a:rPr lang="en-US" b="1" err="1" smtClean="0"/>
              <a:t>Banane</a:t>
            </a:r>
            <a:r>
              <a:rPr lang="en-US" smtClean="0"/>
              <a:t> </a:t>
            </a:r>
            <a:r>
              <a:rPr lang="en-US" err="1" smtClean="0"/>
              <a:t>được</a:t>
            </a:r>
            <a:r>
              <a:rPr lang="en-US" smtClean="0"/>
              <a:t> </a:t>
            </a:r>
            <a:r>
              <a:rPr lang="en-US" err="1" smtClean="0"/>
              <a:t>gán</a:t>
            </a:r>
            <a:r>
              <a:rPr lang="en-US" smtClean="0"/>
              <a:t> </a:t>
            </a:r>
            <a:r>
              <a:rPr lang="en-US" err="1" smtClean="0"/>
              <a:t>cho</a:t>
            </a:r>
            <a:r>
              <a:rPr lang="en-US" smtClean="0"/>
              <a:t> yellow</a:t>
            </a:r>
          </a:p>
          <a:p>
            <a:pPr marL="285750" indent="-285750">
              <a:buFontTx/>
              <a:buChar char="-"/>
            </a:pPr>
            <a:r>
              <a:rPr lang="en-US" err="1" smtClean="0"/>
              <a:t>Các</a:t>
            </a:r>
            <a:r>
              <a:rPr lang="en-US" smtClean="0"/>
              <a:t> </a:t>
            </a:r>
            <a:r>
              <a:rPr lang="en-US" err="1" smtClean="0"/>
              <a:t>phần</a:t>
            </a:r>
            <a:r>
              <a:rPr lang="en-US" smtClean="0"/>
              <a:t> </a:t>
            </a:r>
            <a:r>
              <a:rPr lang="en-US" err="1" smtClean="0"/>
              <a:t>tử</a:t>
            </a:r>
            <a:r>
              <a:rPr lang="en-US" smtClean="0"/>
              <a:t> </a:t>
            </a:r>
            <a:r>
              <a:rPr lang="en-US" err="1" smtClean="0"/>
              <a:t>còn</a:t>
            </a:r>
            <a:r>
              <a:rPr lang="en-US" smtClean="0"/>
              <a:t> </a:t>
            </a:r>
            <a:r>
              <a:rPr lang="en-US" err="1" smtClean="0"/>
              <a:t>lại</a:t>
            </a:r>
            <a:r>
              <a:rPr lang="en-US" smtClean="0"/>
              <a:t> </a:t>
            </a:r>
            <a:r>
              <a:rPr lang="en-US" err="1" smtClean="0"/>
              <a:t>trong</a:t>
            </a:r>
            <a:r>
              <a:rPr lang="en-US" smtClean="0"/>
              <a:t> Tuple </a:t>
            </a:r>
            <a:r>
              <a:rPr lang="en-US" err="1" smtClean="0"/>
              <a:t>được</a:t>
            </a:r>
            <a:r>
              <a:rPr lang="en-US" smtClean="0"/>
              <a:t> </a:t>
            </a:r>
            <a:r>
              <a:rPr lang="en-US" err="1" smtClean="0"/>
              <a:t>dồn</a:t>
            </a:r>
            <a:r>
              <a:rPr lang="en-US" smtClean="0"/>
              <a:t> </a:t>
            </a:r>
            <a:r>
              <a:rPr lang="en-US" err="1" smtClean="0"/>
              <a:t>hết</a:t>
            </a:r>
            <a:r>
              <a:rPr lang="en-US" smtClean="0"/>
              <a:t> </a:t>
            </a:r>
            <a:r>
              <a:rPr lang="en-US" err="1" smtClean="0"/>
              <a:t>cho</a:t>
            </a:r>
            <a:r>
              <a:rPr lang="en-US" smtClean="0"/>
              <a:t> </a:t>
            </a:r>
            <a:r>
              <a:rPr lang="en-US" b="1" smtClean="0"/>
              <a:t>red  </a:t>
            </a:r>
            <a:r>
              <a:rPr lang="en-US" b="1" err="1" smtClean="0"/>
              <a:t>với</a:t>
            </a:r>
            <a:r>
              <a:rPr lang="en-US" b="1" smtClean="0"/>
              <a:t> </a:t>
            </a:r>
            <a:r>
              <a:rPr lang="en-US" b="1" err="1" smtClean="0"/>
              <a:t>kí</a:t>
            </a:r>
            <a:r>
              <a:rPr lang="en-US" b="1" smtClean="0"/>
              <a:t> </a:t>
            </a:r>
            <a:r>
              <a:rPr lang="en-US" b="1" err="1" smtClean="0"/>
              <a:t>tự</a:t>
            </a:r>
            <a:r>
              <a:rPr lang="en-US" b="1" smtClean="0"/>
              <a:t> </a:t>
            </a:r>
            <a:r>
              <a:rPr lang="en-US" b="1" err="1" smtClean="0"/>
              <a:t>dấu</a:t>
            </a:r>
            <a:r>
              <a:rPr lang="en-US" b="1" smtClean="0"/>
              <a:t> *</a:t>
            </a:r>
            <a:endParaRPr lang="en-US" b="1"/>
          </a:p>
        </p:txBody>
      </p:sp>
    </p:spTree>
    <p:extLst>
      <p:ext uri="{BB962C8B-B14F-4D97-AF65-F5344CB8AC3E}">
        <p14:creationId xmlns:p14="http://schemas.microsoft.com/office/powerpoint/2010/main" val="23001847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21</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5.4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Tuple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Phân</a:t>
            </a:r>
            <a:r>
              <a:rPr lang="en-US" b="1" smtClean="0"/>
              <a:t> </a:t>
            </a:r>
            <a:r>
              <a:rPr lang="en-US" b="1" err="1" smtClean="0"/>
              <a:t>rã</a:t>
            </a:r>
            <a:r>
              <a:rPr lang="en-US" b="1" smtClean="0"/>
              <a:t> </a:t>
            </a:r>
            <a:r>
              <a:rPr lang="en-US" b="1" err="1" smtClean="0"/>
              <a:t>một</a:t>
            </a:r>
            <a:r>
              <a:rPr lang="en-US" b="1" smtClean="0"/>
              <a:t> Tuple</a:t>
            </a:r>
            <a:endParaRPr lang="en-US" b="1">
              <a:solidFill>
                <a:srgbClr val="FF0000"/>
              </a:solidFill>
            </a:endParaRPr>
          </a:p>
        </p:txBody>
      </p:sp>
      <p:sp>
        <p:nvSpPr>
          <p:cNvPr id="29" name="Rectangle 28"/>
          <p:cNvSpPr/>
          <p:nvPr/>
        </p:nvSpPr>
        <p:spPr>
          <a:xfrm>
            <a:off x="699793" y="2480502"/>
            <a:ext cx="7774356" cy="187462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706482"/>
            <a:ext cx="7402216" cy="1446550"/>
          </a:xfrm>
          <a:prstGeom prst="rect">
            <a:avLst/>
          </a:prstGeom>
          <a:noFill/>
        </p:spPr>
        <p:txBody>
          <a:bodyPr wrap="square" rtlCol="0">
            <a:spAutoFit/>
          </a:bodyPr>
          <a:lstStyle/>
          <a:p>
            <a:r>
              <a:rPr lang="es-ES" err="1" smtClean="0">
                <a:solidFill>
                  <a:schemeClr val="bg1"/>
                </a:solidFill>
              </a:rPr>
              <a:t>fruits</a:t>
            </a:r>
            <a:r>
              <a:rPr lang="es-ES" smtClean="0">
                <a:solidFill>
                  <a:schemeClr val="bg1"/>
                </a:solidFill>
              </a:rPr>
              <a:t> </a:t>
            </a:r>
            <a:r>
              <a:rPr lang="es-ES">
                <a:solidFill>
                  <a:schemeClr val="bg1"/>
                </a:solidFill>
              </a:rPr>
              <a:t>= </a:t>
            </a:r>
            <a:r>
              <a:rPr lang="es-ES">
                <a:solidFill>
                  <a:schemeClr val="accent4">
                    <a:lumMod val="60000"/>
                    <a:lumOff val="40000"/>
                  </a:schemeClr>
                </a:solidFill>
              </a:rPr>
              <a:t>(</a:t>
            </a:r>
            <a:r>
              <a:rPr lang="es-ES">
                <a:solidFill>
                  <a:schemeClr val="accent2">
                    <a:lumMod val="75000"/>
                  </a:schemeClr>
                </a:solidFill>
              </a:rPr>
              <a:t>"</a:t>
            </a:r>
            <a:r>
              <a:rPr lang="es-ES" err="1">
                <a:solidFill>
                  <a:schemeClr val="accent2">
                    <a:lumMod val="75000"/>
                  </a:schemeClr>
                </a:solidFill>
              </a:rPr>
              <a:t>apple</a:t>
            </a:r>
            <a:r>
              <a:rPr lang="es-ES">
                <a:solidFill>
                  <a:schemeClr val="accent2">
                    <a:lumMod val="75000"/>
                  </a:schemeClr>
                </a:solidFill>
              </a:rPr>
              <a:t>"</a:t>
            </a:r>
            <a:r>
              <a:rPr lang="es-ES">
                <a:solidFill>
                  <a:schemeClr val="bg1"/>
                </a:solidFill>
              </a:rPr>
              <a:t>, </a:t>
            </a:r>
            <a:r>
              <a:rPr lang="es-ES">
                <a:solidFill>
                  <a:schemeClr val="accent2">
                    <a:lumMod val="75000"/>
                  </a:schemeClr>
                </a:solidFill>
              </a:rPr>
              <a:t>"banana"</a:t>
            </a:r>
            <a:r>
              <a:rPr lang="es-ES">
                <a:solidFill>
                  <a:schemeClr val="bg1"/>
                </a:solidFill>
              </a:rPr>
              <a:t>, </a:t>
            </a:r>
            <a:r>
              <a:rPr lang="es-ES">
                <a:solidFill>
                  <a:schemeClr val="accent2">
                    <a:lumMod val="75000"/>
                  </a:schemeClr>
                </a:solidFill>
              </a:rPr>
              <a:t>"</a:t>
            </a:r>
            <a:r>
              <a:rPr lang="es-ES" err="1" smtClean="0">
                <a:solidFill>
                  <a:schemeClr val="accent2">
                    <a:lumMod val="75000"/>
                  </a:schemeClr>
                </a:solidFill>
              </a:rPr>
              <a:t>cherry</a:t>
            </a:r>
            <a:r>
              <a:rPr lang="es-ES">
                <a:solidFill>
                  <a:schemeClr val="accent2">
                    <a:lumMod val="75000"/>
                  </a:schemeClr>
                </a:solidFill>
              </a:rPr>
              <a:t>“, "</a:t>
            </a:r>
            <a:r>
              <a:rPr lang="es-ES" err="1">
                <a:solidFill>
                  <a:schemeClr val="accent2">
                    <a:lumMod val="75000"/>
                  </a:schemeClr>
                </a:solidFill>
              </a:rPr>
              <a:t>strawberry</a:t>
            </a:r>
            <a:r>
              <a:rPr lang="es-ES">
                <a:solidFill>
                  <a:schemeClr val="accent2">
                    <a:lumMod val="75000"/>
                  </a:schemeClr>
                </a:solidFill>
              </a:rPr>
              <a:t>", "</a:t>
            </a:r>
            <a:r>
              <a:rPr lang="es-ES" err="1">
                <a:solidFill>
                  <a:schemeClr val="accent2">
                    <a:lumMod val="75000"/>
                  </a:schemeClr>
                </a:solidFill>
              </a:rPr>
              <a:t>raspberry</a:t>
            </a:r>
            <a:r>
              <a:rPr lang="es-ES">
                <a:solidFill>
                  <a:schemeClr val="accent2">
                    <a:lumMod val="75000"/>
                  </a:schemeClr>
                </a:solidFill>
              </a:rPr>
              <a:t>"</a:t>
            </a:r>
            <a:r>
              <a:rPr lang="es-ES" smtClean="0">
                <a:solidFill>
                  <a:schemeClr val="accent4">
                    <a:lumMod val="60000"/>
                    <a:lumOff val="40000"/>
                  </a:schemeClr>
                </a:solidFill>
              </a:rPr>
              <a:t>)</a:t>
            </a:r>
            <a:r>
              <a:rPr lang="es-ES">
                <a:solidFill>
                  <a:schemeClr val="bg1"/>
                </a:solidFill>
              </a:rPr>
              <a:t/>
            </a:r>
            <a:br>
              <a:rPr lang="es-ES">
                <a:solidFill>
                  <a:schemeClr val="bg1"/>
                </a:solidFill>
              </a:rPr>
            </a:br>
            <a:r>
              <a:rPr lang="en-US">
                <a:solidFill>
                  <a:schemeClr val="accent4">
                    <a:lumMod val="60000"/>
                    <a:lumOff val="40000"/>
                  </a:schemeClr>
                </a:solidFill>
              </a:rPr>
              <a:t>(</a:t>
            </a:r>
            <a:r>
              <a:rPr lang="en-US">
                <a:solidFill>
                  <a:schemeClr val="bg1"/>
                </a:solidFill>
              </a:rPr>
              <a:t>green, </a:t>
            </a:r>
            <a:r>
              <a:rPr lang="en-US" smtClean="0">
                <a:solidFill>
                  <a:schemeClr val="bg1"/>
                </a:solidFill>
              </a:rPr>
              <a:t>*yellow</a:t>
            </a:r>
            <a:r>
              <a:rPr lang="en-US">
                <a:solidFill>
                  <a:schemeClr val="bg1"/>
                </a:solidFill>
              </a:rPr>
              <a:t>, </a:t>
            </a:r>
            <a:r>
              <a:rPr lang="en-US" smtClean="0">
                <a:solidFill>
                  <a:schemeClr val="bg1"/>
                </a:solidFill>
              </a:rPr>
              <a:t>red</a:t>
            </a:r>
            <a:r>
              <a:rPr lang="en-US">
                <a:solidFill>
                  <a:schemeClr val="accent4">
                    <a:lumMod val="60000"/>
                    <a:lumOff val="40000"/>
                  </a:schemeClr>
                </a:solidFill>
              </a:rPr>
              <a:t>)</a:t>
            </a:r>
            <a:r>
              <a:rPr lang="en-US">
                <a:solidFill>
                  <a:schemeClr val="bg1"/>
                </a:solidFill>
              </a:rPr>
              <a:t> = fruits</a:t>
            </a:r>
            <a:r>
              <a:rPr lang="es-ES">
                <a:solidFill>
                  <a:schemeClr val="bg1"/>
                </a:solidFill>
              </a:rPr>
              <a:t/>
            </a:r>
            <a:br>
              <a:rPr lang="es-ES">
                <a:solidFill>
                  <a:schemeClr val="bg1"/>
                </a:solidFill>
              </a:rPr>
            </a:br>
            <a:r>
              <a:rPr lang="es-ES" err="1" smtClean="0">
                <a:solidFill>
                  <a:schemeClr val="bg1"/>
                </a:solidFill>
              </a:rPr>
              <a:t>print</a:t>
            </a:r>
            <a:r>
              <a:rPr lang="es-ES" smtClean="0">
                <a:solidFill>
                  <a:schemeClr val="accent4">
                    <a:lumMod val="60000"/>
                    <a:lumOff val="40000"/>
                  </a:schemeClr>
                </a:solidFill>
              </a:rPr>
              <a:t>(</a:t>
            </a:r>
            <a:r>
              <a:rPr lang="es-ES" err="1" smtClean="0">
                <a:solidFill>
                  <a:schemeClr val="bg1"/>
                </a:solidFill>
              </a:rPr>
              <a:t>green</a:t>
            </a:r>
            <a:r>
              <a:rPr lang="es-ES" smtClean="0">
                <a:solidFill>
                  <a:schemeClr val="accent4">
                    <a:lumMod val="60000"/>
                    <a:lumOff val="40000"/>
                  </a:schemeClr>
                </a:solidFill>
              </a:rPr>
              <a:t>) #</a:t>
            </a:r>
            <a:r>
              <a:rPr lang="es-ES">
                <a:solidFill>
                  <a:schemeClr val="accent2">
                    <a:lumMod val="75000"/>
                  </a:schemeClr>
                </a:solidFill>
              </a:rPr>
              <a:t> </a:t>
            </a:r>
            <a:r>
              <a:rPr lang="es-ES" err="1">
                <a:solidFill>
                  <a:schemeClr val="accent2">
                    <a:lumMod val="75000"/>
                  </a:schemeClr>
                </a:solidFill>
              </a:rPr>
              <a:t>apple</a:t>
            </a:r>
            <a:endParaRPr lang="es-ES" smtClean="0">
              <a:solidFill>
                <a:schemeClr val="accent4">
                  <a:lumMod val="60000"/>
                  <a:lumOff val="40000"/>
                </a:schemeClr>
              </a:solidFill>
            </a:endParaRPr>
          </a:p>
          <a:p>
            <a:r>
              <a:rPr lang="es-ES" sz="1600" err="1" smtClean="0">
                <a:solidFill>
                  <a:schemeClr val="bg1"/>
                </a:solidFill>
              </a:rPr>
              <a:t>print</a:t>
            </a:r>
            <a:r>
              <a:rPr lang="es-ES" sz="1600" smtClean="0">
                <a:solidFill>
                  <a:schemeClr val="accent4">
                    <a:lumMod val="60000"/>
                    <a:lumOff val="40000"/>
                  </a:schemeClr>
                </a:solidFill>
              </a:rPr>
              <a:t>(</a:t>
            </a:r>
            <a:r>
              <a:rPr lang="es-ES" sz="1600" err="1" smtClean="0">
                <a:solidFill>
                  <a:schemeClr val="bg1"/>
                </a:solidFill>
              </a:rPr>
              <a:t>yellow</a:t>
            </a:r>
            <a:r>
              <a:rPr lang="es-ES" sz="1600" smtClean="0">
                <a:solidFill>
                  <a:schemeClr val="accent4">
                    <a:lumMod val="60000"/>
                    <a:lumOff val="40000"/>
                  </a:schemeClr>
                </a:solidFill>
              </a:rPr>
              <a:t>) #</a:t>
            </a:r>
            <a:r>
              <a:rPr lang="es-ES" sz="1600">
                <a:solidFill>
                  <a:schemeClr val="accent2">
                    <a:lumMod val="75000"/>
                  </a:schemeClr>
                </a:solidFill>
              </a:rPr>
              <a:t> "banana"</a:t>
            </a:r>
            <a:r>
              <a:rPr lang="es-ES" sz="1600">
                <a:solidFill>
                  <a:schemeClr val="bg1"/>
                </a:solidFill>
              </a:rPr>
              <a:t>, </a:t>
            </a:r>
            <a:r>
              <a:rPr lang="es-ES" sz="1600">
                <a:solidFill>
                  <a:schemeClr val="accent2">
                    <a:lumMod val="75000"/>
                  </a:schemeClr>
                </a:solidFill>
              </a:rPr>
              <a:t>"</a:t>
            </a:r>
            <a:r>
              <a:rPr lang="es-ES" sz="1600" err="1">
                <a:solidFill>
                  <a:schemeClr val="accent2">
                    <a:lumMod val="75000"/>
                  </a:schemeClr>
                </a:solidFill>
              </a:rPr>
              <a:t>cherry</a:t>
            </a:r>
            <a:r>
              <a:rPr lang="es-ES" sz="1600">
                <a:solidFill>
                  <a:schemeClr val="accent2">
                    <a:lumMod val="75000"/>
                  </a:schemeClr>
                </a:solidFill>
              </a:rPr>
              <a:t>“, "</a:t>
            </a:r>
            <a:r>
              <a:rPr lang="es-ES" sz="1600" err="1">
                <a:solidFill>
                  <a:schemeClr val="accent2">
                    <a:lumMod val="75000"/>
                  </a:schemeClr>
                </a:solidFill>
              </a:rPr>
              <a:t>strawberry</a:t>
            </a:r>
            <a:r>
              <a:rPr lang="es-ES" sz="1600">
                <a:solidFill>
                  <a:schemeClr val="accent2">
                    <a:lumMod val="75000"/>
                  </a:schemeClr>
                </a:solidFill>
              </a:rPr>
              <a:t>"</a:t>
            </a:r>
            <a:endParaRPr lang="es-ES" sz="1600" smtClean="0">
              <a:solidFill>
                <a:schemeClr val="accent4">
                  <a:lumMod val="60000"/>
                  <a:lumOff val="40000"/>
                </a:schemeClr>
              </a:solidFill>
            </a:endParaRPr>
          </a:p>
          <a:p>
            <a:r>
              <a:rPr lang="es-ES" sz="1600" err="1">
                <a:solidFill>
                  <a:schemeClr val="bg1"/>
                </a:solidFill>
              </a:rPr>
              <a:t>print</a:t>
            </a:r>
            <a:r>
              <a:rPr lang="es-ES" sz="1600">
                <a:solidFill>
                  <a:schemeClr val="accent4">
                    <a:lumMod val="60000"/>
                    <a:lumOff val="40000"/>
                  </a:schemeClr>
                </a:solidFill>
              </a:rPr>
              <a:t>(</a:t>
            </a:r>
            <a:r>
              <a:rPr lang="es-ES" sz="1600">
                <a:solidFill>
                  <a:schemeClr val="bg1"/>
                </a:solidFill>
              </a:rPr>
              <a:t>red</a:t>
            </a:r>
            <a:r>
              <a:rPr lang="es-ES" sz="1600" smtClean="0">
                <a:solidFill>
                  <a:schemeClr val="accent4">
                    <a:lumMod val="60000"/>
                    <a:lumOff val="40000"/>
                  </a:schemeClr>
                </a:solidFill>
              </a:rPr>
              <a:t>) #</a:t>
            </a:r>
            <a:r>
              <a:rPr lang="es-ES" sz="1600" smtClean="0">
                <a:solidFill>
                  <a:schemeClr val="accent2">
                    <a:lumMod val="75000"/>
                  </a:schemeClr>
                </a:solidFill>
              </a:rPr>
              <a:t>"</a:t>
            </a:r>
            <a:r>
              <a:rPr lang="es-ES" sz="1600" err="1">
                <a:solidFill>
                  <a:schemeClr val="accent2">
                    <a:lumMod val="75000"/>
                  </a:schemeClr>
                </a:solidFill>
              </a:rPr>
              <a:t>raspberry</a:t>
            </a:r>
            <a:r>
              <a:rPr lang="es-ES" sz="1600">
                <a:solidFill>
                  <a:schemeClr val="accent2">
                    <a:lumMod val="75000"/>
                  </a:schemeClr>
                </a:solidFill>
              </a:rPr>
              <a:t>"</a:t>
            </a:r>
            <a:endParaRPr lang="es-ES" sz="1600">
              <a:solidFill>
                <a:schemeClr val="accent4">
                  <a:lumMod val="60000"/>
                  <a:lumOff val="40000"/>
                </a:schemeClr>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a:t>R</a:t>
            </a:r>
            <a:r>
              <a:rPr lang="en-US" err="1" smtClean="0"/>
              <a:t>ã</a:t>
            </a:r>
            <a:r>
              <a:rPr lang="en-US" smtClean="0"/>
              <a:t> tuple </a:t>
            </a:r>
            <a:r>
              <a:rPr lang="en-US" err="1" smtClean="0"/>
              <a:t>với</a:t>
            </a:r>
            <a:r>
              <a:rPr lang="en-US" smtClean="0"/>
              <a:t> </a:t>
            </a:r>
            <a:r>
              <a:rPr lang="en-US" err="1" smtClean="0"/>
              <a:t>dấu</a:t>
            </a:r>
            <a:r>
              <a:rPr lang="en-US" smtClean="0"/>
              <a:t> *</a:t>
            </a:r>
            <a:endParaRPr lang="en-US" b="1"/>
          </a:p>
        </p:txBody>
      </p:sp>
      <p:sp>
        <p:nvSpPr>
          <p:cNvPr id="12" name="TextBox 11"/>
          <p:cNvSpPr txBox="1"/>
          <p:nvPr/>
        </p:nvSpPr>
        <p:spPr>
          <a:xfrm>
            <a:off x="584791" y="4493142"/>
            <a:ext cx="7697972" cy="1477328"/>
          </a:xfrm>
          <a:prstGeom prst="rect">
            <a:avLst/>
          </a:prstGeom>
          <a:noFill/>
        </p:spPr>
        <p:txBody>
          <a:bodyPr wrap="square" rtlCol="0">
            <a:spAutoFit/>
          </a:bodyPr>
          <a:lstStyle/>
          <a:p>
            <a:r>
              <a:rPr lang="en-US" err="1" smtClean="0"/>
              <a:t>Trong</a:t>
            </a:r>
            <a:r>
              <a:rPr lang="en-US" smtClean="0"/>
              <a:t> </a:t>
            </a:r>
            <a:r>
              <a:rPr lang="en-US" err="1" smtClean="0"/>
              <a:t>ví</a:t>
            </a:r>
            <a:r>
              <a:rPr lang="en-US" smtClean="0"/>
              <a:t> </a:t>
            </a:r>
            <a:r>
              <a:rPr lang="en-US" err="1" smtClean="0"/>
              <a:t>dụ</a:t>
            </a:r>
            <a:r>
              <a:rPr lang="en-US" smtClean="0"/>
              <a:t> </a:t>
            </a:r>
            <a:r>
              <a:rPr lang="en-US" err="1" smtClean="0"/>
              <a:t>trên</a:t>
            </a:r>
            <a:r>
              <a:rPr lang="en-US" smtClean="0"/>
              <a:t> </a:t>
            </a:r>
            <a:r>
              <a:rPr lang="en-US" err="1" smtClean="0"/>
              <a:t>xả</a:t>
            </a:r>
            <a:r>
              <a:rPr lang="en-US" smtClean="0"/>
              <a:t> fruits </a:t>
            </a:r>
            <a:r>
              <a:rPr lang="en-US" err="1" smtClean="0"/>
              <a:t>ra</a:t>
            </a:r>
            <a:r>
              <a:rPr lang="en-US" smtClean="0"/>
              <a:t>:</a:t>
            </a:r>
          </a:p>
          <a:p>
            <a:pPr marL="285750" indent="-285750">
              <a:buFontTx/>
              <a:buChar char="-"/>
            </a:pPr>
            <a:r>
              <a:rPr lang="en-US" b="1" smtClean="0"/>
              <a:t>Apple</a:t>
            </a:r>
            <a:r>
              <a:rPr lang="en-US" smtClean="0"/>
              <a:t> </a:t>
            </a:r>
            <a:r>
              <a:rPr lang="en-US" err="1" smtClean="0"/>
              <a:t>được</a:t>
            </a:r>
            <a:r>
              <a:rPr lang="en-US" smtClean="0"/>
              <a:t> </a:t>
            </a:r>
            <a:r>
              <a:rPr lang="en-US" err="1" smtClean="0"/>
              <a:t>gán</a:t>
            </a:r>
            <a:r>
              <a:rPr lang="en-US" smtClean="0"/>
              <a:t> </a:t>
            </a:r>
            <a:r>
              <a:rPr lang="en-US" err="1" smtClean="0"/>
              <a:t>cho</a:t>
            </a:r>
            <a:r>
              <a:rPr lang="en-US" smtClean="0"/>
              <a:t> green</a:t>
            </a:r>
          </a:p>
          <a:p>
            <a:pPr marL="285750" indent="-285750">
              <a:buFontTx/>
              <a:buChar char="-"/>
            </a:pPr>
            <a:r>
              <a:rPr lang="en-US" b="1" smtClean="0"/>
              <a:t>Raspberry</a:t>
            </a:r>
            <a:r>
              <a:rPr lang="en-US" smtClean="0"/>
              <a:t> </a:t>
            </a:r>
            <a:r>
              <a:rPr lang="en-US" err="1" smtClean="0"/>
              <a:t>được</a:t>
            </a:r>
            <a:r>
              <a:rPr lang="en-US" smtClean="0"/>
              <a:t> </a:t>
            </a:r>
            <a:r>
              <a:rPr lang="en-US" err="1" smtClean="0"/>
              <a:t>gán</a:t>
            </a:r>
            <a:r>
              <a:rPr lang="en-US" smtClean="0"/>
              <a:t> </a:t>
            </a:r>
            <a:r>
              <a:rPr lang="en-US" err="1" smtClean="0"/>
              <a:t>cho</a:t>
            </a:r>
            <a:r>
              <a:rPr lang="en-US" smtClean="0"/>
              <a:t> red</a:t>
            </a:r>
          </a:p>
          <a:p>
            <a:pPr marL="285750" indent="-285750">
              <a:buFontTx/>
              <a:buChar char="-"/>
            </a:pPr>
            <a:r>
              <a:rPr lang="en-US" err="1" smtClean="0"/>
              <a:t>Các</a:t>
            </a:r>
            <a:r>
              <a:rPr lang="en-US" smtClean="0"/>
              <a:t> </a:t>
            </a:r>
            <a:r>
              <a:rPr lang="en-US" err="1" smtClean="0"/>
              <a:t>phần</a:t>
            </a:r>
            <a:r>
              <a:rPr lang="en-US" smtClean="0"/>
              <a:t> </a:t>
            </a:r>
            <a:r>
              <a:rPr lang="en-US" err="1" smtClean="0"/>
              <a:t>tử</a:t>
            </a:r>
            <a:r>
              <a:rPr lang="en-US" smtClean="0"/>
              <a:t> </a:t>
            </a:r>
            <a:r>
              <a:rPr lang="en-US" err="1" smtClean="0"/>
              <a:t>còn</a:t>
            </a:r>
            <a:r>
              <a:rPr lang="en-US" smtClean="0"/>
              <a:t> </a:t>
            </a:r>
            <a:r>
              <a:rPr lang="en-US" err="1" smtClean="0"/>
              <a:t>lại</a:t>
            </a:r>
            <a:r>
              <a:rPr lang="en-US" smtClean="0"/>
              <a:t> </a:t>
            </a:r>
            <a:r>
              <a:rPr lang="en-US" err="1" smtClean="0"/>
              <a:t>trong</a:t>
            </a:r>
            <a:r>
              <a:rPr lang="en-US" smtClean="0"/>
              <a:t> Tuple </a:t>
            </a:r>
            <a:r>
              <a:rPr lang="en-US" err="1" smtClean="0"/>
              <a:t>được</a:t>
            </a:r>
            <a:r>
              <a:rPr lang="en-US" smtClean="0"/>
              <a:t> </a:t>
            </a:r>
            <a:r>
              <a:rPr lang="en-US" err="1" smtClean="0"/>
              <a:t>dồn</a:t>
            </a:r>
            <a:r>
              <a:rPr lang="en-US" smtClean="0"/>
              <a:t> </a:t>
            </a:r>
            <a:r>
              <a:rPr lang="en-US" err="1" smtClean="0"/>
              <a:t>hết</a:t>
            </a:r>
            <a:r>
              <a:rPr lang="en-US" smtClean="0"/>
              <a:t> </a:t>
            </a:r>
            <a:r>
              <a:rPr lang="en-US" err="1" smtClean="0"/>
              <a:t>cho</a:t>
            </a:r>
            <a:r>
              <a:rPr lang="en-US" smtClean="0"/>
              <a:t> </a:t>
            </a:r>
            <a:r>
              <a:rPr lang="en-US" b="1" smtClean="0"/>
              <a:t>yellow  </a:t>
            </a:r>
            <a:r>
              <a:rPr lang="en-US" b="1" err="1" smtClean="0"/>
              <a:t>với</a:t>
            </a:r>
            <a:r>
              <a:rPr lang="en-US" b="1" smtClean="0"/>
              <a:t> </a:t>
            </a:r>
            <a:r>
              <a:rPr lang="en-US" b="1" err="1" smtClean="0"/>
              <a:t>kí</a:t>
            </a:r>
            <a:r>
              <a:rPr lang="en-US" b="1" smtClean="0"/>
              <a:t> </a:t>
            </a:r>
            <a:r>
              <a:rPr lang="en-US" b="1" err="1" smtClean="0"/>
              <a:t>tự</a:t>
            </a:r>
            <a:r>
              <a:rPr lang="en-US" b="1" smtClean="0"/>
              <a:t> </a:t>
            </a:r>
            <a:r>
              <a:rPr lang="en-US" b="1" err="1" smtClean="0"/>
              <a:t>dấu</a:t>
            </a:r>
            <a:r>
              <a:rPr lang="en-US" b="1" smtClean="0"/>
              <a:t> *</a:t>
            </a:r>
            <a:endParaRPr lang="en-US" b="1"/>
          </a:p>
        </p:txBody>
      </p:sp>
    </p:spTree>
    <p:extLst>
      <p:ext uri="{BB962C8B-B14F-4D97-AF65-F5344CB8AC3E}">
        <p14:creationId xmlns:p14="http://schemas.microsoft.com/office/powerpoint/2010/main" val="20627112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22</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5.4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Tuple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Lặp</a:t>
            </a:r>
            <a:r>
              <a:rPr lang="en-US" b="1" smtClean="0"/>
              <a:t> </a:t>
            </a:r>
            <a:r>
              <a:rPr lang="en-US" b="1" err="1" smtClean="0"/>
              <a:t>các</a:t>
            </a:r>
            <a:r>
              <a:rPr lang="en-US" b="1" smtClean="0"/>
              <a:t> </a:t>
            </a:r>
            <a:r>
              <a:rPr lang="en-US" b="1" err="1" smtClean="0"/>
              <a:t>phần</a:t>
            </a:r>
            <a:r>
              <a:rPr lang="en-US" b="1" smtClean="0"/>
              <a:t> </a:t>
            </a:r>
            <a:r>
              <a:rPr lang="en-US" b="1" err="1" smtClean="0"/>
              <a:t>tử</a:t>
            </a:r>
            <a:r>
              <a:rPr lang="en-US" b="1" smtClean="0"/>
              <a:t> </a:t>
            </a:r>
            <a:r>
              <a:rPr lang="en-US" b="1" err="1" smtClean="0"/>
              <a:t>của</a:t>
            </a:r>
            <a:r>
              <a:rPr lang="en-US" b="1" smtClean="0"/>
              <a:t> Tuple </a:t>
            </a:r>
            <a:r>
              <a:rPr lang="en-US" b="1" err="1" smtClean="0"/>
              <a:t>với</a:t>
            </a:r>
            <a:r>
              <a:rPr lang="en-US" b="1" smtClean="0"/>
              <a:t> for</a:t>
            </a:r>
            <a:endParaRPr lang="en-US" b="1">
              <a:solidFill>
                <a:srgbClr val="FF0000"/>
              </a:solidFill>
            </a:endParaRPr>
          </a:p>
        </p:txBody>
      </p:sp>
      <p:sp>
        <p:nvSpPr>
          <p:cNvPr id="29" name="Rectangle 28"/>
          <p:cNvSpPr/>
          <p:nvPr/>
        </p:nvSpPr>
        <p:spPr>
          <a:xfrm>
            <a:off x="699793" y="2498652"/>
            <a:ext cx="7774356" cy="121370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923330"/>
          </a:xfrm>
          <a:prstGeom prst="rect">
            <a:avLst/>
          </a:prstGeom>
          <a:noFill/>
        </p:spPr>
        <p:txBody>
          <a:bodyPr wrap="square" rtlCol="0">
            <a:spAutoFit/>
          </a:bodyPr>
          <a:lstStyle/>
          <a:p>
            <a:r>
              <a:rPr lang="en-US" err="1" smtClean="0">
                <a:solidFill>
                  <a:schemeClr val="bg1"/>
                </a:solidFill>
              </a:rPr>
              <a:t>mytuple</a:t>
            </a:r>
            <a:r>
              <a:rPr lang="en-US" smtClean="0">
                <a:solidFill>
                  <a:schemeClr val="bg1"/>
                </a:solidFill>
              </a:rPr>
              <a:t> </a:t>
            </a:r>
            <a:r>
              <a:rPr lang="en-US">
                <a:solidFill>
                  <a:schemeClr val="bg1"/>
                </a:solidFill>
              </a:rPr>
              <a:t>= </a:t>
            </a:r>
            <a:r>
              <a:rPr lang="en-US" smtClean="0">
                <a:solidFill>
                  <a:schemeClr val="accent4">
                    <a:lumMod val="60000"/>
                    <a:lumOff val="40000"/>
                  </a:schemeClr>
                </a:solidFill>
              </a:rPr>
              <a:t>(</a:t>
            </a:r>
            <a:r>
              <a:rPr lang="en-US" smtClean="0">
                <a:solidFill>
                  <a:schemeClr val="accent2">
                    <a:lumMod val="75000"/>
                  </a:schemeClr>
                </a:solidFill>
              </a:rPr>
              <a:t>"</a:t>
            </a:r>
            <a:r>
              <a:rPr lang="en-US">
                <a:solidFill>
                  <a:schemeClr val="accent2">
                    <a:lumMod val="75000"/>
                  </a:schemeClr>
                </a:solidFill>
              </a:rPr>
              <a:t>apple"</a:t>
            </a:r>
            <a:r>
              <a:rPr lang="en-US">
                <a:solidFill>
                  <a:schemeClr val="bg1"/>
                </a:solidFill>
              </a:rPr>
              <a:t>, </a:t>
            </a:r>
            <a:r>
              <a:rPr lang="en-US">
                <a:solidFill>
                  <a:schemeClr val="accent2">
                    <a:lumMod val="75000"/>
                  </a:schemeClr>
                </a:solidFill>
              </a:rPr>
              <a:t>"banana"</a:t>
            </a:r>
            <a:r>
              <a:rPr lang="en-US">
                <a:solidFill>
                  <a:schemeClr val="bg1"/>
                </a:solidFill>
              </a:rPr>
              <a:t>, </a:t>
            </a:r>
            <a:r>
              <a:rPr lang="en-US" smtClean="0">
                <a:solidFill>
                  <a:schemeClr val="accent2">
                    <a:lumMod val="75000"/>
                  </a:schemeClr>
                </a:solidFill>
              </a:rPr>
              <a:t>"kiwi“</a:t>
            </a:r>
            <a:r>
              <a:rPr lang="en-US" smtClean="0">
                <a:solidFill>
                  <a:schemeClr val="accent4">
                    <a:lumMod val="60000"/>
                    <a:lumOff val="40000"/>
                  </a:schemeClr>
                </a:solidFill>
              </a:rPr>
              <a:t>)</a:t>
            </a:r>
            <a:endParaRPr lang="en-US">
              <a:solidFill>
                <a:schemeClr val="accent4">
                  <a:lumMod val="60000"/>
                  <a:lumOff val="40000"/>
                </a:schemeClr>
              </a:solidFill>
            </a:endParaRPr>
          </a:p>
          <a:p>
            <a:r>
              <a:rPr lang="en-US">
                <a:solidFill>
                  <a:srgbClr val="00B0F0"/>
                </a:solidFill>
              </a:rPr>
              <a:t>for</a:t>
            </a:r>
            <a:r>
              <a:rPr lang="en-US">
                <a:solidFill>
                  <a:schemeClr val="bg1"/>
                </a:solidFill>
              </a:rPr>
              <a:t> x </a:t>
            </a:r>
            <a:r>
              <a:rPr lang="en-US">
                <a:solidFill>
                  <a:srgbClr val="00B0F0"/>
                </a:solidFill>
              </a:rPr>
              <a:t>in</a:t>
            </a:r>
            <a:r>
              <a:rPr lang="en-US">
                <a:solidFill>
                  <a:schemeClr val="bg1"/>
                </a:solidFill>
              </a:rPr>
              <a:t>  </a:t>
            </a:r>
            <a:r>
              <a:rPr lang="en-US" err="1">
                <a:solidFill>
                  <a:schemeClr val="bg1"/>
                </a:solidFill>
              </a:rPr>
              <a:t>mytuple</a:t>
            </a:r>
            <a:r>
              <a:rPr lang="en-US">
                <a:solidFill>
                  <a:schemeClr val="bg1"/>
                </a:solidFill>
              </a:rPr>
              <a:t> </a:t>
            </a:r>
            <a:r>
              <a:rPr lang="en-US" smtClean="0">
                <a:solidFill>
                  <a:schemeClr val="bg1"/>
                </a:solidFill>
              </a:rPr>
              <a:t>:</a:t>
            </a:r>
            <a:r>
              <a:rPr lang="en-US">
                <a:solidFill>
                  <a:schemeClr val="bg1"/>
                </a:solidFill>
              </a:rPr>
              <a:t/>
            </a:r>
            <a:br>
              <a:rPr lang="en-US">
                <a:solidFill>
                  <a:schemeClr val="bg1"/>
                </a:solidFill>
              </a:rPr>
            </a:br>
            <a:r>
              <a:rPr lang="en-US">
                <a:solidFill>
                  <a:schemeClr val="bg1"/>
                </a:solidFill>
              </a:rPr>
              <a:t>  </a:t>
            </a:r>
            <a:r>
              <a:rPr lang="en-US" smtClean="0">
                <a:solidFill>
                  <a:schemeClr val="bg1"/>
                </a:solidFill>
              </a:rPr>
              <a:t>   print</a:t>
            </a:r>
            <a:r>
              <a:rPr lang="en-US" smtClean="0">
                <a:solidFill>
                  <a:schemeClr val="accent4">
                    <a:lumMod val="60000"/>
                    <a:lumOff val="40000"/>
                  </a:schemeClr>
                </a:solidFill>
              </a:rPr>
              <a:t>(</a:t>
            </a:r>
            <a:r>
              <a:rPr lang="en-US" smtClean="0">
                <a:solidFill>
                  <a:schemeClr val="bg1"/>
                </a:solidFill>
              </a:rPr>
              <a:t>x</a:t>
            </a:r>
            <a:r>
              <a:rPr lang="en-US">
                <a:solidFill>
                  <a:schemeClr val="accent4">
                    <a:lumMod val="60000"/>
                    <a:lumOff val="40000"/>
                  </a:schemeClr>
                </a:solidFill>
              </a:rPr>
              <a:t>)</a:t>
            </a:r>
            <a:endParaRPr lang="en-US" sz="1600">
              <a:solidFill>
                <a:schemeClr val="accent4">
                  <a:lumMod val="60000"/>
                  <a:lumOff val="40000"/>
                </a:schemeClr>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Dùng</a:t>
            </a:r>
            <a:r>
              <a:rPr lang="en-US" smtClean="0"/>
              <a:t> </a:t>
            </a:r>
            <a:r>
              <a:rPr lang="en-US" err="1" smtClean="0"/>
              <a:t>lệnh</a:t>
            </a:r>
            <a:r>
              <a:rPr lang="en-US" smtClean="0"/>
              <a:t> </a:t>
            </a:r>
            <a:r>
              <a:rPr lang="en-US" b="1" smtClean="0"/>
              <a:t>for </a:t>
            </a:r>
            <a:r>
              <a:rPr lang="en-US" err="1" smtClean="0"/>
              <a:t>đã</a:t>
            </a:r>
            <a:r>
              <a:rPr lang="en-US" smtClean="0"/>
              <a:t> </a:t>
            </a:r>
            <a:r>
              <a:rPr lang="en-US" err="1" smtClean="0"/>
              <a:t>học</a:t>
            </a:r>
            <a:r>
              <a:rPr lang="en-US" smtClean="0"/>
              <a:t> </a:t>
            </a:r>
            <a:r>
              <a:rPr lang="en-US" err="1" smtClean="0"/>
              <a:t>bài</a:t>
            </a:r>
            <a:r>
              <a:rPr lang="en-US" smtClean="0"/>
              <a:t> </a:t>
            </a:r>
            <a:r>
              <a:rPr lang="en-US" err="1" smtClean="0"/>
              <a:t>trước</a:t>
            </a:r>
            <a:r>
              <a:rPr lang="en-US" smtClean="0"/>
              <a:t> </a:t>
            </a:r>
            <a:r>
              <a:rPr lang="en-US" err="1" smtClean="0"/>
              <a:t>để</a:t>
            </a:r>
            <a:r>
              <a:rPr lang="en-US" smtClean="0"/>
              <a:t> </a:t>
            </a:r>
            <a:r>
              <a:rPr lang="en-US" err="1" smtClean="0"/>
              <a:t>lặp</a:t>
            </a:r>
            <a:r>
              <a:rPr lang="en-US" smtClean="0"/>
              <a:t> qua </a:t>
            </a:r>
            <a:r>
              <a:rPr lang="en-US" err="1" smtClean="0"/>
              <a:t>các</a:t>
            </a:r>
            <a:r>
              <a:rPr lang="en-US" smtClean="0"/>
              <a:t> </a:t>
            </a:r>
            <a:r>
              <a:rPr lang="en-US" err="1" smtClean="0"/>
              <a:t>phần</a:t>
            </a:r>
            <a:r>
              <a:rPr lang="en-US" smtClean="0"/>
              <a:t> </a:t>
            </a:r>
            <a:r>
              <a:rPr lang="en-US" err="1" smtClean="0"/>
              <a:t>tử</a:t>
            </a:r>
            <a:r>
              <a:rPr lang="en-US" smtClean="0"/>
              <a:t> </a:t>
            </a:r>
            <a:r>
              <a:rPr lang="en-US" err="1" smtClean="0"/>
              <a:t>của</a:t>
            </a:r>
            <a:r>
              <a:rPr lang="en-US" smtClean="0"/>
              <a:t> Tuple</a:t>
            </a:r>
            <a:endParaRPr lang="en-US" b="1"/>
          </a:p>
        </p:txBody>
      </p:sp>
      <p:sp>
        <p:nvSpPr>
          <p:cNvPr id="25" name="TextBox 24"/>
          <p:cNvSpPr txBox="1"/>
          <p:nvPr/>
        </p:nvSpPr>
        <p:spPr>
          <a:xfrm>
            <a:off x="639997" y="3770666"/>
            <a:ext cx="7697972" cy="369332"/>
          </a:xfrm>
          <a:prstGeom prst="rect">
            <a:avLst/>
          </a:prstGeom>
          <a:noFill/>
        </p:spPr>
        <p:txBody>
          <a:bodyPr wrap="square" rtlCol="0">
            <a:spAutoFit/>
          </a:bodyPr>
          <a:lstStyle/>
          <a:p>
            <a:r>
              <a:rPr lang="en-US" err="1" smtClean="0"/>
              <a:t>Hoặc</a:t>
            </a:r>
            <a:r>
              <a:rPr lang="en-US" smtClean="0"/>
              <a:t> </a:t>
            </a:r>
            <a:r>
              <a:rPr lang="en-US" err="1" smtClean="0"/>
              <a:t>cú</a:t>
            </a:r>
            <a:r>
              <a:rPr lang="en-US" smtClean="0"/>
              <a:t> </a:t>
            </a:r>
            <a:r>
              <a:rPr lang="en-US" err="1" smtClean="0"/>
              <a:t>pháp</a:t>
            </a:r>
            <a:r>
              <a:rPr lang="en-US" smtClean="0"/>
              <a:t> </a:t>
            </a:r>
            <a:r>
              <a:rPr lang="en-US" err="1" smtClean="0"/>
              <a:t>ngắn</a:t>
            </a:r>
            <a:r>
              <a:rPr lang="en-US" smtClean="0"/>
              <a:t> (short hand)</a:t>
            </a:r>
            <a:endParaRPr lang="en-US" b="1"/>
          </a:p>
        </p:txBody>
      </p:sp>
      <p:sp>
        <p:nvSpPr>
          <p:cNvPr id="15" name="Rectangle 14"/>
          <p:cNvSpPr/>
          <p:nvPr/>
        </p:nvSpPr>
        <p:spPr>
          <a:xfrm>
            <a:off x="699793" y="4238039"/>
            <a:ext cx="7774356" cy="65285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80547" y="4361331"/>
            <a:ext cx="7402216" cy="369332"/>
          </a:xfrm>
          <a:prstGeom prst="rect">
            <a:avLst/>
          </a:prstGeom>
          <a:noFill/>
        </p:spPr>
        <p:txBody>
          <a:bodyPr wrap="square" rtlCol="0">
            <a:spAutoFit/>
          </a:bodyPr>
          <a:lstStyle/>
          <a:p>
            <a:r>
              <a:rPr lang="en-US">
                <a:solidFill>
                  <a:schemeClr val="accent4">
                    <a:lumMod val="60000"/>
                    <a:lumOff val="40000"/>
                  </a:schemeClr>
                </a:solidFill>
              </a:rPr>
              <a:t>[</a:t>
            </a:r>
            <a:r>
              <a:rPr lang="en-US">
                <a:solidFill>
                  <a:schemeClr val="bg1"/>
                </a:solidFill>
              </a:rPr>
              <a:t>print</a:t>
            </a:r>
            <a:r>
              <a:rPr lang="en-US">
                <a:solidFill>
                  <a:srgbClr val="FF66CC"/>
                </a:solidFill>
              </a:rPr>
              <a:t>(</a:t>
            </a:r>
            <a:r>
              <a:rPr lang="en-US">
                <a:solidFill>
                  <a:schemeClr val="bg1"/>
                </a:solidFill>
              </a:rPr>
              <a:t>x</a:t>
            </a:r>
            <a:r>
              <a:rPr lang="en-US">
                <a:solidFill>
                  <a:srgbClr val="FF66CC"/>
                </a:solidFill>
              </a:rPr>
              <a:t>)</a:t>
            </a:r>
            <a:r>
              <a:rPr lang="en-US">
                <a:solidFill>
                  <a:schemeClr val="bg1"/>
                </a:solidFill>
              </a:rPr>
              <a:t> </a:t>
            </a:r>
            <a:r>
              <a:rPr lang="en-US">
                <a:solidFill>
                  <a:srgbClr val="00B0F0"/>
                </a:solidFill>
              </a:rPr>
              <a:t>for</a:t>
            </a:r>
            <a:r>
              <a:rPr lang="en-US">
                <a:solidFill>
                  <a:schemeClr val="bg1"/>
                </a:solidFill>
              </a:rPr>
              <a:t> x </a:t>
            </a:r>
            <a:r>
              <a:rPr lang="en-US">
                <a:solidFill>
                  <a:srgbClr val="00B0F0"/>
                </a:solidFill>
              </a:rPr>
              <a:t>in</a:t>
            </a:r>
            <a:r>
              <a:rPr lang="en-US">
                <a:solidFill>
                  <a:schemeClr val="bg1"/>
                </a:solidFill>
              </a:rPr>
              <a:t>  </a:t>
            </a:r>
            <a:r>
              <a:rPr lang="en-US" err="1">
                <a:solidFill>
                  <a:schemeClr val="bg1"/>
                </a:solidFill>
              </a:rPr>
              <a:t>mytuple</a:t>
            </a:r>
            <a:r>
              <a:rPr lang="en-US" smtClean="0">
                <a:solidFill>
                  <a:schemeClr val="accent4">
                    <a:lumMod val="60000"/>
                    <a:lumOff val="40000"/>
                  </a:schemeClr>
                </a:solidFill>
              </a:rPr>
              <a:t>]</a:t>
            </a:r>
            <a:endParaRPr lang="en-US">
              <a:solidFill>
                <a:schemeClr val="accent4">
                  <a:lumMod val="60000"/>
                  <a:lumOff val="40000"/>
                </a:schemeClr>
              </a:solidFill>
            </a:endParaRPr>
          </a:p>
        </p:txBody>
      </p:sp>
      <p:sp>
        <p:nvSpPr>
          <p:cNvPr id="12" name="TextBox 11"/>
          <p:cNvSpPr txBox="1"/>
          <p:nvPr/>
        </p:nvSpPr>
        <p:spPr>
          <a:xfrm>
            <a:off x="639997" y="4993410"/>
            <a:ext cx="7697972" cy="369332"/>
          </a:xfrm>
          <a:prstGeom prst="rect">
            <a:avLst/>
          </a:prstGeom>
          <a:noFill/>
        </p:spPr>
        <p:txBody>
          <a:bodyPr wrap="square" rtlCol="0">
            <a:spAutoFit/>
          </a:bodyPr>
          <a:lstStyle/>
          <a:p>
            <a:r>
              <a:rPr lang="en-US" err="1" smtClean="0"/>
              <a:t>Lặp</a:t>
            </a:r>
            <a:r>
              <a:rPr lang="en-US" smtClean="0"/>
              <a:t> qua </a:t>
            </a:r>
            <a:r>
              <a:rPr lang="en-US" err="1" smtClean="0"/>
              <a:t>và</a:t>
            </a:r>
            <a:r>
              <a:rPr lang="en-US" smtClean="0"/>
              <a:t> in </a:t>
            </a:r>
            <a:r>
              <a:rPr lang="en-US" err="1" smtClean="0"/>
              <a:t>ra</a:t>
            </a:r>
            <a:r>
              <a:rPr lang="en-US" smtClean="0"/>
              <a:t> </a:t>
            </a:r>
            <a:r>
              <a:rPr lang="en-US" err="1" smtClean="0"/>
              <a:t>vị</a:t>
            </a:r>
            <a:r>
              <a:rPr lang="en-US" smtClean="0"/>
              <a:t> </a:t>
            </a:r>
            <a:r>
              <a:rPr lang="en-US" err="1" smtClean="0"/>
              <a:t>trí</a:t>
            </a:r>
            <a:r>
              <a:rPr lang="en-US" smtClean="0"/>
              <a:t> index </a:t>
            </a:r>
            <a:r>
              <a:rPr lang="en-US" err="1" smtClean="0"/>
              <a:t>của</a:t>
            </a:r>
            <a:r>
              <a:rPr lang="en-US" smtClean="0"/>
              <a:t> </a:t>
            </a:r>
            <a:r>
              <a:rPr lang="en-US" err="1" smtClean="0"/>
              <a:t>phần</a:t>
            </a:r>
            <a:r>
              <a:rPr lang="en-US" smtClean="0"/>
              <a:t> </a:t>
            </a:r>
            <a:r>
              <a:rPr lang="en-US" err="1" smtClean="0"/>
              <a:t>tử</a:t>
            </a:r>
            <a:r>
              <a:rPr lang="en-US" smtClean="0"/>
              <a:t> </a:t>
            </a:r>
            <a:r>
              <a:rPr lang="en-US" err="1" smtClean="0"/>
              <a:t>trong</a:t>
            </a:r>
            <a:r>
              <a:rPr lang="en-US"/>
              <a:t> Tuple</a:t>
            </a:r>
            <a:endParaRPr lang="en-US" b="1"/>
          </a:p>
        </p:txBody>
      </p:sp>
      <p:sp>
        <p:nvSpPr>
          <p:cNvPr id="13" name="Rectangle 12"/>
          <p:cNvSpPr/>
          <p:nvPr/>
        </p:nvSpPr>
        <p:spPr>
          <a:xfrm>
            <a:off x="699793" y="5418253"/>
            <a:ext cx="7774356" cy="106996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880547" y="5541545"/>
            <a:ext cx="7402216" cy="646331"/>
          </a:xfrm>
          <a:prstGeom prst="rect">
            <a:avLst/>
          </a:prstGeom>
          <a:noFill/>
        </p:spPr>
        <p:txBody>
          <a:bodyPr wrap="square" rtlCol="0">
            <a:spAutoFit/>
          </a:bodyPr>
          <a:lstStyle/>
          <a:p>
            <a:r>
              <a:rPr lang="en-US">
                <a:solidFill>
                  <a:srgbClr val="00B0F0"/>
                </a:solidFill>
              </a:rPr>
              <a:t>for</a:t>
            </a:r>
            <a:r>
              <a:rPr lang="en-US">
                <a:solidFill>
                  <a:schemeClr val="bg1"/>
                </a:solidFill>
              </a:rPr>
              <a:t> </a:t>
            </a:r>
            <a:r>
              <a:rPr lang="en-US" err="1" smtClean="0">
                <a:solidFill>
                  <a:schemeClr val="bg1"/>
                </a:solidFill>
              </a:rPr>
              <a:t>i</a:t>
            </a:r>
            <a:r>
              <a:rPr lang="en-US">
                <a:solidFill>
                  <a:schemeClr val="bg1"/>
                </a:solidFill>
              </a:rPr>
              <a:t> </a:t>
            </a:r>
            <a:r>
              <a:rPr lang="en-US">
                <a:solidFill>
                  <a:srgbClr val="00B0F0"/>
                </a:solidFill>
              </a:rPr>
              <a:t>in</a:t>
            </a:r>
            <a:r>
              <a:rPr lang="en-US">
                <a:solidFill>
                  <a:schemeClr val="bg1"/>
                </a:solidFill>
              </a:rPr>
              <a:t> </a:t>
            </a:r>
            <a:r>
              <a:rPr lang="en-US" smtClean="0">
                <a:solidFill>
                  <a:schemeClr val="bg1"/>
                </a:solidFill>
              </a:rPr>
              <a:t>range</a:t>
            </a:r>
            <a:r>
              <a:rPr lang="en-US" smtClean="0">
                <a:solidFill>
                  <a:schemeClr val="accent4">
                    <a:lumMod val="60000"/>
                    <a:lumOff val="40000"/>
                  </a:schemeClr>
                </a:solidFill>
              </a:rPr>
              <a:t>(</a:t>
            </a:r>
            <a:r>
              <a:rPr lang="en-US" err="1" smtClean="0">
                <a:solidFill>
                  <a:srgbClr val="00B0F0"/>
                </a:solidFill>
              </a:rPr>
              <a:t>len</a:t>
            </a:r>
            <a:r>
              <a:rPr lang="en-US" smtClean="0">
                <a:solidFill>
                  <a:srgbClr val="FF66CC"/>
                </a:solidFill>
              </a:rPr>
              <a:t>(</a:t>
            </a:r>
            <a:r>
              <a:rPr lang="en-US" err="1">
                <a:solidFill>
                  <a:schemeClr val="bg1"/>
                </a:solidFill>
              </a:rPr>
              <a:t>mytuple</a:t>
            </a:r>
            <a:r>
              <a:rPr lang="en-US" smtClean="0">
                <a:solidFill>
                  <a:srgbClr val="FF66CC"/>
                </a:solidFill>
              </a:rPr>
              <a:t>)</a:t>
            </a:r>
            <a:r>
              <a:rPr lang="en-US" smtClean="0">
                <a:solidFill>
                  <a:schemeClr val="accent4">
                    <a:lumMod val="60000"/>
                    <a:lumOff val="40000"/>
                  </a:schemeClr>
                </a:solidFill>
              </a:rPr>
              <a:t>)</a:t>
            </a:r>
            <a:r>
              <a:rPr lang="en-US" smtClean="0">
                <a:solidFill>
                  <a:schemeClr val="bg1"/>
                </a:solidFill>
              </a:rPr>
              <a:t>:</a:t>
            </a:r>
            <a:r>
              <a:rPr lang="en-US">
                <a:solidFill>
                  <a:schemeClr val="bg1"/>
                </a:solidFill>
              </a:rPr>
              <a:t/>
            </a:r>
            <a:br>
              <a:rPr lang="en-US">
                <a:solidFill>
                  <a:schemeClr val="bg1"/>
                </a:solidFill>
              </a:rPr>
            </a:br>
            <a:r>
              <a:rPr lang="en-US">
                <a:solidFill>
                  <a:schemeClr val="bg1"/>
                </a:solidFill>
              </a:rPr>
              <a:t>     </a:t>
            </a:r>
            <a:r>
              <a:rPr lang="en-US" smtClean="0">
                <a:solidFill>
                  <a:schemeClr val="bg1"/>
                </a:solidFill>
              </a:rPr>
              <a:t>print</a:t>
            </a:r>
            <a:r>
              <a:rPr lang="en-US" smtClean="0">
                <a:solidFill>
                  <a:schemeClr val="accent4">
                    <a:lumMod val="60000"/>
                    <a:lumOff val="40000"/>
                  </a:schemeClr>
                </a:solidFill>
              </a:rPr>
              <a:t>(</a:t>
            </a:r>
            <a:r>
              <a:rPr lang="en-US" smtClean="0">
                <a:solidFill>
                  <a:schemeClr val="bg1"/>
                </a:solidFill>
              </a:rPr>
              <a:t>i</a:t>
            </a:r>
            <a:r>
              <a:rPr lang="en-US" smtClean="0">
                <a:solidFill>
                  <a:schemeClr val="accent4">
                    <a:lumMod val="60000"/>
                    <a:lumOff val="40000"/>
                  </a:schemeClr>
                </a:solidFill>
              </a:rPr>
              <a:t>)</a:t>
            </a:r>
            <a:endParaRPr lang="en-US" sz="1600">
              <a:solidFill>
                <a:schemeClr val="accent4">
                  <a:lumMod val="60000"/>
                  <a:lumOff val="40000"/>
                </a:schemeClr>
              </a:solidFill>
            </a:endParaRPr>
          </a:p>
        </p:txBody>
      </p:sp>
    </p:spTree>
    <p:extLst>
      <p:ext uri="{BB962C8B-B14F-4D97-AF65-F5344CB8AC3E}">
        <p14:creationId xmlns:p14="http://schemas.microsoft.com/office/powerpoint/2010/main" val="19811185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5.4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Tuple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smtClean="0"/>
              <a:t>Join Tuples</a:t>
            </a:r>
            <a:endParaRPr lang="en-US" b="1">
              <a:solidFill>
                <a:srgbClr val="FF0000"/>
              </a:solidFill>
            </a:endParaRPr>
          </a:p>
        </p:txBody>
      </p:sp>
      <p:sp>
        <p:nvSpPr>
          <p:cNvPr id="29" name="Rectangle 28"/>
          <p:cNvSpPr/>
          <p:nvPr/>
        </p:nvSpPr>
        <p:spPr>
          <a:xfrm>
            <a:off x="699793" y="2498651"/>
            <a:ext cx="7774356" cy="18181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80547" y="2621944"/>
            <a:ext cx="7402216" cy="1477328"/>
          </a:xfrm>
          <a:prstGeom prst="rect">
            <a:avLst/>
          </a:prstGeom>
          <a:noFill/>
        </p:spPr>
        <p:txBody>
          <a:bodyPr wrap="square" rtlCol="0">
            <a:spAutoFit/>
          </a:bodyPr>
          <a:lstStyle/>
          <a:p>
            <a:r>
              <a:rPr lang="en-US">
                <a:solidFill>
                  <a:schemeClr val="bg1"/>
                </a:solidFill>
              </a:rPr>
              <a:t>tuple1 = </a:t>
            </a:r>
            <a:r>
              <a:rPr lang="en-US">
                <a:solidFill>
                  <a:schemeClr val="accent4">
                    <a:lumMod val="60000"/>
                    <a:lumOff val="40000"/>
                  </a:schemeClr>
                </a:solidFill>
              </a:rPr>
              <a:t>(</a:t>
            </a:r>
            <a:r>
              <a:rPr lang="en-US">
                <a:solidFill>
                  <a:schemeClr val="accent2">
                    <a:lumMod val="75000"/>
                  </a:schemeClr>
                </a:solidFill>
              </a:rPr>
              <a:t>"a"</a:t>
            </a:r>
            <a:r>
              <a:rPr lang="en-US">
                <a:solidFill>
                  <a:schemeClr val="bg1"/>
                </a:solidFill>
              </a:rPr>
              <a:t>, </a:t>
            </a:r>
            <a:r>
              <a:rPr lang="en-US">
                <a:solidFill>
                  <a:schemeClr val="accent2">
                    <a:lumMod val="75000"/>
                  </a:schemeClr>
                </a:solidFill>
              </a:rPr>
              <a:t>"b"</a:t>
            </a:r>
            <a:r>
              <a:rPr lang="en-US">
                <a:solidFill>
                  <a:schemeClr val="bg1"/>
                </a:solidFill>
              </a:rPr>
              <a:t> , </a:t>
            </a:r>
            <a:r>
              <a:rPr lang="en-US">
                <a:solidFill>
                  <a:schemeClr val="accent2">
                    <a:lumMod val="75000"/>
                  </a:schemeClr>
                </a:solidFill>
              </a:rPr>
              <a:t>"c"</a:t>
            </a:r>
            <a:r>
              <a:rPr lang="en-US">
                <a:solidFill>
                  <a:schemeClr val="accent4">
                    <a:lumMod val="60000"/>
                    <a:lumOff val="40000"/>
                  </a:schemeClr>
                </a:solidFill>
              </a:rPr>
              <a:t>)</a:t>
            </a:r>
            <a:r>
              <a:rPr lang="en-US">
                <a:solidFill>
                  <a:schemeClr val="bg1"/>
                </a:solidFill>
              </a:rPr>
              <a:t/>
            </a:r>
            <a:br>
              <a:rPr lang="en-US">
                <a:solidFill>
                  <a:schemeClr val="bg1"/>
                </a:solidFill>
              </a:rPr>
            </a:br>
            <a:r>
              <a:rPr lang="en-US">
                <a:solidFill>
                  <a:schemeClr val="bg1"/>
                </a:solidFill>
              </a:rPr>
              <a:t>tuple2 = </a:t>
            </a:r>
            <a:r>
              <a:rPr lang="en-US">
                <a:solidFill>
                  <a:schemeClr val="accent4">
                    <a:lumMod val="60000"/>
                    <a:lumOff val="40000"/>
                  </a:schemeClr>
                </a:solidFill>
              </a:rPr>
              <a:t>(</a:t>
            </a:r>
            <a:r>
              <a:rPr lang="en-US">
                <a:solidFill>
                  <a:schemeClr val="accent6">
                    <a:lumMod val="60000"/>
                    <a:lumOff val="40000"/>
                  </a:schemeClr>
                </a:solidFill>
              </a:rPr>
              <a:t>1</a:t>
            </a:r>
            <a:r>
              <a:rPr lang="en-US">
                <a:solidFill>
                  <a:schemeClr val="bg1"/>
                </a:solidFill>
              </a:rPr>
              <a:t>, </a:t>
            </a:r>
            <a:r>
              <a:rPr lang="en-US">
                <a:solidFill>
                  <a:schemeClr val="accent6">
                    <a:lumMod val="60000"/>
                    <a:lumOff val="40000"/>
                  </a:schemeClr>
                </a:solidFill>
              </a:rPr>
              <a:t>2</a:t>
            </a:r>
            <a:r>
              <a:rPr lang="en-US">
                <a:solidFill>
                  <a:schemeClr val="bg1"/>
                </a:solidFill>
              </a:rPr>
              <a:t>, </a:t>
            </a:r>
            <a:r>
              <a:rPr lang="en-US">
                <a:solidFill>
                  <a:schemeClr val="accent6">
                    <a:lumMod val="60000"/>
                    <a:lumOff val="40000"/>
                  </a:schemeClr>
                </a:solidFill>
              </a:rPr>
              <a:t>3</a:t>
            </a:r>
            <a:r>
              <a:rPr lang="en-US">
                <a:solidFill>
                  <a:schemeClr val="accent4">
                    <a:lumMod val="60000"/>
                    <a:lumOff val="40000"/>
                  </a:schemeClr>
                </a:solidFill>
              </a:rPr>
              <a:t>)</a:t>
            </a:r>
            <a:r>
              <a:rPr lang="en-US">
                <a:solidFill>
                  <a:schemeClr val="bg1"/>
                </a:solidFill>
              </a:rPr>
              <a:t/>
            </a:r>
            <a:br>
              <a:rPr lang="en-US">
                <a:solidFill>
                  <a:schemeClr val="bg1"/>
                </a:solidFill>
              </a:rPr>
            </a:br>
            <a:r>
              <a:rPr lang="en-US">
                <a:solidFill>
                  <a:schemeClr val="bg1"/>
                </a:solidFill>
              </a:rPr>
              <a:t/>
            </a:r>
            <a:br>
              <a:rPr lang="en-US">
                <a:solidFill>
                  <a:schemeClr val="bg1"/>
                </a:solidFill>
              </a:rPr>
            </a:br>
            <a:r>
              <a:rPr lang="en-US">
                <a:solidFill>
                  <a:schemeClr val="bg1"/>
                </a:solidFill>
              </a:rPr>
              <a:t>tuple3 = tuple1 + tuple2</a:t>
            </a:r>
            <a:br>
              <a:rPr lang="en-US">
                <a:solidFill>
                  <a:schemeClr val="bg1"/>
                </a:solidFill>
              </a:rPr>
            </a:br>
            <a:r>
              <a:rPr lang="en-US">
                <a:solidFill>
                  <a:schemeClr val="bg1"/>
                </a:solidFill>
              </a:rPr>
              <a:t>print</a:t>
            </a:r>
            <a:r>
              <a:rPr lang="en-US">
                <a:solidFill>
                  <a:schemeClr val="accent4">
                    <a:lumMod val="60000"/>
                    <a:lumOff val="40000"/>
                  </a:schemeClr>
                </a:solidFill>
              </a:rPr>
              <a:t>(</a:t>
            </a:r>
            <a:r>
              <a:rPr lang="en-US">
                <a:solidFill>
                  <a:schemeClr val="bg1"/>
                </a:solidFill>
              </a:rPr>
              <a:t>tuple3</a:t>
            </a:r>
            <a:r>
              <a:rPr lang="en-US">
                <a:solidFill>
                  <a:schemeClr val="accent4">
                    <a:lumMod val="60000"/>
                    <a:lumOff val="40000"/>
                  </a:schemeClr>
                </a:solidFill>
              </a:rPr>
              <a:t>)</a:t>
            </a:r>
            <a:endParaRPr lang="en-US" sz="1600">
              <a:solidFill>
                <a:schemeClr val="accent4">
                  <a:lumMod val="60000"/>
                  <a:lumOff val="40000"/>
                </a:schemeClr>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err="1" smtClean="0"/>
              <a:t>Hoặc</a:t>
            </a:r>
            <a:r>
              <a:rPr lang="en-US" smtClean="0"/>
              <a:t> </a:t>
            </a:r>
            <a:r>
              <a:rPr lang="en-US" err="1" smtClean="0"/>
              <a:t>bạn</a:t>
            </a:r>
            <a:r>
              <a:rPr lang="en-US" smtClean="0"/>
              <a:t> </a:t>
            </a:r>
            <a:r>
              <a:rPr lang="en-US" err="1" smtClean="0"/>
              <a:t>có</a:t>
            </a:r>
            <a:r>
              <a:rPr lang="en-US" smtClean="0"/>
              <a:t> </a:t>
            </a:r>
            <a:r>
              <a:rPr lang="en-US" err="1" smtClean="0"/>
              <a:t>thể</a:t>
            </a:r>
            <a:r>
              <a:rPr lang="en-US" smtClean="0"/>
              <a:t> </a:t>
            </a:r>
            <a:r>
              <a:rPr lang="en-US" err="1" smtClean="0"/>
              <a:t>sử</a:t>
            </a:r>
            <a:r>
              <a:rPr lang="en-US" smtClean="0"/>
              <a:t> </a:t>
            </a:r>
            <a:r>
              <a:rPr lang="en-US" err="1" smtClean="0"/>
              <a:t>dụng</a:t>
            </a:r>
            <a:r>
              <a:rPr lang="en-US" smtClean="0"/>
              <a:t> </a:t>
            </a:r>
            <a:r>
              <a:rPr lang="en-US" err="1" smtClean="0"/>
              <a:t>toán</a:t>
            </a:r>
            <a:r>
              <a:rPr lang="en-US" smtClean="0"/>
              <a:t> </a:t>
            </a:r>
            <a:r>
              <a:rPr lang="en-US" err="1" smtClean="0"/>
              <a:t>tử</a:t>
            </a:r>
            <a:r>
              <a:rPr lang="en-US" smtClean="0"/>
              <a:t> </a:t>
            </a:r>
            <a:r>
              <a:rPr lang="en-US" b="1" smtClean="0"/>
              <a:t>+</a:t>
            </a:r>
            <a:r>
              <a:rPr lang="en-US" smtClean="0"/>
              <a:t> </a:t>
            </a:r>
            <a:r>
              <a:rPr lang="en-US" err="1" smtClean="0"/>
              <a:t>để</a:t>
            </a:r>
            <a:r>
              <a:rPr lang="en-US" smtClean="0"/>
              <a:t> join 2 Tuple </a:t>
            </a:r>
            <a:r>
              <a:rPr lang="en-US" err="1" smtClean="0"/>
              <a:t>với</a:t>
            </a:r>
            <a:r>
              <a:rPr lang="en-US" smtClean="0"/>
              <a:t> </a:t>
            </a:r>
            <a:r>
              <a:rPr lang="en-US" err="1" smtClean="0"/>
              <a:t>nhau</a:t>
            </a:r>
            <a:endParaRPr lang="en-US" b="1"/>
          </a:p>
        </p:txBody>
      </p:sp>
      <p:sp>
        <p:nvSpPr>
          <p:cNvPr id="9" name="TextBox 8"/>
          <p:cNvSpPr txBox="1"/>
          <p:nvPr/>
        </p:nvSpPr>
        <p:spPr>
          <a:xfrm>
            <a:off x="639997" y="4439371"/>
            <a:ext cx="7697972" cy="369332"/>
          </a:xfrm>
          <a:prstGeom prst="rect">
            <a:avLst/>
          </a:prstGeom>
          <a:noFill/>
        </p:spPr>
        <p:txBody>
          <a:bodyPr wrap="square" rtlCol="0">
            <a:spAutoFit/>
          </a:bodyPr>
          <a:lstStyle/>
          <a:p>
            <a:r>
              <a:rPr lang="en-US" err="1" smtClean="0"/>
              <a:t>Hoặc</a:t>
            </a:r>
            <a:r>
              <a:rPr lang="en-US" smtClean="0"/>
              <a:t> </a:t>
            </a:r>
            <a:r>
              <a:rPr lang="en-US" err="1" smtClean="0"/>
              <a:t>bạn</a:t>
            </a:r>
            <a:r>
              <a:rPr lang="en-US" smtClean="0"/>
              <a:t> </a:t>
            </a:r>
            <a:r>
              <a:rPr lang="en-US" err="1" smtClean="0"/>
              <a:t>có</a:t>
            </a:r>
            <a:r>
              <a:rPr lang="en-US" smtClean="0"/>
              <a:t> </a:t>
            </a:r>
            <a:r>
              <a:rPr lang="en-US" err="1" smtClean="0"/>
              <a:t>thể</a:t>
            </a:r>
            <a:r>
              <a:rPr lang="en-US" smtClean="0"/>
              <a:t> </a:t>
            </a:r>
            <a:r>
              <a:rPr lang="en-US" err="1" smtClean="0"/>
              <a:t>sử</a:t>
            </a:r>
            <a:r>
              <a:rPr lang="en-US" smtClean="0"/>
              <a:t> </a:t>
            </a:r>
            <a:r>
              <a:rPr lang="en-US" err="1" smtClean="0"/>
              <a:t>dụng</a:t>
            </a:r>
            <a:r>
              <a:rPr lang="en-US" smtClean="0"/>
              <a:t> </a:t>
            </a:r>
            <a:r>
              <a:rPr lang="en-US" err="1" smtClean="0"/>
              <a:t>toán</a:t>
            </a:r>
            <a:r>
              <a:rPr lang="en-US" smtClean="0"/>
              <a:t> </a:t>
            </a:r>
            <a:r>
              <a:rPr lang="en-US" err="1" smtClean="0"/>
              <a:t>tử</a:t>
            </a:r>
            <a:r>
              <a:rPr lang="en-US" smtClean="0"/>
              <a:t> </a:t>
            </a:r>
            <a:r>
              <a:rPr lang="en-US" err="1" smtClean="0"/>
              <a:t>nhân</a:t>
            </a:r>
            <a:r>
              <a:rPr lang="en-US" smtClean="0"/>
              <a:t> </a:t>
            </a:r>
            <a:r>
              <a:rPr lang="en-US" b="1" smtClean="0"/>
              <a:t>*</a:t>
            </a:r>
            <a:r>
              <a:rPr lang="en-US" smtClean="0"/>
              <a:t> </a:t>
            </a:r>
            <a:r>
              <a:rPr lang="en-US" err="1" smtClean="0"/>
              <a:t>để</a:t>
            </a:r>
            <a:r>
              <a:rPr lang="en-US" smtClean="0"/>
              <a:t> </a:t>
            </a:r>
            <a:r>
              <a:rPr lang="en-US" err="1" smtClean="0"/>
              <a:t>nhân</a:t>
            </a:r>
            <a:r>
              <a:rPr lang="en-US" smtClean="0"/>
              <a:t> </a:t>
            </a:r>
            <a:r>
              <a:rPr lang="en-US" err="1" smtClean="0"/>
              <a:t>bản</a:t>
            </a:r>
            <a:r>
              <a:rPr lang="en-US" smtClean="0"/>
              <a:t> </a:t>
            </a:r>
            <a:r>
              <a:rPr lang="en-US" err="1" smtClean="0"/>
              <a:t>và</a:t>
            </a:r>
            <a:r>
              <a:rPr lang="en-US" smtClean="0"/>
              <a:t> </a:t>
            </a:r>
            <a:r>
              <a:rPr lang="en-US" b="1" smtClean="0"/>
              <a:t>join</a:t>
            </a:r>
            <a:r>
              <a:rPr lang="en-US" smtClean="0"/>
              <a:t> </a:t>
            </a:r>
            <a:r>
              <a:rPr lang="en-US" err="1" smtClean="0"/>
              <a:t>lại</a:t>
            </a:r>
            <a:endParaRPr lang="en-US" b="1"/>
          </a:p>
        </p:txBody>
      </p:sp>
      <p:sp>
        <p:nvSpPr>
          <p:cNvPr id="10" name="Rectangle 9"/>
          <p:cNvSpPr/>
          <p:nvPr/>
        </p:nvSpPr>
        <p:spPr>
          <a:xfrm>
            <a:off x="699793" y="4933507"/>
            <a:ext cx="7774356" cy="149739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880547" y="5056800"/>
            <a:ext cx="7402216" cy="1200329"/>
          </a:xfrm>
          <a:prstGeom prst="rect">
            <a:avLst/>
          </a:prstGeom>
          <a:noFill/>
        </p:spPr>
        <p:txBody>
          <a:bodyPr wrap="square" rtlCol="0">
            <a:spAutoFit/>
          </a:bodyPr>
          <a:lstStyle/>
          <a:p>
            <a:r>
              <a:rPr lang="fr-FR">
                <a:solidFill>
                  <a:schemeClr val="bg1"/>
                </a:solidFill>
              </a:rPr>
              <a:t>fruits = (</a:t>
            </a:r>
            <a:r>
              <a:rPr lang="fr-FR">
                <a:solidFill>
                  <a:schemeClr val="accent2">
                    <a:lumMod val="75000"/>
                  </a:schemeClr>
                </a:solidFill>
              </a:rPr>
              <a:t>"</a:t>
            </a:r>
            <a:r>
              <a:rPr lang="fr-FR" err="1">
                <a:solidFill>
                  <a:schemeClr val="accent2">
                    <a:lumMod val="75000"/>
                  </a:schemeClr>
                </a:solidFill>
              </a:rPr>
              <a:t>apple</a:t>
            </a:r>
            <a:r>
              <a:rPr lang="fr-FR">
                <a:solidFill>
                  <a:schemeClr val="accent2">
                    <a:lumMod val="75000"/>
                  </a:schemeClr>
                </a:solidFill>
              </a:rPr>
              <a:t>"</a:t>
            </a:r>
            <a:r>
              <a:rPr lang="fr-FR">
                <a:solidFill>
                  <a:schemeClr val="bg1"/>
                </a:solidFill>
              </a:rPr>
              <a:t>, </a:t>
            </a:r>
            <a:r>
              <a:rPr lang="fr-FR">
                <a:solidFill>
                  <a:schemeClr val="accent2">
                    <a:lumMod val="75000"/>
                  </a:schemeClr>
                </a:solidFill>
              </a:rPr>
              <a:t>"banana"</a:t>
            </a:r>
            <a:r>
              <a:rPr lang="fr-FR">
                <a:solidFill>
                  <a:schemeClr val="bg1"/>
                </a:solidFill>
              </a:rPr>
              <a:t>, </a:t>
            </a:r>
            <a:r>
              <a:rPr lang="fr-FR">
                <a:solidFill>
                  <a:schemeClr val="accent2">
                    <a:lumMod val="75000"/>
                  </a:schemeClr>
                </a:solidFill>
              </a:rPr>
              <a:t>"cherry"</a:t>
            </a:r>
            <a:r>
              <a:rPr lang="fr-FR">
                <a:solidFill>
                  <a:schemeClr val="bg1"/>
                </a:solidFill>
              </a:rPr>
              <a:t>)</a:t>
            </a:r>
            <a:br>
              <a:rPr lang="fr-FR">
                <a:solidFill>
                  <a:schemeClr val="bg1"/>
                </a:solidFill>
              </a:rPr>
            </a:br>
            <a:r>
              <a:rPr lang="fr-FR" err="1">
                <a:solidFill>
                  <a:schemeClr val="bg1"/>
                </a:solidFill>
              </a:rPr>
              <a:t>mytuple</a:t>
            </a:r>
            <a:r>
              <a:rPr lang="fr-FR">
                <a:solidFill>
                  <a:schemeClr val="bg1"/>
                </a:solidFill>
              </a:rPr>
              <a:t> = fruits * 2</a:t>
            </a:r>
            <a:br>
              <a:rPr lang="fr-FR">
                <a:solidFill>
                  <a:schemeClr val="bg1"/>
                </a:solidFill>
              </a:rPr>
            </a:br>
            <a:r>
              <a:rPr lang="fr-FR">
                <a:solidFill>
                  <a:schemeClr val="bg1"/>
                </a:solidFill>
              </a:rPr>
              <a:t/>
            </a:r>
            <a:br>
              <a:rPr lang="fr-FR">
                <a:solidFill>
                  <a:schemeClr val="bg1"/>
                </a:solidFill>
              </a:rPr>
            </a:br>
            <a:r>
              <a:rPr lang="fr-FR" err="1">
                <a:solidFill>
                  <a:schemeClr val="bg1"/>
                </a:solidFill>
              </a:rPr>
              <a:t>print</a:t>
            </a:r>
            <a:r>
              <a:rPr lang="fr-FR">
                <a:solidFill>
                  <a:schemeClr val="accent4">
                    <a:lumMod val="60000"/>
                    <a:lumOff val="40000"/>
                  </a:schemeClr>
                </a:solidFill>
              </a:rPr>
              <a:t>(</a:t>
            </a:r>
            <a:r>
              <a:rPr lang="fr-FR" err="1">
                <a:solidFill>
                  <a:schemeClr val="bg1"/>
                </a:solidFill>
              </a:rPr>
              <a:t>mytuple</a:t>
            </a:r>
            <a:r>
              <a:rPr lang="fr-FR">
                <a:solidFill>
                  <a:schemeClr val="accent4">
                    <a:lumMod val="60000"/>
                    <a:lumOff val="40000"/>
                  </a:schemeClr>
                </a:solidFill>
              </a:rPr>
              <a:t>)</a:t>
            </a:r>
            <a:endParaRPr lang="en-US" sz="1600">
              <a:solidFill>
                <a:schemeClr val="accent4">
                  <a:lumMod val="60000"/>
                  <a:lumOff val="40000"/>
                </a:schemeClr>
              </a:solidFill>
            </a:endParaRPr>
          </a:p>
        </p:txBody>
      </p:sp>
    </p:spTree>
    <p:extLst>
      <p:ext uri="{BB962C8B-B14F-4D97-AF65-F5344CB8AC3E}">
        <p14:creationId xmlns:p14="http://schemas.microsoft.com/office/powerpoint/2010/main" val="29750204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5.5 </a:t>
            </a:r>
            <a:r>
              <a:rPr lang="en-US" dirty="0" err="1"/>
              <a:t>Tổng</a:t>
            </a:r>
            <a:r>
              <a:rPr lang="en-US" dirty="0"/>
              <a:t> </a:t>
            </a:r>
            <a:r>
              <a:rPr lang="en-US" dirty="0" err="1" smtClean="0"/>
              <a:t>quan</a:t>
            </a:r>
            <a:r>
              <a:rPr lang="en-US" dirty="0" smtClean="0"/>
              <a:t> </a:t>
            </a:r>
            <a:r>
              <a:rPr lang="en-US" dirty="0" err="1" smtClean="0"/>
              <a:t>về</a:t>
            </a:r>
            <a:r>
              <a:rPr lang="en-US" dirty="0" smtClean="0"/>
              <a:t> Sets</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Khái</a:t>
            </a:r>
            <a:r>
              <a:rPr lang="en-US" b="1" dirty="0" smtClean="0"/>
              <a:t> </a:t>
            </a:r>
            <a:r>
              <a:rPr lang="en-US" b="1" dirty="0" err="1" smtClean="0"/>
              <a:t>niệm</a:t>
            </a:r>
            <a:r>
              <a:rPr lang="en-US" b="1" dirty="0"/>
              <a:t> </a:t>
            </a:r>
            <a:r>
              <a:rPr lang="en-US" b="1" dirty="0" err="1" smtClean="0"/>
              <a:t>về</a:t>
            </a:r>
            <a:r>
              <a:rPr lang="en-US" b="1" dirty="0" smtClean="0"/>
              <a:t> Sets</a:t>
            </a:r>
            <a:endParaRPr lang="en-US" b="1" dirty="0">
              <a:solidFill>
                <a:srgbClr val="FF0000"/>
              </a:solidFill>
            </a:endParaRPr>
          </a:p>
        </p:txBody>
      </p:sp>
      <p:sp>
        <p:nvSpPr>
          <p:cNvPr id="8" name="TextBox 7"/>
          <p:cNvSpPr txBox="1"/>
          <p:nvPr/>
        </p:nvSpPr>
        <p:spPr>
          <a:xfrm>
            <a:off x="925034" y="1903017"/>
            <a:ext cx="7831856" cy="923330"/>
          </a:xfrm>
          <a:prstGeom prst="rect">
            <a:avLst/>
          </a:prstGeom>
          <a:noFill/>
        </p:spPr>
        <p:txBody>
          <a:bodyPr wrap="square" rtlCol="0">
            <a:spAutoFit/>
          </a:bodyPr>
          <a:lstStyle/>
          <a:p>
            <a:r>
              <a:rPr lang="vi-VN" dirty="0"/>
              <a:t>Trong Python, Set là một kiểu dữ liệu hỗn hợp dùng để lưu trữ tập hợp các phần tử duy nhất (distinct) không theo thứ tự. Set là một dạng của Collection trong Python và giống với tập hợp (set) trong toán học</a:t>
            </a:r>
            <a:endParaRPr lang="en-US" dirty="0"/>
          </a:p>
        </p:txBody>
      </p:sp>
      <p:sp>
        <p:nvSpPr>
          <p:cNvPr id="14" name="TextBox 13"/>
          <p:cNvSpPr txBox="1"/>
          <p:nvPr/>
        </p:nvSpPr>
        <p:spPr>
          <a:xfrm>
            <a:off x="925033" y="2923742"/>
            <a:ext cx="7697972" cy="369332"/>
          </a:xfrm>
          <a:prstGeom prst="rect">
            <a:avLst/>
          </a:prstGeom>
          <a:noFill/>
        </p:spPr>
        <p:txBody>
          <a:bodyPr wrap="square" rtlCol="0">
            <a:spAutoFit/>
          </a:bodyPr>
          <a:lstStyle/>
          <a:p>
            <a:r>
              <a:rPr lang="en-US"/>
              <a:t>Một số điểm quan trọng về Set trong Python:</a:t>
            </a:r>
            <a:endParaRPr lang="en-US" dirty="0"/>
          </a:p>
        </p:txBody>
      </p:sp>
      <p:sp>
        <p:nvSpPr>
          <p:cNvPr id="15" name="Flowchart: Decision 14"/>
          <p:cNvSpPr/>
          <p:nvPr/>
        </p:nvSpPr>
        <p:spPr>
          <a:xfrm>
            <a:off x="710426" y="199853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ecision 16"/>
          <p:cNvSpPr/>
          <p:nvPr/>
        </p:nvSpPr>
        <p:spPr>
          <a:xfrm>
            <a:off x="710426" y="303216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925033" y="3361677"/>
            <a:ext cx="7697972" cy="369332"/>
          </a:xfrm>
          <a:prstGeom prst="rect">
            <a:avLst/>
          </a:prstGeom>
          <a:noFill/>
        </p:spPr>
        <p:txBody>
          <a:bodyPr wrap="square" rtlCol="0">
            <a:spAutoFit/>
          </a:bodyPr>
          <a:lstStyle/>
          <a:p>
            <a:r>
              <a:rPr lang="en-US" dirty="0" smtClean="0"/>
              <a:t>1. </a:t>
            </a:r>
            <a:r>
              <a:rPr lang="en-US" dirty="0"/>
              <a:t>Set </a:t>
            </a:r>
            <a:r>
              <a:rPr lang="en-US" dirty="0" err="1"/>
              <a:t>không</a:t>
            </a:r>
            <a:r>
              <a:rPr lang="en-US" dirty="0"/>
              <a:t> </a:t>
            </a:r>
            <a:r>
              <a:rPr lang="en-US" dirty="0" err="1"/>
              <a:t>chứa</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trùng</a:t>
            </a:r>
            <a:r>
              <a:rPr lang="en-US" dirty="0"/>
              <a:t> </a:t>
            </a:r>
            <a:r>
              <a:rPr lang="en-US" dirty="0" err="1"/>
              <a:t>lặp</a:t>
            </a:r>
            <a:endParaRPr lang="en-US" dirty="0"/>
          </a:p>
        </p:txBody>
      </p:sp>
      <p:sp>
        <p:nvSpPr>
          <p:cNvPr id="13" name="TextBox 12"/>
          <p:cNvSpPr txBox="1"/>
          <p:nvPr/>
        </p:nvSpPr>
        <p:spPr>
          <a:xfrm>
            <a:off x="925033" y="3799612"/>
            <a:ext cx="7697972" cy="646331"/>
          </a:xfrm>
          <a:prstGeom prst="rect">
            <a:avLst/>
          </a:prstGeom>
          <a:noFill/>
        </p:spPr>
        <p:txBody>
          <a:bodyPr wrap="square" rtlCol="0">
            <a:spAutoFit/>
          </a:bodyPr>
          <a:lstStyle/>
          <a:p>
            <a:r>
              <a:rPr lang="en-US" dirty="0" smtClean="0"/>
              <a:t>2. </a:t>
            </a:r>
            <a:r>
              <a:rPr lang="en-US" dirty="0"/>
              <a:t>Set </a:t>
            </a:r>
            <a:r>
              <a:rPr lang="en-US" dirty="0" err="1"/>
              <a:t>không</a:t>
            </a:r>
            <a:r>
              <a:rPr lang="en-US" dirty="0"/>
              <a:t> </a:t>
            </a:r>
            <a:r>
              <a:rPr lang="en-US" dirty="0" err="1"/>
              <a:t>duy</a:t>
            </a:r>
            <a:r>
              <a:rPr lang="en-US" dirty="0"/>
              <a:t> </a:t>
            </a:r>
            <a:r>
              <a:rPr lang="en-US" dirty="0" err="1"/>
              <a:t>trì</a:t>
            </a:r>
            <a:r>
              <a:rPr lang="en-US" dirty="0"/>
              <a:t> </a:t>
            </a:r>
            <a:r>
              <a:rPr lang="en-US" dirty="0" err="1"/>
              <a:t>thứ</a:t>
            </a:r>
            <a:r>
              <a:rPr lang="en-US" dirty="0"/>
              <a:t> </a:t>
            </a:r>
            <a:r>
              <a:rPr lang="en-US" dirty="0" err="1"/>
              <a:t>tự</a:t>
            </a:r>
            <a:r>
              <a:rPr lang="en-US" dirty="0"/>
              <a:t> </a:t>
            </a:r>
            <a:r>
              <a:rPr lang="en-US" dirty="0" err="1"/>
              <a:t>của</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Khi</a:t>
            </a:r>
            <a:r>
              <a:rPr lang="en-US" dirty="0"/>
              <a:t> </a:t>
            </a:r>
            <a:r>
              <a:rPr lang="en-US" dirty="0" err="1"/>
              <a:t>bạn</a:t>
            </a:r>
            <a:r>
              <a:rPr lang="en-US" dirty="0"/>
              <a:t> in Set, </a:t>
            </a:r>
            <a:r>
              <a:rPr lang="en-US" dirty="0" err="1"/>
              <a:t>thứ</a:t>
            </a:r>
            <a:r>
              <a:rPr lang="en-US" dirty="0"/>
              <a:t> </a:t>
            </a:r>
            <a:r>
              <a:rPr lang="en-US" dirty="0" err="1"/>
              <a:t>tự</a:t>
            </a:r>
            <a:r>
              <a:rPr lang="en-US" dirty="0"/>
              <a:t> </a:t>
            </a:r>
            <a:r>
              <a:rPr lang="en-US" dirty="0" err="1"/>
              <a:t>của</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có</a:t>
            </a:r>
            <a:r>
              <a:rPr lang="en-US" dirty="0"/>
              <a:t> </a:t>
            </a:r>
            <a:r>
              <a:rPr lang="en-US" dirty="0" err="1"/>
              <a:t>thể</a:t>
            </a:r>
            <a:r>
              <a:rPr lang="en-US" dirty="0"/>
              <a:t> </a:t>
            </a:r>
            <a:r>
              <a:rPr lang="en-US" dirty="0" err="1"/>
              <a:t>thay</a:t>
            </a:r>
            <a:r>
              <a:rPr lang="en-US" dirty="0"/>
              <a:t> </a:t>
            </a:r>
            <a:r>
              <a:rPr lang="en-US" dirty="0" err="1"/>
              <a:t>đổi</a:t>
            </a:r>
            <a:r>
              <a:rPr lang="en-US" dirty="0"/>
              <a:t> </a:t>
            </a:r>
            <a:r>
              <a:rPr lang="en-US" dirty="0" err="1"/>
              <a:t>mỗi</a:t>
            </a:r>
            <a:r>
              <a:rPr lang="en-US" dirty="0"/>
              <a:t> </a:t>
            </a:r>
            <a:r>
              <a:rPr lang="en-US" dirty="0" err="1"/>
              <a:t>lần</a:t>
            </a:r>
            <a:r>
              <a:rPr lang="en-US" dirty="0"/>
              <a:t> </a:t>
            </a:r>
            <a:r>
              <a:rPr lang="en-US" dirty="0" err="1"/>
              <a:t>bạn</a:t>
            </a:r>
            <a:r>
              <a:rPr lang="en-US" dirty="0"/>
              <a:t> </a:t>
            </a:r>
            <a:r>
              <a:rPr lang="en-US" dirty="0" err="1"/>
              <a:t>thực</a:t>
            </a:r>
            <a:r>
              <a:rPr lang="en-US" dirty="0"/>
              <a:t> </a:t>
            </a:r>
            <a:r>
              <a:rPr lang="en-US" dirty="0" err="1"/>
              <a:t>hiện</a:t>
            </a:r>
            <a:r>
              <a:rPr lang="en-US" dirty="0"/>
              <a:t> in</a:t>
            </a:r>
          </a:p>
        </p:txBody>
      </p:sp>
      <p:sp>
        <p:nvSpPr>
          <p:cNvPr id="16" name="TextBox 15"/>
          <p:cNvSpPr txBox="1"/>
          <p:nvPr/>
        </p:nvSpPr>
        <p:spPr>
          <a:xfrm>
            <a:off x="925033" y="4567190"/>
            <a:ext cx="7697972" cy="923330"/>
          </a:xfrm>
          <a:prstGeom prst="rect">
            <a:avLst/>
          </a:prstGeom>
          <a:noFill/>
        </p:spPr>
        <p:txBody>
          <a:bodyPr wrap="square" rtlCol="0">
            <a:spAutoFit/>
          </a:bodyPr>
          <a:lstStyle/>
          <a:p>
            <a:r>
              <a:rPr lang="en-US" dirty="0"/>
              <a:t>3</a:t>
            </a:r>
            <a:r>
              <a:rPr lang="en-US" dirty="0" smtClean="0"/>
              <a:t>. </a:t>
            </a:r>
            <a:r>
              <a:rPr lang="en-US" dirty="0"/>
              <a:t>C</a:t>
            </a:r>
            <a:r>
              <a:rPr lang="vi-VN" dirty="0" smtClean="0"/>
              <a:t>ó </a:t>
            </a:r>
            <a:r>
              <a:rPr lang="vi-VN" dirty="0"/>
              <a:t>thể chứa các phần tử không thay đổi như số nguyên, số thực, chuỗi, tuple trong Set. Nhưng Set không thể chứa các phần tử có thay đổi như danh sách (list) hoặc set khác</a:t>
            </a:r>
            <a:endParaRPr lang="en-US" dirty="0"/>
          </a:p>
        </p:txBody>
      </p:sp>
      <p:sp>
        <p:nvSpPr>
          <p:cNvPr id="18" name="TextBox 17"/>
          <p:cNvSpPr txBox="1"/>
          <p:nvPr/>
        </p:nvSpPr>
        <p:spPr>
          <a:xfrm>
            <a:off x="925033" y="5556018"/>
            <a:ext cx="7697972" cy="923330"/>
          </a:xfrm>
          <a:prstGeom prst="rect">
            <a:avLst/>
          </a:prstGeom>
          <a:noFill/>
        </p:spPr>
        <p:txBody>
          <a:bodyPr wrap="square" rtlCol="0">
            <a:spAutoFit/>
          </a:bodyPr>
          <a:lstStyle/>
          <a:p>
            <a:r>
              <a:rPr lang="en-US" dirty="0" smtClean="0"/>
              <a:t>4. </a:t>
            </a:r>
            <a:r>
              <a:rPr lang="vi-VN" dirty="0"/>
              <a:t>Set không hỗ trợ truy cập phần tử bằng chỉ số như danh sách, vì vậy bạn không thể sử dụng Set[index]. Bạn phải sử dụng vòng lặp hoặc các phương thức có sẵn để truy cập và xử lý phần tử trong Set.</a:t>
            </a:r>
            <a:endParaRPr lang="en-US" dirty="0"/>
          </a:p>
        </p:txBody>
      </p:sp>
    </p:spTree>
    <p:extLst>
      <p:ext uri="{BB962C8B-B14F-4D97-AF65-F5344CB8AC3E}">
        <p14:creationId xmlns:p14="http://schemas.microsoft.com/office/powerpoint/2010/main" val="3678432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5.5 Tổng quan về Sets</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Cách</a:t>
            </a:r>
            <a:r>
              <a:rPr lang="en-US" b="1" dirty="0" smtClean="0"/>
              <a:t> </a:t>
            </a:r>
            <a:r>
              <a:rPr lang="en-US" b="1" dirty="0" err="1" smtClean="0"/>
              <a:t>khai</a:t>
            </a:r>
            <a:r>
              <a:rPr lang="en-US" b="1" dirty="0" smtClean="0"/>
              <a:t> </a:t>
            </a:r>
            <a:r>
              <a:rPr lang="en-US" b="1" dirty="0" err="1" smtClean="0"/>
              <a:t>báo</a:t>
            </a:r>
            <a:r>
              <a:rPr lang="en-US" b="1" dirty="0" smtClean="0"/>
              <a:t> </a:t>
            </a:r>
            <a:r>
              <a:rPr lang="en-US" b="1" dirty="0" err="1" smtClean="0"/>
              <a:t>một</a:t>
            </a:r>
            <a:r>
              <a:rPr lang="en-US" b="1" dirty="0" smtClean="0"/>
              <a:t> Sets</a:t>
            </a:r>
            <a:endParaRPr lang="en-US" b="1" dirty="0">
              <a:solidFill>
                <a:srgbClr val="FF0000"/>
              </a:solidFill>
            </a:endParaRPr>
          </a:p>
        </p:txBody>
      </p:sp>
      <p:sp>
        <p:nvSpPr>
          <p:cNvPr id="14" name="Rectangle 13"/>
          <p:cNvSpPr/>
          <p:nvPr/>
        </p:nvSpPr>
        <p:spPr>
          <a:xfrm>
            <a:off x="657263" y="2035136"/>
            <a:ext cx="7774356" cy="98451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38017" y="2185295"/>
            <a:ext cx="7402216" cy="646331"/>
          </a:xfrm>
          <a:prstGeom prst="rect">
            <a:avLst/>
          </a:prstGeom>
          <a:noFill/>
        </p:spPr>
        <p:txBody>
          <a:bodyPr wrap="square" rtlCol="0">
            <a:spAutoFit/>
          </a:bodyPr>
          <a:lstStyle/>
          <a:p>
            <a:r>
              <a:rPr lang="en-US" dirty="0" err="1">
                <a:solidFill>
                  <a:schemeClr val="bg1"/>
                </a:solidFill>
              </a:rPr>
              <a:t>thisset</a:t>
            </a:r>
            <a:r>
              <a:rPr lang="en-US" dirty="0">
                <a:solidFill>
                  <a:schemeClr val="bg1"/>
                </a:solidFill>
              </a:rPr>
              <a:t> = </a:t>
            </a:r>
            <a:r>
              <a:rPr lang="en-US" dirty="0">
                <a:solidFill>
                  <a:schemeClr val="accent4">
                    <a:lumMod val="60000"/>
                    <a:lumOff val="40000"/>
                  </a:schemeClr>
                </a:solidFill>
              </a:rPr>
              <a:t>{</a:t>
            </a:r>
            <a:r>
              <a:rPr lang="en-US" dirty="0">
                <a:solidFill>
                  <a:schemeClr val="accent2">
                    <a:lumMod val="75000"/>
                  </a:schemeClr>
                </a:solidFill>
              </a:rPr>
              <a:t>"apple"</a:t>
            </a:r>
            <a:r>
              <a:rPr lang="en-US" dirty="0">
                <a:solidFill>
                  <a:schemeClr val="bg1"/>
                </a:solidFill>
              </a:rPr>
              <a:t>, </a:t>
            </a:r>
            <a:r>
              <a:rPr lang="en-US" dirty="0" smtClean="0">
                <a:solidFill>
                  <a:schemeClr val="accent6">
                    <a:lumMod val="60000"/>
                    <a:lumOff val="40000"/>
                  </a:schemeClr>
                </a:solidFill>
              </a:rPr>
              <a:t>3.14</a:t>
            </a:r>
            <a:r>
              <a:rPr lang="en-US" dirty="0" smtClean="0">
                <a:solidFill>
                  <a:schemeClr val="accent2">
                    <a:lumMod val="75000"/>
                  </a:schemeClr>
                </a:solidFill>
              </a:rPr>
              <a:t> </a:t>
            </a:r>
            <a:r>
              <a:rPr lang="en-US" dirty="0" smtClean="0">
                <a:solidFill>
                  <a:schemeClr val="bg1"/>
                </a:solidFill>
              </a:rPr>
              <a:t>, </a:t>
            </a:r>
            <a:r>
              <a:rPr lang="en-US" dirty="0">
                <a:solidFill>
                  <a:srgbClr val="FF66CC"/>
                </a:solidFill>
              </a:rPr>
              <a:t>(</a:t>
            </a:r>
            <a:r>
              <a:rPr lang="en-US" dirty="0">
                <a:solidFill>
                  <a:schemeClr val="accent6">
                    <a:lumMod val="60000"/>
                    <a:lumOff val="40000"/>
                  </a:schemeClr>
                </a:solidFill>
              </a:rPr>
              <a:t>1</a:t>
            </a:r>
            <a:r>
              <a:rPr lang="en-US" dirty="0">
                <a:solidFill>
                  <a:schemeClr val="bg1"/>
                </a:solidFill>
              </a:rPr>
              <a:t>, </a:t>
            </a:r>
            <a:r>
              <a:rPr lang="en-US" dirty="0">
                <a:solidFill>
                  <a:schemeClr val="accent6">
                    <a:lumMod val="60000"/>
                    <a:lumOff val="40000"/>
                  </a:schemeClr>
                </a:solidFill>
              </a:rPr>
              <a:t>2</a:t>
            </a:r>
            <a:r>
              <a:rPr lang="en-US" dirty="0">
                <a:solidFill>
                  <a:srgbClr val="FF66CC"/>
                </a:solidFill>
              </a:rPr>
              <a:t>)</a:t>
            </a:r>
            <a:r>
              <a:rPr lang="en-US" dirty="0" smtClean="0">
                <a:solidFill>
                  <a:schemeClr val="bg1"/>
                </a:solidFill>
              </a:rPr>
              <a:t>,</a:t>
            </a:r>
            <a:r>
              <a:rPr lang="en-US" dirty="0" smtClean="0">
                <a:solidFill>
                  <a:schemeClr val="accent2">
                    <a:lumMod val="75000"/>
                  </a:schemeClr>
                </a:solidFill>
              </a:rPr>
              <a:t> </a:t>
            </a:r>
            <a:r>
              <a:rPr lang="en-US" dirty="0">
                <a:solidFill>
                  <a:srgbClr val="00B0F0"/>
                </a:solidFill>
              </a:rPr>
              <a:t>True</a:t>
            </a:r>
            <a:r>
              <a:rPr lang="en-US" dirty="0">
                <a:solidFill>
                  <a:schemeClr val="bg1"/>
                </a:solidFill>
              </a:rPr>
              <a:t>, </a:t>
            </a:r>
            <a:r>
              <a:rPr lang="en-US" dirty="0" smtClean="0">
                <a:solidFill>
                  <a:srgbClr val="00B0F0"/>
                </a:solidFill>
              </a:rPr>
              <a:t>False</a:t>
            </a:r>
            <a:r>
              <a:rPr lang="en-US" dirty="0" smtClean="0">
                <a:solidFill>
                  <a:schemeClr val="bg1"/>
                </a:solidFill>
              </a:rPr>
              <a:t>,</a:t>
            </a:r>
            <a:r>
              <a:rPr lang="en-US" dirty="0" smtClean="0">
                <a:solidFill>
                  <a:srgbClr val="00B0F0"/>
                </a:solidFill>
              </a:rPr>
              <a:t> </a:t>
            </a:r>
            <a:r>
              <a:rPr lang="en-US" dirty="0" smtClean="0">
                <a:solidFill>
                  <a:schemeClr val="accent6">
                    <a:lumMod val="60000"/>
                    <a:lumOff val="40000"/>
                  </a:schemeClr>
                </a:solidFill>
              </a:rPr>
              <a:t>30</a:t>
            </a:r>
            <a:r>
              <a:rPr lang="en-US" dirty="0" smtClean="0">
                <a:solidFill>
                  <a:schemeClr val="accent4">
                    <a:lumMod val="60000"/>
                    <a:lumOff val="40000"/>
                  </a:schemeClr>
                </a:solidFill>
              </a:rPr>
              <a:t>}</a:t>
            </a:r>
            <a:endParaRPr lang="en-US" dirty="0">
              <a:solidFill>
                <a:schemeClr val="accent4">
                  <a:lumMod val="60000"/>
                  <a:lumOff val="40000"/>
                </a:schemeClr>
              </a:solidFill>
            </a:endParaRPr>
          </a:p>
          <a:p>
            <a:r>
              <a:rPr lang="en-US" dirty="0">
                <a:solidFill>
                  <a:schemeClr val="bg1"/>
                </a:solidFill>
              </a:rPr>
              <a:t>print</a:t>
            </a:r>
            <a:r>
              <a:rPr lang="en-US" dirty="0">
                <a:solidFill>
                  <a:schemeClr val="accent4">
                    <a:lumMod val="60000"/>
                    <a:lumOff val="40000"/>
                  </a:schemeClr>
                </a:solidFill>
              </a:rPr>
              <a:t>(</a:t>
            </a:r>
            <a:r>
              <a:rPr lang="en-US" dirty="0" err="1">
                <a:solidFill>
                  <a:schemeClr val="bg1"/>
                </a:solidFill>
              </a:rPr>
              <a:t>thisset</a:t>
            </a:r>
            <a:r>
              <a:rPr lang="en-US" dirty="0">
                <a:solidFill>
                  <a:schemeClr val="accent4">
                    <a:lumMod val="60000"/>
                    <a:lumOff val="40000"/>
                  </a:schemeClr>
                </a:solidFill>
              </a:rPr>
              <a:t>)</a:t>
            </a:r>
          </a:p>
        </p:txBody>
      </p:sp>
      <p:sp>
        <p:nvSpPr>
          <p:cNvPr id="17" name="TextBox 16"/>
          <p:cNvSpPr txBox="1"/>
          <p:nvPr/>
        </p:nvSpPr>
        <p:spPr>
          <a:xfrm>
            <a:off x="838017" y="3291002"/>
            <a:ext cx="7985052" cy="369332"/>
          </a:xfrm>
          <a:prstGeom prst="rect">
            <a:avLst/>
          </a:prstGeom>
          <a:noFill/>
        </p:spPr>
        <p:txBody>
          <a:bodyPr wrap="square" rtlCol="0">
            <a:spAutoFit/>
          </a:bodyPr>
          <a:lstStyle/>
          <a:p>
            <a:r>
              <a:rPr lang="en-US" dirty="0" smtClean="0"/>
              <a:t>Set </a:t>
            </a:r>
            <a:r>
              <a:rPr lang="en-US" dirty="0" err="1" smtClean="0"/>
              <a:t>được</a:t>
            </a:r>
            <a:r>
              <a:rPr lang="en-US" dirty="0" smtClean="0"/>
              <a:t> </a:t>
            </a:r>
            <a:r>
              <a:rPr lang="en-US" dirty="0" err="1" smtClean="0"/>
              <a:t>lưu</a:t>
            </a:r>
            <a:r>
              <a:rPr lang="en-US" dirty="0" smtClean="0"/>
              <a:t> </a:t>
            </a:r>
            <a:r>
              <a:rPr lang="en-US" dirty="0" err="1" smtClean="0"/>
              <a:t>trữ</a:t>
            </a:r>
            <a:r>
              <a:rPr lang="en-US" dirty="0" smtClean="0"/>
              <a:t> </a:t>
            </a:r>
            <a:r>
              <a:rPr lang="en-US" dirty="0" err="1" smtClean="0"/>
              <a:t>trong</a:t>
            </a:r>
            <a:r>
              <a:rPr lang="en-US" dirty="0" smtClean="0"/>
              <a:t> </a:t>
            </a:r>
            <a:r>
              <a:rPr lang="en-US" dirty="0" err="1" smtClean="0"/>
              <a:t>một</a:t>
            </a:r>
            <a:r>
              <a:rPr lang="en-US" dirty="0" smtClean="0"/>
              <a:t> </a:t>
            </a:r>
            <a:r>
              <a:rPr lang="en-US" dirty="0" err="1" smtClean="0"/>
              <a:t>cặp</a:t>
            </a:r>
            <a:r>
              <a:rPr lang="en-US" dirty="0" smtClean="0"/>
              <a:t> </a:t>
            </a:r>
            <a:r>
              <a:rPr lang="en-US" dirty="0" err="1" smtClean="0"/>
              <a:t>ngoặc</a:t>
            </a:r>
            <a:r>
              <a:rPr lang="en-US" dirty="0" smtClean="0"/>
              <a:t> </a:t>
            </a:r>
            <a:r>
              <a:rPr lang="en-US" dirty="0" err="1" smtClean="0"/>
              <a:t>nhọn</a:t>
            </a:r>
            <a:endParaRPr lang="en-US" b="1" dirty="0"/>
          </a:p>
        </p:txBody>
      </p:sp>
      <p:sp>
        <p:nvSpPr>
          <p:cNvPr id="19" name="Flowchart: Decision 18"/>
          <p:cNvSpPr/>
          <p:nvPr/>
        </p:nvSpPr>
        <p:spPr>
          <a:xfrm>
            <a:off x="591514" y="336521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838017" y="3790733"/>
            <a:ext cx="7985052" cy="369332"/>
          </a:xfrm>
          <a:prstGeom prst="rect">
            <a:avLst/>
          </a:prstGeom>
          <a:noFill/>
        </p:spPr>
        <p:txBody>
          <a:bodyPr wrap="square" rtlCol="0">
            <a:spAutoFit/>
          </a:bodyPr>
          <a:lstStyle/>
          <a:p>
            <a:r>
              <a:rPr lang="en-US" dirty="0" err="1" smtClean="0"/>
              <a:t>Các</a:t>
            </a:r>
            <a:r>
              <a:rPr lang="en-US" dirty="0"/>
              <a:t> </a:t>
            </a:r>
            <a:r>
              <a:rPr lang="en-US" dirty="0" err="1" smtClean="0"/>
              <a:t>phần</a:t>
            </a:r>
            <a:r>
              <a:rPr lang="en-US" dirty="0" smtClean="0"/>
              <a:t> </a:t>
            </a:r>
            <a:r>
              <a:rPr lang="en-US" dirty="0" err="1" smtClean="0"/>
              <a:t>tử</a:t>
            </a:r>
            <a:r>
              <a:rPr lang="en-US" dirty="0" smtClean="0"/>
              <a:t> </a:t>
            </a:r>
            <a:r>
              <a:rPr lang="en-US" dirty="0" err="1" smtClean="0"/>
              <a:t>cách</a:t>
            </a:r>
            <a:r>
              <a:rPr lang="en-US" dirty="0" smtClean="0"/>
              <a:t> </a:t>
            </a:r>
            <a:r>
              <a:rPr lang="en-US" dirty="0" err="1" smtClean="0"/>
              <a:t>nhau</a:t>
            </a:r>
            <a:r>
              <a:rPr lang="en-US" dirty="0" smtClean="0"/>
              <a:t> </a:t>
            </a:r>
            <a:r>
              <a:rPr lang="en-US" dirty="0" err="1" smtClean="0"/>
              <a:t>bởi</a:t>
            </a:r>
            <a:r>
              <a:rPr lang="en-US" dirty="0" smtClean="0"/>
              <a:t> </a:t>
            </a:r>
            <a:r>
              <a:rPr lang="en-US" dirty="0" err="1" smtClean="0"/>
              <a:t>dấu</a:t>
            </a:r>
            <a:r>
              <a:rPr lang="en-US" dirty="0" smtClean="0"/>
              <a:t> </a:t>
            </a:r>
            <a:r>
              <a:rPr lang="en-US" dirty="0" err="1" smtClean="0"/>
              <a:t>phẩy</a:t>
            </a:r>
            <a:r>
              <a:rPr lang="en-US" dirty="0" smtClean="0"/>
              <a:t> ,</a:t>
            </a:r>
            <a:endParaRPr lang="en-US" b="1" dirty="0"/>
          </a:p>
        </p:txBody>
      </p:sp>
      <p:sp>
        <p:nvSpPr>
          <p:cNvPr id="21" name="Flowchart: Decision 20"/>
          <p:cNvSpPr/>
          <p:nvPr/>
        </p:nvSpPr>
        <p:spPr>
          <a:xfrm>
            <a:off x="591514" y="386494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Decision 22"/>
          <p:cNvSpPr/>
          <p:nvPr/>
        </p:nvSpPr>
        <p:spPr>
          <a:xfrm>
            <a:off x="591514" y="440720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838017" y="4301096"/>
            <a:ext cx="7985052" cy="369332"/>
          </a:xfrm>
          <a:prstGeom prst="rect">
            <a:avLst/>
          </a:prstGeom>
          <a:noFill/>
        </p:spPr>
        <p:txBody>
          <a:bodyPr wrap="square" rtlCol="0">
            <a:spAutoFit/>
          </a:bodyPr>
          <a:lstStyle/>
          <a:p>
            <a:r>
              <a:rPr lang="en-US" dirty="0" err="1" smtClean="0"/>
              <a:t>Các</a:t>
            </a:r>
            <a:r>
              <a:rPr lang="en-US" dirty="0" smtClean="0"/>
              <a:t> </a:t>
            </a:r>
            <a:r>
              <a:rPr lang="en-US" dirty="0" err="1"/>
              <a:t>phần</a:t>
            </a:r>
            <a:r>
              <a:rPr lang="en-US" dirty="0"/>
              <a:t> </a:t>
            </a:r>
            <a:r>
              <a:rPr lang="en-US" dirty="0" err="1"/>
              <a:t>tử</a:t>
            </a:r>
            <a:r>
              <a:rPr lang="en-US" dirty="0"/>
              <a:t> </a:t>
            </a:r>
            <a:r>
              <a:rPr lang="en-US" dirty="0" err="1"/>
              <a:t>có</a:t>
            </a:r>
            <a:r>
              <a:rPr lang="en-US" dirty="0"/>
              <a:t> </a:t>
            </a:r>
            <a:r>
              <a:rPr lang="en-US" dirty="0" err="1"/>
              <a:t>thể</a:t>
            </a:r>
            <a:r>
              <a:rPr lang="en-US" dirty="0"/>
              <a:t> </a:t>
            </a:r>
            <a:r>
              <a:rPr lang="en-US" dirty="0" err="1"/>
              <a:t>chứa</a:t>
            </a:r>
            <a:r>
              <a:rPr lang="en-US" dirty="0"/>
              <a:t> </a:t>
            </a:r>
            <a:r>
              <a:rPr lang="en-US" dirty="0" err="1"/>
              <a:t>nhiều</a:t>
            </a:r>
            <a:r>
              <a:rPr lang="en-US" dirty="0"/>
              <a:t> </a:t>
            </a:r>
            <a:r>
              <a:rPr lang="en-US" dirty="0" err="1"/>
              <a:t>loại</a:t>
            </a:r>
            <a:r>
              <a:rPr lang="en-US" dirty="0"/>
              <a:t> </a:t>
            </a:r>
            <a:r>
              <a:rPr lang="en-US" dirty="0" err="1"/>
              <a:t>dữ</a:t>
            </a:r>
            <a:r>
              <a:rPr lang="en-US" dirty="0"/>
              <a:t> </a:t>
            </a:r>
            <a:r>
              <a:rPr lang="en-US" dirty="0" err="1"/>
              <a:t>liệu</a:t>
            </a:r>
            <a:r>
              <a:rPr lang="en-US" dirty="0"/>
              <a:t> </a:t>
            </a:r>
            <a:r>
              <a:rPr lang="en-US" dirty="0" err="1" smtClean="0"/>
              <a:t>int</a:t>
            </a:r>
            <a:r>
              <a:rPr lang="en-US" dirty="0" smtClean="0"/>
              <a:t>, float, bool, </a:t>
            </a:r>
            <a:r>
              <a:rPr lang="en-US" dirty="0" err="1" smtClean="0"/>
              <a:t>str</a:t>
            </a:r>
            <a:r>
              <a:rPr lang="en-US" dirty="0" smtClean="0"/>
              <a:t>, tuple, None</a:t>
            </a:r>
            <a:endParaRPr lang="en-US" b="1" dirty="0"/>
          </a:p>
        </p:txBody>
      </p:sp>
    </p:spTree>
    <p:extLst>
      <p:ext uri="{BB962C8B-B14F-4D97-AF65-F5344CB8AC3E}">
        <p14:creationId xmlns:p14="http://schemas.microsoft.com/office/powerpoint/2010/main" val="18386273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với</a:t>
            </a:r>
            <a:r>
              <a:rPr lang="en-US" dirty="0" smtClean="0"/>
              <a:t> Sets</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Truy</a:t>
            </a:r>
            <a:r>
              <a:rPr lang="en-US" b="1" dirty="0" smtClean="0"/>
              <a:t> </a:t>
            </a:r>
            <a:r>
              <a:rPr lang="en-US" b="1" dirty="0" err="1" smtClean="0"/>
              <a:t>cập</a:t>
            </a:r>
            <a:r>
              <a:rPr lang="en-US" b="1" dirty="0" smtClean="0"/>
              <a:t> </a:t>
            </a:r>
            <a:r>
              <a:rPr lang="en-US" b="1" dirty="0" err="1" smtClean="0"/>
              <a:t>đến</a:t>
            </a:r>
            <a:r>
              <a:rPr lang="en-US" b="1" dirty="0" smtClean="0"/>
              <a:t> </a:t>
            </a:r>
            <a:r>
              <a:rPr lang="en-US" b="1" dirty="0" err="1" smtClean="0"/>
              <a:t>các</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của</a:t>
            </a:r>
            <a:r>
              <a:rPr lang="en-US" b="1" dirty="0" smtClean="0"/>
              <a:t> Sets</a:t>
            </a:r>
            <a:endParaRPr lang="en-US" b="1" dirty="0">
              <a:solidFill>
                <a:srgbClr val="FF0000"/>
              </a:solidFill>
            </a:endParaRPr>
          </a:p>
        </p:txBody>
      </p:sp>
      <p:sp>
        <p:nvSpPr>
          <p:cNvPr id="11" name="Rectangle 10"/>
          <p:cNvSpPr/>
          <p:nvPr/>
        </p:nvSpPr>
        <p:spPr>
          <a:xfrm>
            <a:off x="657263" y="2588029"/>
            <a:ext cx="7774356" cy="129285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838017" y="2738188"/>
            <a:ext cx="7402216" cy="923330"/>
          </a:xfrm>
          <a:prstGeom prst="rect">
            <a:avLst/>
          </a:prstGeom>
          <a:noFill/>
        </p:spPr>
        <p:txBody>
          <a:bodyPr wrap="square" rtlCol="0">
            <a:spAutoFit/>
          </a:bodyPr>
          <a:lstStyle/>
          <a:p>
            <a:r>
              <a:rPr lang="en-US" dirty="0" err="1">
                <a:solidFill>
                  <a:schemeClr val="bg1"/>
                </a:solidFill>
              </a:rPr>
              <a:t>thisset</a:t>
            </a:r>
            <a:r>
              <a:rPr lang="en-US" dirty="0">
                <a:solidFill>
                  <a:schemeClr val="bg1"/>
                </a:solidFill>
              </a:rPr>
              <a:t> = </a:t>
            </a:r>
            <a:r>
              <a:rPr lang="en-US" dirty="0" smtClean="0">
                <a:solidFill>
                  <a:schemeClr val="accent4">
                    <a:lumMod val="60000"/>
                    <a:lumOff val="40000"/>
                  </a:schemeClr>
                </a:solidFill>
              </a:rPr>
              <a:t>{</a:t>
            </a:r>
            <a:r>
              <a:rPr lang="en-US" dirty="0">
                <a:solidFill>
                  <a:schemeClr val="accent2">
                    <a:lumMod val="75000"/>
                  </a:schemeClr>
                </a:solidFill>
              </a:rPr>
              <a:t>"apple"</a:t>
            </a:r>
            <a:r>
              <a:rPr lang="en-US" dirty="0">
                <a:solidFill>
                  <a:schemeClr val="bg1"/>
                </a:solidFill>
              </a:rPr>
              <a:t>, </a:t>
            </a:r>
            <a:r>
              <a:rPr lang="en-US" dirty="0">
                <a:solidFill>
                  <a:schemeClr val="accent2">
                    <a:lumMod val="75000"/>
                  </a:schemeClr>
                </a:solidFill>
              </a:rPr>
              <a:t>"banana"</a:t>
            </a:r>
            <a:r>
              <a:rPr lang="en-US" dirty="0">
                <a:solidFill>
                  <a:schemeClr val="bg1"/>
                </a:solidFill>
              </a:rPr>
              <a:t>, </a:t>
            </a:r>
            <a:r>
              <a:rPr lang="en-US" dirty="0">
                <a:solidFill>
                  <a:schemeClr val="accent2">
                    <a:lumMod val="75000"/>
                  </a:schemeClr>
                </a:solidFill>
              </a:rPr>
              <a:t>"cherry"</a:t>
            </a:r>
            <a:r>
              <a:rPr lang="en-US" dirty="0" smtClean="0">
                <a:solidFill>
                  <a:schemeClr val="accent4">
                    <a:lumMod val="60000"/>
                    <a:lumOff val="40000"/>
                  </a:schemeClr>
                </a:solidFill>
              </a:rPr>
              <a:t>}</a:t>
            </a:r>
            <a:endParaRPr lang="en-US" dirty="0">
              <a:solidFill>
                <a:schemeClr val="accent4">
                  <a:lumMod val="60000"/>
                  <a:lumOff val="40000"/>
                </a:schemeClr>
              </a:solidFill>
            </a:endParaRPr>
          </a:p>
          <a:p>
            <a:r>
              <a:rPr lang="en-US" dirty="0">
                <a:solidFill>
                  <a:srgbClr val="00B0F0"/>
                </a:solidFill>
              </a:rPr>
              <a:t>for</a:t>
            </a:r>
            <a:r>
              <a:rPr lang="en-US" dirty="0">
                <a:solidFill>
                  <a:schemeClr val="bg1"/>
                </a:solidFill>
              </a:rPr>
              <a:t> x </a:t>
            </a:r>
            <a:r>
              <a:rPr lang="en-US" dirty="0">
                <a:solidFill>
                  <a:srgbClr val="00B0F0"/>
                </a:solidFill>
              </a:rPr>
              <a:t>in</a:t>
            </a:r>
            <a:r>
              <a:rPr lang="en-US" dirty="0">
                <a:solidFill>
                  <a:schemeClr val="bg1"/>
                </a:solidFill>
              </a:rPr>
              <a:t> </a:t>
            </a:r>
            <a:r>
              <a:rPr lang="en-US" dirty="0" err="1">
                <a:solidFill>
                  <a:schemeClr val="bg1"/>
                </a:solidFill>
              </a:rPr>
              <a:t>thisset</a:t>
            </a:r>
            <a:r>
              <a:rPr lang="en-US" dirty="0">
                <a:solidFill>
                  <a:schemeClr val="bg1"/>
                </a:solidFill>
              </a:rPr>
              <a:t>:</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bg1"/>
                </a:solidFill>
              </a:rPr>
              <a:t>x</a:t>
            </a:r>
            <a:r>
              <a:rPr lang="en-US" dirty="0">
                <a:solidFill>
                  <a:schemeClr val="accent4">
                    <a:lumMod val="60000"/>
                    <a:lumOff val="40000"/>
                  </a:schemeClr>
                </a:solidFill>
              </a:rPr>
              <a:t>)</a:t>
            </a:r>
          </a:p>
        </p:txBody>
      </p:sp>
      <p:sp>
        <p:nvSpPr>
          <p:cNvPr id="14" name="TextBox 13"/>
          <p:cNvSpPr txBox="1"/>
          <p:nvPr/>
        </p:nvSpPr>
        <p:spPr>
          <a:xfrm>
            <a:off x="548981" y="2017550"/>
            <a:ext cx="7610868" cy="369332"/>
          </a:xfrm>
          <a:prstGeom prst="rect">
            <a:avLst/>
          </a:prstGeom>
          <a:noFill/>
        </p:spPr>
        <p:txBody>
          <a:bodyPr wrap="square" rtlCol="0">
            <a:spAutoFit/>
          </a:bodyPr>
          <a:lstStyle/>
          <a:p>
            <a:r>
              <a:rPr lang="en-US" dirty="0" err="1" smtClean="0"/>
              <a:t>Bạn</a:t>
            </a:r>
            <a:r>
              <a:rPr lang="en-US" dirty="0" smtClean="0"/>
              <a:t> </a:t>
            </a:r>
            <a:r>
              <a:rPr lang="en-US" dirty="0" err="1" smtClean="0"/>
              <a:t>chỉ</a:t>
            </a:r>
            <a:r>
              <a:rPr lang="en-US" dirty="0" smtClean="0"/>
              <a:t> </a:t>
            </a:r>
            <a:r>
              <a:rPr lang="en-US" dirty="0" err="1" smtClean="0"/>
              <a:t>có</a:t>
            </a:r>
            <a:r>
              <a:rPr lang="en-US" dirty="0" smtClean="0"/>
              <a:t> </a:t>
            </a:r>
            <a:r>
              <a:rPr lang="en-US" dirty="0" err="1" smtClean="0"/>
              <a:t>thể</a:t>
            </a:r>
            <a:r>
              <a:rPr lang="en-US" dirty="0" smtClean="0"/>
              <a:t> </a:t>
            </a:r>
            <a:r>
              <a:rPr lang="en-US" dirty="0" err="1" smtClean="0"/>
              <a:t>duyệt</a:t>
            </a:r>
            <a:r>
              <a:rPr lang="en-US" dirty="0" smtClean="0"/>
              <a:t> qua </a:t>
            </a:r>
            <a:r>
              <a:rPr lang="en-US" dirty="0" err="1" smtClean="0"/>
              <a:t>các</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của</a:t>
            </a:r>
            <a:r>
              <a:rPr lang="en-US" dirty="0" smtClean="0"/>
              <a:t> sets </a:t>
            </a:r>
            <a:r>
              <a:rPr lang="en-US" dirty="0" err="1" smtClean="0"/>
              <a:t>bằng</a:t>
            </a:r>
            <a:r>
              <a:rPr lang="en-US" dirty="0" smtClean="0"/>
              <a:t> </a:t>
            </a:r>
            <a:r>
              <a:rPr lang="en-US" dirty="0" err="1" smtClean="0"/>
              <a:t>vòng</a:t>
            </a:r>
            <a:r>
              <a:rPr lang="en-US" dirty="0" smtClean="0"/>
              <a:t> </a:t>
            </a:r>
            <a:r>
              <a:rPr lang="en-US" dirty="0" err="1" smtClean="0"/>
              <a:t>lặp</a:t>
            </a:r>
            <a:endParaRPr lang="en-US" b="1" dirty="0"/>
          </a:p>
        </p:txBody>
      </p:sp>
      <p:sp>
        <p:nvSpPr>
          <p:cNvPr id="16" name="Rectangle 15"/>
          <p:cNvSpPr/>
          <p:nvPr/>
        </p:nvSpPr>
        <p:spPr>
          <a:xfrm>
            <a:off x="657263" y="4593474"/>
            <a:ext cx="7774356" cy="71635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838017" y="4743633"/>
            <a:ext cx="7402216" cy="369332"/>
          </a:xfrm>
          <a:prstGeom prst="rect">
            <a:avLst/>
          </a:prstGeom>
          <a:noFill/>
        </p:spPr>
        <p:txBody>
          <a:bodyPr wrap="square" rtlCol="0">
            <a:spAutoFit/>
          </a:bodyPr>
          <a:lstStyle/>
          <a:p>
            <a:r>
              <a:rPr lang="en-US" dirty="0">
                <a:solidFill>
                  <a:schemeClr val="bg1"/>
                </a:solidFill>
              </a:rPr>
              <a:t>print</a:t>
            </a:r>
            <a:r>
              <a:rPr lang="en-US" dirty="0">
                <a:solidFill>
                  <a:schemeClr val="accent4">
                    <a:lumMod val="60000"/>
                    <a:lumOff val="40000"/>
                  </a:schemeClr>
                </a:solidFill>
              </a:rPr>
              <a:t>(</a:t>
            </a:r>
            <a:r>
              <a:rPr lang="en-US" dirty="0">
                <a:solidFill>
                  <a:schemeClr val="accent2">
                    <a:lumMod val="75000"/>
                  </a:schemeClr>
                </a:solidFill>
              </a:rPr>
              <a:t>"banana"</a:t>
            </a:r>
            <a:r>
              <a:rPr lang="en-US" dirty="0">
                <a:solidFill>
                  <a:schemeClr val="bg1"/>
                </a:solidFill>
              </a:rPr>
              <a:t> </a:t>
            </a:r>
            <a:r>
              <a:rPr lang="en-US" dirty="0">
                <a:solidFill>
                  <a:srgbClr val="00B0F0"/>
                </a:solidFill>
              </a:rPr>
              <a:t>in</a:t>
            </a:r>
            <a:r>
              <a:rPr lang="en-US" dirty="0">
                <a:solidFill>
                  <a:schemeClr val="bg1"/>
                </a:solidFill>
              </a:rPr>
              <a:t> </a:t>
            </a:r>
            <a:r>
              <a:rPr lang="en-US" dirty="0" err="1">
                <a:solidFill>
                  <a:schemeClr val="bg1"/>
                </a:solidFill>
              </a:rPr>
              <a:t>thisset</a:t>
            </a:r>
            <a:r>
              <a:rPr lang="en-US" dirty="0">
                <a:solidFill>
                  <a:schemeClr val="accent4">
                    <a:lumMod val="60000"/>
                    <a:lumOff val="40000"/>
                  </a:schemeClr>
                </a:solidFill>
              </a:rPr>
              <a:t>)</a:t>
            </a:r>
          </a:p>
        </p:txBody>
      </p:sp>
      <p:sp>
        <p:nvSpPr>
          <p:cNvPr id="19" name="TextBox 18"/>
          <p:cNvSpPr txBox="1"/>
          <p:nvPr/>
        </p:nvSpPr>
        <p:spPr>
          <a:xfrm>
            <a:off x="548981" y="4016471"/>
            <a:ext cx="7610868" cy="369332"/>
          </a:xfrm>
          <a:prstGeom prst="rect">
            <a:avLst/>
          </a:prstGeom>
          <a:noFill/>
        </p:spPr>
        <p:txBody>
          <a:bodyPr wrap="square" rtlCol="0">
            <a:spAutoFit/>
          </a:bodyPr>
          <a:lstStyle/>
          <a:p>
            <a:r>
              <a:rPr lang="en-US" dirty="0" err="1" smtClean="0"/>
              <a:t>Sử</a:t>
            </a:r>
            <a:r>
              <a:rPr lang="en-US" dirty="0" smtClean="0"/>
              <a:t> </a:t>
            </a:r>
            <a:r>
              <a:rPr lang="en-US" dirty="0" err="1" smtClean="0"/>
              <a:t>dụng</a:t>
            </a:r>
            <a:r>
              <a:rPr lang="en-US" dirty="0" smtClean="0"/>
              <a:t> </a:t>
            </a:r>
            <a:r>
              <a:rPr lang="en-US" dirty="0" err="1" smtClean="0"/>
              <a:t>từ</a:t>
            </a:r>
            <a:r>
              <a:rPr lang="en-US" dirty="0" smtClean="0"/>
              <a:t> </a:t>
            </a:r>
            <a:r>
              <a:rPr lang="en-US" dirty="0" err="1" smtClean="0"/>
              <a:t>khóa</a:t>
            </a:r>
            <a:r>
              <a:rPr lang="en-US" dirty="0" smtClean="0"/>
              <a:t> in </a:t>
            </a:r>
            <a:r>
              <a:rPr lang="en-US" dirty="0" err="1" smtClean="0"/>
              <a:t>để</a:t>
            </a:r>
            <a:r>
              <a:rPr lang="en-US" dirty="0" smtClean="0"/>
              <a:t> </a:t>
            </a:r>
            <a:r>
              <a:rPr lang="en-US" dirty="0" err="1" smtClean="0"/>
              <a:t>kiểm</a:t>
            </a:r>
            <a:r>
              <a:rPr lang="en-US" dirty="0" smtClean="0"/>
              <a:t> </a:t>
            </a:r>
            <a:r>
              <a:rPr lang="en-US" dirty="0" err="1" smtClean="0"/>
              <a:t>tra</a:t>
            </a:r>
            <a:r>
              <a:rPr lang="en-US" dirty="0" smtClean="0"/>
              <a:t> </a:t>
            </a:r>
            <a:r>
              <a:rPr lang="en-US" dirty="0" err="1" smtClean="0"/>
              <a:t>một</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có</a:t>
            </a:r>
            <a:r>
              <a:rPr lang="en-US" dirty="0" smtClean="0"/>
              <a:t> </a:t>
            </a:r>
            <a:r>
              <a:rPr lang="en-US" dirty="0" err="1" smtClean="0"/>
              <a:t>tồn</a:t>
            </a:r>
            <a:r>
              <a:rPr lang="en-US" dirty="0" smtClean="0"/>
              <a:t> </a:t>
            </a:r>
            <a:r>
              <a:rPr lang="en-US" dirty="0" err="1" smtClean="0"/>
              <a:t>tại</a:t>
            </a:r>
            <a:r>
              <a:rPr lang="en-US" dirty="0" smtClean="0"/>
              <a:t> </a:t>
            </a:r>
            <a:r>
              <a:rPr lang="en-US" dirty="0" err="1" smtClean="0"/>
              <a:t>trong</a:t>
            </a:r>
            <a:r>
              <a:rPr lang="en-US" dirty="0" smtClean="0"/>
              <a:t> set </a:t>
            </a:r>
            <a:r>
              <a:rPr lang="en-US" dirty="0" err="1" smtClean="0"/>
              <a:t>không</a:t>
            </a:r>
            <a:endParaRPr lang="en-US" b="1" dirty="0"/>
          </a:p>
        </p:txBody>
      </p:sp>
    </p:spTree>
    <p:extLst>
      <p:ext uri="{BB962C8B-B14F-4D97-AF65-F5344CB8AC3E}">
        <p14:creationId xmlns:p14="http://schemas.microsoft.com/office/powerpoint/2010/main" val="2794730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5.5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với</a:t>
            </a:r>
            <a:r>
              <a:rPr lang="en-US" dirty="0" smtClean="0"/>
              <a:t> Sets</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Thêm</a:t>
            </a:r>
            <a:r>
              <a:rPr lang="en-US" b="1" dirty="0" smtClean="0"/>
              <a:t> </a:t>
            </a:r>
            <a:r>
              <a:rPr lang="en-US" b="1" dirty="0" err="1" smtClean="0"/>
              <a:t>mới</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vào</a:t>
            </a:r>
            <a:r>
              <a:rPr lang="en-US" b="1" dirty="0" smtClean="0"/>
              <a:t> Sets</a:t>
            </a:r>
            <a:endParaRPr lang="en-US" b="1" dirty="0">
              <a:solidFill>
                <a:srgbClr val="FF0000"/>
              </a:solidFill>
            </a:endParaRPr>
          </a:p>
        </p:txBody>
      </p:sp>
      <p:sp>
        <p:nvSpPr>
          <p:cNvPr id="11" name="Rectangle 10"/>
          <p:cNvSpPr/>
          <p:nvPr/>
        </p:nvSpPr>
        <p:spPr>
          <a:xfrm>
            <a:off x="657263" y="2820899"/>
            <a:ext cx="7774356" cy="129285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838017" y="2971058"/>
            <a:ext cx="7402216" cy="923330"/>
          </a:xfrm>
          <a:prstGeom prst="rect">
            <a:avLst/>
          </a:prstGeom>
          <a:noFill/>
        </p:spPr>
        <p:txBody>
          <a:bodyPr wrap="square" rtlCol="0">
            <a:spAutoFit/>
          </a:bodyPr>
          <a:lstStyle/>
          <a:p>
            <a:r>
              <a:rPr lang="en-US" dirty="0" err="1">
                <a:solidFill>
                  <a:schemeClr val="bg1"/>
                </a:solidFill>
              </a:rPr>
              <a:t>thisset</a:t>
            </a:r>
            <a:r>
              <a:rPr lang="en-US" dirty="0">
                <a:solidFill>
                  <a:schemeClr val="bg1"/>
                </a:solidFill>
              </a:rPr>
              <a:t> = </a:t>
            </a:r>
            <a:r>
              <a:rPr lang="en-US" dirty="0" smtClean="0">
                <a:solidFill>
                  <a:schemeClr val="accent4">
                    <a:lumMod val="60000"/>
                    <a:lumOff val="40000"/>
                  </a:schemeClr>
                </a:solidFill>
              </a:rPr>
              <a:t>{</a:t>
            </a:r>
            <a:r>
              <a:rPr lang="en-US" dirty="0">
                <a:solidFill>
                  <a:schemeClr val="accent2">
                    <a:lumMod val="75000"/>
                  </a:schemeClr>
                </a:solidFill>
              </a:rPr>
              <a:t>"apple"</a:t>
            </a:r>
            <a:r>
              <a:rPr lang="en-US" dirty="0">
                <a:solidFill>
                  <a:schemeClr val="bg1"/>
                </a:solidFill>
              </a:rPr>
              <a:t>, </a:t>
            </a:r>
            <a:r>
              <a:rPr lang="en-US" dirty="0">
                <a:solidFill>
                  <a:schemeClr val="accent2">
                    <a:lumMod val="75000"/>
                  </a:schemeClr>
                </a:solidFill>
              </a:rPr>
              <a:t>"banana"</a:t>
            </a:r>
            <a:r>
              <a:rPr lang="en-US" dirty="0">
                <a:solidFill>
                  <a:schemeClr val="bg1"/>
                </a:solidFill>
              </a:rPr>
              <a:t>, </a:t>
            </a:r>
            <a:r>
              <a:rPr lang="en-US" dirty="0">
                <a:solidFill>
                  <a:schemeClr val="accent2">
                    <a:lumMod val="75000"/>
                  </a:schemeClr>
                </a:solidFill>
              </a:rPr>
              <a:t>"cherry"</a:t>
            </a:r>
            <a:r>
              <a:rPr lang="en-US" dirty="0" smtClean="0">
                <a:solidFill>
                  <a:schemeClr val="accent4">
                    <a:lumMod val="60000"/>
                    <a:lumOff val="40000"/>
                  </a:schemeClr>
                </a:solidFill>
              </a:rPr>
              <a:t>}</a:t>
            </a:r>
            <a:endParaRPr lang="en-US" dirty="0">
              <a:solidFill>
                <a:schemeClr val="accent4">
                  <a:lumMod val="60000"/>
                  <a:lumOff val="40000"/>
                </a:schemeClr>
              </a:solidFill>
            </a:endParaRPr>
          </a:p>
          <a:p>
            <a:r>
              <a:rPr lang="en-US" dirty="0" err="1">
                <a:solidFill>
                  <a:schemeClr val="bg1"/>
                </a:solidFill>
              </a:rPr>
              <a:t>thisset.add</a:t>
            </a:r>
            <a:r>
              <a:rPr lang="en-US" dirty="0">
                <a:solidFill>
                  <a:schemeClr val="accent4">
                    <a:lumMod val="60000"/>
                    <a:lumOff val="40000"/>
                  </a:schemeClr>
                </a:solidFill>
              </a:rPr>
              <a:t>(</a:t>
            </a:r>
            <a:r>
              <a:rPr lang="en-US" dirty="0">
                <a:solidFill>
                  <a:schemeClr val="accent2">
                    <a:lumMod val="75000"/>
                  </a:schemeClr>
                </a:solidFill>
              </a:rPr>
              <a:t>"orange"</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thisset</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14" name="TextBox 13"/>
          <p:cNvSpPr txBox="1"/>
          <p:nvPr/>
        </p:nvSpPr>
        <p:spPr>
          <a:xfrm>
            <a:off x="548981" y="2017550"/>
            <a:ext cx="7610868" cy="646331"/>
          </a:xfrm>
          <a:prstGeom prst="rect">
            <a:avLst/>
          </a:prstGeom>
          <a:noFill/>
        </p:spPr>
        <p:txBody>
          <a:bodyPr wrap="square" rtlCol="0">
            <a:spAutoFit/>
          </a:bodyPr>
          <a:lstStyle/>
          <a:p>
            <a:r>
              <a:rPr lang="en-US" dirty="0" err="1" smtClean="0"/>
              <a:t>Với</a:t>
            </a:r>
            <a:r>
              <a:rPr lang="en-US" dirty="0" smtClean="0"/>
              <a:t> set </a:t>
            </a:r>
            <a:r>
              <a:rPr lang="en-US" dirty="0" err="1" smtClean="0"/>
              <a:t>bạn</a:t>
            </a:r>
            <a:r>
              <a:rPr lang="en-US" dirty="0" smtClean="0"/>
              <a:t> </a:t>
            </a:r>
            <a:r>
              <a:rPr lang="en-US" dirty="0" err="1" smtClean="0"/>
              <a:t>không</a:t>
            </a:r>
            <a:r>
              <a:rPr lang="en-US" dirty="0" smtClean="0"/>
              <a:t> </a:t>
            </a:r>
            <a:r>
              <a:rPr lang="en-US" dirty="0" err="1" smtClean="0"/>
              <a:t>thể</a:t>
            </a:r>
            <a:r>
              <a:rPr lang="en-US" dirty="0" smtClean="0"/>
              <a:t> </a:t>
            </a:r>
            <a:r>
              <a:rPr lang="en-US" dirty="0" err="1" smtClean="0"/>
              <a:t>thay</a:t>
            </a:r>
            <a:r>
              <a:rPr lang="en-US" dirty="0" smtClean="0"/>
              <a:t> </a:t>
            </a:r>
            <a:r>
              <a:rPr lang="en-US" dirty="0" err="1" smtClean="0"/>
              <a:t>đổi</a:t>
            </a:r>
            <a:r>
              <a:rPr lang="en-US" dirty="0" smtClean="0"/>
              <a:t> </a:t>
            </a:r>
            <a:r>
              <a:rPr lang="en-US" dirty="0" err="1" smtClean="0"/>
              <a:t>các</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sau</a:t>
            </a:r>
            <a:r>
              <a:rPr lang="en-US" dirty="0" smtClean="0"/>
              <a:t> </a:t>
            </a:r>
            <a:r>
              <a:rPr lang="en-US" dirty="0" err="1" smtClean="0"/>
              <a:t>khi</a:t>
            </a:r>
            <a:r>
              <a:rPr lang="en-US" dirty="0" smtClean="0"/>
              <a:t> </a:t>
            </a:r>
            <a:r>
              <a:rPr lang="en-US" dirty="0" err="1" smtClean="0"/>
              <a:t>khởi</a:t>
            </a:r>
            <a:r>
              <a:rPr lang="en-US" dirty="0" smtClean="0"/>
              <a:t> </a:t>
            </a:r>
            <a:r>
              <a:rPr lang="en-US" dirty="0" err="1" smtClean="0"/>
              <a:t>tạo</a:t>
            </a:r>
            <a:r>
              <a:rPr lang="en-US" dirty="0" smtClean="0"/>
              <a:t>, </a:t>
            </a:r>
            <a:r>
              <a:rPr lang="en-US" dirty="0" err="1" smtClean="0"/>
              <a:t>tuy</a:t>
            </a:r>
            <a:r>
              <a:rPr lang="en-US" dirty="0" smtClean="0"/>
              <a:t> </a:t>
            </a:r>
            <a:r>
              <a:rPr lang="en-US" dirty="0" err="1" smtClean="0"/>
              <a:t>nhiên</a:t>
            </a:r>
            <a:r>
              <a:rPr lang="en-US" dirty="0" smtClean="0"/>
              <a:t> </a:t>
            </a:r>
            <a:r>
              <a:rPr lang="en-US" dirty="0" err="1" smtClean="0"/>
              <a:t>có</a:t>
            </a:r>
            <a:r>
              <a:rPr lang="en-US" dirty="0" smtClean="0"/>
              <a:t> </a:t>
            </a:r>
            <a:r>
              <a:rPr lang="en-US" dirty="0" err="1" smtClean="0"/>
              <a:t>thể</a:t>
            </a:r>
            <a:r>
              <a:rPr lang="en-US" dirty="0" smtClean="0"/>
              <a:t> </a:t>
            </a:r>
            <a:r>
              <a:rPr lang="en-US" dirty="0" err="1" smtClean="0"/>
              <a:t>thêm</a:t>
            </a:r>
            <a:r>
              <a:rPr lang="en-US" dirty="0" smtClean="0"/>
              <a:t> </a:t>
            </a:r>
            <a:r>
              <a:rPr lang="en-US" dirty="0" err="1" smtClean="0"/>
              <a:t>mới</a:t>
            </a:r>
            <a:endParaRPr lang="en-US" b="1" dirty="0"/>
          </a:p>
        </p:txBody>
      </p:sp>
      <p:sp>
        <p:nvSpPr>
          <p:cNvPr id="12" name="TextBox 11"/>
          <p:cNvSpPr txBox="1"/>
          <p:nvPr/>
        </p:nvSpPr>
        <p:spPr>
          <a:xfrm>
            <a:off x="548981" y="4227035"/>
            <a:ext cx="7610868" cy="369332"/>
          </a:xfrm>
          <a:prstGeom prst="rect">
            <a:avLst/>
          </a:prstGeom>
          <a:noFill/>
        </p:spPr>
        <p:txBody>
          <a:bodyPr wrap="square" rtlCol="0">
            <a:spAutoFit/>
          </a:bodyPr>
          <a:lstStyle/>
          <a:p>
            <a:r>
              <a:rPr lang="en-US" dirty="0" err="1" smtClean="0"/>
              <a:t>Hoặc</a:t>
            </a:r>
            <a:r>
              <a:rPr lang="en-US" dirty="0" smtClean="0"/>
              <a:t> </a:t>
            </a:r>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t>update() </a:t>
            </a:r>
            <a:r>
              <a:rPr lang="en-US" dirty="0" err="1" smtClean="0"/>
              <a:t>để</a:t>
            </a:r>
            <a:r>
              <a:rPr lang="en-US" dirty="0" smtClean="0"/>
              <a:t> </a:t>
            </a:r>
            <a:r>
              <a:rPr lang="en-US" dirty="0" err="1" smtClean="0"/>
              <a:t>thêm</a:t>
            </a:r>
            <a:r>
              <a:rPr lang="en-US" dirty="0" smtClean="0"/>
              <a:t> </a:t>
            </a:r>
            <a:r>
              <a:rPr lang="en-US" dirty="0" err="1" smtClean="0"/>
              <a:t>mới</a:t>
            </a:r>
            <a:endParaRPr lang="en-US" b="1" dirty="0"/>
          </a:p>
        </p:txBody>
      </p:sp>
      <p:sp>
        <p:nvSpPr>
          <p:cNvPr id="15" name="Rectangle 14"/>
          <p:cNvSpPr/>
          <p:nvPr/>
        </p:nvSpPr>
        <p:spPr>
          <a:xfrm>
            <a:off x="657263" y="4734675"/>
            <a:ext cx="7774356" cy="129285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a:off x="838017" y="4884834"/>
            <a:ext cx="7402216" cy="923330"/>
          </a:xfrm>
          <a:prstGeom prst="rect">
            <a:avLst/>
          </a:prstGeom>
          <a:noFill/>
        </p:spPr>
        <p:txBody>
          <a:bodyPr wrap="square" rtlCol="0">
            <a:spAutoFit/>
          </a:bodyPr>
          <a:lstStyle/>
          <a:p>
            <a:r>
              <a:rPr lang="en-US" dirty="0">
                <a:solidFill>
                  <a:schemeClr val="bg1"/>
                </a:solidFill>
              </a:rPr>
              <a:t>tropical = {</a:t>
            </a:r>
            <a:r>
              <a:rPr lang="en-US" dirty="0">
                <a:solidFill>
                  <a:schemeClr val="accent2">
                    <a:lumMod val="75000"/>
                  </a:schemeClr>
                </a:solidFill>
              </a:rPr>
              <a:t>"pineapple"</a:t>
            </a:r>
            <a:r>
              <a:rPr lang="en-US" dirty="0">
                <a:solidFill>
                  <a:schemeClr val="bg1"/>
                </a:solidFill>
              </a:rPr>
              <a:t>, </a:t>
            </a:r>
            <a:r>
              <a:rPr lang="en-US" dirty="0">
                <a:solidFill>
                  <a:schemeClr val="accent2">
                    <a:lumMod val="75000"/>
                  </a:schemeClr>
                </a:solidFill>
              </a:rPr>
              <a:t>"mango"</a:t>
            </a:r>
            <a:r>
              <a:rPr lang="en-US" dirty="0">
                <a:solidFill>
                  <a:schemeClr val="bg1"/>
                </a:solidFill>
              </a:rPr>
              <a:t>, </a:t>
            </a:r>
            <a:r>
              <a:rPr lang="en-US" dirty="0">
                <a:solidFill>
                  <a:schemeClr val="accent2">
                    <a:lumMod val="75000"/>
                  </a:schemeClr>
                </a:solidFill>
              </a:rPr>
              <a:t>"papaya</a:t>
            </a:r>
            <a:r>
              <a:rPr lang="en-US" dirty="0" smtClean="0">
                <a:solidFill>
                  <a:schemeClr val="accent2">
                    <a:lumMod val="75000"/>
                  </a:schemeClr>
                </a:solidFill>
              </a:rPr>
              <a:t>"</a:t>
            </a:r>
            <a:r>
              <a:rPr lang="en-US" dirty="0" smtClean="0">
                <a:solidFill>
                  <a:schemeClr val="bg1"/>
                </a:solidFill>
              </a:rPr>
              <a:t>}</a:t>
            </a:r>
          </a:p>
          <a:p>
            <a:r>
              <a:rPr lang="en-US" dirty="0" err="1" smtClean="0">
                <a:solidFill>
                  <a:schemeClr val="bg1"/>
                </a:solidFill>
              </a:rPr>
              <a:t>thisset.update</a:t>
            </a:r>
            <a:r>
              <a:rPr lang="en-US" dirty="0" smtClean="0">
                <a:solidFill>
                  <a:schemeClr val="accent4">
                    <a:lumMod val="60000"/>
                    <a:lumOff val="40000"/>
                  </a:schemeClr>
                </a:solidFill>
              </a:rPr>
              <a:t>(</a:t>
            </a:r>
            <a:r>
              <a:rPr lang="en-US" dirty="0">
                <a:solidFill>
                  <a:schemeClr val="bg1"/>
                </a:solidFill>
              </a:rPr>
              <a:t>tropical</a:t>
            </a:r>
            <a:r>
              <a:rPr lang="en-US" dirty="0" smtClean="0">
                <a:solidFill>
                  <a:schemeClr val="accent4">
                    <a:lumMod val="60000"/>
                    <a:lumOff val="40000"/>
                  </a:schemeClr>
                </a:solidFill>
              </a:rPr>
              <a:t>)</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thisset</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20" name="TextBox 19"/>
          <p:cNvSpPr txBox="1"/>
          <p:nvPr/>
        </p:nvSpPr>
        <p:spPr>
          <a:xfrm>
            <a:off x="548981" y="6130263"/>
            <a:ext cx="7610868" cy="369332"/>
          </a:xfrm>
          <a:prstGeom prst="rect">
            <a:avLst/>
          </a:prstGeom>
          <a:noFill/>
        </p:spPr>
        <p:txBody>
          <a:bodyPr wrap="square" rtlCol="0">
            <a:spAutoFit/>
          </a:bodyPr>
          <a:lstStyle/>
          <a:p>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thêm</a:t>
            </a:r>
            <a:r>
              <a:rPr lang="en-US" dirty="0" smtClean="0"/>
              <a:t> </a:t>
            </a:r>
            <a:r>
              <a:rPr lang="en-US" dirty="0" err="1" smtClean="0"/>
              <a:t>một</a:t>
            </a:r>
            <a:r>
              <a:rPr lang="en-US" dirty="0" smtClean="0"/>
              <a:t> tuples</a:t>
            </a:r>
            <a:r>
              <a:rPr lang="en-US" dirty="0"/>
              <a:t>, lists, </a:t>
            </a:r>
            <a:r>
              <a:rPr lang="en-US" dirty="0" smtClean="0"/>
              <a:t>dictionaries </a:t>
            </a:r>
            <a:r>
              <a:rPr lang="en-US" dirty="0" err="1" smtClean="0"/>
              <a:t>vào</a:t>
            </a:r>
            <a:r>
              <a:rPr lang="en-US" dirty="0" smtClean="0"/>
              <a:t> set </a:t>
            </a:r>
            <a:r>
              <a:rPr lang="en-US" dirty="0" err="1" smtClean="0"/>
              <a:t>với</a:t>
            </a:r>
            <a:r>
              <a:rPr lang="en-US" dirty="0" smtClean="0"/>
              <a:t> update()</a:t>
            </a:r>
            <a:endParaRPr lang="en-US" b="1" dirty="0"/>
          </a:p>
        </p:txBody>
      </p:sp>
    </p:spTree>
    <p:extLst>
      <p:ext uri="{BB962C8B-B14F-4D97-AF65-F5344CB8AC3E}">
        <p14:creationId xmlns:p14="http://schemas.microsoft.com/office/powerpoint/2010/main" val="9618712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5.5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với</a:t>
            </a:r>
            <a:r>
              <a:rPr lang="en-US" dirty="0" smtClean="0"/>
              <a:t> Sets</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Xóa</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ra</a:t>
            </a:r>
            <a:r>
              <a:rPr lang="en-US" b="1" dirty="0" smtClean="0"/>
              <a:t> </a:t>
            </a:r>
            <a:r>
              <a:rPr lang="en-US" b="1" dirty="0" err="1" smtClean="0"/>
              <a:t>khỏi</a:t>
            </a:r>
            <a:r>
              <a:rPr lang="en-US" b="1" dirty="0" smtClean="0"/>
              <a:t> Sets</a:t>
            </a:r>
            <a:endParaRPr lang="en-US" b="1" dirty="0">
              <a:solidFill>
                <a:srgbClr val="FF0000"/>
              </a:solidFill>
            </a:endParaRPr>
          </a:p>
        </p:txBody>
      </p:sp>
      <p:sp>
        <p:nvSpPr>
          <p:cNvPr id="11" name="Rectangle 10"/>
          <p:cNvSpPr/>
          <p:nvPr/>
        </p:nvSpPr>
        <p:spPr>
          <a:xfrm>
            <a:off x="657263" y="2510371"/>
            <a:ext cx="7774356" cy="129285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838017" y="2660530"/>
            <a:ext cx="7402216" cy="923330"/>
          </a:xfrm>
          <a:prstGeom prst="rect">
            <a:avLst/>
          </a:prstGeom>
          <a:noFill/>
        </p:spPr>
        <p:txBody>
          <a:bodyPr wrap="square" rtlCol="0">
            <a:spAutoFit/>
          </a:bodyPr>
          <a:lstStyle/>
          <a:p>
            <a:r>
              <a:rPr lang="en-US" dirty="0" err="1">
                <a:solidFill>
                  <a:schemeClr val="bg1"/>
                </a:solidFill>
              </a:rPr>
              <a:t>thisset</a:t>
            </a:r>
            <a:r>
              <a:rPr lang="en-US" dirty="0">
                <a:solidFill>
                  <a:schemeClr val="bg1"/>
                </a:solidFill>
              </a:rPr>
              <a:t> = </a:t>
            </a:r>
            <a:r>
              <a:rPr lang="en-US" dirty="0" smtClean="0">
                <a:solidFill>
                  <a:schemeClr val="accent4">
                    <a:lumMod val="60000"/>
                    <a:lumOff val="40000"/>
                  </a:schemeClr>
                </a:solidFill>
              </a:rPr>
              <a:t>{</a:t>
            </a:r>
            <a:r>
              <a:rPr lang="en-US" dirty="0">
                <a:solidFill>
                  <a:schemeClr val="accent2">
                    <a:lumMod val="75000"/>
                  </a:schemeClr>
                </a:solidFill>
              </a:rPr>
              <a:t>"apple"</a:t>
            </a:r>
            <a:r>
              <a:rPr lang="en-US" dirty="0">
                <a:solidFill>
                  <a:schemeClr val="bg1"/>
                </a:solidFill>
              </a:rPr>
              <a:t>, </a:t>
            </a:r>
            <a:r>
              <a:rPr lang="en-US" dirty="0">
                <a:solidFill>
                  <a:schemeClr val="accent2">
                    <a:lumMod val="75000"/>
                  </a:schemeClr>
                </a:solidFill>
              </a:rPr>
              <a:t>"banana"</a:t>
            </a:r>
            <a:r>
              <a:rPr lang="en-US" dirty="0">
                <a:solidFill>
                  <a:schemeClr val="bg1"/>
                </a:solidFill>
              </a:rPr>
              <a:t>, </a:t>
            </a:r>
            <a:r>
              <a:rPr lang="en-US" dirty="0">
                <a:solidFill>
                  <a:schemeClr val="accent2">
                    <a:lumMod val="75000"/>
                  </a:schemeClr>
                </a:solidFill>
              </a:rPr>
              <a:t>"cherry"</a:t>
            </a:r>
            <a:r>
              <a:rPr lang="en-US" dirty="0" smtClean="0">
                <a:solidFill>
                  <a:schemeClr val="accent4">
                    <a:lumMod val="60000"/>
                    <a:lumOff val="40000"/>
                  </a:schemeClr>
                </a:solidFill>
              </a:rPr>
              <a:t>}</a:t>
            </a:r>
            <a:endParaRPr lang="en-US" dirty="0">
              <a:solidFill>
                <a:schemeClr val="accent4">
                  <a:lumMod val="60000"/>
                  <a:lumOff val="40000"/>
                </a:schemeClr>
              </a:solidFill>
            </a:endParaRPr>
          </a:p>
          <a:p>
            <a:r>
              <a:rPr lang="en-US" dirty="0" err="1" smtClean="0">
                <a:solidFill>
                  <a:schemeClr val="bg1"/>
                </a:solidFill>
              </a:rPr>
              <a:t>thisset.remove</a:t>
            </a:r>
            <a:r>
              <a:rPr lang="en-US" dirty="0" smtClean="0">
                <a:solidFill>
                  <a:schemeClr val="accent4">
                    <a:lumMod val="60000"/>
                    <a:lumOff val="40000"/>
                  </a:schemeClr>
                </a:solidFill>
              </a:rPr>
              <a:t>(</a:t>
            </a:r>
            <a:r>
              <a:rPr lang="en-US" dirty="0" smtClean="0">
                <a:solidFill>
                  <a:schemeClr val="accent2">
                    <a:lumMod val="75000"/>
                  </a:schemeClr>
                </a:solidFill>
              </a:rPr>
              <a:t>"</a:t>
            </a:r>
            <a:r>
              <a:rPr lang="en-US" dirty="0">
                <a:solidFill>
                  <a:schemeClr val="accent2">
                    <a:lumMod val="75000"/>
                  </a:schemeClr>
                </a:solidFill>
              </a:rPr>
              <a:t> banana </a:t>
            </a:r>
            <a:r>
              <a:rPr lang="en-US" dirty="0" smtClean="0">
                <a:solidFill>
                  <a:schemeClr val="accent2">
                    <a:lumMod val="75000"/>
                  </a:schemeClr>
                </a:solidFill>
              </a:rPr>
              <a:t>"</a:t>
            </a:r>
            <a:r>
              <a:rPr lang="en-US" dirty="0" smtClean="0">
                <a:solidFill>
                  <a:schemeClr val="accent4">
                    <a:lumMod val="60000"/>
                    <a:lumOff val="40000"/>
                  </a:schemeClr>
                </a:solidFill>
              </a:rPr>
              <a:t>)</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thisset</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14" name="TextBox 13"/>
          <p:cNvSpPr txBox="1"/>
          <p:nvPr/>
        </p:nvSpPr>
        <p:spPr>
          <a:xfrm>
            <a:off x="548981" y="2017550"/>
            <a:ext cx="7610868" cy="369332"/>
          </a:xfrm>
          <a:prstGeom prst="rect">
            <a:avLst/>
          </a:prstGeom>
          <a:noFill/>
        </p:spPr>
        <p:txBody>
          <a:bodyPr wrap="square" rtlCol="0">
            <a:spAutoFit/>
          </a:bodyPr>
          <a:lstStyle/>
          <a:p>
            <a:r>
              <a:rPr lang="en-US" dirty="0" err="1" smtClean="0"/>
              <a:t>Xóa</a:t>
            </a:r>
            <a:r>
              <a:rPr lang="en-US" dirty="0" smtClean="0"/>
              <a:t> </a:t>
            </a:r>
            <a:r>
              <a:rPr lang="en-US" dirty="0" err="1" smtClean="0"/>
              <a:t>với</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t>remove()</a:t>
            </a:r>
            <a:endParaRPr lang="en-US" b="1" dirty="0"/>
          </a:p>
        </p:txBody>
      </p:sp>
      <p:sp>
        <p:nvSpPr>
          <p:cNvPr id="12" name="TextBox 11"/>
          <p:cNvSpPr txBox="1"/>
          <p:nvPr/>
        </p:nvSpPr>
        <p:spPr>
          <a:xfrm>
            <a:off x="548981" y="3952083"/>
            <a:ext cx="7610868" cy="369332"/>
          </a:xfrm>
          <a:prstGeom prst="rect">
            <a:avLst/>
          </a:prstGeom>
          <a:noFill/>
        </p:spPr>
        <p:txBody>
          <a:bodyPr wrap="square" rtlCol="0">
            <a:spAutoFit/>
          </a:bodyPr>
          <a:lstStyle/>
          <a:p>
            <a:r>
              <a:rPr lang="en-US" dirty="0" err="1" smtClean="0"/>
              <a:t>Hoặc</a:t>
            </a:r>
            <a:r>
              <a:rPr lang="en-US" dirty="0" smtClean="0"/>
              <a:t> </a:t>
            </a:r>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phương</a:t>
            </a:r>
            <a:r>
              <a:rPr lang="en-US" dirty="0" smtClean="0"/>
              <a:t> </a:t>
            </a:r>
            <a:r>
              <a:rPr lang="en-US" dirty="0" err="1" smtClean="0"/>
              <a:t>thức</a:t>
            </a:r>
            <a:r>
              <a:rPr lang="en-US" dirty="0" smtClean="0"/>
              <a:t> </a:t>
            </a:r>
            <a:r>
              <a:rPr lang="en-US" b="1" dirty="0"/>
              <a:t>discard</a:t>
            </a:r>
            <a:r>
              <a:rPr lang="en-US" b="1" dirty="0" smtClean="0"/>
              <a:t>()</a:t>
            </a:r>
            <a:endParaRPr lang="en-US" b="1" dirty="0"/>
          </a:p>
        </p:txBody>
      </p:sp>
      <p:sp>
        <p:nvSpPr>
          <p:cNvPr id="15" name="Rectangle 14"/>
          <p:cNvSpPr/>
          <p:nvPr/>
        </p:nvSpPr>
        <p:spPr>
          <a:xfrm>
            <a:off x="657263" y="4502633"/>
            <a:ext cx="7774356" cy="129285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a:off x="838017" y="4652792"/>
            <a:ext cx="7402216" cy="646331"/>
          </a:xfrm>
          <a:prstGeom prst="rect">
            <a:avLst/>
          </a:prstGeom>
          <a:noFill/>
        </p:spPr>
        <p:txBody>
          <a:bodyPr wrap="square" rtlCol="0">
            <a:spAutoFit/>
          </a:bodyPr>
          <a:lstStyle/>
          <a:p>
            <a:r>
              <a:rPr lang="en-US" dirty="0" err="1" smtClean="0">
                <a:solidFill>
                  <a:schemeClr val="bg1"/>
                </a:solidFill>
              </a:rPr>
              <a:t>thisset.discard</a:t>
            </a:r>
            <a:r>
              <a:rPr lang="en-US" dirty="0" smtClean="0">
                <a:solidFill>
                  <a:schemeClr val="accent4">
                    <a:lumMod val="60000"/>
                    <a:lumOff val="40000"/>
                  </a:schemeClr>
                </a:solidFill>
              </a:rPr>
              <a:t>(</a:t>
            </a:r>
            <a:r>
              <a:rPr lang="en-US" dirty="0" smtClean="0">
                <a:solidFill>
                  <a:schemeClr val="accent2">
                    <a:lumMod val="75000"/>
                  </a:schemeClr>
                </a:solidFill>
              </a:rPr>
              <a:t>" </a:t>
            </a:r>
            <a:r>
              <a:rPr lang="en-US" dirty="0">
                <a:solidFill>
                  <a:schemeClr val="accent2">
                    <a:lumMod val="75000"/>
                  </a:schemeClr>
                </a:solidFill>
              </a:rPr>
              <a:t>banana "</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thisset</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Tree>
    <p:extLst>
      <p:ext uri="{BB962C8B-B14F-4D97-AF65-F5344CB8AC3E}">
        <p14:creationId xmlns:p14="http://schemas.microsoft.com/office/powerpoint/2010/main" val="2767849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29</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5.5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với</a:t>
            </a:r>
            <a:r>
              <a:rPr lang="en-US" dirty="0" smtClean="0"/>
              <a:t> Sets</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Xóa</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ra</a:t>
            </a:r>
            <a:r>
              <a:rPr lang="en-US" b="1" dirty="0" smtClean="0"/>
              <a:t> </a:t>
            </a:r>
            <a:r>
              <a:rPr lang="en-US" b="1" dirty="0" err="1" smtClean="0"/>
              <a:t>khỏi</a:t>
            </a:r>
            <a:r>
              <a:rPr lang="en-US" b="1" dirty="0" smtClean="0"/>
              <a:t> Sets</a:t>
            </a:r>
            <a:endParaRPr lang="en-US" b="1" dirty="0">
              <a:solidFill>
                <a:srgbClr val="FF0000"/>
              </a:solidFill>
            </a:endParaRPr>
          </a:p>
        </p:txBody>
      </p:sp>
      <p:sp>
        <p:nvSpPr>
          <p:cNvPr id="11" name="Rectangle 10"/>
          <p:cNvSpPr/>
          <p:nvPr/>
        </p:nvSpPr>
        <p:spPr>
          <a:xfrm>
            <a:off x="657263" y="2730165"/>
            <a:ext cx="7774356" cy="135048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838017" y="2816526"/>
            <a:ext cx="7402216" cy="1200329"/>
          </a:xfrm>
          <a:prstGeom prst="rect">
            <a:avLst/>
          </a:prstGeom>
          <a:noFill/>
        </p:spPr>
        <p:txBody>
          <a:bodyPr wrap="square" rtlCol="0">
            <a:spAutoFit/>
          </a:bodyPr>
          <a:lstStyle/>
          <a:p>
            <a:r>
              <a:rPr lang="en-US" dirty="0" err="1">
                <a:solidFill>
                  <a:schemeClr val="bg1"/>
                </a:solidFill>
              </a:rPr>
              <a:t>thisset</a:t>
            </a:r>
            <a:r>
              <a:rPr lang="en-US" dirty="0">
                <a:solidFill>
                  <a:schemeClr val="bg1"/>
                </a:solidFill>
              </a:rPr>
              <a:t> = </a:t>
            </a:r>
            <a:r>
              <a:rPr lang="en-US" dirty="0" smtClean="0">
                <a:solidFill>
                  <a:schemeClr val="accent4">
                    <a:lumMod val="60000"/>
                    <a:lumOff val="40000"/>
                  </a:schemeClr>
                </a:solidFill>
              </a:rPr>
              <a:t>{</a:t>
            </a:r>
            <a:r>
              <a:rPr lang="en-US" dirty="0">
                <a:solidFill>
                  <a:schemeClr val="accent2">
                    <a:lumMod val="75000"/>
                  </a:schemeClr>
                </a:solidFill>
              </a:rPr>
              <a:t>"apple"</a:t>
            </a:r>
            <a:r>
              <a:rPr lang="en-US" dirty="0">
                <a:solidFill>
                  <a:schemeClr val="bg1"/>
                </a:solidFill>
              </a:rPr>
              <a:t>, </a:t>
            </a:r>
            <a:r>
              <a:rPr lang="en-US" dirty="0">
                <a:solidFill>
                  <a:schemeClr val="accent2">
                    <a:lumMod val="75000"/>
                  </a:schemeClr>
                </a:solidFill>
              </a:rPr>
              <a:t>"banana"</a:t>
            </a:r>
            <a:r>
              <a:rPr lang="en-US" dirty="0">
                <a:solidFill>
                  <a:schemeClr val="bg1"/>
                </a:solidFill>
              </a:rPr>
              <a:t>, </a:t>
            </a:r>
            <a:r>
              <a:rPr lang="en-US" dirty="0">
                <a:solidFill>
                  <a:schemeClr val="accent2">
                    <a:lumMod val="75000"/>
                  </a:schemeClr>
                </a:solidFill>
              </a:rPr>
              <a:t>"cherry"</a:t>
            </a:r>
            <a:r>
              <a:rPr lang="en-US" dirty="0" smtClean="0">
                <a:solidFill>
                  <a:schemeClr val="accent4">
                    <a:lumMod val="60000"/>
                    <a:lumOff val="40000"/>
                  </a:schemeClr>
                </a:solidFill>
              </a:rPr>
              <a:t>}</a:t>
            </a:r>
            <a:endParaRPr lang="en-US" dirty="0">
              <a:solidFill>
                <a:schemeClr val="accent4">
                  <a:lumMod val="60000"/>
                  <a:lumOff val="40000"/>
                </a:schemeClr>
              </a:solidFill>
            </a:endParaRPr>
          </a:p>
          <a:p>
            <a:r>
              <a:rPr lang="en-US" dirty="0">
                <a:solidFill>
                  <a:schemeClr val="bg1"/>
                </a:solidFill>
              </a:rPr>
              <a:t>x = </a:t>
            </a:r>
            <a:r>
              <a:rPr lang="en-US" dirty="0" err="1">
                <a:solidFill>
                  <a:schemeClr val="bg1"/>
                </a:solidFill>
              </a:rPr>
              <a:t>thisset.pop</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x</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thisset</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14" name="TextBox 13"/>
          <p:cNvSpPr txBox="1"/>
          <p:nvPr/>
        </p:nvSpPr>
        <p:spPr>
          <a:xfrm>
            <a:off x="548981" y="1908572"/>
            <a:ext cx="7610868" cy="646331"/>
          </a:xfrm>
          <a:prstGeom prst="rect">
            <a:avLst/>
          </a:prstGeom>
          <a:noFill/>
        </p:spPr>
        <p:txBody>
          <a:bodyPr wrap="square" rtlCol="0">
            <a:spAutoFit/>
          </a:bodyPr>
          <a:lstStyle/>
          <a:p>
            <a:r>
              <a:rPr lang="en-US" dirty="0" err="1" smtClean="0"/>
              <a:t>Bạn</a:t>
            </a:r>
            <a:r>
              <a:rPr lang="en-US" dirty="0" smtClean="0"/>
              <a:t> </a:t>
            </a:r>
            <a:r>
              <a:rPr lang="en-US" dirty="0" err="1" smtClean="0"/>
              <a:t>cũng</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phương</a:t>
            </a:r>
            <a:r>
              <a:rPr lang="en-US" dirty="0" smtClean="0"/>
              <a:t> </a:t>
            </a:r>
            <a:r>
              <a:rPr lang="en-US" dirty="0" err="1" smtClean="0"/>
              <a:t>thức</a:t>
            </a:r>
            <a:r>
              <a:rPr lang="en-US" dirty="0" smtClean="0"/>
              <a:t> pop() </a:t>
            </a:r>
            <a:r>
              <a:rPr lang="en-US" dirty="0" err="1" smtClean="0"/>
              <a:t>để</a:t>
            </a:r>
            <a:r>
              <a:rPr lang="en-US" dirty="0" smtClean="0"/>
              <a:t> </a:t>
            </a:r>
            <a:r>
              <a:rPr lang="en-US" dirty="0" err="1" smtClean="0"/>
              <a:t>xóa</a:t>
            </a:r>
            <a:r>
              <a:rPr lang="en-US" dirty="0" smtClean="0"/>
              <a:t>, </a:t>
            </a:r>
            <a:r>
              <a:rPr lang="en-US" dirty="0" err="1" smtClean="0"/>
              <a:t>tuy</a:t>
            </a:r>
            <a:r>
              <a:rPr lang="en-US" dirty="0" smtClean="0"/>
              <a:t> </a:t>
            </a:r>
            <a:r>
              <a:rPr lang="en-US" dirty="0" err="1" smtClean="0"/>
              <a:t>nhiên</a:t>
            </a:r>
            <a:r>
              <a:rPr lang="en-US" dirty="0" smtClean="0"/>
              <a:t> </a:t>
            </a:r>
            <a:r>
              <a:rPr lang="en-US" dirty="0" err="1" smtClean="0"/>
              <a:t>nó</a:t>
            </a:r>
            <a:r>
              <a:rPr lang="en-US" dirty="0" smtClean="0"/>
              <a:t> </a:t>
            </a:r>
            <a:r>
              <a:rPr lang="en-US" dirty="0" err="1" smtClean="0"/>
              <a:t>xóa</a:t>
            </a:r>
            <a:r>
              <a:rPr lang="en-US" dirty="0" smtClean="0"/>
              <a:t> </a:t>
            </a:r>
            <a:r>
              <a:rPr lang="en-US" dirty="0" err="1" smtClean="0"/>
              <a:t>một</a:t>
            </a:r>
            <a:r>
              <a:rPr lang="en-US" dirty="0" smtClean="0"/>
              <a:t> </a:t>
            </a:r>
            <a:r>
              <a:rPr lang="en-US" dirty="0" err="1" smtClean="0"/>
              <a:t>phẩn</a:t>
            </a:r>
            <a:r>
              <a:rPr lang="en-US" dirty="0" smtClean="0"/>
              <a:t> </a:t>
            </a:r>
            <a:r>
              <a:rPr lang="en-US" dirty="0" err="1" smtClean="0"/>
              <a:t>tử</a:t>
            </a:r>
            <a:r>
              <a:rPr lang="en-US" dirty="0" smtClean="0"/>
              <a:t> </a:t>
            </a:r>
            <a:r>
              <a:rPr lang="en-US" b="1" u="sng" dirty="0" err="1" smtClean="0"/>
              <a:t>ngẫu</a:t>
            </a:r>
            <a:r>
              <a:rPr lang="en-US" b="1" u="sng" dirty="0" smtClean="0"/>
              <a:t> </a:t>
            </a:r>
            <a:r>
              <a:rPr lang="en-US" b="1" u="sng" dirty="0" err="1" smtClean="0"/>
              <a:t>nhiên</a:t>
            </a:r>
            <a:r>
              <a:rPr lang="en-US" b="1" u="sng" dirty="0" smtClean="0"/>
              <a:t> </a:t>
            </a:r>
            <a:r>
              <a:rPr lang="en-US" dirty="0" err="1" smtClean="0"/>
              <a:t>trong</a:t>
            </a:r>
            <a:r>
              <a:rPr lang="en-US" dirty="0" smtClean="0"/>
              <a:t> set</a:t>
            </a:r>
            <a:endParaRPr lang="en-US" b="1" dirty="0"/>
          </a:p>
        </p:txBody>
      </p:sp>
      <p:sp>
        <p:nvSpPr>
          <p:cNvPr id="12" name="TextBox 11"/>
          <p:cNvSpPr txBox="1"/>
          <p:nvPr/>
        </p:nvSpPr>
        <p:spPr>
          <a:xfrm>
            <a:off x="548981" y="4164457"/>
            <a:ext cx="7610868" cy="369332"/>
          </a:xfrm>
          <a:prstGeom prst="rect">
            <a:avLst/>
          </a:prstGeom>
          <a:noFill/>
        </p:spPr>
        <p:txBody>
          <a:bodyPr wrap="square" rtlCol="0">
            <a:spAutoFit/>
          </a:bodyPr>
          <a:lstStyle/>
          <a:p>
            <a:r>
              <a:rPr lang="en-US" dirty="0" err="1" smtClean="0"/>
              <a:t>Xóa</a:t>
            </a:r>
            <a:r>
              <a:rPr lang="en-US" dirty="0" smtClean="0"/>
              <a:t> </a:t>
            </a:r>
            <a:r>
              <a:rPr lang="en-US" dirty="0" err="1" smtClean="0"/>
              <a:t>tất</a:t>
            </a:r>
            <a:r>
              <a:rPr lang="en-US" dirty="0" smtClean="0"/>
              <a:t> </a:t>
            </a:r>
            <a:r>
              <a:rPr lang="en-US" dirty="0" err="1" smtClean="0"/>
              <a:t>cả</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trong</a:t>
            </a:r>
            <a:r>
              <a:rPr lang="en-US" dirty="0" smtClean="0"/>
              <a:t> set, </a:t>
            </a:r>
            <a:r>
              <a:rPr lang="en-US" dirty="0" err="1" smtClean="0"/>
              <a:t>trả</a:t>
            </a:r>
            <a:r>
              <a:rPr lang="en-US" dirty="0" smtClean="0"/>
              <a:t> </a:t>
            </a:r>
            <a:r>
              <a:rPr lang="en-US" dirty="0" err="1" smtClean="0"/>
              <a:t>lại</a:t>
            </a:r>
            <a:r>
              <a:rPr lang="en-US" dirty="0" smtClean="0"/>
              <a:t> </a:t>
            </a:r>
            <a:r>
              <a:rPr lang="en-US" dirty="0" err="1" smtClean="0"/>
              <a:t>một</a:t>
            </a:r>
            <a:r>
              <a:rPr lang="en-US" dirty="0" smtClean="0"/>
              <a:t> set </a:t>
            </a:r>
            <a:r>
              <a:rPr lang="en-US" dirty="0" err="1" smtClean="0"/>
              <a:t>rỗng</a:t>
            </a:r>
            <a:endParaRPr lang="en-US" b="1" dirty="0"/>
          </a:p>
        </p:txBody>
      </p:sp>
      <p:sp>
        <p:nvSpPr>
          <p:cNvPr id="15" name="Rectangle 14"/>
          <p:cNvSpPr/>
          <p:nvPr/>
        </p:nvSpPr>
        <p:spPr>
          <a:xfrm>
            <a:off x="657263" y="4701767"/>
            <a:ext cx="7774356" cy="59130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a:off x="838017" y="4753369"/>
            <a:ext cx="7402216" cy="369332"/>
          </a:xfrm>
          <a:prstGeom prst="rect">
            <a:avLst/>
          </a:prstGeom>
          <a:noFill/>
        </p:spPr>
        <p:txBody>
          <a:bodyPr wrap="square" rtlCol="0">
            <a:spAutoFit/>
          </a:bodyPr>
          <a:lstStyle/>
          <a:p>
            <a:r>
              <a:rPr lang="en-US" dirty="0" err="1" smtClean="0">
                <a:solidFill>
                  <a:schemeClr val="bg1"/>
                </a:solidFill>
              </a:rPr>
              <a:t>thisset.clear</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16" name="TextBox 15"/>
          <p:cNvSpPr txBox="1"/>
          <p:nvPr/>
        </p:nvSpPr>
        <p:spPr>
          <a:xfrm>
            <a:off x="548981" y="5358409"/>
            <a:ext cx="7610868" cy="369332"/>
          </a:xfrm>
          <a:prstGeom prst="rect">
            <a:avLst/>
          </a:prstGeom>
          <a:noFill/>
        </p:spPr>
        <p:txBody>
          <a:bodyPr wrap="square" rtlCol="0">
            <a:spAutoFit/>
          </a:bodyPr>
          <a:lstStyle/>
          <a:p>
            <a:r>
              <a:rPr lang="en-US" dirty="0" err="1" smtClean="0"/>
              <a:t>Xóa</a:t>
            </a:r>
            <a:r>
              <a:rPr lang="en-US" dirty="0" smtClean="0"/>
              <a:t> </a:t>
            </a:r>
            <a:r>
              <a:rPr lang="en-US" dirty="0" err="1" smtClean="0"/>
              <a:t>hoàn</a:t>
            </a:r>
            <a:r>
              <a:rPr lang="en-US" dirty="0" smtClean="0"/>
              <a:t> </a:t>
            </a:r>
            <a:r>
              <a:rPr lang="en-US" dirty="0" err="1" smtClean="0"/>
              <a:t>toàn</a:t>
            </a:r>
            <a:r>
              <a:rPr lang="en-US" dirty="0" smtClean="0"/>
              <a:t> </a:t>
            </a:r>
            <a:r>
              <a:rPr lang="en-US" dirty="0" err="1" smtClean="0"/>
              <a:t>một</a:t>
            </a:r>
            <a:r>
              <a:rPr lang="en-US" dirty="0" smtClean="0"/>
              <a:t> set</a:t>
            </a:r>
            <a:endParaRPr lang="en-US" b="1" dirty="0"/>
          </a:p>
        </p:txBody>
      </p:sp>
      <p:sp>
        <p:nvSpPr>
          <p:cNvPr id="18" name="Rectangle 17"/>
          <p:cNvSpPr/>
          <p:nvPr/>
        </p:nvSpPr>
        <p:spPr>
          <a:xfrm>
            <a:off x="657263" y="5845292"/>
            <a:ext cx="7774356" cy="59610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838017" y="5921988"/>
            <a:ext cx="7402216" cy="369332"/>
          </a:xfrm>
          <a:prstGeom prst="rect">
            <a:avLst/>
          </a:prstGeom>
          <a:noFill/>
        </p:spPr>
        <p:txBody>
          <a:bodyPr wrap="square" rtlCol="0">
            <a:spAutoFit/>
          </a:bodyPr>
          <a:lstStyle/>
          <a:p>
            <a:r>
              <a:rPr lang="en-US" dirty="0">
                <a:solidFill>
                  <a:srgbClr val="00B0F0"/>
                </a:solidFill>
              </a:rPr>
              <a:t>del</a:t>
            </a:r>
            <a:r>
              <a:rPr lang="en-US" dirty="0">
                <a:solidFill>
                  <a:schemeClr val="bg1"/>
                </a:solidFill>
              </a:rPr>
              <a:t> </a:t>
            </a:r>
            <a:r>
              <a:rPr lang="en-US" dirty="0" err="1">
                <a:solidFill>
                  <a:schemeClr val="bg1"/>
                </a:solidFill>
              </a:rPr>
              <a:t>thisset</a:t>
            </a:r>
            <a:endParaRPr lang="en-US" dirty="0">
              <a:solidFill>
                <a:schemeClr val="bg1"/>
              </a:solidFill>
            </a:endParaRPr>
          </a:p>
        </p:txBody>
      </p:sp>
    </p:spTree>
    <p:extLst>
      <p:ext uri="{BB962C8B-B14F-4D97-AF65-F5344CB8AC3E}">
        <p14:creationId xmlns:p14="http://schemas.microsoft.com/office/powerpoint/2010/main" val="7225793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5.2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với</a:t>
            </a:r>
            <a:r>
              <a:rPr lang="en-US" dirty="0" smtClean="0"/>
              <a:t> Sets</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Gộp</a:t>
            </a:r>
            <a:r>
              <a:rPr lang="en-US" b="1" dirty="0" smtClean="0"/>
              <a:t> 2 Sets</a:t>
            </a:r>
            <a:endParaRPr lang="en-US" b="1" dirty="0">
              <a:solidFill>
                <a:srgbClr val="FF0000"/>
              </a:solidFill>
            </a:endParaRPr>
          </a:p>
        </p:txBody>
      </p:sp>
      <p:sp>
        <p:nvSpPr>
          <p:cNvPr id="11" name="Rectangle 10"/>
          <p:cNvSpPr/>
          <p:nvPr/>
        </p:nvSpPr>
        <p:spPr>
          <a:xfrm>
            <a:off x="657263" y="2419681"/>
            <a:ext cx="7774356" cy="172701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838017" y="2506042"/>
            <a:ext cx="7402216" cy="1477328"/>
          </a:xfrm>
          <a:prstGeom prst="rect">
            <a:avLst/>
          </a:prstGeom>
          <a:noFill/>
        </p:spPr>
        <p:txBody>
          <a:bodyPr wrap="square" rtlCol="0">
            <a:spAutoFit/>
          </a:bodyPr>
          <a:lstStyle/>
          <a:p>
            <a:r>
              <a:rPr lang="en-US" dirty="0">
                <a:solidFill>
                  <a:schemeClr val="bg1"/>
                </a:solidFill>
              </a:rPr>
              <a:t>set1 = </a:t>
            </a:r>
            <a:r>
              <a:rPr lang="en-US" dirty="0">
                <a:solidFill>
                  <a:schemeClr val="accent4">
                    <a:lumMod val="60000"/>
                    <a:lumOff val="40000"/>
                  </a:schemeClr>
                </a:solidFill>
              </a:rPr>
              <a:t>{</a:t>
            </a:r>
            <a:r>
              <a:rPr lang="en-US" dirty="0">
                <a:solidFill>
                  <a:schemeClr val="accent2">
                    <a:lumMod val="75000"/>
                  </a:schemeClr>
                </a:solidFill>
              </a:rPr>
              <a:t>"a"</a:t>
            </a:r>
            <a:r>
              <a:rPr lang="en-US" dirty="0">
                <a:solidFill>
                  <a:schemeClr val="bg1"/>
                </a:solidFill>
              </a:rPr>
              <a:t>, </a:t>
            </a:r>
            <a:r>
              <a:rPr lang="en-US" dirty="0">
                <a:solidFill>
                  <a:schemeClr val="accent2">
                    <a:lumMod val="75000"/>
                  </a:schemeClr>
                </a:solidFill>
              </a:rPr>
              <a:t>"b"</a:t>
            </a:r>
            <a:r>
              <a:rPr lang="en-US" dirty="0">
                <a:solidFill>
                  <a:schemeClr val="bg1"/>
                </a:solidFill>
              </a:rPr>
              <a:t> , </a:t>
            </a:r>
            <a:r>
              <a:rPr lang="en-US" dirty="0">
                <a:solidFill>
                  <a:schemeClr val="accent2">
                    <a:lumMod val="75000"/>
                  </a:schemeClr>
                </a:solidFill>
              </a:rPr>
              <a:t>"c"</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a:solidFill>
                  <a:schemeClr val="bg1"/>
                </a:solidFill>
              </a:rPr>
              <a:t>set2 = </a:t>
            </a:r>
            <a:r>
              <a:rPr lang="en-US" dirty="0">
                <a:solidFill>
                  <a:schemeClr val="accent4">
                    <a:lumMod val="60000"/>
                    <a:lumOff val="40000"/>
                  </a:schemeClr>
                </a:solidFill>
              </a:rPr>
              <a:t>{</a:t>
            </a:r>
            <a:r>
              <a:rPr lang="en-US" dirty="0">
                <a:solidFill>
                  <a:schemeClr val="accent6">
                    <a:lumMod val="60000"/>
                    <a:lumOff val="40000"/>
                  </a:schemeClr>
                </a:solidFill>
              </a:rPr>
              <a:t>1</a:t>
            </a:r>
            <a:r>
              <a:rPr lang="en-US" dirty="0">
                <a:solidFill>
                  <a:schemeClr val="bg1"/>
                </a:solidFill>
              </a:rPr>
              <a:t>, </a:t>
            </a:r>
            <a:r>
              <a:rPr lang="en-US" dirty="0">
                <a:solidFill>
                  <a:schemeClr val="accent6">
                    <a:lumMod val="60000"/>
                    <a:lumOff val="40000"/>
                  </a:schemeClr>
                </a:solidFill>
              </a:rPr>
              <a:t>2</a:t>
            </a:r>
            <a:r>
              <a:rPr lang="en-US" dirty="0">
                <a:solidFill>
                  <a:schemeClr val="bg1"/>
                </a:solidFill>
              </a:rPr>
              <a:t>, </a:t>
            </a:r>
            <a:r>
              <a:rPr lang="en-US" dirty="0">
                <a:solidFill>
                  <a:schemeClr val="accent6">
                    <a:lumMod val="60000"/>
                    <a:lumOff val="40000"/>
                  </a:schemeClr>
                </a:solidFill>
              </a:rPr>
              <a:t>3</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smtClean="0">
                <a:solidFill>
                  <a:schemeClr val="bg1"/>
                </a:solidFill>
              </a:rPr>
              <a:t>set3 </a:t>
            </a:r>
            <a:r>
              <a:rPr lang="en-US" dirty="0">
                <a:solidFill>
                  <a:schemeClr val="bg1"/>
                </a:solidFill>
              </a:rPr>
              <a:t>= set1.union</a:t>
            </a:r>
            <a:r>
              <a:rPr lang="en-US" dirty="0">
                <a:solidFill>
                  <a:schemeClr val="accent4">
                    <a:lumMod val="60000"/>
                    <a:lumOff val="40000"/>
                  </a:schemeClr>
                </a:solidFill>
              </a:rPr>
              <a:t>(</a:t>
            </a:r>
            <a:r>
              <a:rPr lang="en-US" dirty="0">
                <a:solidFill>
                  <a:schemeClr val="bg1"/>
                </a:solidFill>
              </a:rPr>
              <a:t>set2</a:t>
            </a:r>
            <a:r>
              <a:rPr lang="en-US" dirty="0" smtClean="0">
                <a:solidFill>
                  <a:schemeClr val="accent4">
                    <a:lumMod val="60000"/>
                    <a:lumOff val="40000"/>
                  </a:schemeClr>
                </a:solidFill>
              </a:rPr>
              <a:t>)</a:t>
            </a:r>
          </a:p>
          <a:p>
            <a:r>
              <a:rPr lang="en-US" dirty="0">
                <a:solidFill>
                  <a:schemeClr val="bg1"/>
                </a:solidFill>
              </a:rPr>
              <a:t>set1.update</a:t>
            </a:r>
            <a:r>
              <a:rPr lang="en-US" dirty="0">
                <a:solidFill>
                  <a:schemeClr val="accent4">
                    <a:lumMod val="60000"/>
                    <a:lumOff val="40000"/>
                  </a:schemeClr>
                </a:solidFill>
              </a:rPr>
              <a:t>(</a:t>
            </a:r>
            <a:r>
              <a:rPr lang="en-US" dirty="0">
                <a:solidFill>
                  <a:schemeClr val="bg1"/>
                </a:solidFill>
              </a:rPr>
              <a:t>set2</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a:solidFill>
                  <a:schemeClr val="bg1"/>
                </a:solidFill>
              </a:rPr>
              <a:t>set3</a:t>
            </a:r>
            <a:r>
              <a:rPr lang="en-US" dirty="0">
                <a:solidFill>
                  <a:schemeClr val="accent4">
                    <a:lumMod val="60000"/>
                    <a:lumOff val="40000"/>
                  </a:schemeClr>
                </a:solidFill>
              </a:rPr>
              <a:t>)</a:t>
            </a:r>
          </a:p>
        </p:txBody>
      </p:sp>
      <p:sp>
        <p:nvSpPr>
          <p:cNvPr id="14" name="TextBox 13"/>
          <p:cNvSpPr txBox="1"/>
          <p:nvPr/>
        </p:nvSpPr>
        <p:spPr>
          <a:xfrm>
            <a:off x="548981" y="1908572"/>
            <a:ext cx="7610868" cy="369332"/>
          </a:xfrm>
          <a:prstGeom prst="rect">
            <a:avLst/>
          </a:prstGeom>
          <a:noFill/>
        </p:spPr>
        <p:txBody>
          <a:bodyPr wrap="square" rtlCol="0">
            <a:spAutoFit/>
          </a:bodyPr>
          <a:lstStyle/>
          <a:p>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a:t>union</a:t>
            </a:r>
            <a:r>
              <a:rPr lang="en-US" dirty="0" smtClean="0"/>
              <a:t>() hay update() </a:t>
            </a:r>
            <a:r>
              <a:rPr lang="en-US" dirty="0" err="1" smtClean="0"/>
              <a:t>để</a:t>
            </a:r>
            <a:r>
              <a:rPr lang="en-US" dirty="0" smtClean="0"/>
              <a:t> </a:t>
            </a:r>
            <a:r>
              <a:rPr lang="en-US" dirty="0" err="1" smtClean="0"/>
              <a:t>gộp</a:t>
            </a:r>
            <a:r>
              <a:rPr lang="en-US" dirty="0" smtClean="0"/>
              <a:t> 2 set </a:t>
            </a:r>
            <a:r>
              <a:rPr lang="en-US" dirty="0" err="1" smtClean="0"/>
              <a:t>với</a:t>
            </a:r>
            <a:r>
              <a:rPr lang="en-US" dirty="0" smtClean="0"/>
              <a:t> </a:t>
            </a:r>
            <a:r>
              <a:rPr lang="en-US" dirty="0" err="1" smtClean="0"/>
              <a:t>nhau</a:t>
            </a:r>
            <a:endParaRPr lang="en-US" b="1" dirty="0"/>
          </a:p>
        </p:txBody>
      </p:sp>
      <p:sp>
        <p:nvSpPr>
          <p:cNvPr id="20" name="TextBox 19"/>
          <p:cNvSpPr txBox="1"/>
          <p:nvPr/>
        </p:nvSpPr>
        <p:spPr>
          <a:xfrm>
            <a:off x="548981" y="4332796"/>
            <a:ext cx="7610868" cy="369332"/>
          </a:xfrm>
          <a:prstGeom prst="rect">
            <a:avLst/>
          </a:prstGeom>
          <a:noFill/>
        </p:spPr>
        <p:txBody>
          <a:bodyPr wrap="square" rtlCol="0">
            <a:spAutoFit/>
          </a:bodyPr>
          <a:lstStyle/>
          <a:p>
            <a:r>
              <a:rPr lang="en-US" dirty="0" smtClean="0"/>
              <a:t>union() </a:t>
            </a:r>
            <a:r>
              <a:rPr lang="en-US" dirty="0" err="1" smtClean="0"/>
              <a:t>trả</a:t>
            </a:r>
            <a:r>
              <a:rPr lang="en-US" dirty="0" smtClean="0"/>
              <a:t> </a:t>
            </a:r>
            <a:r>
              <a:rPr lang="en-US" dirty="0" err="1" smtClean="0"/>
              <a:t>lại</a:t>
            </a:r>
            <a:r>
              <a:rPr lang="en-US" dirty="0" smtClean="0"/>
              <a:t> </a:t>
            </a:r>
            <a:r>
              <a:rPr lang="en-US" dirty="0" err="1" smtClean="0"/>
              <a:t>một</a:t>
            </a:r>
            <a:r>
              <a:rPr lang="en-US" dirty="0" smtClean="0"/>
              <a:t> set3 </a:t>
            </a:r>
            <a:r>
              <a:rPr lang="en-US" dirty="0" err="1" smtClean="0"/>
              <a:t>mới</a:t>
            </a:r>
            <a:r>
              <a:rPr lang="en-US" dirty="0" smtClean="0"/>
              <a:t> </a:t>
            </a:r>
            <a:r>
              <a:rPr lang="en-US" dirty="0" err="1" smtClean="0"/>
              <a:t>từ</a:t>
            </a:r>
            <a:r>
              <a:rPr lang="en-US" dirty="0" smtClean="0"/>
              <a:t> 2 set </a:t>
            </a:r>
            <a:r>
              <a:rPr lang="en-US" dirty="0" err="1" smtClean="0"/>
              <a:t>đã</a:t>
            </a:r>
            <a:r>
              <a:rPr lang="en-US" dirty="0" smtClean="0"/>
              <a:t> </a:t>
            </a:r>
            <a:r>
              <a:rPr lang="en-US" dirty="0" err="1" smtClean="0"/>
              <a:t>gộp</a:t>
            </a:r>
            <a:endParaRPr lang="en-US" b="1" dirty="0"/>
          </a:p>
        </p:txBody>
      </p:sp>
      <p:sp>
        <p:nvSpPr>
          <p:cNvPr id="21" name="TextBox 20"/>
          <p:cNvSpPr txBox="1"/>
          <p:nvPr/>
        </p:nvSpPr>
        <p:spPr>
          <a:xfrm>
            <a:off x="548981" y="4843159"/>
            <a:ext cx="7610868" cy="369332"/>
          </a:xfrm>
          <a:prstGeom prst="rect">
            <a:avLst/>
          </a:prstGeom>
          <a:noFill/>
        </p:spPr>
        <p:txBody>
          <a:bodyPr wrap="square" rtlCol="0">
            <a:spAutoFit/>
          </a:bodyPr>
          <a:lstStyle/>
          <a:p>
            <a:r>
              <a:rPr lang="en-US" dirty="0" smtClean="0"/>
              <a:t>update() </a:t>
            </a:r>
            <a:r>
              <a:rPr lang="en-US" dirty="0" err="1" smtClean="0"/>
              <a:t>là</a:t>
            </a:r>
            <a:r>
              <a:rPr lang="en-US" dirty="0" smtClean="0"/>
              <a:t> </a:t>
            </a:r>
            <a:r>
              <a:rPr lang="en-US" dirty="0" err="1" smtClean="0"/>
              <a:t>gộp</a:t>
            </a:r>
            <a:r>
              <a:rPr lang="en-US" dirty="0" smtClean="0"/>
              <a:t> </a:t>
            </a:r>
            <a:r>
              <a:rPr lang="en-US" dirty="0" err="1" smtClean="0"/>
              <a:t>thêm</a:t>
            </a:r>
            <a:r>
              <a:rPr lang="en-US" dirty="0" smtClean="0"/>
              <a:t> set 2 </a:t>
            </a:r>
            <a:r>
              <a:rPr lang="en-US" dirty="0" err="1" smtClean="0"/>
              <a:t>vào</a:t>
            </a:r>
            <a:r>
              <a:rPr lang="en-US" dirty="0" smtClean="0"/>
              <a:t> set 1</a:t>
            </a:r>
            <a:endParaRPr lang="en-US" b="1" dirty="0"/>
          </a:p>
        </p:txBody>
      </p:sp>
    </p:spTree>
    <p:extLst>
      <p:ext uri="{BB962C8B-B14F-4D97-AF65-F5344CB8AC3E}">
        <p14:creationId xmlns:p14="http://schemas.microsoft.com/office/powerpoint/2010/main" val="5185999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31</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5.5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với</a:t>
            </a:r>
            <a:r>
              <a:rPr lang="en-US" dirty="0" smtClean="0"/>
              <a:t> Sets</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Một</a:t>
            </a:r>
            <a:r>
              <a:rPr lang="en-US" b="1" dirty="0" smtClean="0"/>
              <a:t> </a:t>
            </a:r>
            <a:r>
              <a:rPr lang="en-US" b="1" dirty="0" err="1" smtClean="0"/>
              <a:t>số</a:t>
            </a:r>
            <a:r>
              <a:rPr lang="en-US" b="1" dirty="0" smtClean="0"/>
              <a:t> </a:t>
            </a:r>
            <a:r>
              <a:rPr lang="en-US" b="1" dirty="0" err="1" smtClean="0"/>
              <a:t>phương</a:t>
            </a:r>
            <a:r>
              <a:rPr lang="en-US" b="1" dirty="0" smtClean="0"/>
              <a:t> </a:t>
            </a:r>
            <a:r>
              <a:rPr lang="en-US" b="1" dirty="0" err="1" smtClean="0"/>
              <a:t>thức</a:t>
            </a:r>
            <a:r>
              <a:rPr lang="en-US" b="1" dirty="0" smtClean="0"/>
              <a:t> </a:t>
            </a:r>
            <a:r>
              <a:rPr lang="en-US" b="1" dirty="0" err="1" smtClean="0"/>
              <a:t>khác</a:t>
            </a:r>
            <a:endParaRPr lang="en-US" b="1" dirty="0">
              <a:solidFill>
                <a:srgbClr val="FF0000"/>
              </a:solidFill>
            </a:endParaRPr>
          </a:p>
        </p:txBody>
      </p:sp>
      <p:graphicFrame>
        <p:nvGraphicFramePr>
          <p:cNvPr id="4" name="Table 3"/>
          <p:cNvGraphicFramePr>
            <a:graphicFrameLocks noGrp="1"/>
          </p:cNvGraphicFramePr>
          <p:nvPr>
            <p:extLst/>
          </p:nvPr>
        </p:nvGraphicFramePr>
        <p:xfrm>
          <a:off x="673393" y="2162544"/>
          <a:ext cx="7928346" cy="2479040"/>
        </p:xfrm>
        <a:graphic>
          <a:graphicData uri="http://schemas.openxmlformats.org/drawingml/2006/table">
            <a:tbl>
              <a:tblPr firstRow="1" bandRow="1">
                <a:tableStyleId>{5C22544A-7EE6-4342-B048-85BDC9FD1C3A}</a:tableStyleId>
              </a:tblPr>
              <a:tblGrid>
                <a:gridCol w="2399416">
                  <a:extLst>
                    <a:ext uri="{9D8B030D-6E8A-4147-A177-3AD203B41FA5}">
                      <a16:colId xmlns:a16="http://schemas.microsoft.com/office/drawing/2014/main" xmlns="" val="3854905434"/>
                    </a:ext>
                  </a:extLst>
                </a:gridCol>
                <a:gridCol w="5528930">
                  <a:extLst>
                    <a:ext uri="{9D8B030D-6E8A-4147-A177-3AD203B41FA5}">
                      <a16:colId xmlns:a16="http://schemas.microsoft.com/office/drawing/2014/main" xmlns="" val="2753028979"/>
                    </a:ext>
                  </a:extLst>
                </a:gridCol>
              </a:tblGrid>
              <a:tr h="370840">
                <a:tc>
                  <a:txBody>
                    <a:bodyPr/>
                    <a:lstStyle/>
                    <a:p>
                      <a:r>
                        <a:rPr lang="en-US" sz="1600" dirty="0" err="1" smtClean="0"/>
                        <a:t>Phương</a:t>
                      </a:r>
                      <a:r>
                        <a:rPr lang="en-US" sz="1600" baseline="0" dirty="0" smtClean="0"/>
                        <a:t> </a:t>
                      </a:r>
                      <a:r>
                        <a:rPr lang="en-US" sz="1600" baseline="0" dirty="0" err="1" smtClean="0"/>
                        <a:t>thức</a:t>
                      </a:r>
                      <a:endParaRPr lang="en-US" sz="1600" dirty="0"/>
                    </a:p>
                  </a:txBody>
                  <a:tcPr/>
                </a:tc>
                <a:tc>
                  <a:txBody>
                    <a:bodyPr/>
                    <a:lstStyle/>
                    <a:p>
                      <a:r>
                        <a:rPr lang="en-US" sz="1600" dirty="0" smtClean="0"/>
                        <a:t>Ý</a:t>
                      </a:r>
                      <a:r>
                        <a:rPr lang="en-US" sz="1600" baseline="0" dirty="0" smtClean="0"/>
                        <a:t> </a:t>
                      </a:r>
                      <a:r>
                        <a:rPr lang="en-US" sz="1600" baseline="0" dirty="0" err="1" smtClean="0"/>
                        <a:t>nghĩa</a:t>
                      </a:r>
                      <a:endParaRPr lang="en-US" sz="1600" dirty="0"/>
                    </a:p>
                  </a:txBody>
                  <a:tcPr/>
                </a:tc>
                <a:extLst>
                  <a:ext uri="{0D108BD9-81ED-4DB2-BD59-A6C34878D82A}">
                    <a16:rowId xmlns:a16="http://schemas.microsoft.com/office/drawing/2014/main" xmlns="" val="410278263"/>
                  </a:ext>
                </a:extLst>
              </a:tr>
              <a:tr h="370840">
                <a:tc>
                  <a:txBody>
                    <a:bodyPr/>
                    <a:lstStyle/>
                    <a:p>
                      <a:r>
                        <a:rPr lang="en-US" sz="1600" dirty="0" smtClean="0"/>
                        <a:t>intersection()</a:t>
                      </a:r>
                      <a:endParaRPr lang="en-US" sz="1600" dirty="0"/>
                    </a:p>
                  </a:txBody>
                  <a:tcPr/>
                </a:tc>
                <a:tc>
                  <a:txBody>
                    <a:bodyPr/>
                    <a:lstStyle/>
                    <a:p>
                      <a:r>
                        <a:rPr lang="en-US" sz="1600" dirty="0" err="1" smtClean="0"/>
                        <a:t>Trả</a:t>
                      </a:r>
                      <a:r>
                        <a:rPr lang="en-US" sz="1600" dirty="0" smtClean="0"/>
                        <a:t> </a:t>
                      </a:r>
                      <a:r>
                        <a:rPr lang="en-US" sz="1600" dirty="0" err="1" smtClean="0"/>
                        <a:t>về</a:t>
                      </a:r>
                      <a:r>
                        <a:rPr lang="en-US" sz="1600" dirty="0" smtClean="0"/>
                        <a:t> </a:t>
                      </a:r>
                      <a:r>
                        <a:rPr lang="en-US" sz="1600" dirty="0" err="1" smtClean="0"/>
                        <a:t>một</a:t>
                      </a:r>
                      <a:r>
                        <a:rPr lang="en-US" sz="1600" dirty="0" smtClean="0"/>
                        <a:t> Set </a:t>
                      </a:r>
                      <a:r>
                        <a:rPr lang="en-US" sz="1600" dirty="0" err="1" smtClean="0"/>
                        <a:t>mới</a:t>
                      </a:r>
                      <a:r>
                        <a:rPr lang="en-US" sz="1600" dirty="0" smtClean="0"/>
                        <a:t> </a:t>
                      </a:r>
                      <a:r>
                        <a:rPr lang="en-US" sz="1600" dirty="0" err="1" smtClean="0"/>
                        <a:t>chứa</a:t>
                      </a:r>
                      <a:r>
                        <a:rPr lang="en-US" sz="1600" dirty="0" smtClean="0"/>
                        <a:t> </a:t>
                      </a:r>
                      <a:r>
                        <a:rPr lang="en-US" sz="1600" dirty="0" err="1" smtClean="0"/>
                        <a:t>các</a:t>
                      </a:r>
                      <a:r>
                        <a:rPr lang="en-US" sz="1600" dirty="0" smtClean="0"/>
                        <a:t> </a:t>
                      </a:r>
                      <a:r>
                        <a:rPr lang="en-US" sz="1600" dirty="0" err="1" smtClean="0"/>
                        <a:t>phần</a:t>
                      </a:r>
                      <a:r>
                        <a:rPr lang="en-US" sz="1600" dirty="0" smtClean="0"/>
                        <a:t> </a:t>
                      </a:r>
                      <a:r>
                        <a:rPr lang="en-US" sz="1600" dirty="0" err="1" smtClean="0"/>
                        <a:t>tử</a:t>
                      </a:r>
                      <a:r>
                        <a:rPr lang="en-US" sz="1600" dirty="0" smtClean="0"/>
                        <a:t> </a:t>
                      </a:r>
                      <a:r>
                        <a:rPr lang="en-US" sz="1600" dirty="0" err="1" smtClean="0"/>
                        <a:t>chung</a:t>
                      </a:r>
                      <a:r>
                        <a:rPr lang="en-US" sz="1600" dirty="0" smtClean="0"/>
                        <a:t> </a:t>
                      </a:r>
                      <a:r>
                        <a:rPr lang="en-US" sz="1600" dirty="0" err="1" smtClean="0"/>
                        <a:t>của</a:t>
                      </a:r>
                      <a:r>
                        <a:rPr lang="en-US" sz="1600" dirty="0" smtClean="0"/>
                        <a:t> </a:t>
                      </a:r>
                      <a:r>
                        <a:rPr lang="en-US" sz="1600" dirty="0" err="1" smtClean="0"/>
                        <a:t>hai</a:t>
                      </a:r>
                      <a:r>
                        <a:rPr lang="en-US" sz="1600" dirty="0" smtClean="0"/>
                        <a:t> Set</a:t>
                      </a:r>
                      <a:endParaRPr lang="en-US" sz="1600" dirty="0"/>
                    </a:p>
                  </a:txBody>
                  <a:tcPr/>
                </a:tc>
                <a:extLst>
                  <a:ext uri="{0D108BD9-81ED-4DB2-BD59-A6C34878D82A}">
                    <a16:rowId xmlns:a16="http://schemas.microsoft.com/office/drawing/2014/main" xmlns="" val="1274063382"/>
                  </a:ext>
                </a:extLst>
              </a:tr>
              <a:tr h="370840">
                <a:tc>
                  <a:txBody>
                    <a:bodyPr/>
                    <a:lstStyle/>
                    <a:p>
                      <a:r>
                        <a:rPr lang="en-US" sz="1600" dirty="0" smtClean="0"/>
                        <a:t>difference()</a:t>
                      </a:r>
                      <a:endParaRPr lang="en-US" sz="1600" dirty="0"/>
                    </a:p>
                  </a:txBody>
                  <a:tcPr/>
                </a:tc>
                <a:tc>
                  <a:txBody>
                    <a:bodyPr/>
                    <a:lstStyle/>
                    <a:p>
                      <a:r>
                        <a:rPr lang="vi-VN" sz="1600" dirty="0" smtClean="0"/>
                        <a:t>Trả về một Set mới chứa các phần tử chỉ có trong Set đầu tiên nhưng không có trong Set thứ ha</a:t>
                      </a:r>
                      <a:endParaRPr lang="en-US" sz="1600" dirty="0"/>
                    </a:p>
                  </a:txBody>
                  <a:tcPr/>
                </a:tc>
                <a:extLst>
                  <a:ext uri="{0D108BD9-81ED-4DB2-BD59-A6C34878D82A}">
                    <a16:rowId xmlns:a16="http://schemas.microsoft.com/office/drawing/2014/main" xmlns="" val="3227821653"/>
                  </a:ext>
                </a:extLst>
              </a:tr>
              <a:tr h="370840">
                <a:tc>
                  <a:txBody>
                    <a:bodyPr/>
                    <a:lstStyle/>
                    <a:p>
                      <a:r>
                        <a:rPr lang="en-US" sz="1600" dirty="0" err="1" smtClean="0"/>
                        <a:t>issubset</a:t>
                      </a:r>
                      <a:r>
                        <a:rPr lang="en-US" sz="1600" dirty="0" smtClean="0"/>
                        <a:t>()</a:t>
                      </a:r>
                      <a:endParaRPr lang="en-US" sz="1600" dirty="0"/>
                    </a:p>
                  </a:txBody>
                  <a:tcPr/>
                </a:tc>
                <a:tc>
                  <a:txBody>
                    <a:bodyPr/>
                    <a:lstStyle/>
                    <a:p>
                      <a:r>
                        <a:rPr lang="en-US" sz="1600" dirty="0" err="1" smtClean="0"/>
                        <a:t>Kiểm</a:t>
                      </a:r>
                      <a:r>
                        <a:rPr lang="en-US" sz="1600" dirty="0" smtClean="0"/>
                        <a:t> </a:t>
                      </a:r>
                      <a:r>
                        <a:rPr lang="en-US" sz="1600" dirty="0" err="1" smtClean="0"/>
                        <a:t>tra</a:t>
                      </a:r>
                      <a:r>
                        <a:rPr lang="en-US" sz="1600" dirty="0" smtClean="0"/>
                        <a:t> </a:t>
                      </a:r>
                      <a:r>
                        <a:rPr lang="en-US" sz="1600" dirty="0" err="1" smtClean="0"/>
                        <a:t>xem</a:t>
                      </a:r>
                      <a:r>
                        <a:rPr lang="en-US" sz="1600" dirty="0" smtClean="0"/>
                        <a:t> Set </a:t>
                      </a:r>
                      <a:r>
                        <a:rPr lang="en-US" sz="1600" dirty="0" err="1" smtClean="0"/>
                        <a:t>có</a:t>
                      </a:r>
                      <a:r>
                        <a:rPr lang="en-US" sz="1600" dirty="0" smtClean="0"/>
                        <a:t> </a:t>
                      </a:r>
                      <a:r>
                        <a:rPr lang="en-US" sz="1600" dirty="0" err="1" smtClean="0"/>
                        <a:t>là</a:t>
                      </a:r>
                      <a:r>
                        <a:rPr lang="en-US" sz="1600" dirty="0" smtClean="0"/>
                        <a:t> </a:t>
                      </a:r>
                      <a:r>
                        <a:rPr lang="en-US" sz="1600" dirty="0" err="1" smtClean="0"/>
                        <a:t>tập</a:t>
                      </a:r>
                      <a:r>
                        <a:rPr lang="en-US" sz="1600" dirty="0" smtClean="0"/>
                        <a:t> con </a:t>
                      </a:r>
                      <a:r>
                        <a:rPr lang="en-US" sz="1600" dirty="0" err="1" smtClean="0"/>
                        <a:t>của</a:t>
                      </a:r>
                      <a:r>
                        <a:rPr lang="en-US" sz="1600" dirty="0" smtClean="0"/>
                        <a:t> </a:t>
                      </a:r>
                      <a:r>
                        <a:rPr lang="en-US" sz="1600" dirty="0" err="1" smtClean="0"/>
                        <a:t>một</a:t>
                      </a:r>
                      <a:r>
                        <a:rPr lang="en-US" sz="1600" dirty="0" smtClean="0"/>
                        <a:t> Set </a:t>
                      </a:r>
                      <a:r>
                        <a:rPr lang="en-US" sz="1600" dirty="0" err="1" smtClean="0"/>
                        <a:t>khác</a:t>
                      </a:r>
                      <a:r>
                        <a:rPr lang="en-US" sz="1600" dirty="0" smtClean="0"/>
                        <a:t> hay </a:t>
                      </a:r>
                      <a:r>
                        <a:rPr lang="en-US" sz="1600" dirty="0" err="1" smtClean="0"/>
                        <a:t>không</a:t>
                      </a:r>
                      <a:endParaRPr lang="en-US" sz="1600" dirty="0"/>
                    </a:p>
                  </a:txBody>
                  <a:tcPr/>
                </a:tc>
                <a:extLst>
                  <a:ext uri="{0D108BD9-81ED-4DB2-BD59-A6C34878D82A}">
                    <a16:rowId xmlns:a16="http://schemas.microsoft.com/office/drawing/2014/main" xmlns="" val="3086970379"/>
                  </a:ext>
                </a:extLst>
              </a:tr>
              <a:tr h="370840">
                <a:tc>
                  <a:txBody>
                    <a:bodyPr/>
                    <a:lstStyle/>
                    <a:p>
                      <a:r>
                        <a:rPr lang="en-US" sz="1600" dirty="0" err="1" smtClean="0"/>
                        <a:t>issuperset</a:t>
                      </a:r>
                      <a:r>
                        <a:rPr lang="en-US" sz="1600" dirty="0" smtClean="0"/>
                        <a:t>()</a:t>
                      </a:r>
                      <a:endParaRPr lang="en-US" sz="1600" dirty="0"/>
                    </a:p>
                  </a:txBody>
                  <a:tcPr/>
                </a:tc>
                <a:tc>
                  <a:txBody>
                    <a:bodyPr/>
                    <a:lstStyle/>
                    <a:p>
                      <a:r>
                        <a:rPr lang="en-US" sz="1600" dirty="0" err="1" smtClean="0"/>
                        <a:t>Kiểm</a:t>
                      </a:r>
                      <a:r>
                        <a:rPr lang="en-US" sz="1600" dirty="0" smtClean="0"/>
                        <a:t> </a:t>
                      </a:r>
                      <a:r>
                        <a:rPr lang="en-US" sz="1600" dirty="0" err="1" smtClean="0"/>
                        <a:t>tra</a:t>
                      </a:r>
                      <a:r>
                        <a:rPr lang="en-US" sz="1600" dirty="0" smtClean="0"/>
                        <a:t> </a:t>
                      </a:r>
                      <a:r>
                        <a:rPr lang="en-US" sz="1600" dirty="0" err="1" smtClean="0"/>
                        <a:t>xem</a:t>
                      </a:r>
                      <a:r>
                        <a:rPr lang="en-US" sz="1600" dirty="0" smtClean="0"/>
                        <a:t> Set </a:t>
                      </a:r>
                      <a:r>
                        <a:rPr lang="en-US" sz="1600" dirty="0" err="1" smtClean="0"/>
                        <a:t>có</a:t>
                      </a:r>
                      <a:r>
                        <a:rPr lang="en-US" sz="1600" dirty="0" smtClean="0"/>
                        <a:t> </a:t>
                      </a:r>
                      <a:r>
                        <a:rPr lang="en-US" sz="1600" dirty="0" err="1" smtClean="0"/>
                        <a:t>là</a:t>
                      </a:r>
                      <a:r>
                        <a:rPr lang="en-US" sz="1600" dirty="0" smtClean="0"/>
                        <a:t> </a:t>
                      </a:r>
                      <a:r>
                        <a:rPr lang="en-US" sz="1600" dirty="0" err="1" smtClean="0"/>
                        <a:t>tập</a:t>
                      </a:r>
                      <a:r>
                        <a:rPr lang="en-US" sz="1600" dirty="0" smtClean="0"/>
                        <a:t> cha </a:t>
                      </a:r>
                      <a:r>
                        <a:rPr lang="en-US" sz="1600" dirty="0" err="1" smtClean="0"/>
                        <a:t>của</a:t>
                      </a:r>
                      <a:r>
                        <a:rPr lang="en-US" sz="1600" dirty="0" smtClean="0"/>
                        <a:t> </a:t>
                      </a:r>
                      <a:r>
                        <a:rPr lang="en-US" sz="1600" dirty="0" err="1" smtClean="0"/>
                        <a:t>một</a:t>
                      </a:r>
                      <a:r>
                        <a:rPr lang="en-US" sz="1600" dirty="0" smtClean="0"/>
                        <a:t> Set </a:t>
                      </a:r>
                      <a:r>
                        <a:rPr lang="en-US" sz="1600" dirty="0" err="1" smtClean="0"/>
                        <a:t>khác</a:t>
                      </a:r>
                      <a:r>
                        <a:rPr lang="en-US" sz="1600" dirty="0" smtClean="0"/>
                        <a:t> hay </a:t>
                      </a:r>
                      <a:r>
                        <a:rPr lang="en-US" sz="1600" dirty="0" err="1" smtClean="0"/>
                        <a:t>không</a:t>
                      </a:r>
                      <a:endParaRPr lang="en-US" sz="1600" dirty="0"/>
                    </a:p>
                  </a:txBody>
                  <a:tcPr/>
                </a:tc>
                <a:extLst>
                  <a:ext uri="{0D108BD9-81ED-4DB2-BD59-A6C34878D82A}">
                    <a16:rowId xmlns:a16="http://schemas.microsoft.com/office/drawing/2014/main" xmlns="" val="2917510260"/>
                  </a:ext>
                </a:extLst>
              </a:tr>
            </a:tbl>
          </a:graphicData>
        </a:graphic>
      </p:graphicFrame>
      <p:sp>
        <p:nvSpPr>
          <p:cNvPr id="12" name="TextBox 11"/>
          <p:cNvSpPr txBox="1"/>
          <p:nvPr/>
        </p:nvSpPr>
        <p:spPr>
          <a:xfrm>
            <a:off x="548981" y="4843159"/>
            <a:ext cx="7610868" cy="646331"/>
          </a:xfrm>
          <a:prstGeom prst="rect">
            <a:avLst/>
          </a:prstGeom>
          <a:noFill/>
        </p:spPr>
        <p:txBody>
          <a:bodyPr wrap="square" rtlCol="0">
            <a:spAutoFit/>
          </a:bodyPr>
          <a:lstStyle/>
          <a:p>
            <a:r>
              <a:rPr lang="en-US" dirty="0"/>
              <a:t>Set </a:t>
            </a:r>
            <a:r>
              <a:rPr lang="en-US" dirty="0" err="1"/>
              <a:t>là</a:t>
            </a:r>
            <a:r>
              <a:rPr lang="en-US" dirty="0"/>
              <a:t> </a:t>
            </a:r>
            <a:r>
              <a:rPr lang="en-US" dirty="0" err="1"/>
              <a:t>một</a:t>
            </a:r>
            <a:r>
              <a:rPr lang="en-US" dirty="0"/>
              <a:t> </a:t>
            </a:r>
            <a:r>
              <a:rPr lang="en-US" dirty="0" err="1"/>
              <a:t>công</a:t>
            </a:r>
            <a:r>
              <a:rPr lang="en-US" dirty="0"/>
              <a:t> </a:t>
            </a:r>
            <a:r>
              <a:rPr lang="en-US" dirty="0" err="1"/>
              <a:t>cụ</a:t>
            </a:r>
            <a:r>
              <a:rPr lang="en-US" dirty="0"/>
              <a:t> </a:t>
            </a:r>
            <a:r>
              <a:rPr lang="en-US" dirty="0" err="1"/>
              <a:t>hữu</a:t>
            </a:r>
            <a:r>
              <a:rPr lang="en-US" dirty="0"/>
              <a:t> </a:t>
            </a:r>
            <a:r>
              <a:rPr lang="en-US" dirty="0" err="1"/>
              <a:t>ích</a:t>
            </a:r>
            <a:r>
              <a:rPr lang="en-US" dirty="0"/>
              <a:t> </a:t>
            </a:r>
            <a:r>
              <a:rPr lang="en-US" dirty="0" err="1"/>
              <a:t>trong</a:t>
            </a:r>
            <a:r>
              <a:rPr lang="en-US" dirty="0"/>
              <a:t> Python </a:t>
            </a:r>
            <a:r>
              <a:rPr lang="en-US" dirty="0" err="1"/>
              <a:t>để</a:t>
            </a:r>
            <a:r>
              <a:rPr lang="en-US" dirty="0"/>
              <a:t> </a:t>
            </a:r>
            <a:r>
              <a:rPr lang="en-US" dirty="0" err="1"/>
              <a:t>làm</a:t>
            </a:r>
            <a:r>
              <a:rPr lang="en-US" dirty="0"/>
              <a:t> </a:t>
            </a:r>
            <a:r>
              <a:rPr lang="en-US" dirty="0" err="1"/>
              <a:t>việc</a:t>
            </a:r>
            <a:r>
              <a:rPr lang="en-US" dirty="0"/>
              <a:t> </a:t>
            </a:r>
            <a:r>
              <a:rPr lang="en-US" dirty="0" err="1"/>
              <a:t>với</a:t>
            </a:r>
            <a:r>
              <a:rPr lang="en-US" dirty="0"/>
              <a:t> </a:t>
            </a:r>
            <a:r>
              <a:rPr lang="en-US" dirty="0" err="1"/>
              <a:t>các</a:t>
            </a:r>
            <a:r>
              <a:rPr lang="en-US" dirty="0"/>
              <a:t> </a:t>
            </a:r>
            <a:r>
              <a:rPr lang="en-US" dirty="0" err="1"/>
              <a:t>tập</a:t>
            </a:r>
            <a:r>
              <a:rPr lang="en-US" dirty="0"/>
              <a:t> </a:t>
            </a:r>
            <a:r>
              <a:rPr lang="en-US" dirty="0" err="1"/>
              <a:t>hợp</a:t>
            </a:r>
            <a:r>
              <a:rPr lang="en-US" dirty="0"/>
              <a:t> </a:t>
            </a:r>
            <a:r>
              <a:rPr lang="en-US" dirty="0" err="1"/>
              <a:t>duy</a:t>
            </a:r>
            <a:r>
              <a:rPr lang="en-US" dirty="0"/>
              <a:t> </a:t>
            </a:r>
            <a:r>
              <a:rPr lang="en-US" dirty="0" err="1"/>
              <a:t>nhất</a:t>
            </a:r>
            <a:r>
              <a:rPr lang="en-US" dirty="0"/>
              <a:t> </a:t>
            </a:r>
            <a:r>
              <a:rPr lang="en-US" dirty="0" err="1"/>
              <a:t>của</a:t>
            </a:r>
            <a:r>
              <a:rPr lang="en-US" dirty="0"/>
              <a:t> </a:t>
            </a:r>
            <a:r>
              <a:rPr lang="en-US" dirty="0" err="1"/>
              <a:t>dữ</a:t>
            </a:r>
            <a:r>
              <a:rPr lang="en-US" dirty="0"/>
              <a:t> </a:t>
            </a:r>
            <a:r>
              <a:rPr lang="en-US" dirty="0" err="1"/>
              <a:t>liệu</a:t>
            </a:r>
            <a:r>
              <a:rPr lang="en-US" dirty="0"/>
              <a:t> </a:t>
            </a:r>
            <a:r>
              <a:rPr lang="en-US" dirty="0" err="1"/>
              <a:t>mà</a:t>
            </a:r>
            <a:r>
              <a:rPr lang="en-US" dirty="0"/>
              <a:t> </a:t>
            </a:r>
            <a:r>
              <a:rPr lang="en-US" dirty="0" err="1"/>
              <a:t>không</a:t>
            </a:r>
            <a:r>
              <a:rPr lang="en-US" dirty="0"/>
              <a:t> </a:t>
            </a:r>
            <a:r>
              <a:rPr lang="en-US" dirty="0" err="1"/>
              <a:t>cần</a:t>
            </a:r>
            <a:r>
              <a:rPr lang="en-US" dirty="0"/>
              <a:t> </a:t>
            </a:r>
            <a:r>
              <a:rPr lang="en-US" dirty="0" err="1"/>
              <a:t>quan</a:t>
            </a:r>
            <a:r>
              <a:rPr lang="en-US" dirty="0"/>
              <a:t> </a:t>
            </a:r>
            <a:r>
              <a:rPr lang="en-US" dirty="0" err="1"/>
              <a:t>tâm</a:t>
            </a:r>
            <a:r>
              <a:rPr lang="en-US" dirty="0"/>
              <a:t> </a:t>
            </a:r>
            <a:r>
              <a:rPr lang="en-US" dirty="0" err="1"/>
              <a:t>đến</a:t>
            </a:r>
            <a:r>
              <a:rPr lang="en-US" dirty="0"/>
              <a:t> </a:t>
            </a:r>
            <a:r>
              <a:rPr lang="en-US" dirty="0" err="1"/>
              <a:t>thứ</a:t>
            </a:r>
            <a:r>
              <a:rPr lang="en-US" dirty="0"/>
              <a:t> </a:t>
            </a:r>
            <a:r>
              <a:rPr lang="en-US" dirty="0" err="1"/>
              <a:t>tự</a:t>
            </a:r>
            <a:r>
              <a:rPr lang="en-US" dirty="0"/>
              <a:t> </a:t>
            </a:r>
            <a:r>
              <a:rPr lang="en-US" dirty="0" err="1"/>
              <a:t>của</a:t>
            </a:r>
            <a:r>
              <a:rPr lang="en-US" dirty="0"/>
              <a:t> </a:t>
            </a:r>
            <a:r>
              <a:rPr lang="en-US" dirty="0" err="1"/>
              <a:t>chúng</a:t>
            </a:r>
            <a:endParaRPr lang="en-US" b="1" dirty="0"/>
          </a:p>
        </p:txBody>
      </p:sp>
    </p:spTree>
    <p:extLst>
      <p:ext uri="{BB962C8B-B14F-4D97-AF65-F5344CB8AC3E}">
        <p14:creationId xmlns:p14="http://schemas.microsoft.com/office/powerpoint/2010/main" val="18674190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32</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5.6 </a:t>
            </a:r>
            <a:r>
              <a:rPr lang="en-US" err="1"/>
              <a:t>Các</a:t>
            </a:r>
            <a:r>
              <a:rPr lang="en-US"/>
              <a:t> </a:t>
            </a:r>
            <a:r>
              <a:rPr lang="en-US" err="1"/>
              <a:t>phương</a:t>
            </a:r>
            <a:r>
              <a:rPr lang="en-US"/>
              <a:t> </a:t>
            </a:r>
            <a:r>
              <a:rPr lang="en-US" err="1"/>
              <a:t>thức</a:t>
            </a:r>
            <a:r>
              <a:rPr lang="en-US"/>
              <a:t> </a:t>
            </a:r>
            <a:r>
              <a:rPr lang="en-US" err="1"/>
              <a:t>tương</a:t>
            </a:r>
            <a:r>
              <a:rPr lang="en-US"/>
              <a:t> </a:t>
            </a:r>
            <a:r>
              <a:rPr lang="en-US" err="1"/>
              <a:t>tác</a:t>
            </a:r>
            <a:r>
              <a:rPr lang="en-US"/>
              <a:t> </a:t>
            </a:r>
            <a:r>
              <a:rPr lang="en-US" err="1"/>
              <a:t>với</a:t>
            </a:r>
            <a:r>
              <a:rPr lang="en-US"/>
              <a:t> Tuple</a:t>
            </a:r>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err="1" smtClean="0"/>
              <a:t>Nguồn</a:t>
            </a:r>
            <a:r>
              <a:rPr lang="en-US" b="1" smtClean="0"/>
              <a:t> </a:t>
            </a:r>
            <a:r>
              <a:rPr lang="en-US" b="1" err="1" smtClean="0"/>
              <a:t>tham</a:t>
            </a:r>
            <a:r>
              <a:rPr lang="en-US" b="1" smtClean="0"/>
              <a:t> </a:t>
            </a:r>
            <a:r>
              <a:rPr lang="en-US" b="1" err="1" smtClean="0"/>
              <a:t>chiếu</a:t>
            </a:r>
            <a:endParaRPr lang="en-US" b="1">
              <a:solidFill>
                <a:srgbClr val="FF0000"/>
              </a:solidFill>
            </a:endParaRPr>
          </a:p>
        </p:txBody>
      </p:sp>
      <p:sp>
        <p:nvSpPr>
          <p:cNvPr id="19" name="TextBox 18"/>
          <p:cNvSpPr txBox="1"/>
          <p:nvPr/>
        </p:nvSpPr>
        <p:spPr>
          <a:xfrm>
            <a:off x="999461" y="2114754"/>
            <a:ext cx="7697972" cy="369332"/>
          </a:xfrm>
          <a:prstGeom prst="rect">
            <a:avLst/>
          </a:prstGeom>
          <a:noFill/>
        </p:spPr>
        <p:txBody>
          <a:bodyPr wrap="square" rtlCol="0">
            <a:spAutoFit/>
          </a:bodyPr>
          <a:lstStyle/>
          <a:p>
            <a:r>
              <a:rPr lang="en-US" err="1" smtClean="0"/>
              <a:t>Tổng</a:t>
            </a:r>
            <a:r>
              <a:rPr lang="en-US" smtClean="0"/>
              <a:t> </a:t>
            </a:r>
            <a:r>
              <a:rPr lang="en-US" err="1" smtClean="0"/>
              <a:t>quan</a:t>
            </a:r>
            <a:r>
              <a:rPr lang="en-US" smtClean="0"/>
              <a:t> </a:t>
            </a:r>
            <a:r>
              <a:rPr lang="en-US" err="1" smtClean="0"/>
              <a:t>về</a:t>
            </a:r>
            <a:r>
              <a:rPr lang="en-US" smtClean="0"/>
              <a:t> List</a:t>
            </a:r>
            <a:endParaRPr lang="en-US" b="1"/>
          </a:p>
        </p:txBody>
      </p:sp>
      <p:sp>
        <p:nvSpPr>
          <p:cNvPr id="12" name="Flowchart: Decision 11"/>
          <p:cNvSpPr/>
          <p:nvPr/>
        </p:nvSpPr>
        <p:spPr>
          <a:xfrm>
            <a:off x="710426" y="221436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999461" y="2522875"/>
            <a:ext cx="7697972" cy="369332"/>
          </a:xfrm>
          <a:prstGeom prst="rect">
            <a:avLst/>
          </a:prstGeom>
          <a:noFill/>
        </p:spPr>
        <p:txBody>
          <a:bodyPr wrap="square" rtlCol="0">
            <a:spAutoFit/>
          </a:bodyPr>
          <a:lstStyle/>
          <a:p>
            <a:r>
              <a:rPr lang="en-US">
                <a:hlinkClick r:id="rId3"/>
              </a:rPr>
              <a:t>https://www.w3schools.com/python/python_lists.asp</a:t>
            </a:r>
            <a:endParaRPr lang="en-US" b="1"/>
          </a:p>
        </p:txBody>
      </p:sp>
      <p:sp>
        <p:nvSpPr>
          <p:cNvPr id="14" name="TextBox 13"/>
          <p:cNvSpPr txBox="1"/>
          <p:nvPr/>
        </p:nvSpPr>
        <p:spPr>
          <a:xfrm>
            <a:off x="999461" y="3062105"/>
            <a:ext cx="7697972" cy="369332"/>
          </a:xfrm>
          <a:prstGeom prst="rect">
            <a:avLst/>
          </a:prstGeom>
          <a:noFill/>
        </p:spPr>
        <p:txBody>
          <a:bodyPr wrap="square" rtlCol="0">
            <a:spAutoFit/>
          </a:bodyPr>
          <a:lstStyle/>
          <a:p>
            <a:r>
              <a:rPr lang="en-US" err="1" smtClean="0"/>
              <a:t>Các</a:t>
            </a:r>
            <a:r>
              <a:rPr lang="en-US" smtClean="0"/>
              <a:t> </a:t>
            </a:r>
            <a:r>
              <a:rPr lang="en-US" err="1" smtClean="0"/>
              <a:t>phương</a:t>
            </a:r>
            <a:r>
              <a:rPr lang="en-US" smtClean="0"/>
              <a:t> </a:t>
            </a:r>
            <a:r>
              <a:rPr lang="en-US" err="1" smtClean="0"/>
              <a:t>thức</a:t>
            </a:r>
            <a:r>
              <a:rPr lang="en-US" smtClean="0"/>
              <a:t> </a:t>
            </a:r>
            <a:r>
              <a:rPr lang="en-US" err="1" smtClean="0"/>
              <a:t>thao</a:t>
            </a:r>
            <a:r>
              <a:rPr lang="en-US" smtClean="0"/>
              <a:t> </a:t>
            </a:r>
            <a:r>
              <a:rPr lang="en-US" err="1" smtClean="0"/>
              <a:t>tác</a:t>
            </a:r>
            <a:r>
              <a:rPr lang="en-US" smtClean="0"/>
              <a:t> </a:t>
            </a:r>
            <a:r>
              <a:rPr lang="en-US" err="1" smtClean="0"/>
              <a:t>với</a:t>
            </a:r>
            <a:r>
              <a:rPr lang="en-US" smtClean="0"/>
              <a:t> List</a:t>
            </a:r>
            <a:endParaRPr lang="en-US" b="1"/>
          </a:p>
        </p:txBody>
      </p:sp>
      <p:sp>
        <p:nvSpPr>
          <p:cNvPr id="15" name="Flowchart: Decision 14"/>
          <p:cNvSpPr/>
          <p:nvPr/>
        </p:nvSpPr>
        <p:spPr>
          <a:xfrm>
            <a:off x="710426" y="316171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99461" y="3610269"/>
            <a:ext cx="7697972" cy="369332"/>
          </a:xfrm>
          <a:prstGeom prst="rect">
            <a:avLst/>
          </a:prstGeom>
          <a:noFill/>
        </p:spPr>
        <p:txBody>
          <a:bodyPr wrap="square" rtlCol="0">
            <a:spAutoFit/>
          </a:bodyPr>
          <a:lstStyle/>
          <a:p>
            <a:r>
              <a:rPr lang="en-US">
                <a:hlinkClick r:id="rId4"/>
              </a:rPr>
              <a:t>https://www.w3schools.com/python/python_lists_methods.asp</a:t>
            </a:r>
            <a:endParaRPr lang="en-US" b="1"/>
          </a:p>
        </p:txBody>
      </p:sp>
      <p:sp>
        <p:nvSpPr>
          <p:cNvPr id="20" name="TextBox 19"/>
          <p:cNvSpPr txBox="1"/>
          <p:nvPr/>
        </p:nvSpPr>
        <p:spPr>
          <a:xfrm>
            <a:off x="999461" y="4297781"/>
            <a:ext cx="7697972" cy="369332"/>
          </a:xfrm>
          <a:prstGeom prst="rect">
            <a:avLst/>
          </a:prstGeom>
          <a:noFill/>
        </p:spPr>
        <p:txBody>
          <a:bodyPr wrap="square" rtlCol="0">
            <a:spAutoFit/>
          </a:bodyPr>
          <a:lstStyle/>
          <a:p>
            <a:r>
              <a:rPr lang="en-US" err="1" smtClean="0"/>
              <a:t>Tổng</a:t>
            </a:r>
            <a:r>
              <a:rPr lang="en-US" smtClean="0"/>
              <a:t> </a:t>
            </a:r>
            <a:r>
              <a:rPr lang="en-US" err="1" smtClean="0"/>
              <a:t>quan</a:t>
            </a:r>
            <a:r>
              <a:rPr lang="en-US" smtClean="0"/>
              <a:t> </a:t>
            </a:r>
            <a:r>
              <a:rPr lang="en-US" err="1" smtClean="0"/>
              <a:t>về</a:t>
            </a:r>
            <a:r>
              <a:rPr lang="en-US" smtClean="0"/>
              <a:t> Tuple</a:t>
            </a:r>
            <a:endParaRPr lang="en-US" b="1"/>
          </a:p>
        </p:txBody>
      </p:sp>
      <p:sp>
        <p:nvSpPr>
          <p:cNvPr id="21" name="Flowchart: Decision 20"/>
          <p:cNvSpPr/>
          <p:nvPr/>
        </p:nvSpPr>
        <p:spPr>
          <a:xfrm>
            <a:off x="710426" y="4397387"/>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999461" y="4705902"/>
            <a:ext cx="7697972" cy="369332"/>
          </a:xfrm>
          <a:prstGeom prst="rect">
            <a:avLst/>
          </a:prstGeom>
          <a:noFill/>
        </p:spPr>
        <p:txBody>
          <a:bodyPr wrap="square" rtlCol="0">
            <a:spAutoFit/>
          </a:bodyPr>
          <a:lstStyle/>
          <a:p>
            <a:r>
              <a:rPr lang="en-US">
                <a:hlinkClick r:id="rId5"/>
              </a:rPr>
              <a:t>https://www.w3schools.com/python/python_tuples.asp</a:t>
            </a:r>
            <a:endParaRPr lang="en-US" b="1"/>
          </a:p>
        </p:txBody>
      </p:sp>
      <p:sp>
        <p:nvSpPr>
          <p:cNvPr id="23" name="TextBox 22"/>
          <p:cNvSpPr txBox="1"/>
          <p:nvPr/>
        </p:nvSpPr>
        <p:spPr>
          <a:xfrm>
            <a:off x="999461" y="5245132"/>
            <a:ext cx="7697972" cy="369332"/>
          </a:xfrm>
          <a:prstGeom prst="rect">
            <a:avLst/>
          </a:prstGeom>
          <a:noFill/>
        </p:spPr>
        <p:txBody>
          <a:bodyPr wrap="square" rtlCol="0">
            <a:spAutoFit/>
          </a:bodyPr>
          <a:lstStyle/>
          <a:p>
            <a:r>
              <a:rPr lang="en-US" err="1" smtClean="0"/>
              <a:t>Các</a:t>
            </a:r>
            <a:r>
              <a:rPr lang="en-US" smtClean="0"/>
              <a:t> </a:t>
            </a:r>
            <a:r>
              <a:rPr lang="en-US" err="1" smtClean="0"/>
              <a:t>phương</a:t>
            </a:r>
            <a:r>
              <a:rPr lang="en-US" smtClean="0"/>
              <a:t> </a:t>
            </a:r>
            <a:r>
              <a:rPr lang="en-US" err="1" smtClean="0"/>
              <a:t>thức</a:t>
            </a:r>
            <a:r>
              <a:rPr lang="en-US" smtClean="0"/>
              <a:t> </a:t>
            </a:r>
            <a:r>
              <a:rPr lang="en-US" err="1" smtClean="0"/>
              <a:t>thao</a:t>
            </a:r>
            <a:r>
              <a:rPr lang="en-US" smtClean="0"/>
              <a:t> </a:t>
            </a:r>
            <a:r>
              <a:rPr lang="en-US" err="1" smtClean="0"/>
              <a:t>tác</a:t>
            </a:r>
            <a:r>
              <a:rPr lang="en-US" smtClean="0"/>
              <a:t> </a:t>
            </a:r>
            <a:r>
              <a:rPr lang="en-US" err="1" smtClean="0"/>
              <a:t>với</a:t>
            </a:r>
            <a:r>
              <a:rPr lang="en-US" smtClean="0"/>
              <a:t> List</a:t>
            </a:r>
            <a:endParaRPr lang="en-US" b="1"/>
          </a:p>
        </p:txBody>
      </p:sp>
      <p:sp>
        <p:nvSpPr>
          <p:cNvPr id="24" name="Flowchart: Decision 23"/>
          <p:cNvSpPr/>
          <p:nvPr/>
        </p:nvSpPr>
        <p:spPr>
          <a:xfrm>
            <a:off x="710426" y="534473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999461" y="5793296"/>
            <a:ext cx="7697972" cy="369332"/>
          </a:xfrm>
          <a:prstGeom prst="rect">
            <a:avLst/>
          </a:prstGeom>
          <a:noFill/>
        </p:spPr>
        <p:txBody>
          <a:bodyPr wrap="square" rtlCol="0">
            <a:spAutoFit/>
          </a:bodyPr>
          <a:lstStyle/>
          <a:p>
            <a:r>
              <a:rPr lang="en-US">
                <a:hlinkClick r:id="rId6"/>
              </a:rPr>
              <a:t>https://www.w3schools.com/python/python_ref_tuple.asp</a:t>
            </a:r>
            <a:endParaRPr lang="en-US" b="1"/>
          </a:p>
        </p:txBody>
      </p:sp>
    </p:spTree>
    <p:extLst>
      <p:ext uri="{BB962C8B-B14F-4D97-AF65-F5344CB8AC3E}">
        <p14:creationId xmlns:p14="http://schemas.microsoft.com/office/powerpoint/2010/main" val="21969495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a:spLocks/>
          </p:cNvSpPr>
          <p:nvPr/>
        </p:nvSpPr>
        <p:spPr>
          <a:xfrm>
            <a:off x="1571538" y="986929"/>
            <a:ext cx="3840434" cy="424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err="1" smtClean="0">
                <a:solidFill>
                  <a:schemeClr val="bg1"/>
                </a:solidFill>
              </a:rPr>
              <a:t>Tổng</a:t>
            </a:r>
            <a:r>
              <a:rPr lang="en-US" b="1" smtClean="0">
                <a:solidFill>
                  <a:schemeClr val="bg1"/>
                </a:solidFill>
              </a:rPr>
              <a:t> </a:t>
            </a:r>
            <a:r>
              <a:rPr lang="en-US" b="1" err="1" smtClean="0">
                <a:solidFill>
                  <a:schemeClr val="bg1"/>
                </a:solidFill>
              </a:rPr>
              <a:t>kết</a:t>
            </a:r>
            <a:r>
              <a:rPr lang="en-US" b="1" smtClean="0">
                <a:solidFill>
                  <a:schemeClr val="bg1"/>
                </a:solidFill>
              </a:rPr>
              <a:t> </a:t>
            </a:r>
            <a:r>
              <a:rPr lang="en-US" b="1" err="1" smtClean="0">
                <a:solidFill>
                  <a:schemeClr val="bg1"/>
                </a:solidFill>
              </a:rPr>
              <a:t>lại</a:t>
            </a:r>
            <a:r>
              <a:rPr lang="en-US" b="1" smtClean="0">
                <a:solidFill>
                  <a:schemeClr val="bg1"/>
                </a:solidFill>
              </a:rPr>
              <a:t> </a:t>
            </a:r>
            <a:r>
              <a:rPr lang="en-US" b="1" err="1" smtClean="0">
                <a:solidFill>
                  <a:schemeClr val="bg1"/>
                </a:solidFill>
              </a:rPr>
              <a:t>bài</a:t>
            </a:r>
            <a:r>
              <a:rPr lang="en-US" b="1" smtClean="0">
                <a:solidFill>
                  <a:schemeClr val="bg1"/>
                </a:solidFill>
              </a:rPr>
              <a:t> </a:t>
            </a:r>
            <a:r>
              <a:rPr lang="en-US" b="1" smtClean="0">
                <a:solidFill>
                  <a:schemeClr val="bg1"/>
                </a:solidFill>
              </a:rPr>
              <a:t>5</a:t>
            </a:r>
            <a:endParaRPr lang="en-US" b="1">
              <a:solidFill>
                <a:schemeClr val="bg1"/>
              </a:solidFill>
            </a:endParaRPr>
          </a:p>
        </p:txBody>
      </p:sp>
      <p:sp>
        <p:nvSpPr>
          <p:cNvPr id="5" name="Oval 4"/>
          <p:cNvSpPr/>
          <p:nvPr/>
        </p:nvSpPr>
        <p:spPr>
          <a:xfrm>
            <a:off x="1731027" y="1822655"/>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solidFill>
                  <a:srgbClr val="60B659"/>
                </a:solidFill>
              </a:rPr>
              <a:t>1</a:t>
            </a:r>
            <a:endParaRPr lang="en-US" b="1">
              <a:solidFill>
                <a:srgbClr val="60B659"/>
              </a:solidFill>
            </a:endParaRPr>
          </a:p>
        </p:txBody>
      </p:sp>
      <p:sp>
        <p:nvSpPr>
          <p:cNvPr id="6" name="Oval 5"/>
          <p:cNvSpPr/>
          <p:nvPr/>
        </p:nvSpPr>
        <p:spPr>
          <a:xfrm>
            <a:off x="1731027" y="265975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60B659"/>
                </a:solidFill>
              </a:rPr>
              <a:t>2</a:t>
            </a:r>
          </a:p>
        </p:txBody>
      </p:sp>
      <p:sp>
        <p:nvSpPr>
          <p:cNvPr id="7" name="Oval 6"/>
          <p:cNvSpPr/>
          <p:nvPr/>
        </p:nvSpPr>
        <p:spPr>
          <a:xfrm>
            <a:off x="1731027" y="3455142"/>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60B659"/>
                </a:solidFill>
              </a:rPr>
              <a:t>3</a:t>
            </a:r>
          </a:p>
        </p:txBody>
      </p:sp>
      <p:sp>
        <p:nvSpPr>
          <p:cNvPr id="8" name="Oval 7"/>
          <p:cNvSpPr/>
          <p:nvPr/>
        </p:nvSpPr>
        <p:spPr>
          <a:xfrm>
            <a:off x="1731027" y="4274161"/>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60B659"/>
                </a:solidFill>
              </a:rPr>
              <a:t>4</a:t>
            </a:r>
          </a:p>
        </p:txBody>
      </p:sp>
      <p:cxnSp>
        <p:nvCxnSpPr>
          <p:cNvPr id="16" name="Straight Connector 15"/>
          <p:cNvCxnSpPr/>
          <p:nvPr/>
        </p:nvCxnSpPr>
        <p:spPr>
          <a:xfrm>
            <a:off x="1731027" y="1528857"/>
            <a:ext cx="61476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307264" y="1838789"/>
            <a:ext cx="6485861" cy="369332"/>
          </a:xfrm>
          <a:prstGeom prst="rect">
            <a:avLst/>
          </a:prstGeom>
          <a:noFill/>
        </p:spPr>
        <p:txBody>
          <a:bodyPr wrap="square" rtlCol="0">
            <a:spAutoFit/>
          </a:bodyPr>
          <a:lstStyle/>
          <a:p>
            <a:r>
              <a:rPr lang="en-US" err="1" smtClean="0">
                <a:solidFill>
                  <a:schemeClr val="bg1"/>
                </a:solidFill>
              </a:rPr>
              <a:t>Nắm</a:t>
            </a:r>
            <a:r>
              <a:rPr lang="en-US" smtClean="0">
                <a:solidFill>
                  <a:schemeClr val="bg1"/>
                </a:solidFill>
              </a:rPr>
              <a:t> </a:t>
            </a:r>
            <a:r>
              <a:rPr lang="en-US" err="1" smtClean="0">
                <a:solidFill>
                  <a:schemeClr val="bg1"/>
                </a:solidFill>
              </a:rPr>
              <a:t>được</a:t>
            </a:r>
            <a:r>
              <a:rPr lang="en-US" smtClean="0">
                <a:solidFill>
                  <a:schemeClr val="bg1"/>
                </a:solidFill>
              </a:rPr>
              <a:t> </a:t>
            </a:r>
            <a:r>
              <a:rPr lang="en-US" err="1" smtClean="0">
                <a:solidFill>
                  <a:schemeClr val="bg1"/>
                </a:solidFill>
              </a:rPr>
              <a:t>cách</a:t>
            </a:r>
            <a:r>
              <a:rPr lang="en-US" smtClean="0">
                <a:solidFill>
                  <a:schemeClr val="bg1"/>
                </a:solidFill>
              </a:rPr>
              <a:t> </a:t>
            </a:r>
            <a:r>
              <a:rPr lang="en-US" err="1" smtClean="0">
                <a:solidFill>
                  <a:schemeClr val="bg1"/>
                </a:solidFill>
              </a:rPr>
              <a:t>định</a:t>
            </a:r>
            <a:r>
              <a:rPr lang="en-US" smtClean="0">
                <a:solidFill>
                  <a:schemeClr val="bg1"/>
                </a:solidFill>
              </a:rPr>
              <a:t> </a:t>
            </a:r>
            <a:r>
              <a:rPr lang="en-US" err="1" smtClean="0">
                <a:solidFill>
                  <a:schemeClr val="bg1"/>
                </a:solidFill>
              </a:rPr>
              <a:t>nghĩa</a:t>
            </a:r>
            <a:r>
              <a:rPr lang="en-US" smtClean="0">
                <a:solidFill>
                  <a:schemeClr val="bg1"/>
                </a:solidFill>
              </a:rPr>
              <a:t> </a:t>
            </a:r>
            <a:r>
              <a:rPr lang="en-US" err="1" smtClean="0">
                <a:solidFill>
                  <a:schemeClr val="bg1"/>
                </a:solidFill>
              </a:rPr>
              <a:t>kiểu</a:t>
            </a:r>
            <a:r>
              <a:rPr lang="en-US" smtClean="0">
                <a:solidFill>
                  <a:schemeClr val="bg1"/>
                </a:solidFill>
              </a:rPr>
              <a:t> </a:t>
            </a:r>
            <a:r>
              <a:rPr lang="en-US" err="1" smtClean="0">
                <a:solidFill>
                  <a:schemeClr val="bg1"/>
                </a:solidFill>
              </a:rPr>
              <a:t>dữ</a:t>
            </a:r>
            <a:r>
              <a:rPr lang="en-US" smtClean="0">
                <a:solidFill>
                  <a:schemeClr val="bg1"/>
                </a:solidFill>
              </a:rPr>
              <a:t> </a:t>
            </a:r>
            <a:r>
              <a:rPr lang="en-US" err="1" smtClean="0">
                <a:solidFill>
                  <a:schemeClr val="bg1"/>
                </a:solidFill>
              </a:rPr>
              <a:t>liệu</a:t>
            </a:r>
            <a:r>
              <a:rPr lang="en-US" smtClean="0">
                <a:solidFill>
                  <a:schemeClr val="bg1"/>
                </a:solidFill>
              </a:rPr>
              <a:t> </a:t>
            </a:r>
            <a:r>
              <a:rPr lang="en-US" err="1" smtClean="0">
                <a:solidFill>
                  <a:schemeClr val="bg1"/>
                </a:solidFill>
              </a:rPr>
              <a:t>mảng</a:t>
            </a:r>
            <a:r>
              <a:rPr lang="en-US" smtClean="0">
                <a:solidFill>
                  <a:schemeClr val="bg1"/>
                </a:solidFill>
              </a:rPr>
              <a:t> </a:t>
            </a:r>
            <a:r>
              <a:rPr lang="en-US" err="1" smtClean="0">
                <a:solidFill>
                  <a:schemeClr val="bg1"/>
                </a:solidFill>
              </a:rPr>
              <a:t>với</a:t>
            </a:r>
            <a:r>
              <a:rPr lang="en-US" smtClean="0">
                <a:solidFill>
                  <a:schemeClr val="bg1"/>
                </a:solidFill>
              </a:rPr>
              <a:t> List</a:t>
            </a:r>
            <a:endParaRPr lang="en-US">
              <a:solidFill>
                <a:schemeClr val="bg1"/>
              </a:solidFill>
            </a:endParaRPr>
          </a:p>
        </p:txBody>
      </p:sp>
      <p:sp>
        <p:nvSpPr>
          <p:cNvPr id="18" name="TextBox 17"/>
          <p:cNvSpPr txBox="1"/>
          <p:nvPr/>
        </p:nvSpPr>
        <p:spPr>
          <a:xfrm>
            <a:off x="2307264" y="4309419"/>
            <a:ext cx="6717570" cy="369332"/>
          </a:xfrm>
          <a:prstGeom prst="rect">
            <a:avLst/>
          </a:prstGeom>
          <a:noFill/>
        </p:spPr>
        <p:txBody>
          <a:bodyPr wrap="square" rtlCol="0">
            <a:spAutoFit/>
          </a:bodyPr>
          <a:lstStyle/>
          <a:p>
            <a:r>
              <a:rPr lang="en-US" err="1">
                <a:solidFill>
                  <a:schemeClr val="bg1"/>
                </a:solidFill>
              </a:rPr>
              <a:t>Nắm</a:t>
            </a:r>
            <a:r>
              <a:rPr lang="en-US">
                <a:solidFill>
                  <a:schemeClr val="bg1"/>
                </a:solidFill>
              </a:rPr>
              <a:t> </a:t>
            </a:r>
            <a:r>
              <a:rPr lang="en-US" err="1">
                <a:solidFill>
                  <a:schemeClr val="bg1"/>
                </a:solidFill>
              </a:rPr>
              <a:t>được</a:t>
            </a:r>
            <a:r>
              <a:rPr lang="en-US">
                <a:solidFill>
                  <a:schemeClr val="bg1"/>
                </a:solidFill>
              </a:rPr>
              <a:t> </a:t>
            </a:r>
            <a:r>
              <a:rPr lang="en-US" err="1">
                <a:solidFill>
                  <a:schemeClr val="bg1"/>
                </a:solidFill>
              </a:rPr>
              <a:t>các</a:t>
            </a:r>
            <a:r>
              <a:rPr lang="en-US">
                <a:solidFill>
                  <a:schemeClr val="bg1"/>
                </a:solidFill>
              </a:rPr>
              <a:t> </a:t>
            </a:r>
            <a:r>
              <a:rPr lang="en-US" err="1">
                <a:solidFill>
                  <a:schemeClr val="bg1"/>
                </a:solidFill>
              </a:rPr>
              <a:t>phương</a:t>
            </a:r>
            <a:r>
              <a:rPr lang="en-US">
                <a:solidFill>
                  <a:schemeClr val="bg1"/>
                </a:solidFill>
              </a:rPr>
              <a:t> </a:t>
            </a:r>
            <a:r>
              <a:rPr lang="en-US" err="1">
                <a:solidFill>
                  <a:schemeClr val="bg1"/>
                </a:solidFill>
              </a:rPr>
              <a:t>thức</a:t>
            </a:r>
            <a:r>
              <a:rPr lang="en-US">
                <a:solidFill>
                  <a:schemeClr val="bg1"/>
                </a:solidFill>
              </a:rPr>
              <a:t> </a:t>
            </a:r>
            <a:r>
              <a:rPr lang="en-US" err="1">
                <a:solidFill>
                  <a:schemeClr val="bg1"/>
                </a:solidFill>
              </a:rPr>
              <a:t>xử</a:t>
            </a:r>
            <a:r>
              <a:rPr lang="en-US">
                <a:solidFill>
                  <a:schemeClr val="bg1"/>
                </a:solidFill>
              </a:rPr>
              <a:t> </a:t>
            </a:r>
            <a:r>
              <a:rPr lang="en-US" err="1">
                <a:solidFill>
                  <a:schemeClr val="bg1"/>
                </a:solidFill>
              </a:rPr>
              <a:t>lý</a:t>
            </a:r>
            <a:r>
              <a:rPr lang="en-US">
                <a:solidFill>
                  <a:schemeClr val="bg1"/>
                </a:solidFill>
              </a:rPr>
              <a:t> </a:t>
            </a:r>
            <a:r>
              <a:rPr lang="en-US" err="1">
                <a:solidFill>
                  <a:schemeClr val="bg1"/>
                </a:solidFill>
              </a:rPr>
              <a:t>dữ</a:t>
            </a:r>
            <a:r>
              <a:rPr lang="en-US">
                <a:solidFill>
                  <a:schemeClr val="bg1"/>
                </a:solidFill>
              </a:rPr>
              <a:t> </a:t>
            </a:r>
            <a:r>
              <a:rPr lang="en-US" err="1">
                <a:solidFill>
                  <a:schemeClr val="bg1"/>
                </a:solidFill>
              </a:rPr>
              <a:t>liệu</a:t>
            </a:r>
            <a:r>
              <a:rPr lang="en-US">
                <a:solidFill>
                  <a:schemeClr val="bg1"/>
                </a:solidFill>
              </a:rPr>
              <a:t> </a:t>
            </a:r>
            <a:r>
              <a:rPr lang="en-US" err="1">
                <a:solidFill>
                  <a:schemeClr val="bg1"/>
                </a:solidFill>
              </a:rPr>
              <a:t>với</a:t>
            </a:r>
            <a:r>
              <a:rPr lang="en-US">
                <a:solidFill>
                  <a:schemeClr val="bg1"/>
                </a:solidFill>
              </a:rPr>
              <a:t> </a:t>
            </a:r>
            <a:r>
              <a:rPr lang="en-US" smtClean="0">
                <a:solidFill>
                  <a:schemeClr val="bg1"/>
                </a:solidFill>
              </a:rPr>
              <a:t>Tuple</a:t>
            </a:r>
            <a:endParaRPr lang="en-US">
              <a:solidFill>
                <a:schemeClr val="bg1"/>
              </a:solidFill>
            </a:endParaRPr>
          </a:p>
        </p:txBody>
      </p:sp>
      <p:sp>
        <p:nvSpPr>
          <p:cNvPr id="19" name="TextBox 18"/>
          <p:cNvSpPr txBox="1"/>
          <p:nvPr/>
        </p:nvSpPr>
        <p:spPr>
          <a:xfrm>
            <a:off x="2307265" y="2636232"/>
            <a:ext cx="5905402" cy="369332"/>
          </a:xfrm>
          <a:prstGeom prst="rect">
            <a:avLst/>
          </a:prstGeom>
          <a:noFill/>
        </p:spPr>
        <p:txBody>
          <a:bodyPr wrap="square" rtlCol="0">
            <a:spAutoFit/>
          </a:bodyPr>
          <a:lstStyle/>
          <a:p>
            <a:r>
              <a:rPr lang="en-US" err="1">
                <a:solidFill>
                  <a:schemeClr val="bg1"/>
                </a:solidFill>
              </a:rPr>
              <a:t>Nắm</a:t>
            </a:r>
            <a:r>
              <a:rPr lang="en-US">
                <a:solidFill>
                  <a:schemeClr val="bg1"/>
                </a:solidFill>
              </a:rPr>
              <a:t> </a:t>
            </a:r>
            <a:r>
              <a:rPr lang="en-US" err="1">
                <a:solidFill>
                  <a:schemeClr val="bg1"/>
                </a:solidFill>
              </a:rPr>
              <a:t>được</a:t>
            </a:r>
            <a:r>
              <a:rPr lang="en-US">
                <a:solidFill>
                  <a:schemeClr val="bg1"/>
                </a:solidFill>
              </a:rPr>
              <a:t> </a:t>
            </a:r>
            <a:r>
              <a:rPr lang="en-US" err="1" smtClean="0">
                <a:solidFill>
                  <a:schemeClr val="bg1"/>
                </a:solidFill>
              </a:rPr>
              <a:t>các</a:t>
            </a:r>
            <a:r>
              <a:rPr lang="en-US" smtClean="0">
                <a:solidFill>
                  <a:schemeClr val="bg1"/>
                </a:solidFill>
              </a:rPr>
              <a:t> </a:t>
            </a:r>
            <a:r>
              <a:rPr lang="en-US" err="1" smtClean="0">
                <a:solidFill>
                  <a:schemeClr val="bg1"/>
                </a:solidFill>
              </a:rPr>
              <a:t>phương</a:t>
            </a:r>
            <a:r>
              <a:rPr lang="en-US" smtClean="0">
                <a:solidFill>
                  <a:schemeClr val="bg1"/>
                </a:solidFill>
              </a:rPr>
              <a:t> </a:t>
            </a:r>
            <a:r>
              <a:rPr lang="en-US" err="1" smtClean="0">
                <a:solidFill>
                  <a:schemeClr val="bg1"/>
                </a:solidFill>
              </a:rPr>
              <a:t>thức</a:t>
            </a:r>
            <a:r>
              <a:rPr lang="en-US" smtClean="0">
                <a:solidFill>
                  <a:schemeClr val="bg1"/>
                </a:solidFill>
              </a:rPr>
              <a:t> </a:t>
            </a:r>
            <a:r>
              <a:rPr lang="en-US" err="1" smtClean="0">
                <a:solidFill>
                  <a:schemeClr val="bg1"/>
                </a:solidFill>
              </a:rPr>
              <a:t>xử</a:t>
            </a:r>
            <a:r>
              <a:rPr lang="en-US" smtClean="0">
                <a:solidFill>
                  <a:schemeClr val="bg1"/>
                </a:solidFill>
              </a:rPr>
              <a:t> </a:t>
            </a:r>
            <a:r>
              <a:rPr lang="en-US" err="1" smtClean="0">
                <a:solidFill>
                  <a:schemeClr val="bg1"/>
                </a:solidFill>
              </a:rPr>
              <a:t>lý</a:t>
            </a:r>
            <a:r>
              <a:rPr lang="en-US" smtClean="0">
                <a:solidFill>
                  <a:schemeClr val="bg1"/>
                </a:solidFill>
              </a:rPr>
              <a:t> </a:t>
            </a:r>
            <a:r>
              <a:rPr lang="en-US" err="1" smtClean="0">
                <a:solidFill>
                  <a:schemeClr val="bg1"/>
                </a:solidFill>
              </a:rPr>
              <a:t>dữ</a:t>
            </a:r>
            <a:r>
              <a:rPr lang="en-US" smtClean="0">
                <a:solidFill>
                  <a:schemeClr val="bg1"/>
                </a:solidFill>
              </a:rPr>
              <a:t> </a:t>
            </a:r>
            <a:r>
              <a:rPr lang="en-US" err="1" smtClean="0">
                <a:solidFill>
                  <a:schemeClr val="bg1"/>
                </a:solidFill>
              </a:rPr>
              <a:t>liệu</a:t>
            </a:r>
            <a:r>
              <a:rPr lang="en-US" smtClean="0">
                <a:solidFill>
                  <a:schemeClr val="bg1"/>
                </a:solidFill>
              </a:rPr>
              <a:t> </a:t>
            </a:r>
            <a:r>
              <a:rPr lang="en-US" err="1" smtClean="0">
                <a:solidFill>
                  <a:schemeClr val="bg1"/>
                </a:solidFill>
              </a:rPr>
              <a:t>với</a:t>
            </a:r>
            <a:r>
              <a:rPr lang="en-US" smtClean="0">
                <a:solidFill>
                  <a:schemeClr val="bg1"/>
                </a:solidFill>
              </a:rPr>
              <a:t> List</a:t>
            </a:r>
            <a:endParaRPr lang="en-US">
              <a:solidFill>
                <a:schemeClr val="bg1"/>
              </a:solidFill>
            </a:endParaRPr>
          </a:p>
        </p:txBody>
      </p:sp>
      <p:sp>
        <p:nvSpPr>
          <p:cNvPr id="20" name="TextBox 19"/>
          <p:cNvSpPr txBox="1"/>
          <p:nvPr/>
        </p:nvSpPr>
        <p:spPr>
          <a:xfrm>
            <a:off x="2307264" y="3525658"/>
            <a:ext cx="6023936" cy="369332"/>
          </a:xfrm>
          <a:prstGeom prst="rect">
            <a:avLst/>
          </a:prstGeom>
          <a:noFill/>
        </p:spPr>
        <p:txBody>
          <a:bodyPr wrap="square" rtlCol="0">
            <a:spAutoFit/>
          </a:bodyPr>
          <a:lstStyle/>
          <a:p>
            <a:r>
              <a:rPr lang="en-US" err="1">
                <a:solidFill>
                  <a:schemeClr val="bg1"/>
                </a:solidFill>
              </a:rPr>
              <a:t>Nắm</a:t>
            </a:r>
            <a:r>
              <a:rPr lang="en-US">
                <a:solidFill>
                  <a:schemeClr val="bg1"/>
                </a:solidFill>
              </a:rPr>
              <a:t> </a:t>
            </a:r>
            <a:r>
              <a:rPr lang="en-US" err="1">
                <a:solidFill>
                  <a:schemeClr val="bg1"/>
                </a:solidFill>
              </a:rPr>
              <a:t>được</a:t>
            </a:r>
            <a:r>
              <a:rPr lang="en-US">
                <a:solidFill>
                  <a:schemeClr val="bg1"/>
                </a:solidFill>
              </a:rPr>
              <a:t> </a:t>
            </a:r>
            <a:r>
              <a:rPr lang="en-US" err="1">
                <a:solidFill>
                  <a:schemeClr val="bg1"/>
                </a:solidFill>
              </a:rPr>
              <a:t>cách</a:t>
            </a:r>
            <a:r>
              <a:rPr lang="en-US">
                <a:solidFill>
                  <a:schemeClr val="bg1"/>
                </a:solidFill>
              </a:rPr>
              <a:t> </a:t>
            </a:r>
            <a:r>
              <a:rPr lang="en-US" err="1">
                <a:solidFill>
                  <a:schemeClr val="bg1"/>
                </a:solidFill>
              </a:rPr>
              <a:t>định</a:t>
            </a:r>
            <a:r>
              <a:rPr lang="en-US">
                <a:solidFill>
                  <a:schemeClr val="bg1"/>
                </a:solidFill>
              </a:rPr>
              <a:t> </a:t>
            </a:r>
            <a:r>
              <a:rPr lang="en-US" err="1">
                <a:solidFill>
                  <a:schemeClr val="bg1"/>
                </a:solidFill>
              </a:rPr>
              <a:t>nghĩa</a:t>
            </a:r>
            <a:r>
              <a:rPr lang="en-US">
                <a:solidFill>
                  <a:schemeClr val="bg1"/>
                </a:solidFill>
              </a:rPr>
              <a:t> </a:t>
            </a:r>
            <a:r>
              <a:rPr lang="en-US" err="1">
                <a:solidFill>
                  <a:schemeClr val="bg1"/>
                </a:solidFill>
              </a:rPr>
              <a:t>kiểu</a:t>
            </a:r>
            <a:r>
              <a:rPr lang="en-US">
                <a:solidFill>
                  <a:schemeClr val="bg1"/>
                </a:solidFill>
              </a:rPr>
              <a:t> </a:t>
            </a:r>
            <a:r>
              <a:rPr lang="en-US" err="1">
                <a:solidFill>
                  <a:schemeClr val="bg1"/>
                </a:solidFill>
              </a:rPr>
              <a:t>dữ</a:t>
            </a:r>
            <a:r>
              <a:rPr lang="en-US">
                <a:solidFill>
                  <a:schemeClr val="bg1"/>
                </a:solidFill>
              </a:rPr>
              <a:t> </a:t>
            </a:r>
            <a:r>
              <a:rPr lang="en-US" err="1">
                <a:solidFill>
                  <a:schemeClr val="bg1"/>
                </a:solidFill>
              </a:rPr>
              <a:t>liệu</a:t>
            </a:r>
            <a:r>
              <a:rPr lang="en-US">
                <a:solidFill>
                  <a:schemeClr val="bg1"/>
                </a:solidFill>
              </a:rPr>
              <a:t> </a:t>
            </a:r>
            <a:r>
              <a:rPr lang="en-US" err="1">
                <a:solidFill>
                  <a:schemeClr val="bg1"/>
                </a:solidFill>
              </a:rPr>
              <a:t>mảng</a:t>
            </a:r>
            <a:r>
              <a:rPr lang="en-US">
                <a:solidFill>
                  <a:schemeClr val="bg1"/>
                </a:solidFill>
              </a:rPr>
              <a:t> </a:t>
            </a:r>
            <a:r>
              <a:rPr lang="en-US" err="1">
                <a:solidFill>
                  <a:schemeClr val="bg1"/>
                </a:solidFill>
              </a:rPr>
              <a:t>với</a:t>
            </a:r>
            <a:r>
              <a:rPr lang="en-US">
                <a:solidFill>
                  <a:schemeClr val="bg1"/>
                </a:solidFill>
              </a:rPr>
              <a:t> </a:t>
            </a:r>
            <a:r>
              <a:rPr lang="en-US" smtClean="0">
                <a:solidFill>
                  <a:schemeClr val="bg1"/>
                </a:solidFill>
              </a:rPr>
              <a:t>Tuple</a:t>
            </a:r>
            <a:endParaRPr lang="en-US">
              <a:solidFill>
                <a:schemeClr val="bg1"/>
              </a:solidFill>
            </a:endParaRPr>
          </a:p>
        </p:txBody>
      </p:sp>
      <p:sp>
        <p:nvSpPr>
          <p:cNvPr id="12" name="Oval 11"/>
          <p:cNvSpPr/>
          <p:nvPr/>
        </p:nvSpPr>
        <p:spPr>
          <a:xfrm>
            <a:off x="1731027" y="498760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solidFill>
                  <a:srgbClr val="60B659"/>
                </a:solidFill>
              </a:rPr>
              <a:t>5</a:t>
            </a:r>
            <a:endParaRPr lang="en-US" b="1">
              <a:solidFill>
                <a:srgbClr val="60B659"/>
              </a:solidFill>
            </a:endParaRPr>
          </a:p>
        </p:txBody>
      </p:sp>
      <p:sp>
        <p:nvSpPr>
          <p:cNvPr id="13" name="Oval 12"/>
          <p:cNvSpPr/>
          <p:nvPr/>
        </p:nvSpPr>
        <p:spPr>
          <a:xfrm>
            <a:off x="1731027" y="5806628"/>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60B659"/>
                </a:solidFill>
              </a:rPr>
              <a:t>6</a:t>
            </a:r>
            <a:endParaRPr lang="en-US" b="1">
              <a:solidFill>
                <a:srgbClr val="60B659"/>
              </a:solidFill>
            </a:endParaRPr>
          </a:p>
        </p:txBody>
      </p:sp>
      <p:sp>
        <p:nvSpPr>
          <p:cNvPr id="14" name="TextBox 13"/>
          <p:cNvSpPr txBox="1"/>
          <p:nvPr/>
        </p:nvSpPr>
        <p:spPr>
          <a:xfrm>
            <a:off x="2307264" y="5841886"/>
            <a:ext cx="6717570" cy="369332"/>
          </a:xfrm>
          <a:prstGeom prst="rect">
            <a:avLst/>
          </a:prstGeom>
          <a:noFill/>
        </p:spPr>
        <p:txBody>
          <a:bodyPr wrap="square" rtlCol="0">
            <a:spAutoFit/>
          </a:bodyPr>
          <a:lstStyle/>
          <a:p>
            <a:r>
              <a:rPr lang="en-US" err="1">
                <a:solidFill>
                  <a:schemeClr val="bg1"/>
                </a:solidFill>
              </a:rPr>
              <a:t>Nắm</a:t>
            </a:r>
            <a:r>
              <a:rPr lang="en-US">
                <a:solidFill>
                  <a:schemeClr val="bg1"/>
                </a:solidFill>
              </a:rPr>
              <a:t> </a:t>
            </a:r>
            <a:r>
              <a:rPr lang="en-US" err="1">
                <a:solidFill>
                  <a:schemeClr val="bg1"/>
                </a:solidFill>
              </a:rPr>
              <a:t>được</a:t>
            </a:r>
            <a:r>
              <a:rPr lang="en-US">
                <a:solidFill>
                  <a:schemeClr val="bg1"/>
                </a:solidFill>
              </a:rPr>
              <a:t> </a:t>
            </a:r>
            <a:r>
              <a:rPr lang="en-US" err="1">
                <a:solidFill>
                  <a:schemeClr val="bg1"/>
                </a:solidFill>
              </a:rPr>
              <a:t>các</a:t>
            </a:r>
            <a:r>
              <a:rPr lang="en-US">
                <a:solidFill>
                  <a:schemeClr val="bg1"/>
                </a:solidFill>
              </a:rPr>
              <a:t> </a:t>
            </a:r>
            <a:r>
              <a:rPr lang="en-US" err="1">
                <a:solidFill>
                  <a:schemeClr val="bg1"/>
                </a:solidFill>
              </a:rPr>
              <a:t>phương</a:t>
            </a:r>
            <a:r>
              <a:rPr lang="en-US">
                <a:solidFill>
                  <a:schemeClr val="bg1"/>
                </a:solidFill>
              </a:rPr>
              <a:t> </a:t>
            </a:r>
            <a:r>
              <a:rPr lang="en-US" err="1">
                <a:solidFill>
                  <a:schemeClr val="bg1"/>
                </a:solidFill>
              </a:rPr>
              <a:t>thức</a:t>
            </a:r>
            <a:r>
              <a:rPr lang="en-US">
                <a:solidFill>
                  <a:schemeClr val="bg1"/>
                </a:solidFill>
              </a:rPr>
              <a:t> </a:t>
            </a:r>
            <a:r>
              <a:rPr lang="en-US" err="1">
                <a:solidFill>
                  <a:schemeClr val="bg1"/>
                </a:solidFill>
              </a:rPr>
              <a:t>xử</a:t>
            </a:r>
            <a:r>
              <a:rPr lang="en-US">
                <a:solidFill>
                  <a:schemeClr val="bg1"/>
                </a:solidFill>
              </a:rPr>
              <a:t> </a:t>
            </a:r>
            <a:r>
              <a:rPr lang="en-US" err="1">
                <a:solidFill>
                  <a:schemeClr val="bg1"/>
                </a:solidFill>
              </a:rPr>
              <a:t>lý</a:t>
            </a:r>
            <a:r>
              <a:rPr lang="en-US">
                <a:solidFill>
                  <a:schemeClr val="bg1"/>
                </a:solidFill>
              </a:rPr>
              <a:t> </a:t>
            </a:r>
            <a:r>
              <a:rPr lang="en-US" err="1">
                <a:solidFill>
                  <a:schemeClr val="bg1"/>
                </a:solidFill>
              </a:rPr>
              <a:t>dữ</a:t>
            </a:r>
            <a:r>
              <a:rPr lang="en-US">
                <a:solidFill>
                  <a:schemeClr val="bg1"/>
                </a:solidFill>
              </a:rPr>
              <a:t> </a:t>
            </a:r>
            <a:r>
              <a:rPr lang="en-US" err="1">
                <a:solidFill>
                  <a:schemeClr val="bg1"/>
                </a:solidFill>
              </a:rPr>
              <a:t>liệu</a:t>
            </a:r>
            <a:r>
              <a:rPr lang="en-US">
                <a:solidFill>
                  <a:schemeClr val="bg1"/>
                </a:solidFill>
              </a:rPr>
              <a:t> </a:t>
            </a:r>
            <a:r>
              <a:rPr lang="en-US" err="1">
                <a:solidFill>
                  <a:schemeClr val="bg1"/>
                </a:solidFill>
              </a:rPr>
              <a:t>với</a:t>
            </a:r>
            <a:r>
              <a:rPr lang="en-US">
                <a:solidFill>
                  <a:schemeClr val="bg1"/>
                </a:solidFill>
              </a:rPr>
              <a:t> </a:t>
            </a:r>
            <a:r>
              <a:rPr lang="en-US" smtClean="0">
                <a:solidFill>
                  <a:schemeClr val="bg1"/>
                </a:solidFill>
              </a:rPr>
              <a:t>Set</a:t>
            </a:r>
            <a:endParaRPr lang="en-US">
              <a:solidFill>
                <a:schemeClr val="bg1"/>
              </a:solidFill>
            </a:endParaRPr>
          </a:p>
        </p:txBody>
      </p:sp>
      <p:sp>
        <p:nvSpPr>
          <p:cNvPr id="17" name="TextBox 16"/>
          <p:cNvSpPr txBox="1"/>
          <p:nvPr/>
        </p:nvSpPr>
        <p:spPr>
          <a:xfrm>
            <a:off x="2307263" y="5058125"/>
            <a:ext cx="6134003" cy="369332"/>
          </a:xfrm>
          <a:prstGeom prst="rect">
            <a:avLst/>
          </a:prstGeom>
          <a:noFill/>
        </p:spPr>
        <p:txBody>
          <a:bodyPr wrap="square" rtlCol="0">
            <a:spAutoFit/>
          </a:bodyPr>
          <a:lstStyle/>
          <a:p>
            <a:r>
              <a:rPr lang="en-US" err="1">
                <a:solidFill>
                  <a:schemeClr val="bg1"/>
                </a:solidFill>
              </a:rPr>
              <a:t>Nắm</a:t>
            </a:r>
            <a:r>
              <a:rPr lang="en-US">
                <a:solidFill>
                  <a:schemeClr val="bg1"/>
                </a:solidFill>
              </a:rPr>
              <a:t> </a:t>
            </a:r>
            <a:r>
              <a:rPr lang="en-US" err="1">
                <a:solidFill>
                  <a:schemeClr val="bg1"/>
                </a:solidFill>
              </a:rPr>
              <a:t>được</a:t>
            </a:r>
            <a:r>
              <a:rPr lang="en-US">
                <a:solidFill>
                  <a:schemeClr val="bg1"/>
                </a:solidFill>
              </a:rPr>
              <a:t> </a:t>
            </a:r>
            <a:r>
              <a:rPr lang="en-US" err="1">
                <a:solidFill>
                  <a:schemeClr val="bg1"/>
                </a:solidFill>
              </a:rPr>
              <a:t>cách</a:t>
            </a:r>
            <a:r>
              <a:rPr lang="en-US">
                <a:solidFill>
                  <a:schemeClr val="bg1"/>
                </a:solidFill>
              </a:rPr>
              <a:t> </a:t>
            </a:r>
            <a:r>
              <a:rPr lang="en-US" err="1">
                <a:solidFill>
                  <a:schemeClr val="bg1"/>
                </a:solidFill>
              </a:rPr>
              <a:t>định</a:t>
            </a:r>
            <a:r>
              <a:rPr lang="en-US">
                <a:solidFill>
                  <a:schemeClr val="bg1"/>
                </a:solidFill>
              </a:rPr>
              <a:t> </a:t>
            </a:r>
            <a:r>
              <a:rPr lang="en-US" err="1">
                <a:solidFill>
                  <a:schemeClr val="bg1"/>
                </a:solidFill>
              </a:rPr>
              <a:t>nghĩa</a:t>
            </a:r>
            <a:r>
              <a:rPr lang="en-US">
                <a:solidFill>
                  <a:schemeClr val="bg1"/>
                </a:solidFill>
              </a:rPr>
              <a:t> </a:t>
            </a:r>
            <a:r>
              <a:rPr lang="en-US" err="1">
                <a:solidFill>
                  <a:schemeClr val="bg1"/>
                </a:solidFill>
              </a:rPr>
              <a:t>kiểu</a:t>
            </a:r>
            <a:r>
              <a:rPr lang="en-US">
                <a:solidFill>
                  <a:schemeClr val="bg1"/>
                </a:solidFill>
              </a:rPr>
              <a:t> </a:t>
            </a:r>
            <a:r>
              <a:rPr lang="en-US" err="1">
                <a:solidFill>
                  <a:schemeClr val="bg1"/>
                </a:solidFill>
              </a:rPr>
              <a:t>dữ</a:t>
            </a:r>
            <a:r>
              <a:rPr lang="en-US">
                <a:solidFill>
                  <a:schemeClr val="bg1"/>
                </a:solidFill>
              </a:rPr>
              <a:t> </a:t>
            </a:r>
            <a:r>
              <a:rPr lang="en-US" err="1">
                <a:solidFill>
                  <a:schemeClr val="bg1"/>
                </a:solidFill>
              </a:rPr>
              <a:t>liệu</a:t>
            </a:r>
            <a:r>
              <a:rPr lang="en-US">
                <a:solidFill>
                  <a:schemeClr val="bg1"/>
                </a:solidFill>
              </a:rPr>
              <a:t> </a:t>
            </a:r>
            <a:r>
              <a:rPr lang="en-US" err="1">
                <a:solidFill>
                  <a:schemeClr val="bg1"/>
                </a:solidFill>
              </a:rPr>
              <a:t>mảng</a:t>
            </a:r>
            <a:r>
              <a:rPr lang="en-US">
                <a:solidFill>
                  <a:schemeClr val="bg1"/>
                </a:solidFill>
              </a:rPr>
              <a:t> </a:t>
            </a:r>
            <a:r>
              <a:rPr lang="en-US" smtClean="0">
                <a:solidFill>
                  <a:schemeClr val="bg1"/>
                </a:solidFill>
              </a:rPr>
              <a:t>với</a:t>
            </a:r>
            <a:r>
              <a:rPr lang="en-US">
                <a:solidFill>
                  <a:schemeClr val="bg1"/>
                </a:solidFill>
              </a:rPr>
              <a:t> </a:t>
            </a:r>
            <a:r>
              <a:rPr lang="en-US" smtClean="0">
                <a:solidFill>
                  <a:schemeClr val="bg1"/>
                </a:solidFill>
              </a:rPr>
              <a:t>Set</a:t>
            </a:r>
            <a:endParaRPr lang="en-US">
              <a:solidFill>
                <a:schemeClr val="bg1"/>
              </a:solidFill>
            </a:endParaRPr>
          </a:p>
        </p:txBody>
      </p:sp>
    </p:spTree>
    <p:extLst>
      <p:ext uri="{BB962C8B-B14F-4D97-AF65-F5344CB8AC3E}">
        <p14:creationId xmlns:p14="http://schemas.microsoft.com/office/powerpoint/2010/main" val="26719927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1650</TotalTime>
  <Words>2595</Words>
  <Application>Microsoft Office PowerPoint</Application>
  <PresentationFormat>On-screen Show (4:3)</PresentationFormat>
  <Paragraphs>345</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Nobj</dc:creator>
  <cp:lastModifiedBy>Microsoft account</cp:lastModifiedBy>
  <cp:revision>913</cp:revision>
  <dcterms:created xsi:type="dcterms:W3CDTF">2023-04-21T02:43:36Z</dcterms:created>
  <dcterms:modified xsi:type="dcterms:W3CDTF">2025-10-30T02:19:03Z</dcterms:modified>
</cp:coreProperties>
</file>