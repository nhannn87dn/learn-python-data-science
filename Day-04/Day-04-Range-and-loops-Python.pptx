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8" r:id="rId3"/>
    <p:sldId id="282" r:id="rId4"/>
    <p:sldId id="287" r:id="rId5"/>
    <p:sldId id="289" r:id="rId6"/>
    <p:sldId id="290" r:id="rId7"/>
    <p:sldId id="286" r:id="rId8"/>
    <p:sldId id="283" r:id="rId9"/>
    <p:sldId id="284" r:id="rId10"/>
    <p:sldId id="285" r:id="rId11"/>
    <p:sldId id="292" r:id="rId12"/>
    <p:sldId id="291" r:id="rId13"/>
    <p:sldId id="26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500"/>
    <a:srgbClr val="FF66CC"/>
    <a:srgbClr val="3772A2"/>
    <a:srgbClr val="FECC36"/>
    <a:srgbClr val="64C0A7"/>
    <a:srgbClr val="67C7DF"/>
    <a:srgbClr val="5EB130"/>
    <a:srgbClr val="346E9E"/>
    <a:srgbClr val="60B659"/>
    <a:srgbClr val="CD00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85" autoAdjust="0"/>
    <p:restoredTop sz="94280" autoAdjust="0"/>
  </p:normalViewPr>
  <p:slideViewPr>
    <p:cSldViewPr snapToGrid="0">
      <p:cViewPr varScale="1">
        <p:scale>
          <a:sx n="113" d="100"/>
          <a:sy n="113" d="100"/>
        </p:scale>
        <p:origin x="154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DF935-9821-4834-9D99-7DEFA719F44D}" type="datetimeFigureOut">
              <a:rPr lang="en-US" smtClean="0"/>
              <a:t>10/30/2025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6C599-AFDD-4E70-A5D7-287F6F8DCAAF}" type="slidenum">
              <a:rPr lang="en-US" smtClean="0"/>
              <a:t>‹#›</a:t>
            </a:fld>
            <a:endParaRPr lang="en-US"/>
          </a:p>
        </p:txBody>
      </p:sp>
    </p:spTree>
    <p:extLst>
      <p:ext uri="{BB962C8B-B14F-4D97-AF65-F5344CB8AC3E}">
        <p14:creationId xmlns:p14="http://schemas.microsoft.com/office/powerpoint/2010/main" val="21959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43576" y="2133600"/>
            <a:ext cx="3400425" cy="47244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704975" cy="4724400"/>
          </a:xfrm>
          <a:prstGeom prst="rect">
            <a:avLst/>
          </a:prstGeom>
        </p:spPr>
      </p:pic>
    </p:spTree>
    <p:extLst>
      <p:ext uri="{BB962C8B-B14F-4D97-AF65-F5344CB8AC3E}">
        <p14:creationId xmlns:p14="http://schemas.microsoft.com/office/powerpoint/2010/main" val="2215930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0" dirty="0" smtClean="0">
                <a:solidFill>
                  <a:schemeClr val="bg1"/>
                </a:solidFill>
                <a:latin typeface="+mj-lt"/>
                <a:ea typeface="Roboto" pitchFamily="2" charset="0"/>
                <a:cs typeface="Arial" panose="020B0604020202020204" pitchFamily="34" charset="0"/>
              </a:rPr>
              <a:t>Học</a:t>
            </a:r>
            <a:r>
              <a:rPr lang="en-US" sz="2000" b="0" baseline="0" dirty="0" smtClean="0">
                <a:solidFill>
                  <a:schemeClr val="bg1"/>
                </a:solidFill>
                <a:latin typeface="+mj-lt"/>
                <a:ea typeface="Roboto" pitchFamily="2" charset="0"/>
                <a:cs typeface="Arial" panose="020B0604020202020204" pitchFamily="34" charset="0"/>
              </a:rPr>
              <a:t> l</a:t>
            </a:r>
            <a:r>
              <a:rPr lang="en-US" sz="2000" b="0" dirty="0" smtClean="0">
                <a:solidFill>
                  <a:schemeClr val="bg1"/>
                </a:solidFill>
                <a:latin typeface="+mj-lt"/>
                <a:ea typeface="Roboto" pitchFamily="2" charset="0"/>
                <a:cs typeface="Arial" panose="020B0604020202020204" pitchFamily="34" charset="0"/>
              </a:rPr>
              <a:t>ập</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trình</a:t>
            </a:r>
            <a:r>
              <a:rPr lang="en-US" sz="2000" b="0" baseline="0" dirty="0" smtClean="0">
                <a:solidFill>
                  <a:schemeClr val="bg1"/>
                </a:solidFill>
                <a:latin typeface="+mj-lt"/>
                <a:ea typeface="Roboto" pitchFamily="2" charset="0"/>
                <a:cs typeface="Arial" panose="020B0604020202020204" pitchFamily="34" charset="0"/>
              </a:rPr>
              <a:t> Python </a:t>
            </a:r>
            <a:r>
              <a:rPr lang="en-US" sz="2000" b="0" baseline="0" dirty="0" err="1" smtClean="0">
                <a:solidFill>
                  <a:schemeClr val="bg1"/>
                </a:solidFill>
                <a:latin typeface="+mj-lt"/>
                <a:ea typeface="Roboto" pitchFamily="2" charset="0"/>
                <a:cs typeface="Arial" panose="020B0604020202020204" pitchFamily="34" charset="0"/>
              </a:rPr>
              <a:t>Cơ</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Bản</a:t>
            </a:r>
            <a:endParaRPr lang="en-US" sz="2000" b="0"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294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Học</a:t>
            </a:r>
            <a:r>
              <a:rPr lang="en-US" sz="2000" b="1" baseline="0" dirty="0" smtClean="0">
                <a:solidFill>
                  <a:schemeClr val="bg1"/>
                </a:solidFill>
                <a:latin typeface="+mj-lt"/>
                <a:ea typeface="Roboto" pitchFamily="2" charset="0"/>
                <a:cs typeface="Arial" panose="020B0604020202020204" pitchFamily="34" charset="0"/>
              </a:rPr>
              <a:t> l</a:t>
            </a:r>
            <a:r>
              <a:rPr lang="en-US" sz="2000" b="1" dirty="0" smtClean="0">
                <a:solidFill>
                  <a:schemeClr val="bg1"/>
                </a:solidFill>
                <a:latin typeface="+mj-lt"/>
                <a:ea typeface="Roboto" pitchFamily="2" charset="0"/>
                <a:cs typeface="Arial" panose="020B0604020202020204" pitchFamily="34" charset="0"/>
              </a:rPr>
              <a:t>ập</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trình</a:t>
            </a:r>
            <a:r>
              <a:rPr lang="en-US" sz="2000" b="1" baseline="0" dirty="0" smtClean="0">
                <a:solidFill>
                  <a:schemeClr val="bg1"/>
                </a:solidFill>
                <a:latin typeface="+mj-lt"/>
                <a:ea typeface="Roboto" pitchFamily="2" charset="0"/>
                <a:cs typeface="Arial" panose="020B0604020202020204" pitchFamily="34" charset="0"/>
              </a:rPr>
              <a:t> Python </a:t>
            </a:r>
            <a:r>
              <a:rPr lang="en-US" sz="2000" b="1" baseline="0" dirty="0" err="1" smtClean="0">
                <a:solidFill>
                  <a:schemeClr val="bg1"/>
                </a:solidFill>
                <a:latin typeface="+mj-lt"/>
                <a:ea typeface="Roboto" pitchFamily="2" charset="0"/>
                <a:cs typeface="Arial" panose="020B0604020202020204" pitchFamily="34" charset="0"/>
              </a:rPr>
              <a:t>Cơ</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Bản</a:t>
            </a:r>
            <a:endParaRPr lang="en-US" sz="2000" b="1"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spTree>
    <p:extLst>
      <p:ext uri="{BB962C8B-B14F-4D97-AF65-F5344CB8AC3E}">
        <p14:creationId xmlns:p14="http://schemas.microsoft.com/office/powerpoint/2010/main" val="351256245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5169831"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Học</a:t>
            </a:r>
            <a:r>
              <a:rPr lang="en-US" sz="2000" b="1" baseline="0" dirty="0" smtClean="0">
                <a:solidFill>
                  <a:schemeClr val="bg1"/>
                </a:solidFill>
                <a:latin typeface="+mj-lt"/>
                <a:ea typeface="Roboto" pitchFamily="2" charset="0"/>
                <a:cs typeface="Arial" panose="020B0604020202020204" pitchFamily="34" charset="0"/>
              </a:rPr>
              <a:t> l</a:t>
            </a:r>
            <a:r>
              <a:rPr lang="en-US" sz="2000" b="1" dirty="0" smtClean="0">
                <a:solidFill>
                  <a:schemeClr val="bg1"/>
                </a:solidFill>
                <a:latin typeface="+mj-lt"/>
                <a:ea typeface="Roboto" pitchFamily="2" charset="0"/>
                <a:cs typeface="Arial" panose="020B0604020202020204" pitchFamily="34" charset="0"/>
              </a:rPr>
              <a:t>ập</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trình</a:t>
            </a:r>
            <a:r>
              <a:rPr lang="en-US" sz="2000" b="1" baseline="0" dirty="0" smtClean="0">
                <a:solidFill>
                  <a:schemeClr val="bg1"/>
                </a:solidFill>
                <a:latin typeface="+mj-lt"/>
                <a:ea typeface="Roboto" pitchFamily="2" charset="0"/>
                <a:cs typeface="Arial" panose="020B0604020202020204" pitchFamily="34" charset="0"/>
              </a:rPr>
              <a:t> Python </a:t>
            </a:r>
            <a:r>
              <a:rPr lang="en-US" sz="2000" b="1" baseline="0" dirty="0" err="1" smtClean="0">
                <a:solidFill>
                  <a:schemeClr val="bg1"/>
                </a:solidFill>
                <a:latin typeface="+mj-lt"/>
                <a:ea typeface="Roboto" pitchFamily="2" charset="0"/>
                <a:cs typeface="Arial" panose="020B0604020202020204" pitchFamily="34" charset="0"/>
              </a:rPr>
              <a:t>Cơ</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Bản</a:t>
            </a:r>
            <a:endParaRPr lang="en-US" sz="2000" b="1" dirty="0">
              <a:solidFill>
                <a:schemeClr val="bg1"/>
              </a:solidFill>
              <a:latin typeface="+mj-lt"/>
              <a:ea typeface="Roboto" pitchFamily="2" charset="0"/>
              <a:cs typeface="Arial" panose="020B0604020202020204" pitchFamily="34" charset="0"/>
            </a:endParaRPr>
          </a:p>
        </p:txBody>
      </p:sp>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grpSp>
        <p:nvGrpSpPr>
          <p:cNvPr id="4" name="Group 3"/>
          <p:cNvGrpSpPr/>
          <p:nvPr userDrawn="1"/>
        </p:nvGrpSpPr>
        <p:grpSpPr>
          <a:xfrm>
            <a:off x="-1" y="0"/>
            <a:ext cx="4016198" cy="669849"/>
            <a:chOff x="-1" y="0"/>
            <a:chExt cx="4016198" cy="669849"/>
          </a:xfrm>
        </p:grpSpPr>
        <p:sp>
          <p:nvSpPr>
            <p:cNvPr id="11" name="Rectangle 10"/>
            <p:cNvSpPr/>
            <p:nvPr userDrawn="1"/>
          </p:nvSpPr>
          <p:spPr>
            <a:xfrm>
              <a:off x="-1" y="0"/>
              <a:ext cx="3346347" cy="669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Right Triangle 1"/>
            <p:cNvSpPr/>
            <p:nvPr userDrawn="1"/>
          </p:nvSpPr>
          <p:spPr>
            <a:xfrm>
              <a:off x="3346348" y="0"/>
              <a:ext cx="669849" cy="669849"/>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7517" y="134871"/>
            <a:ext cx="2696722" cy="534978"/>
          </a:xfrm>
          <a:prstGeom prst="rect">
            <a:avLst/>
          </a:prstGeom>
        </p:spPr>
      </p:pic>
    </p:spTree>
    <p:extLst>
      <p:ext uri="{BB962C8B-B14F-4D97-AF65-F5344CB8AC3E}">
        <p14:creationId xmlns:p14="http://schemas.microsoft.com/office/powerpoint/2010/main" val="301428883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EC917-02A2-4152-9EE3-DFE2775A77C7}" type="slidenum">
              <a:rPr lang="en-US" smtClean="0"/>
              <a:t>‹#›</a:t>
            </a:fld>
            <a:endParaRPr lang="en-US"/>
          </a:p>
        </p:txBody>
      </p:sp>
    </p:spTree>
    <p:extLst>
      <p:ext uri="{BB962C8B-B14F-4D97-AF65-F5344CB8AC3E}">
        <p14:creationId xmlns:p14="http://schemas.microsoft.com/office/powerpoint/2010/main" val="273211678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 id="2147483675" r:id="rId4"/>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w3schools.com/python/ref_func_range.asp" TargetMode="External"/><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hyperlink" Target="https://www.w3schools.com/python/python_while_loops.asp" TargetMode="External"/><Relationship Id="rId4" Type="http://schemas.openxmlformats.org/officeDocument/2006/relationships/hyperlink" Target="https://www.w3schools.com/python/python_for_loops.as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2502"/>
            <a:ext cx="9144000" cy="1924493"/>
          </a:xfrm>
          <a:prstGeom prst="rect">
            <a:avLst/>
          </a:pr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032185" y="3398810"/>
            <a:ext cx="3079630" cy="646331"/>
          </a:xfrm>
          <a:prstGeom prst="rect">
            <a:avLst/>
          </a:prstGeom>
          <a:noFill/>
        </p:spPr>
        <p:txBody>
          <a:bodyPr wrap="square" rtlCol="0">
            <a:spAutoFit/>
          </a:bodyPr>
          <a:lstStyle/>
          <a:p>
            <a:pPr algn="ctr"/>
            <a:r>
              <a:rPr lang="en-US" sz="3600" b="1" dirty="0">
                <a:solidFill>
                  <a:schemeClr val="bg1"/>
                </a:solidFill>
              </a:rPr>
              <a:t>BÀI </a:t>
            </a:r>
            <a:r>
              <a:rPr lang="en-US" sz="3600" b="1" dirty="0" smtClean="0">
                <a:solidFill>
                  <a:schemeClr val="bg1"/>
                </a:solidFill>
              </a:rPr>
              <a:t>4</a:t>
            </a:r>
            <a:endParaRPr lang="en-US" sz="3600" b="1" dirty="0">
              <a:solidFill>
                <a:schemeClr val="bg1"/>
              </a:solidFill>
            </a:endParaRPr>
          </a:p>
        </p:txBody>
      </p:sp>
      <p:sp>
        <p:nvSpPr>
          <p:cNvPr id="7" name="TextBox 6"/>
          <p:cNvSpPr txBox="1"/>
          <p:nvPr/>
        </p:nvSpPr>
        <p:spPr>
          <a:xfrm>
            <a:off x="1137019" y="4179138"/>
            <a:ext cx="6869962" cy="1323439"/>
          </a:xfrm>
          <a:prstGeom prst="rect">
            <a:avLst/>
          </a:prstGeom>
          <a:noFill/>
        </p:spPr>
        <p:txBody>
          <a:bodyPr wrap="square" rtlCol="0">
            <a:spAutoFit/>
          </a:bodyPr>
          <a:lstStyle/>
          <a:p>
            <a:pPr algn="ctr"/>
            <a:r>
              <a:rPr lang="en-US" sz="4000" b="1" dirty="0" smtClean="0">
                <a:solidFill>
                  <a:schemeClr val="bg1"/>
                </a:solidFill>
                <a:ea typeface="Roboto" pitchFamily="2" charset="0"/>
              </a:rPr>
              <a:t>Kiểu dữ liệu range</a:t>
            </a:r>
            <a:r>
              <a:rPr lang="en-US" sz="4000" b="1" dirty="0">
                <a:solidFill>
                  <a:schemeClr val="bg1"/>
                </a:solidFill>
                <a:ea typeface="Roboto" pitchFamily="2" charset="0"/>
              </a:rPr>
              <a:t> </a:t>
            </a:r>
            <a:r>
              <a:rPr lang="en-US" sz="4000" b="1" dirty="0" smtClean="0">
                <a:solidFill>
                  <a:schemeClr val="bg1"/>
                </a:solidFill>
                <a:ea typeface="Roboto" pitchFamily="2" charset="0"/>
              </a:rPr>
              <a:t>và Vòng lặp While, for</a:t>
            </a:r>
            <a:endParaRPr lang="en-US" sz="4000" b="1" dirty="0">
              <a:solidFill>
                <a:schemeClr val="bg1"/>
              </a:solidFill>
              <a:ea typeface="Roboto" pitchFamily="2" charset="0"/>
            </a:endParaRPr>
          </a:p>
        </p:txBody>
      </p:sp>
      <p:pic>
        <p:nvPicPr>
          <p:cNvPr id="2050" name="Picture 2" descr="https://aptech-danang.edu.vn/Content/ace/images/banner-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978" y="1263702"/>
            <a:ext cx="4766044" cy="116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468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a:t>
            </a:fld>
            <a:endParaRPr lang="en-US"/>
          </a:p>
        </p:txBody>
      </p:sp>
      <p:sp>
        <p:nvSpPr>
          <p:cNvPr id="3" name="Text Placeholder 2"/>
          <p:cNvSpPr>
            <a:spLocks noGrp="1"/>
          </p:cNvSpPr>
          <p:nvPr>
            <p:ph type="body" sz="quarter" idx="13"/>
          </p:nvPr>
        </p:nvSpPr>
        <p:spPr>
          <a:xfrm>
            <a:off x="301926" y="797441"/>
            <a:ext cx="8454964" cy="424732"/>
          </a:xfrm>
        </p:spPr>
        <p:txBody>
          <a:bodyPr/>
          <a:lstStyle/>
          <a:p>
            <a:r>
              <a:rPr lang="en-US" dirty="0" err="1" smtClean="0"/>
              <a:t>Tóm</a:t>
            </a:r>
            <a:r>
              <a:rPr lang="en-US" dirty="0" smtClean="0"/>
              <a:t> </a:t>
            </a:r>
            <a:r>
              <a:rPr lang="en-US" dirty="0" err="1" smtClean="0"/>
              <a:t>Tắt</a:t>
            </a:r>
            <a:r>
              <a:rPr lang="en-US" dirty="0" smtClean="0"/>
              <a:t> </a:t>
            </a:r>
            <a:r>
              <a:rPr lang="en-US" dirty="0" err="1" smtClean="0"/>
              <a:t>Nội</a:t>
            </a:r>
            <a:r>
              <a:rPr lang="en-US" dirty="0" smtClean="0"/>
              <a:t> Dung</a:t>
            </a:r>
            <a:endParaRPr lang="en-US" dirty="0"/>
          </a:p>
        </p:txBody>
      </p:sp>
      <p:sp>
        <p:nvSpPr>
          <p:cNvPr id="4" name="Oval 3"/>
          <p:cNvSpPr/>
          <p:nvPr/>
        </p:nvSpPr>
        <p:spPr>
          <a:xfrm>
            <a:off x="602143" y="235651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a:t>
            </a:r>
            <a:endParaRPr lang="en-US" b="1" dirty="0"/>
          </a:p>
        </p:txBody>
      </p:sp>
      <p:sp>
        <p:nvSpPr>
          <p:cNvPr id="6" name="TextBox 5"/>
          <p:cNvSpPr txBox="1"/>
          <p:nvPr/>
        </p:nvSpPr>
        <p:spPr>
          <a:xfrm>
            <a:off x="1201479" y="2373866"/>
            <a:ext cx="5178056" cy="369332"/>
          </a:xfrm>
          <a:prstGeom prst="rect">
            <a:avLst/>
          </a:prstGeom>
          <a:noFill/>
        </p:spPr>
        <p:txBody>
          <a:bodyPr wrap="square" rtlCol="0">
            <a:spAutoFit/>
          </a:bodyPr>
          <a:lstStyle/>
          <a:p>
            <a:r>
              <a:rPr lang="en-US" dirty="0" err="1" smtClean="0"/>
              <a:t>Tìm</a:t>
            </a:r>
            <a:r>
              <a:rPr lang="en-US" dirty="0" smtClean="0"/>
              <a:t> </a:t>
            </a:r>
            <a:r>
              <a:rPr lang="en-US" dirty="0" err="1" smtClean="0"/>
              <a:t>hiểu</a:t>
            </a:r>
            <a:r>
              <a:rPr lang="en-US" dirty="0" smtClean="0"/>
              <a:t> </a:t>
            </a:r>
            <a:r>
              <a:rPr lang="en-US" err="1" smtClean="0"/>
              <a:t>về</a:t>
            </a:r>
            <a:r>
              <a:rPr lang="en-US" smtClean="0"/>
              <a:t> </a:t>
            </a:r>
            <a:r>
              <a:rPr lang="en-US" b="1" smtClean="0"/>
              <a:t>range</a:t>
            </a:r>
            <a:r>
              <a:rPr lang="en-US" smtClean="0"/>
              <a:t>()</a:t>
            </a:r>
            <a:endParaRPr lang="en-US" dirty="0"/>
          </a:p>
        </p:txBody>
      </p:sp>
      <p:sp>
        <p:nvSpPr>
          <p:cNvPr id="7" name="Oval 6"/>
          <p:cNvSpPr/>
          <p:nvPr/>
        </p:nvSpPr>
        <p:spPr>
          <a:xfrm>
            <a:off x="602143" y="3100793"/>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8" name="TextBox 7"/>
          <p:cNvSpPr txBox="1"/>
          <p:nvPr/>
        </p:nvSpPr>
        <p:spPr>
          <a:xfrm>
            <a:off x="1201479" y="3118145"/>
            <a:ext cx="5178056" cy="369332"/>
          </a:xfrm>
          <a:prstGeom prst="rect">
            <a:avLst/>
          </a:prstGeom>
          <a:noFill/>
        </p:spPr>
        <p:txBody>
          <a:bodyPr wrap="square" rtlCol="0">
            <a:spAutoFit/>
          </a:bodyPr>
          <a:lstStyle/>
          <a:p>
            <a:r>
              <a:rPr lang="en-US" smtClean="0"/>
              <a:t>Tổng quan về vòng lặp: </a:t>
            </a:r>
            <a:r>
              <a:rPr lang="en-US" b="1" smtClean="0"/>
              <a:t>for</a:t>
            </a:r>
            <a:r>
              <a:rPr lang="en-US" smtClean="0"/>
              <a:t>, </a:t>
            </a:r>
            <a:r>
              <a:rPr lang="en-US" b="1" smtClean="0"/>
              <a:t>while</a:t>
            </a:r>
            <a:r>
              <a:rPr lang="en-US" smtClean="0"/>
              <a:t> trong Python</a:t>
            </a:r>
            <a:endParaRPr lang="en-US" dirty="0"/>
          </a:p>
        </p:txBody>
      </p:sp>
      <p:sp>
        <p:nvSpPr>
          <p:cNvPr id="11" name="Oval 10"/>
          <p:cNvSpPr/>
          <p:nvPr/>
        </p:nvSpPr>
        <p:spPr>
          <a:xfrm>
            <a:off x="602143" y="3823807"/>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a:t>
            </a:r>
            <a:endParaRPr lang="en-US" b="1" dirty="0"/>
          </a:p>
        </p:txBody>
      </p:sp>
      <p:sp>
        <p:nvSpPr>
          <p:cNvPr id="12" name="TextBox 11"/>
          <p:cNvSpPr txBox="1"/>
          <p:nvPr/>
        </p:nvSpPr>
        <p:spPr>
          <a:xfrm>
            <a:off x="1201479" y="3841159"/>
            <a:ext cx="5178056" cy="369332"/>
          </a:xfrm>
          <a:prstGeom prst="rect">
            <a:avLst/>
          </a:prstGeom>
          <a:noFill/>
        </p:spPr>
        <p:txBody>
          <a:bodyPr wrap="square" rtlCol="0">
            <a:spAutoFit/>
          </a:bodyPr>
          <a:lstStyle/>
          <a:p>
            <a:r>
              <a:rPr lang="en-US"/>
              <a:t>Vòng lặp với câu lệnh </a:t>
            </a:r>
            <a:r>
              <a:rPr lang="en-US" b="1"/>
              <a:t>break </a:t>
            </a:r>
            <a:r>
              <a:rPr lang="en-US"/>
              <a:t>và</a:t>
            </a:r>
            <a:r>
              <a:rPr lang="en-US" b="1"/>
              <a:t> continue</a:t>
            </a:r>
            <a:r>
              <a:rPr lang="en-US"/>
              <a:t>  </a:t>
            </a:r>
            <a:endParaRPr lang="en-US" b="1" dirty="0"/>
          </a:p>
        </p:txBody>
      </p:sp>
      <p:sp>
        <p:nvSpPr>
          <p:cNvPr id="14" name="TextBox 13"/>
          <p:cNvSpPr txBox="1"/>
          <p:nvPr/>
        </p:nvSpPr>
        <p:spPr>
          <a:xfrm>
            <a:off x="516657" y="1526604"/>
            <a:ext cx="8240233" cy="369332"/>
          </a:xfrm>
          <a:prstGeom prst="rect">
            <a:avLst/>
          </a:prstGeom>
          <a:noFill/>
        </p:spPr>
        <p:txBody>
          <a:bodyPr wrap="square" rtlCol="0">
            <a:spAutoFit/>
          </a:bodyPr>
          <a:lstStyle/>
          <a:p>
            <a:r>
              <a:rPr lang="en-US" dirty="0" err="1" smtClean="0"/>
              <a:t>Trong</a:t>
            </a:r>
            <a:r>
              <a:rPr lang="en-US" dirty="0" smtClean="0"/>
              <a:t> </a:t>
            </a:r>
            <a:r>
              <a:rPr lang="en-US" dirty="0" err="1" smtClean="0"/>
              <a:t>bài</a:t>
            </a:r>
            <a:r>
              <a:rPr lang="en-US" dirty="0" smtClean="0"/>
              <a:t> </a:t>
            </a:r>
            <a:r>
              <a:rPr lang="en-US" dirty="0" err="1" smtClean="0"/>
              <a:t>học</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sẽ</a:t>
            </a:r>
            <a:r>
              <a:rPr lang="en-US" dirty="0" smtClean="0"/>
              <a:t> </a:t>
            </a:r>
            <a:r>
              <a:rPr lang="en-US" dirty="0" err="1" smtClean="0"/>
              <a:t>đi</a:t>
            </a:r>
            <a:r>
              <a:rPr lang="en-US" dirty="0" smtClean="0"/>
              <a:t> </a:t>
            </a:r>
            <a:r>
              <a:rPr lang="en-US" dirty="0" err="1" smtClean="0"/>
              <a:t>tìm</a:t>
            </a:r>
            <a:r>
              <a:rPr lang="en-US" dirty="0" smtClean="0"/>
              <a:t> </a:t>
            </a:r>
            <a:r>
              <a:rPr lang="en-US" dirty="0" err="1" smtClean="0"/>
              <a:t>hiều</a:t>
            </a:r>
            <a:r>
              <a:rPr lang="en-US" dirty="0" smtClean="0"/>
              <a:t> </a:t>
            </a:r>
            <a:r>
              <a:rPr lang="en-US" dirty="0" err="1" smtClean="0"/>
              <a:t>lần</a:t>
            </a:r>
            <a:r>
              <a:rPr lang="en-US" dirty="0" smtClean="0"/>
              <a:t> </a:t>
            </a:r>
            <a:r>
              <a:rPr lang="en-US" dirty="0" err="1" smtClean="0"/>
              <a:t>lượt</a:t>
            </a:r>
            <a:r>
              <a:rPr lang="en-US" dirty="0" smtClean="0"/>
              <a:t> </a:t>
            </a:r>
            <a:r>
              <a:rPr lang="en-US" dirty="0" err="1" smtClean="0"/>
              <a:t>các</a:t>
            </a:r>
            <a:r>
              <a:rPr lang="en-US" dirty="0" smtClean="0"/>
              <a:t> </a:t>
            </a:r>
            <a:r>
              <a:rPr lang="en-US" dirty="0" err="1" smtClean="0"/>
              <a:t>nội</a:t>
            </a:r>
            <a:r>
              <a:rPr lang="en-US" dirty="0" smtClean="0"/>
              <a:t> dung</a:t>
            </a:r>
            <a:endParaRPr lang="en-US" dirty="0"/>
          </a:p>
        </p:txBody>
      </p:sp>
    </p:spTree>
    <p:extLst>
      <p:ext uri="{BB962C8B-B14F-4D97-AF65-F5344CB8AC3E}">
        <p14:creationId xmlns:p14="http://schemas.microsoft.com/office/powerpoint/2010/main" val="19358138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range</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Câu</a:t>
            </a:r>
            <a:r>
              <a:rPr lang="en-US" b="1" dirty="0" smtClean="0"/>
              <a:t> </a:t>
            </a:r>
            <a:r>
              <a:rPr lang="en-US" b="1" dirty="0" err="1" smtClean="0"/>
              <a:t>lệnh</a:t>
            </a:r>
            <a:r>
              <a:rPr lang="en-US" b="1" dirty="0" smtClean="0"/>
              <a:t> range() </a:t>
            </a:r>
            <a:r>
              <a:rPr lang="en-US" b="1" dirty="0" err="1" smtClean="0"/>
              <a:t>trong</a:t>
            </a:r>
            <a:r>
              <a:rPr lang="en-US" b="1" dirty="0" smtClean="0"/>
              <a:t> Python</a:t>
            </a:r>
            <a:endParaRPr lang="en-US" b="1" dirty="0"/>
          </a:p>
        </p:txBody>
      </p:sp>
      <p:sp>
        <p:nvSpPr>
          <p:cNvPr id="6" name="TextBox 5"/>
          <p:cNvSpPr txBox="1"/>
          <p:nvPr/>
        </p:nvSpPr>
        <p:spPr>
          <a:xfrm>
            <a:off x="548981" y="1961567"/>
            <a:ext cx="8333421" cy="646331"/>
          </a:xfrm>
          <a:prstGeom prst="rect">
            <a:avLst/>
          </a:prstGeom>
          <a:noFill/>
        </p:spPr>
        <p:txBody>
          <a:bodyPr wrap="square" rtlCol="0">
            <a:spAutoFit/>
          </a:bodyPr>
          <a:lstStyle/>
          <a:p>
            <a:r>
              <a:rPr lang="vi-VN" dirty="0"/>
              <a:t>Hàm </a:t>
            </a:r>
            <a:r>
              <a:rPr lang="vi-VN" b="1" dirty="0"/>
              <a:t>range() </a:t>
            </a:r>
            <a:r>
              <a:rPr lang="vi-VN" dirty="0"/>
              <a:t>trả về một dãy số, bắt đầu từ 0 theo mặc định và tăng dần 1 (theo mặc định) và dừng trước một số đã chỉ định.</a:t>
            </a:r>
            <a:endParaRPr lang="en-US" b="1" dirty="0"/>
          </a:p>
        </p:txBody>
      </p:sp>
      <p:sp>
        <p:nvSpPr>
          <p:cNvPr id="7" name="TextBox 6"/>
          <p:cNvSpPr txBox="1"/>
          <p:nvPr/>
        </p:nvSpPr>
        <p:spPr>
          <a:xfrm>
            <a:off x="1945758" y="2741213"/>
            <a:ext cx="4146698" cy="461665"/>
          </a:xfrm>
          <a:prstGeom prst="rect">
            <a:avLst/>
          </a:prstGeom>
          <a:noFill/>
        </p:spPr>
        <p:txBody>
          <a:bodyPr wrap="square" rtlCol="0">
            <a:spAutoFit/>
          </a:bodyPr>
          <a:lstStyle/>
          <a:p>
            <a:r>
              <a:rPr lang="en-US" sz="2400" b="1" dirty="0" smtClean="0">
                <a:solidFill>
                  <a:srgbClr val="FF0000"/>
                </a:solidFill>
              </a:rPr>
              <a:t>range</a:t>
            </a:r>
            <a:r>
              <a:rPr lang="en-US" sz="2400" b="1" i="1" dirty="0" smtClean="0">
                <a:solidFill>
                  <a:srgbClr val="FF0000"/>
                </a:solidFill>
              </a:rPr>
              <a:t>(</a:t>
            </a:r>
            <a:r>
              <a:rPr lang="en-US" sz="2400" b="1" i="1" dirty="0">
                <a:solidFill>
                  <a:srgbClr val="FF0000"/>
                </a:solidFill>
              </a:rPr>
              <a:t>[</a:t>
            </a:r>
            <a:r>
              <a:rPr lang="en-US" sz="2400" b="1" i="1" dirty="0" smtClean="0">
                <a:solidFill>
                  <a:srgbClr val="FF0000"/>
                </a:solidFill>
              </a:rPr>
              <a:t>start], </a:t>
            </a:r>
            <a:r>
              <a:rPr lang="en-US" sz="2400" b="1" i="1" dirty="0">
                <a:solidFill>
                  <a:srgbClr val="FF0000"/>
                </a:solidFill>
              </a:rPr>
              <a:t>stop, [</a:t>
            </a:r>
            <a:r>
              <a:rPr lang="en-US" sz="2400" b="1" i="1" dirty="0" smtClean="0">
                <a:solidFill>
                  <a:srgbClr val="FF0000"/>
                </a:solidFill>
              </a:rPr>
              <a:t>step]</a:t>
            </a:r>
            <a:r>
              <a:rPr lang="en-US" sz="2400" b="1" dirty="0" smtClean="0">
                <a:solidFill>
                  <a:srgbClr val="FF0000"/>
                </a:solidFill>
              </a:rPr>
              <a:t>)</a:t>
            </a:r>
            <a:endParaRPr lang="en-US" sz="2400" b="1" dirty="0">
              <a:solidFill>
                <a:srgbClr val="FF0000"/>
              </a:solidFill>
            </a:endParaRPr>
          </a:p>
        </p:txBody>
      </p:sp>
      <p:sp>
        <p:nvSpPr>
          <p:cNvPr id="8" name="TextBox 7"/>
          <p:cNvSpPr txBox="1"/>
          <p:nvPr/>
        </p:nvSpPr>
        <p:spPr>
          <a:xfrm>
            <a:off x="548981" y="3322938"/>
            <a:ext cx="8333421" cy="923330"/>
          </a:xfrm>
          <a:prstGeom prst="rect">
            <a:avLst/>
          </a:prstGeom>
          <a:noFill/>
        </p:spPr>
        <p:txBody>
          <a:bodyPr wrap="square" rtlCol="0">
            <a:spAutoFit/>
          </a:bodyPr>
          <a:lstStyle/>
          <a:p>
            <a:r>
              <a:rPr lang="en-US" b="1" dirty="0"/>
              <a:t>start: </a:t>
            </a:r>
            <a:r>
              <a:rPr lang="vi-VN" dirty="0"/>
              <a:t>là </a:t>
            </a:r>
            <a:r>
              <a:rPr lang="en-US" dirty="0" err="1"/>
              <a:t>vị</a:t>
            </a:r>
            <a:r>
              <a:rPr lang="en-US" dirty="0"/>
              <a:t> </a:t>
            </a:r>
            <a:r>
              <a:rPr lang="en-US" dirty="0" err="1"/>
              <a:t>trí</a:t>
            </a:r>
            <a:r>
              <a:rPr lang="en-US" dirty="0"/>
              <a:t> </a:t>
            </a:r>
            <a:r>
              <a:rPr lang="en-US" dirty="0" err="1"/>
              <a:t>bắt</a:t>
            </a:r>
            <a:r>
              <a:rPr lang="en-US" dirty="0"/>
              <a:t> </a:t>
            </a:r>
            <a:r>
              <a:rPr lang="en-US" dirty="0" err="1"/>
              <a:t>đầu</a:t>
            </a:r>
            <a:r>
              <a:rPr lang="en-US" dirty="0"/>
              <a:t> (</a:t>
            </a:r>
            <a:r>
              <a:rPr lang="en-US" dirty="0" err="1"/>
              <a:t>Tùy</a:t>
            </a:r>
            <a:r>
              <a:rPr lang="en-US" dirty="0"/>
              <a:t> </a:t>
            </a:r>
            <a:r>
              <a:rPr lang="en-US" dirty="0" err="1"/>
              <a:t>chọn</a:t>
            </a:r>
            <a:r>
              <a:rPr lang="en-US" dirty="0"/>
              <a:t>, </a:t>
            </a:r>
            <a:r>
              <a:rPr lang="en-US" dirty="0" err="1"/>
              <a:t>mặc</a:t>
            </a:r>
            <a:r>
              <a:rPr lang="en-US" dirty="0"/>
              <a:t> </a:t>
            </a:r>
            <a:r>
              <a:rPr lang="en-US" dirty="0" err="1"/>
              <a:t>định</a:t>
            </a:r>
            <a:r>
              <a:rPr lang="en-US" dirty="0"/>
              <a:t> </a:t>
            </a:r>
            <a:r>
              <a:rPr lang="en-US" dirty="0" err="1"/>
              <a:t>là</a:t>
            </a:r>
            <a:r>
              <a:rPr lang="en-US" dirty="0"/>
              <a:t> 0)</a:t>
            </a:r>
            <a:endParaRPr lang="en-US" b="1" dirty="0"/>
          </a:p>
          <a:p>
            <a:r>
              <a:rPr lang="en-US" b="1" dirty="0" smtClean="0"/>
              <a:t>stop: </a:t>
            </a:r>
            <a:r>
              <a:rPr lang="en-US" dirty="0" err="1" smtClean="0"/>
              <a:t>vị</a:t>
            </a:r>
            <a:r>
              <a:rPr lang="en-US" dirty="0" smtClean="0"/>
              <a:t> </a:t>
            </a:r>
            <a:r>
              <a:rPr lang="en-US" dirty="0" err="1" smtClean="0"/>
              <a:t>trí</a:t>
            </a:r>
            <a:r>
              <a:rPr lang="en-US" dirty="0" smtClean="0"/>
              <a:t> </a:t>
            </a:r>
            <a:r>
              <a:rPr lang="en-US" dirty="0" err="1" smtClean="0"/>
              <a:t>kết</a:t>
            </a:r>
            <a:r>
              <a:rPr lang="en-US" dirty="0" smtClean="0"/>
              <a:t> </a:t>
            </a:r>
            <a:r>
              <a:rPr lang="en-US" dirty="0" err="1" smtClean="0"/>
              <a:t>thúc</a:t>
            </a:r>
            <a:r>
              <a:rPr lang="en-US" dirty="0" smtClean="0"/>
              <a:t> (</a:t>
            </a:r>
            <a:r>
              <a:rPr lang="en-US" dirty="0" err="1" smtClean="0"/>
              <a:t>Bắt</a:t>
            </a:r>
            <a:r>
              <a:rPr lang="en-US" dirty="0" smtClean="0"/>
              <a:t> </a:t>
            </a:r>
            <a:r>
              <a:rPr lang="en-US" dirty="0" err="1" smtClean="0"/>
              <a:t>buộc</a:t>
            </a:r>
            <a:r>
              <a:rPr lang="en-US" dirty="0" smtClean="0"/>
              <a:t>, </a:t>
            </a:r>
            <a:r>
              <a:rPr lang="en-US" dirty="0" err="1" smtClean="0"/>
              <a:t>và</a:t>
            </a:r>
            <a:r>
              <a:rPr lang="en-US" dirty="0" smtClean="0"/>
              <a:t> </a:t>
            </a:r>
            <a:r>
              <a:rPr lang="en-US" dirty="0" err="1" smtClean="0"/>
              <a:t>không</a:t>
            </a:r>
            <a:r>
              <a:rPr lang="en-US" dirty="0" smtClean="0"/>
              <a:t> </a:t>
            </a:r>
            <a:r>
              <a:rPr lang="en-US" dirty="0" err="1" smtClean="0"/>
              <a:t>bao</a:t>
            </a:r>
            <a:r>
              <a:rPr lang="en-US" dirty="0" smtClean="0"/>
              <a:t> </a:t>
            </a:r>
            <a:r>
              <a:rPr lang="en-US" dirty="0" err="1" smtClean="0"/>
              <a:t>gồm</a:t>
            </a:r>
            <a:r>
              <a:rPr lang="en-US" dirty="0" smtClean="0"/>
              <a:t> </a:t>
            </a:r>
            <a:r>
              <a:rPr lang="en-US" dirty="0" err="1" smtClean="0"/>
              <a:t>giá</a:t>
            </a:r>
            <a:r>
              <a:rPr lang="en-US" dirty="0" smtClean="0"/>
              <a:t> </a:t>
            </a:r>
            <a:r>
              <a:rPr lang="en-US" dirty="0" err="1" smtClean="0"/>
              <a:t>trị</a:t>
            </a:r>
            <a:r>
              <a:rPr lang="en-US" dirty="0" smtClean="0"/>
              <a:t> stop)</a:t>
            </a:r>
          </a:p>
          <a:p>
            <a:r>
              <a:rPr lang="en-US" b="1" dirty="0" smtClean="0"/>
              <a:t>Step: </a:t>
            </a:r>
            <a:r>
              <a:rPr lang="en-US" dirty="0" err="1" smtClean="0"/>
              <a:t>bước</a:t>
            </a:r>
            <a:r>
              <a:rPr lang="en-US" dirty="0" smtClean="0"/>
              <a:t> </a:t>
            </a:r>
            <a:r>
              <a:rPr lang="en-US" dirty="0" err="1" smtClean="0"/>
              <a:t>nhảy</a:t>
            </a:r>
            <a:r>
              <a:rPr lang="en-US" dirty="0" smtClean="0"/>
              <a:t> (</a:t>
            </a:r>
            <a:r>
              <a:rPr lang="en-US" dirty="0" err="1" smtClean="0"/>
              <a:t>Tùy</a:t>
            </a:r>
            <a:r>
              <a:rPr lang="en-US" dirty="0" smtClean="0"/>
              <a:t> </a:t>
            </a:r>
            <a:r>
              <a:rPr lang="en-US" dirty="0" err="1" smtClean="0"/>
              <a:t>chọn</a:t>
            </a:r>
            <a:r>
              <a:rPr lang="en-US" dirty="0" smtClean="0"/>
              <a:t>, </a:t>
            </a:r>
            <a:r>
              <a:rPr lang="en-US" dirty="0" err="1" smtClean="0"/>
              <a:t>mặc</a:t>
            </a:r>
            <a:r>
              <a:rPr lang="en-US" dirty="0" smtClean="0"/>
              <a:t> </a:t>
            </a:r>
            <a:r>
              <a:rPr lang="en-US" dirty="0" err="1" smtClean="0"/>
              <a:t>định</a:t>
            </a:r>
            <a:r>
              <a:rPr lang="en-US" dirty="0" smtClean="0"/>
              <a:t> </a:t>
            </a:r>
            <a:r>
              <a:rPr lang="en-US" dirty="0" err="1" smtClean="0"/>
              <a:t>là</a:t>
            </a:r>
            <a:r>
              <a:rPr lang="en-US" dirty="0" smtClean="0"/>
              <a:t> 1, </a:t>
            </a:r>
            <a:r>
              <a:rPr lang="en-US" dirty="0" err="1" smtClean="0"/>
              <a:t>có</a:t>
            </a:r>
            <a:r>
              <a:rPr lang="en-US" dirty="0" smtClean="0"/>
              <a:t> </a:t>
            </a:r>
            <a:r>
              <a:rPr lang="en-US" dirty="0" err="1" smtClean="0"/>
              <a:t>thể</a:t>
            </a:r>
            <a:r>
              <a:rPr lang="en-US" dirty="0" smtClean="0"/>
              <a:t> </a:t>
            </a:r>
            <a:r>
              <a:rPr lang="en-US" dirty="0" err="1" smtClean="0"/>
              <a:t>số</a:t>
            </a:r>
            <a:r>
              <a:rPr lang="en-US" dirty="0" smtClean="0"/>
              <a:t> </a:t>
            </a:r>
            <a:r>
              <a:rPr lang="en-US" dirty="0" err="1" smtClean="0"/>
              <a:t>số</a:t>
            </a:r>
            <a:r>
              <a:rPr lang="en-US" dirty="0" smtClean="0"/>
              <a:t> </a:t>
            </a:r>
            <a:r>
              <a:rPr lang="en-US" dirty="0" err="1" smtClean="0"/>
              <a:t>nguyên</a:t>
            </a:r>
            <a:r>
              <a:rPr lang="en-US" dirty="0" smtClean="0"/>
              <a:t> </a:t>
            </a:r>
            <a:r>
              <a:rPr lang="en-US" dirty="0" err="1" smtClean="0"/>
              <a:t>âm</a:t>
            </a:r>
            <a:r>
              <a:rPr lang="en-US" dirty="0" smtClean="0"/>
              <a:t>)</a:t>
            </a:r>
            <a:endParaRPr lang="en-US" b="1" dirty="0"/>
          </a:p>
        </p:txBody>
      </p:sp>
      <p:sp>
        <p:nvSpPr>
          <p:cNvPr id="10" name="Rectangle 9"/>
          <p:cNvSpPr/>
          <p:nvPr/>
        </p:nvSpPr>
        <p:spPr>
          <a:xfrm>
            <a:off x="548981" y="4366328"/>
            <a:ext cx="3100381" cy="215804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49165" y="4429685"/>
            <a:ext cx="2611873" cy="2031325"/>
          </a:xfrm>
          <a:prstGeom prst="rect">
            <a:avLst/>
          </a:prstGeom>
          <a:noFill/>
        </p:spPr>
        <p:txBody>
          <a:bodyPr wrap="square" rtlCol="0">
            <a:spAutoFit/>
          </a:bodyPr>
          <a:lstStyle/>
          <a:p>
            <a:r>
              <a:rPr lang="en-US" dirty="0">
                <a:solidFill>
                  <a:schemeClr val="bg1"/>
                </a:solidFill>
              </a:rPr>
              <a:t>x = range</a:t>
            </a:r>
            <a:r>
              <a:rPr lang="en-US" dirty="0">
                <a:solidFill>
                  <a:schemeClr val="accent4">
                    <a:lumMod val="60000"/>
                    <a:lumOff val="40000"/>
                  </a:schemeClr>
                </a:solidFill>
              </a:rPr>
              <a:t>(</a:t>
            </a:r>
            <a:r>
              <a:rPr lang="en-US" dirty="0">
                <a:solidFill>
                  <a:schemeClr val="accent6">
                    <a:lumMod val="60000"/>
                    <a:lumOff val="40000"/>
                  </a:schemeClr>
                </a:solidFill>
              </a:rPr>
              <a:t>3</a:t>
            </a:r>
            <a:r>
              <a:rPr lang="en-US" dirty="0">
                <a:solidFill>
                  <a:schemeClr val="bg1"/>
                </a:solidFill>
              </a:rPr>
              <a:t>, </a:t>
            </a:r>
            <a:r>
              <a:rPr lang="en-US" dirty="0">
                <a:solidFill>
                  <a:schemeClr val="accent6">
                    <a:lumMod val="60000"/>
                    <a:lumOff val="40000"/>
                  </a:schemeClr>
                </a:solidFill>
              </a:rPr>
              <a:t>6</a:t>
            </a:r>
            <a:r>
              <a:rPr lang="en-US" dirty="0" smtClean="0">
                <a:solidFill>
                  <a:schemeClr val="accent4">
                    <a:lumMod val="60000"/>
                    <a:lumOff val="40000"/>
                  </a:schemeClr>
                </a:solidFill>
              </a:rPr>
              <a:t>)</a:t>
            </a:r>
          </a:p>
          <a:p>
            <a:r>
              <a:rPr lang="en-US" dirty="0">
                <a:solidFill>
                  <a:srgbClr val="00B0F0"/>
                </a:solidFill>
              </a:rPr>
              <a:t>for</a:t>
            </a:r>
            <a:r>
              <a:rPr lang="en-US" dirty="0">
                <a:solidFill>
                  <a:schemeClr val="bg1"/>
                </a:solidFill>
              </a:rPr>
              <a:t> </a:t>
            </a:r>
            <a:r>
              <a:rPr lang="en-US" dirty="0" err="1">
                <a:solidFill>
                  <a:schemeClr val="bg1"/>
                </a:solidFill>
              </a:rPr>
              <a:t>i</a:t>
            </a:r>
            <a:r>
              <a:rPr lang="en-US" dirty="0">
                <a:solidFill>
                  <a:schemeClr val="bg1"/>
                </a:solidFill>
              </a:rPr>
              <a:t> </a:t>
            </a:r>
            <a:r>
              <a:rPr lang="en-US" dirty="0">
                <a:solidFill>
                  <a:srgbClr val="00B0F0"/>
                </a:solidFill>
              </a:rPr>
              <a:t>in</a:t>
            </a:r>
            <a:r>
              <a:rPr lang="en-US" dirty="0">
                <a:solidFill>
                  <a:schemeClr val="bg1"/>
                </a:solidFill>
              </a:rPr>
              <a:t> </a:t>
            </a:r>
            <a:r>
              <a:rPr lang="en-US" dirty="0" smtClean="0">
                <a:solidFill>
                  <a:schemeClr val="bg1"/>
                </a:solidFill>
              </a:rPr>
              <a:t>x</a:t>
            </a:r>
            <a:r>
              <a:rPr lang="en-US" dirty="0" smtClean="0">
                <a:solidFill>
                  <a:srgbClr val="FFC000"/>
                </a:solidFill>
              </a:rPr>
              <a:t> </a:t>
            </a:r>
            <a:r>
              <a:rPr lang="en-US" dirty="0">
                <a:solidFill>
                  <a:schemeClr val="bg1"/>
                </a:solidFill>
              </a:rPr>
              <a:t>:</a:t>
            </a:r>
          </a:p>
          <a:p>
            <a:r>
              <a:rPr lang="en-US" dirty="0">
                <a:solidFill>
                  <a:schemeClr val="bg1"/>
                </a:solidFill>
              </a:rPr>
              <a:t> </a:t>
            </a:r>
            <a:r>
              <a:rPr lang="en-US" dirty="0" smtClean="0">
                <a:solidFill>
                  <a:schemeClr val="bg1"/>
                </a:solidFill>
              </a:rPr>
              <a:t>  print</a:t>
            </a:r>
            <a:r>
              <a:rPr lang="en-US" dirty="0" smtClean="0">
                <a:solidFill>
                  <a:schemeClr val="accent4">
                    <a:lumMod val="60000"/>
                    <a:lumOff val="40000"/>
                  </a:schemeClr>
                </a:solidFill>
              </a:rPr>
              <a:t>(</a:t>
            </a:r>
            <a:r>
              <a:rPr lang="en-US" dirty="0" err="1" smtClean="0">
                <a:solidFill>
                  <a:schemeClr val="bg1"/>
                </a:solidFill>
              </a:rPr>
              <a:t>i</a:t>
            </a:r>
            <a:r>
              <a:rPr lang="en-US" dirty="0" smtClean="0">
                <a:solidFill>
                  <a:schemeClr val="accent4">
                    <a:lumMod val="60000"/>
                    <a:lumOff val="40000"/>
                  </a:schemeClr>
                </a:solidFill>
              </a:rPr>
              <a:t>)</a:t>
            </a:r>
          </a:p>
          <a:p>
            <a:r>
              <a:rPr lang="en-US" dirty="0" smtClean="0">
                <a:solidFill>
                  <a:schemeClr val="accent4">
                    <a:lumMod val="60000"/>
                    <a:lumOff val="40000"/>
                  </a:schemeClr>
                </a:solidFill>
              </a:rPr>
              <a:t>#output:</a:t>
            </a:r>
          </a:p>
          <a:p>
            <a:r>
              <a:rPr lang="en-US" dirty="0" smtClean="0">
                <a:solidFill>
                  <a:schemeClr val="accent4">
                    <a:lumMod val="60000"/>
                    <a:lumOff val="40000"/>
                  </a:schemeClr>
                </a:solidFill>
              </a:rPr>
              <a:t>3</a:t>
            </a:r>
          </a:p>
          <a:p>
            <a:r>
              <a:rPr lang="en-US" dirty="0" smtClean="0">
                <a:solidFill>
                  <a:schemeClr val="accent4">
                    <a:lumMod val="60000"/>
                    <a:lumOff val="40000"/>
                  </a:schemeClr>
                </a:solidFill>
              </a:rPr>
              <a:t>4</a:t>
            </a:r>
          </a:p>
          <a:p>
            <a:r>
              <a:rPr lang="en-US" dirty="0">
                <a:solidFill>
                  <a:schemeClr val="accent4">
                    <a:lumMod val="60000"/>
                    <a:lumOff val="40000"/>
                  </a:schemeClr>
                </a:solidFill>
              </a:rPr>
              <a:t>5</a:t>
            </a:r>
            <a:endParaRPr lang="en-US" dirty="0" smtClean="0">
              <a:solidFill>
                <a:schemeClr val="accent4">
                  <a:lumMod val="60000"/>
                  <a:lumOff val="40000"/>
                </a:schemeClr>
              </a:solidFill>
            </a:endParaRPr>
          </a:p>
        </p:txBody>
      </p:sp>
      <p:sp>
        <p:nvSpPr>
          <p:cNvPr id="9" name="Right Arrow 8"/>
          <p:cNvSpPr/>
          <p:nvPr/>
        </p:nvSpPr>
        <p:spPr>
          <a:xfrm>
            <a:off x="3706069" y="5183748"/>
            <a:ext cx="462277" cy="2636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246692" y="4386192"/>
            <a:ext cx="4091277" cy="646331"/>
          </a:xfrm>
          <a:prstGeom prst="rect">
            <a:avLst/>
          </a:prstGeom>
          <a:noFill/>
        </p:spPr>
        <p:txBody>
          <a:bodyPr wrap="square" rtlCol="0">
            <a:spAutoFit/>
          </a:bodyPr>
          <a:lstStyle/>
          <a:p>
            <a:r>
              <a:rPr lang="en-US" dirty="0" err="1" smtClean="0"/>
              <a:t>Hàm</a:t>
            </a:r>
            <a:r>
              <a:rPr lang="en-US" dirty="0" smtClean="0"/>
              <a:t> </a:t>
            </a:r>
            <a:r>
              <a:rPr lang="en-US" b="1" dirty="0" smtClean="0"/>
              <a:t>range(3,6)</a:t>
            </a:r>
            <a:r>
              <a:rPr lang="en-US" dirty="0" smtClean="0"/>
              <a:t> </a:t>
            </a:r>
            <a:r>
              <a:rPr lang="en-US" dirty="0" err="1" smtClean="0"/>
              <a:t>cho</a:t>
            </a:r>
            <a:r>
              <a:rPr lang="en-US" dirty="0" smtClean="0"/>
              <a:t> </a:t>
            </a:r>
            <a:r>
              <a:rPr lang="en-US" dirty="0" err="1" smtClean="0"/>
              <a:t>ra</a:t>
            </a:r>
            <a:r>
              <a:rPr lang="en-US" dirty="0" smtClean="0"/>
              <a:t> </a:t>
            </a:r>
            <a:r>
              <a:rPr lang="en-US" dirty="0" err="1" smtClean="0"/>
              <a:t>một</a:t>
            </a:r>
            <a:r>
              <a:rPr lang="en-US" dirty="0" smtClean="0"/>
              <a:t> </a:t>
            </a:r>
            <a:r>
              <a:rPr lang="en-US" dirty="0" err="1" smtClean="0"/>
              <a:t>danh</a:t>
            </a:r>
            <a:r>
              <a:rPr lang="en-US" dirty="0" smtClean="0"/>
              <a:t> </a:t>
            </a:r>
            <a:r>
              <a:rPr lang="en-US" dirty="0" err="1" smtClean="0"/>
              <a:t>sách</a:t>
            </a:r>
            <a:r>
              <a:rPr lang="en-US" dirty="0" smtClean="0"/>
              <a:t> </a:t>
            </a:r>
            <a:r>
              <a:rPr lang="en-US" dirty="0" err="1" smtClean="0"/>
              <a:t>các</a:t>
            </a:r>
            <a:r>
              <a:rPr lang="en-US" dirty="0" smtClean="0"/>
              <a:t> </a:t>
            </a:r>
            <a:r>
              <a:rPr lang="en-US" dirty="0" err="1" smtClean="0"/>
              <a:t>số</a:t>
            </a:r>
            <a:r>
              <a:rPr lang="en-US" dirty="0"/>
              <a:t>:</a:t>
            </a:r>
            <a:r>
              <a:rPr lang="en-US" dirty="0" smtClean="0"/>
              <a:t> 3, 4, 5 ( stop -1)</a:t>
            </a:r>
            <a:endParaRPr lang="en-US" dirty="0"/>
          </a:p>
        </p:txBody>
      </p:sp>
      <p:sp>
        <p:nvSpPr>
          <p:cNvPr id="13" name="TextBox 12"/>
          <p:cNvSpPr txBox="1"/>
          <p:nvPr/>
        </p:nvSpPr>
        <p:spPr>
          <a:xfrm>
            <a:off x="4246692" y="5317068"/>
            <a:ext cx="4091277" cy="646331"/>
          </a:xfrm>
          <a:prstGeom prst="rect">
            <a:avLst/>
          </a:prstGeom>
          <a:noFill/>
        </p:spPr>
        <p:txBody>
          <a:bodyPr wrap="square" rtlCol="0">
            <a:spAutoFit/>
          </a:bodyPr>
          <a:lstStyle/>
          <a:p>
            <a:r>
              <a:rPr lang="en-US" dirty="0" err="1" smtClean="0"/>
              <a:t>Vòng</a:t>
            </a:r>
            <a:r>
              <a:rPr lang="en-US" dirty="0" smtClean="0"/>
              <a:t> </a:t>
            </a:r>
            <a:r>
              <a:rPr lang="en-US" dirty="0" err="1" smtClean="0"/>
              <a:t>lặp</a:t>
            </a:r>
            <a:r>
              <a:rPr lang="en-US" dirty="0" smtClean="0"/>
              <a:t> for, </a:t>
            </a:r>
            <a:r>
              <a:rPr lang="en-US" dirty="0" err="1" smtClean="0"/>
              <a:t>lặp</a:t>
            </a:r>
            <a:r>
              <a:rPr lang="en-US" dirty="0" smtClean="0"/>
              <a:t> qua </a:t>
            </a:r>
            <a:r>
              <a:rPr lang="en-US" dirty="0" err="1" smtClean="0"/>
              <a:t>danh</a:t>
            </a:r>
            <a:r>
              <a:rPr lang="en-US" dirty="0" smtClean="0"/>
              <a:t> </a:t>
            </a:r>
            <a:r>
              <a:rPr lang="en-US" dirty="0" err="1" smtClean="0"/>
              <a:t>sách</a:t>
            </a:r>
            <a:r>
              <a:rPr lang="en-US" dirty="0" smtClean="0"/>
              <a:t> </a:t>
            </a:r>
            <a:r>
              <a:rPr lang="en-US" dirty="0" err="1" smtClean="0"/>
              <a:t>đó</a:t>
            </a:r>
            <a:r>
              <a:rPr lang="en-US" dirty="0" smtClean="0"/>
              <a:t>, </a:t>
            </a:r>
            <a:r>
              <a:rPr lang="en-US" dirty="0" err="1" smtClean="0"/>
              <a:t>và</a:t>
            </a:r>
            <a:r>
              <a:rPr lang="en-US" dirty="0" smtClean="0"/>
              <a:t> in </a:t>
            </a:r>
            <a:r>
              <a:rPr lang="en-US" dirty="0" err="1" smtClean="0"/>
              <a:t>từng</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của</a:t>
            </a:r>
            <a:r>
              <a:rPr lang="en-US" dirty="0" smtClean="0"/>
              <a:t> </a:t>
            </a:r>
            <a:r>
              <a:rPr lang="en-US" dirty="0" err="1" smtClean="0"/>
              <a:t>danh</a:t>
            </a:r>
            <a:r>
              <a:rPr lang="en-US" dirty="0" smtClean="0"/>
              <a:t> </a:t>
            </a:r>
            <a:r>
              <a:rPr lang="en-US" dirty="0" err="1" smtClean="0"/>
              <a:t>sách</a:t>
            </a:r>
            <a:r>
              <a:rPr lang="en-US" dirty="0" smtClean="0"/>
              <a:t> </a:t>
            </a:r>
            <a:r>
              <a:rPr lang="en-US" dirty="0" err="1" smtClean="0"/>
              <a:t>số</a:t>
            </a:r>
            <a:r>
              <a:rPr lang="en-US" dirty="0" smtClean="0"/>
              <a:t>.</a:t>
            </a:r>
            <a:endParaRPr lang="en-US" dirty="0"/>
          </a:p>
        </p:txBody>
      </p:sp>
    </p:spTree>
    <p:extLst>
      <p:ext uri="{BB962C8B-B14F-4D97-AF65-F5344CB8AC3E}">
        <p14:creationId xmlns:p14="http://schemas.microsoft.com/office/powerpoint/2010/main" val="30193392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4</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Vòng</a:t>
            </a:r>
            <a:r>
              <a:rPr lang="en-US" dirty="0" smtClean="0"/>
              <a:t> </a:t>
            </a:r>
            <a:r>
              <a:rPr lang="en-US" dirty="0" err="1" smtClean="0"/>
              <a:t>lặp</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Câu</a:t>
            </a:r>
            <a:r>
              <a:rPr lang="en-US" b="1" dirty="0" smtClean="0"/>
              <a:t> </a:t>
            </a:r>
            <a:r>
              <a:rPr lang="en-US" b="1" dirty="0" err="1" smtClean="0"/>
              <a:t>lệnh</a:t>
            </a:r>
            <a:r>
              <a:rPr lang="en-US" b="1" dirty="0" smtClean="0"/>
              <a:t> range() </a:t>
            </a:r>
            <a:r>
              <a:rPr lang="en-US" b="1" dirty="0" err="1" smtClean="0"/>
              <a:t>trong</a:t>
            </a:r>
            <a:r>
              <a:rPr lang="en-US" b="1" dirty="0" smtClean="0"/>
              <a:t> Python</a:t>
            </a:r>
            <a:endParaRPr lang="en-US" b="1" dirty="0"/>
          </a:p>
        </p:txBody>
      </p:sp>
      <p:graphicFrame>
        <p:nvGraphicFramePr>
          <p:cNvPr id="9" name="Table 8"/>
          <p:cNvGraphicFramePr>
            <a:graphicFrameLocks noGrp="1"/>
          </p:cNvGraphicFramePr>
          <p:nvPr>
            <p:extLst>
              <p:ext uri="{D42A27DB-BD31-4B8C-83A1-F6EECF244321}">
                <p14:modId xmlns:p14="http://schemas.microsoft.com/office/powerpoint/2010/main" val="1360454173"/>
              </p:ext>
            </p:extLst>
          </p:nvPr>
        </p:nvGraphicFramePr>
        <p:xfrm>
          <a:off x="548981" y="2543180"/>
          <a:ext cx="7935800" cy="2225040"/>
        </p:xfrm>
        <a:graphic>
          <a:graphicData uri="http://schemas.openxmlformats.org/drawingml/2006/table">
            <a:tbl>
              <a:tblPr firstRow="1" bandRow="1">
                <a:tableStyleId>{5C22544A-7EE6-4342-B048-85BDC9FD1C3A}</a:tableStyleId>
              </a:tblPr>
              <a:tblGrid>
                <a:gridCol w="1673224">
                  <a:extLst>
                    <a:ext uri="{9D8B030D-6E8A-4147-A177-3AD203B41FA5}">
                      <a16:colId xmlns:a16="http://schemas.microsoft.com/office/drawing/2014/main" xmlns="" val="2830196168"/>
                    </a:ext>
                  </a:extLst>
                </a:gridCol>
                <a:gridCol w="6262576">
                  <a:extLst>
                    <a:ext uri="{9D8B030D-6E8A-4147-A177-3AD203B41FA5}">
                      <a16:colId xmlns:a16="http://schemas.microsoft.com/office/drawing/2014/main" xmlns="" val="3141370565"/>
                    </a:ext>
                  </a:extLst>
                </a:gridCol>
              </a:tblGrid>
              <a:tr h="370840">
                <a:tc>
                  <a:txBody>
                    <a:bodyPr/>
                    <a:lstStyle/>
                    <a:p>
                      <a:r>
                        <a:rPr lang="en-US" dirty="0" err="1" smtClean="0"/>
                        <a:t>Cú</a:t>
                      </a:r>
                      <a:r>
                        <a:rPr lang="en-US" baseline="0" dirty="0" smtClean="0"/>
                        <a:t> </a:t>
                      </a:r>
                      <a:r>
                        <a:rPr lang="en-US" baseline="0" dirty="0" err="1" smtClean="0"/>
                        <a:t>pháp</a:t>
                      </a:r>
                      <a:endParaRPr lang="en-US" dirty="0"/>
                    </a:p>
                  </a:txBody>
                  <a:tcPr/>
                </a:tc>
                <a:tc>
                  <a:txBody>
                    <a:bodyPr/>
                    <a:lstStyle/>
                    <a:p>
                      <a:r>
                        <a:rPr lang="en-US" dirty="0" smtClean="0"/>
                        <a:t>Ý</a:t>
                      </a:r>
                      <a:r>
                        <a:rPr lang="en-US" baseline="0" dirty="0" smtClean="0"/>
                        <a:t> </a:t>
                      </a:r>
                      <a:r>
                        <a:rPr lang="en-US" baseline="0" dirty="0" err="1" smtClean="0"/>
                        <a:t>nghĩa</a:t>
                      </a:r>
                      <a:endParaRPr lang="en-US" dirty="0"/>
                    </a:p>
                  </a:txBody>
                  <a:tcPr/>
                </a:tc>
                <a:extLst>
                  <a:ext uri="{0D108BD9-81ED-4DB2-BD59-A6C34878D82A}">
                    <a16:rowId xmlns:a16="http://schemas.microsoft.com/office/drawing/2014/main" xmlns="" val="388731189"/>
                  </a:ext>
                </a:extLst>
              </a:tr>
              <a:tr h="370840">
                <a:tc>
                  <a:txBody>
                    <a:bodyPr/>
                    <a:lstStyle/>
                    <a:p>
                      <a:r>
                        <a:rPr lang="en-US" dirty="0" smtClean="0"/>
                        <a:t>range(0,n)</a:t>
                      </a:r>
                      <a:endParaRPr lang="en-US" dirty="0"/>
                    </a:p>
                  </a:txBody>
                  <a:tcPr/>
                </a:tc>
                <a:tc>
                  <a:txBody>
                    <a:bodyPr/>
                    <a:lstStyle/>
                    <a:p>
                      <a:r>
                        <a:rPr lang="en-US" dirty="0" smtClean="0"/>
                        <a:t>Cho </a:t>
                      </a:r>
                      <a:r>
                        <a:rPr lang="en-US" dirty="0" err="1" smtClean="0"/>
                        <a:t>ra</a:t>
                      </a:r>
                      <a:r>
                        <a:rPr lang="en-US" dirty="0" smtClean="0"/>
                        <a:t> </a:t>
                      </a:r>
                      <a:r>
                        <a:rPr lang="en-US" baseline="0" dirty="0" err="1" smtClean="0"/>
                        <a:t>dãy</a:t>
                      </a:r>
                      <a:r>
                        <a:rPr lang="en-US" baseline="0" dirty="0" smtClean="0"/>
                        <a:t> </a:t>
                      </a:r>
                      <a:r>
                        <a:rPr lang="en-US" baseline="0" dirty="0" err="1" smtClean="0"/>
                        <a:t>số</a:t>
                      </a:r>
                      <a:r>
                        <a:rPr lang="en-US" baseline="0" dirty="0" smtClean="0"/>
                        <a:t> </a:t>
                      </a:r>
                      <a:r>
                        <a:rPr lang="en-US" baseline="0" dirty="0" err="1" smtClean="0"/>
                        <a:t>từ</a:t>
                      </a:r>
                      <a:r>
                        <a:rPr lang="en-US" baseline="0" dirty="0" smtClean="0"/>
                        <a:t> 0,1…n-1</a:t>
                      </a:r>
                      <a:endParaRPr lang="en-US" dirty="0"/>
                    </a:p>
                  </a:txBody>
                  <a:tcPr/>
                </a:tc>
                <a:extLst>
                  <a:ext uri="{0D108BD9-81ED-4DB2-BD59-A6C34878D82A}">
                    <a16:rowId xmlns:a16="http://schemas.microsoft.com/office/drawing/2014/main" xmlns="" val="269668962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range(1,n,2)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Cho </a:t>
                      </a:r>
                      <a:r>
                        <a:rPr lang="en-US" dirty="0" err="1" smtClean="0"/>
                        <a:t>ra</a:t>
                      </a:r>
                      <a:r>
                        <a:rPr lang="en-US" dirty="0" smtClean="0"/>
                        <a:t> </a:t>
                      </a:r>
                      <a:r>
                        <a:rPr lang="en-US" baseline="0" dirty="0" err="1" smtClean="0"/>
                        <a:t>dãy</a:t>
                      </a:r>
                      <a:r>
                        <a:rPr lang="en-US" baseline="0" dirty="0" smtClean="0"/>
                        <a:t> </a:t>
                      </a:r>
                      <a:r>
                        <a:rPr lang="en-US" baseline="0" dirty="0" err="1" smtClean="0"/>
                        <a:t>số</a:t>
                      </a:r>
                      <a:r>
                        <a:rPr lang="en-US" baseline="0" dirty="0" smtClean="0"/>
                        <a:t> </a:t>
                      </a:r>
                      <a:r>
                        <a:rPr lang="en-US" baseline="0" dirty="0" err="1" smtClean="0"/>
                        <a:t>từ</a:t>
                      </a:r>
                      <a:r>
                        <a:rPr lang="en-US" baseline="0" dirty="0" smtClean="0"/>
                        <a:t> 0,3,5,7…n-1 (</a:t>
                      </a:r>
                      <a:r>
                        <a:rPr lang="en-US" baseline="0" dirty="0" err="1" smtClean="0"/>
                        <a:t>tăng</a:t>
                      </a:r>
                      <a:r>
                        <a:rPr lang="en-US" baseline="0" dirty="0" smtClean="0"/>
                        <a:t> </a:t>
                      </a:r>
                      <a:r>
                        <a:rPr lang="en-US" baseline="0" dirty="0" err="1" smtClean="0"/>
                        <a:t>dần</a:t>
                      </a:r>
                      <a:r>
                        <a:rPr lang="en-US" baseline="0" dirty="0" smtClean="0"/>
                        <a:t> 2 </a:t>
                      </a:r>
                      <a:r>
                        <a:rPr lang="en-US" baseline="0" dirty="0" err="1" smtClean="0"/>
                        <a:t>đơn</a:t>
                      </a:r>
                      <a:r>
                        <a:rPr lang="en-US" baseline="0" dirty="0" smtClean="0"/>
                        <a:t> </a:t>
                      </a:r>
                      <a:r>
                        <a:rPr lang="en-US" baseline="0" dirty="0" err="1" smtClean="0"/>
                        <a:t>vị</a:t>
                      </a:r>
                      <a:r>
                        <a:rPr lang="en-US" baseline="0" dirty="0" smtClean="0"/>
                        <a:t>)</a:t>
                      </a:r>
                      <a:endParaRPr lang="en-US" dirty="0" smtClean="0"/>
                    </a:p>
                  </a:txBody>
                  <a:tcPr/>
                </a:tc>
                <a:extLst>
                  <a:ext uri="{0D108BD9-81ED-4DB2-BD59-A6C34878D82A}">
                    <a16:rowId xmlns:a16="http://schemas.microsoft.com/office/drawing/2014/main" xmlns="" val="1669279853"/>
                  </a:ext>
                </a:extLst>
              </a:tr>
              <a:tr h="370840">
                <a:tc>
                  <a:txBody>
                    <a:bodyPr/>
                    <a:lstStyle/>
                    <a:p>
                      <a:r>
                        <a:rPr lang="en-US" dirty="0" smtClean="0"/>
                        <a:t>range(n)</a:t>
                      </a:r>
                      <a:endParaRPr lang="en-US" dirty="0"/>
                    </a:p>
                  </a:txBody>
                  <a:tcPr/>
                </a:tc>
                <a:tc>
                  <a:txBody>
                    <a:bodyPr/>
                    <a:lstStyle/>
                    <a:p>
                      <a:r>
                        <a:rPr lang="en-US" dirty="0" smtClean="0"/>
                        <a:t>Cho </a:t>
                      </a:r>
                      <a:r>
                        <a:rPr lang="en-US" dirty="0" err="1" smtClean="0"/>
                        <a:t>ra</a:t>
                      </a:r>
                      <a:r>
                        <a:rPr lang="en-US" dirty="0" smtClean="0"/>
                        <a:t> </a:t>
                      </a:r>
                      <a:r>
                        <a:rPr lang="en-US" baseline="0" dirty="0" err="1" smtClean="0"/>
                        <a:t>dãy</a:t>
                      </a:r>
                      <a:r>
                        <a:rPr lang="en-US" baseline="0" dirty="0" smtClean="0"/>
                        <a:t> </a:t>
                      </a:r>
                      <a:r>
                        <a:rPr lang="en-US" baseline="0" dirty="0" err="1" smtClean="0"/>
                        <a:t>số</a:t>
                      </a:r>
                      <a:r>
                        <a:rPr lang="en-US" baseline="0" dirty="0" smtClean="0"/>
                        <a:t> </a:t>
                      </a:r>
                      <a:r>
                        <a:rPr lang="en-US" baseline="0" dirty="0" err="1" smtClean="0"/>
                        <a:t>từ</a:t>
                      </a:r>
                      <a:r>
                        <a:rPr lang="en-US" baseline="0" dirty="0" smtClean="0"/>
                        <a:t> 0,1…n-1 (</a:t>
                      </a:r>
                      <a:r>
                        <a:rPr lang="en-US" baseline="0" dirty="0" err="1" smtClean="0"/>
                        <a:t>lúc</a:t>
                      </a:r>
                      <a:r>
                        <a:rPr lang="en-US" baseline="0" dirty="0" smtClean="0"/>
                        <a:t> </a:t>
                      </a:r>
                      <a:r>
                        <a:rPr lang="en-US" baseline="0" dirty="0" err="1" smtClean="0"/>
                        <a:t>này</a:t>
                      </a:r>
                      <a:r>
                        <a:rPr lang="en-US" baseline="0" dirty="0" smtClean="0"/>
                        <a:t> n </a:t>
                      </a:r>
                      <a:r>
                        <a:rPr lang="en-US" baseline="0" dirty="0" err="1" smtClean="0"/>
                        <a:t>là</a:t>
                      </a:r>
                      <a:r>
                        <a:rPr lang="en-US" baseline="0" dirty="0" smtClean="0"/>
                        <a:t> stop, start </a:t>
                      </a:r>
                      <a:r>
                        <a:rPr lang="en-US" baseline="0" dirty="0" err="1" smtClean="0"/>
                        <a:t>là</a:t>
                      </a:r>
                      <a:r>
                        <a:rPr lang="en-US" baseline="0" dirty="0" smtClean="0"/>
                        <a:t> 0)</a:t>
                      </a:r>
                      <a:endParaRPr lang="en-US" dirty="0"/>
                    </a:p>
                  </a:txBody>
                  <a:tcPr/>
                </a:tc>
                <a:extLst>
                  <a:ext uri="{0D108BD9-81ED-4DB2-BD59-A6C34878D82A}">
                    <a16:rowId xmlns:a16="http://schemas.microsoft.com/office/drawing/2014/main" xmlns="" val="1828796151"/>
                  </a:ext>
                </a:extLst>
              </a:tr>
              <a:tr h="370840">
                <a:tc>
                  <a:txBody>
                    <a:bodyPr/>
                    <a:lstStyle/>
                    <a:p>
                      <a:r>
                        <a:rPr lang="en-US" dirty="0" err="1" smtClean="0"/>
                        <a:t>rangle</a:t>
                      </a:r>
                      <a:r>
                        <a:rPr lang="en-US" dirty="0" smtClean="0"/>
                        <a:t>(n,0,-1)</a:t>
                      </a:r>
                      <a:endParaRPr lang="en-US" dirty="0"/>
                    </a:p>
                  </a:txBody>
                  <a:tcPr/>
                </a:tc>
                <a:tc>
                  <a:txBody>
                    <a:bodyPr/>
                    <a:lstStyle/>
                    <a:p>
                      <a:r>
                        <a:rPr lang="en-US" dirty="0" smtClean="0"/>
                        <a:t>Cho </a:t>
                      </a:r>
                      <a:r>
                        <a:rPr lang="en-US" dirty="0" err="1" smtClean="0"/>
                        <a:t>ra</a:t>
                      </a:r>
                      <a:r>
                        <a:rPr lang="en-US" baseline="0" dirty="0" smtClean="0"/>
                        <a:t> </a:t>
                      </a:r>
                      <a:r>
                        <a:rPr lang="en-US" baseline="0" dirty="0" err="1" smtClean="0"/>
                        <a:t>dãy</a:t>
                      </a:r>
                      <a:r>
                        <a:rPr lang="en-US" baseline="0" dirty="0" smtClean="0"/>
                        <a:t> </a:t>
                      </a:r>
                      <a:r>
                        <a:rPr lang="en-US" baseline="0" dirty="0" err="1" smtClean="0"/>
                        <a:t>số</a:t>
                      </a:r>
                      <a:r>
                        <a:rPr lang="en-US" baseline="0" dirty="0" smtClean="0"/>
                        <a:t> n, n-1…1( </a:t>
                      </a:r>
                      <a:r>
                        <a:rPr lang="en-US" baseline="0" dirty="0" err="1" smtClean="0"/>
                        <a:t>chiều</a:t>
                      </a:r>
                      <a:r>
                        <a:rPr lang="en-US" baseline="0" dirty="0" smtClean="0"/>
                        <a:t> </a:t>
                      </a:r>
                      <a:r>
                        <a:rPr lang="en-US" baseline="0" dirty="0" err="1" smtClean="0"/>
                        <a:t>giảm</a:t>
                      </a:r>
                      <a:r>
                        <a:rPr lang="en-US" baseline="0" dirty="0" smtClean="0"/>
                        <a:t> </a:t>
                      </a:r>
                      <a:r>
                        <a:rPr lang="en-US" baseline="0" dirty="0" err="1" smtClean="0"/>
                        <a:t>dần</a:t>
                      </a:r>
                      <a:r>
                        <a:rPr lang="en-US" baseline="0" dirty="0" smtClean="0"/>
                        <a:t>)</a:t>
                      </a:r>
                      <a:endParaRPr lang="en-US" dirty="0"/>
                    </a:p>
                  </a:txBody>
                  <a:tcPr/>
                </a:tc>
                <a:extLst>
                  <a:ext uri="{0D108BD9-81ED-4DB2-BD59-A6C34878D82A}">
                    <a16:rowId xmlns:a16="http://schemas.microsoft.com/office/drawing/2014/main" xmlns="" val="1036624392"/>
                  </a:ext>
                </a:extLst>
              </a:tr>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xmlns="" val="3149161528"/>
                  </a:ext>
                </a:extLst>
              </a:tr>
            </a:tbl>
          </a:graphicData>
        </a:graphic>
      </p:graphicFrame>
      <p:sp>
        <p:nvSpPr>
          <p:cNvPr id="12" name="TextBox 11"/>
          <p:cNvSpPr txBox="1"/>
          <p:nvPr/>
        </p:nvSpPr>
        <p:spPr>
          <a:xfrm>
            <a:off x="548982" y="1961567"/>
            <a:ext cx="7935800" cy="369332"/>
          </a:xfrm>
          <a:prstGeom prst="rect">
            <a:avLst/>
          </a:prstGeom>
          <a:noFill/>
        </p:spPr>
        <p:txBody>
          <a:bodyPr wrap="square" rtlCol="0">
            <a:spAutoFit/>
          </a:bodyPr>
          <a:lstStyle/>
          <a:p>
            <a:r>
              <a:rPr lang="en-US" dirty="0" err="1" smtClean="0"/>
              <a:t>Một</a:t>
            </a:r>
            <a:r>
              <a:rPr lang="en-US" dirty="0" smtClean="0"/>
              <a:t> </a:t>
            </a:r>
            <a:r>
              <a:rPr lang="en-US" dirty="0" err="1" smtClean="0"/>
              <a:t>số</a:t>
            </a:r>
            <a:r>
              <a:rPr lang="en-US" dirty="0" smtClean="0"/>
              <a:t> </a:t>
            </a:r>
            <a:r>
              <a:rPr lang="en-US" dirty="0" err="1" smtClean="0"/>
              <a:t>trường</a:t>
            </a:r>
            <a:r>
              <a:rPr lang="en-US" dirty="0" smtClean="0"/>
              <a:t> </a:t>
            </a:r>
            <a:r>
              <a:rPr lang="en-US" dirty="0" err="1" smtClean="0"/>
              <a:t>hợp</a:t>
            </a:r>
            <a:r>
              <a:rPr lang="en-US" dirty="0" smtClean="0"/>
              <a:t> </a:t>
            </a:r>
            <a:r>
              <a:rPr lang="en-US" dirty="0" err="1" smtClean="0"/>
              <a:t>khi</a:t>
            </a:r>
            <a:r>
              <a:rPr lang="en-US" dirty="0" smtClean="0"/>
              <a:t> </a:t>
            </a:r>
            <a:r>
              <a:rPr lang="en-US" dirty="0" err="1" smtClean="0"/>
              <a:t>sử</a:t>
            </a:r>
            <a:r>
              <a:rPr lang="en-US" dirty="0" smtClean="0"/>
              <a:t> </a:t>
            </a:r>
            <a:r>
              <a:rPr lang="en-US" dirty="0" err="1" smtClean="0"/>
              <a:t>dụng</a:t>
            </a:r>
            <a:r>
              <a:rPr lang="en-US" dirty="0" smtClean="0"/>
              <a:t> </a:t>
            </a:r>
            <a:r>
              <a:rPr lang="vi-VN" dirty="0" smtClean="0"/>
              <a:t>Hàm </a:t>
            </a:r>
            <a:r>
              <a:rPr lang="vi-VN" b="1" dirty="0"/>
              <a:t>range() </a:t>
            </a:r>
            <a:r>
              <a:rPr lang="vi-VN" dirty="0"/>
              <a:t>trả về một dãy </a:t>
            </a:r>
            <a:r>
              <a:rPr lang="vi-VN" dirty="0" smtClean="0"/>
              <a:t>số</a:t>
            </a:r>
            <a:r>
              <a:rPr lang="en-US" dirty="0" smtClean="0"/>
              <a:t>:</a:t>
            </a:r>
            <a:endParaRPr lang="en-US" b="1" dirty="0"/>
          </a:p>
        </p:txBody>
      </p:sp>
      <p:sp>
        <p:nvSpPr>
          <p:cNvPr id="13" name="TextBox 12"/>
          <p:cNvSpPr txBox="1"/>
          <p:nvPr/>
        </p:nvSpPr>
        <p:spPr>
          <a:xfrm>
            <a:off x="548982" y="5140702"/>
            <a:ext cx="7935800" cy="646331"/>
          </a:xfrm>
          <a:prstGeom prst="rect">
            <a:avLst/>
          </a:prstGeom>
          <a:noFill/>
        </p:spPr>
        <p:txBody>
          <a:bodyPr wrap="square" rtlCol="0">
            <a:spAutoFit/>
          </a:bodyPr>
          <a:lstStyle/>
          <a:p>
            <a:pPr algn="ctr"/>
            <a:r>
              <a:rPr lang="en-US" dirty="0" err="1" smtClean="0"/>
              <a:t>Chúng</a:t>
            </a:r>
            <a:r>
              <a:rPr lang="en-US" dirty="0" smtClean="0"/>
              <a:t> ta </a:t>
            </a:r>
            <a:r>
              <a:rPr lang="en-US" dirty="0" err="1" smtClean="0"/>
              <a:t>sẽ</a:t>
            </a:r>
            <a:r>
              <a:rPr lang="en-US" dirty="0" smtClean="0"/>
              <a:t> </a:t>
            </a:r>
            <a:r>
              <a:rPr lang="en-US" dirty="0" err="1" smtClean="0"/>
              <a:t>tìm</a:t>
            </a:r>
            <a:r>
              <a:rPr lang="en-US" dirty="0" smtClean="0"/>
              <a:t> </a:t>
            </a:r>
            <a:r>
              <a:rPr lang="en-US" dirty="0" err="1" smtClean="0"/>
              <a:t>hiểu</a:t>
            </a:r>
            <a:r>
              <a:rPr lang="en-US" dirty="0" smtClean="0"/>
              <a:t> range </a:t>
            </a:r>
            <a:r>
              <a:rPr lang="en-US" dirty="0" err="1" smtClean="0"/>
              <a:t>rõ</a:t>
            </a:r>
            <a:r>
              <a:rPr lang="en-US" dirty="0" smtClean="0"/>
              <a:t> </a:t>
            </a:r>
            <a:r>
              <a:rPr lang="en-US" dirty="0" err="1" smtClean="0"/>
              <a:t>hơn</a:t>
            </a:r>
            <a:r>
              <a:rPr lang="en-US" dirty="0" smtClean="0"/>
              <a:t> qua </a:t>
            </a:r>
            <a:r>
              <a:rPr lang="en-US" dirty="0" err="1" smtClean="0"/>
              <a:t>một</a:t>
            </a:r>
            <a:r>
              <a:rPr lang="en-US" dirty="0" smtClean="0"/>
              <a:t> </a:t>
            </a:r>
            <a:r>
              <a:rPr lang="en-US" dirty="0" err="1" smtClean="0"/>
              <a:t>vài</a:t>
            </a:r>
            <a:r>
              <a:rPr lang="en-US" dirty="0" smtClean="0"/>
              <a:t> </a:t>
            </a:r>
            <a:r>
              <a:rPr lang="en-US" dirty="0" err="1" smtClean="0"/>
              <a:t>ví</a:t>
            </a:r>
            <a:r>
              <a:rPr lang="en-US" dirty="0" smtClean="0"/>
              <a:t> </a:t>
            </a:r>
            <a:r>
              <a:rPr lang="en-US" dirty="0" err="1" smtClean="0"/>
              <a:t>dụ</a:t>
            </a:r>
            <a:r>
              <a:rPr lang="en-US" dirty="0" smtClean="0"/>
              <a:t> </a:t>
            </a:r>
            <a:r>
              <a:rPr lang="en-US" dirty="0" err="1" smtClean="0"/>
              <a:t>về</a:t>
            </a:r>
            <a:endParaRPr lang="en-US" dirty="0" smtClean="0"/>
          </a:p>
          <a:p>
            <a:pPr algn="ctr"/>
            <a:r>
              <a:rPr lang="en-US" dirty="0" smtClean="0"/>
              <a:t> </a:t>
            </a:r>
            <a:r>
              <a:rPr lang="en-US" dirty="0" err="1" smtClean="0"/>
              <a:t>vòng</a:t>
            </a:r>
            <a:r>
              <a:rPr lang="en-US" dirty="0" smtClean="0"/>
              <a:t> </a:t>
            </a:r>
            <a:r>
              <a:rPr lang="en-US" dirty="0" err="1" smtClean="0"/>
              <a:t>lặp</a:t>
            </a:r>
            <a:r>
              <a:rPr lang="en-US" dirty="0" smtClean="0"/>
              <a:t> </a:t>
            </a:r>
            <a:r>
              <a:rPr lang="en-US" b="1" dirty="0" smtClean="0"/>
              <a:t>for</a:t>
            </a:r>
            <a:r>
              <a:rPr lang="en-US" dirty="0" smtClean="0"/>
              <a:t> </a:t>
            </a:r>
            <a:r>
              <a:rPr lang="en-US" dirty="0" err="1" smtClean="0"/>
              <a:t>sau</a:t>
            </a:r>
            <a:r>
              <a:rPr lang="en-US" dirty="0" smtClean="0"/>
              <a:t> </a:t>
            </a:r>
            <a:r>
              <a:rPr lang="en-US" dirty="0" err="1" smtClean="0"/>
              <a:t>đây</a:t>
            </a:r>
            <a:endParaRPr lang="en-US" b="1" dirty="0"/>
          </a:p>
        </p:txBody>
      </p:sp>
    </p:spTree>
    <p:extLst>
      <p:ext uri="{BB962C8B-B14F-4D97-AF65-F5344CB8AC3E}">
        <p14:creationId xmlns:p14="http://schemas.microsoft.com/office/powerpoint/2010/main" val="978636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5</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Vòng</a:t>
            </a:r>
            <a:r>
              <a:rPr lang="en-US" dirty="0" smtClean="0"/>
              <a:t> </a:t>
            </a:r>
            <a:r>
              <a:rPr lang="en-US" dirty="0" err="1" smtClean="0"/>
              <a:t>lặp</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Thế</a:t>
            </a:r>
            <a:r>
              <a:rPr lang="en-US" b="1" dirty="0" smtClean="0"/>
              <a:t> </a:t>
            </a:r>
            <a:r>
              <a:rPr lang="en-US" b="1" dirty="0" err="1" smtClean="0"/>
              <a:t>nào</a:t>
            </a:r>
            <a:r>
              <a:rPr lang="en-US" b="1" dirty="0" smtClean="0"/>
              <a:t> </a:t>
            </a:r>
            <a:r>
              <a:rPr lang="en-US" b="1" dirty="0" err="1" smtClean="0"/>
              <a:t>là</a:t>
            </a:r>
            <a:r>
              <a:rPr lang="en-US" b="1" dirty="0" smtClean="0"/>
              <a:t> </a:t>
            </a:r>
            <a:r>
              <a:rPr lang="en-US" b="1" dirty="0" err="1" smtClean="0"/>
              <a:t>vòng</a:t>
            </a:r>
            <a:r>
              <a:rPr lang="en-US" b="1" dirty="0" smtClean="0"/>
              <a:t> </a:t>
            </a:r>
            <a:r>
              <a:rPr lang="en-US" b="1" dirty="0" err="1" smtClean="0"/>
              <a:t>lặp</a:t>
            </a:r>
            <a:r>
              <a:rPr lang="en-US" b="1" dirty="0" smtClean="0"/>
              <a:t> ?</a:t>
            </a:r>
            <a:endParaRPr lang="en-US" b="1" dirty="0"/>
          </a:p>
        </p:txBody>
      </p:sp>
      <p:sp>
        <p:nvSpPr>
          <p:cNvPr id="12" name="TextBox 11"/>
          <p:cNvSpPr txBox="1"/>
          <p:nvPr/>
        </p:nvSpPr>
        <p:spPr>
          <a:xfrm>
            <a:off x="548982" y="1961567"/>
            <a:ext cx="6968238"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trong</a:t>
            </a:r>
            <a:r>
              <a:rPr lang="en-US" dirty="0" smtClean="0"/>
              <a:t> </a:t>
            </a:r>
            <a:r>
              <a:rPr lang="en-US" dirty="0" err="1" smtClean="0"/>
              <a:t>đời</a:t>
            </a:r>
            <a:r>
              <a:rPr lang="en-US" dirty="0" smtClean="0"/>
              <a:t> </a:t>
            </a:r>
            <a:r>
              <a:rPr lang="en-US" dirty="0" err="1" smtClean="0"/>
              <a:t>sống</a:t>
            </a:r>
            <a:r>
              <a:rPr lang="en-US" dirty="0" smtClean="0"/>
              <a:t> </a:t>
            </a:r>
            <a:r>
              <a:rPr lang="en-US" dirty="0" err="1" smtClean="0"/>
              <a:t>có</a:t>
            </a:r>
            <a:r>
              <a:rPr lang="en-US" dirty="0" smtClean="0"/>
              <a:t> </a:t>
            </a:r>
            <a:r>
              <a:rPr lang="en-US" dirty="0" err="1" smtClean="0"/>
              <a:t>các</a:t>
            </a:r>
            <a:r>
              <a:rPr lang="en-US" dirty="0" smtClean="0"/>
              <a:t> </a:t>
            </a:r>
            <a:r>
              <a:rPr lang="en-US" dirty="0" err="1" smtClean="0"/>
              <a:t>phát</a:t>
            </a:r>
            <a:r>
              <a:rPr lang="en-US" dirty="0" smtClean="0"/>
              <a:t> </a:t>
            </a:r>
            <a:r>
              <a:rPr lang="en-US" dirty="0" err="1" smtClean="0"/>
              <a:t>biểu</a:t>
            </a:r>
            <a:r>
              <a:rPr lang="en-US" dirty="0" smtClean="0"/>
              <a:t> </a:t>
            </a:r>
            <a:r>
              <a:rPr lang="en-US" dirty="0" err="1" smtClean="0"/>
              <a:t>sau</a:t>
            </a:r>
            <a:r>
              <a:rPr lang="en-US" dirty="0" smtClean="0"/>
              <a:t>: </a:t>
            </a:r>
            <a:endParaRPr lang="en-US" b="1" dirty="0"/>
          </a:p>
        </p:txBody>
      </p:sp>
      <p:sp>
        <p:nvSpPr>
          <p:cNvPr id="13" name="TextBox 12"/>
          <p:cNvSpPr txBox="1"/>
          <p:nvPr/>
        </p:nvSpPr>
        <p:spPr>
          <a:xfrm>
            <a:off x="1144404" y="2574639"/>
            <a:ext cx="3023559" cy="369332"/>
          </a:xfrm>
          <a:prstGeom prst="rect">
            <a:avLst/>
          </a:prstGeom>
          <a:noFill/>
        </p:spPr>
        <p:txBody>
          <a:bodyPr wrap="square" rtlCol="0">
            <a:spAutoFit/>
          </a:bodyPr>
          <a:lstStyle/>
          <a:p>
            <a:r>
              <a:rPr lang="en-US" dirty="0" err="1" smtClean="0"/>
              <a:t>Bạn</a:t>
            </a:r>
            <a:r>
              <a:rPr lang="en-US" dirty="0" smtClean="0"/>
              <a:t> </a:t>
            </a:r>
            <a:r>
              <a:rPr lang="en-US" dirty="0" err="1" smtClean="0"/>
              <a:t>hãy</a:t>
            </a:r>
            <a:r>
              <a:rPr lang="en-US" dirty="0" smtClean="0"/>
              <a:t> </a:t>
            </a:r>
            <a:r>
              <a:rPr lang="en-US" dirty="0" err="1" smtClean="0"/>
              <a:t>nhảy</a:t>
            </a:r>
            <a:r>
              <a:rPr lang="en-US" dirty="0" smtClean="0"/>
              <a:t> </a:t>
            </a:r>
            <a:r>
              <a:rPr lang="en-US" dirty="0" err="1" smtClean="0"/>
              <a:t>lò</a:t>
            </a:r>
            <a:r>
              <a:rPr lang="en-US" dirty="0" smtClean="0"/>
              <a:t> </a:t>
            </a:r>
            <a:r>
              <a:rPr lang="en-US" dirty="0" err="1" smtClean="0"/>
              <a:t>cò</a:t>
            </a:r>
            <a:r>
              <a:rPr lang="en-US" dirty="0" smtClean="0"/>
              <a:t> </a:t>
            </a:r>
            <a:r>
              <a:rPr lang="en-US" b="1" dirty="0" smtClean="0"/>
              <a:t>2 </a:t>
            </a:r>
            <a:r>
              <a:rPr lang="en-US" b="1" dirty="0" err="1" smtClean="0"/>
              <a:t>lần</a:t>
            </a:r>
            <a:endParaRPr lang="en-US" b="1" dirty="0"/>
          </a:p>
        </p:txBody>
      </p:sp>
      <p:sp>
        <p:nvSpPr>
          <p:cNvPr id="14" name="Oval 13"/>
          <p:cNvSpPr/>
          <p:nvPr/>
        </p:nvSpPr>
        <p:spPr>
          <a:xfrm>
            <a:off x="648586" y="2574639"/>
            <a:ext cx="350875" cy="350875"/>
          </a:xfrm>
          <a:prstGeom prst="ellipse">
            <a:avLst/>
          </a:prstGeom>
          <a:solidFill>
            <a:srgbClr val="377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15" name="TextBox 14"/>
          <p:cNvSpPr txBox="1"/>
          <p:nvPr/>
        </p:nvSpPr>
        <p:spPr>
          <a:xfrm>
            <a:off x="1144404" y="3159429"/>
            <a:ext cx="4363261" cy="369332"/>
          </a:xfrm>
          <a:prstGeom prst="rect">
            <a:avLst/>
          </a:prstGeom>
          <a:noFill/>
        </p:spPr>
        <p:txBody>
          <a:bodyPr wrap="square" rtlCol="0">
            <a:spAutoFit/>
          </a:bodyPr>
          <a:lstStyle/>
          <a:p>
            <a:r>
              <a:rPr lang="en-US" dirty="0" err="1" smtClean="0"/>
              <a:t>Chạy</a:t>
            </a:r>
            <a:r>
              <a:rPr lang="en-US" dirty="0" smtClean="0"/>
              <a:t> </a:t>
            </a:r>
            <a:r>
              <a:rPr lang="en-US" b="1" dirty="0"/>
              <a:t>5</a:t>
            </a:r>
            <a:r>
              <a:rPr lang="en-US" b="1" dirty="0" smtClean="0"/>
              <a:t> </a:t>
            </a:r>
            <a:r>
              <a:rPr lang="en-US" b="1" dirty="0" err="1" smtClean="0"/>
              <a:t>lần</a:t>
            </a:r>
            <a:r>
              <a:rPr lang="en-US" b="1" dirty="0" smtClean="0"/>
              <a:t> </a:t>
            </a:r>
            <a:r>
              <a:rPr lang="en-US" dirty="0" err="1" smtClean="0"/>
              <a:t>quanh</a:t>
            </a:r>
            <a:r>
              <a:rPr lang="en-US" dirty="0" smtClean="0"/>
              <a:t> </a:t>
            </a:r>
            <a:r>
              <a:rPr lang="en-US" dirty="0" err="1" smtClean="0"/>
              <a:t>sân</a:t>
            </a:r>
            <a:r>
              <a:rPr lang="en-US" dirty="0" smtClean="0"/>
              <a:t> </a:t>
            </a:r>
            <a:r>
              <a:rPr lang="en-US" dirty="0" err="1" smtClean="0"/>
              <a:t>bóng</a:t>
            </a:r>
            <a:endParaRPr lang="en-US" dirty="0"/>
          </a:p>
        </p:txBody>
      </p:sp>
      <p:sp>
        <p:nvSpPr>
          <p:cNvPr id="16" name="Oval 15"/>
          <p:cNvSpPr/>
          <p:nvPr/>
        </p:nvSpPr>
        <p:spPr>
          <a:xfrm>
            <a:off x="648586" y="3159429"/>
            <a:ext cx="350875" cy="350875"/>
          </a:xfrm>
          <a:prstGeom prst="ellipse">
            <a:avLst/>
          </a:prstGeom>
          <a:solidFill>
            <a:srgbClr val="377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17" name="TextBox 16"/>
          <p:cNvSpPr txBox="1"/>
          <p:nvPr/>
        </p:nvSpPr>
        <p:spPr>
          <a:xfrm>
            <a:off x="1144404" y="3797382"/>
            <a:ext cx="4363261" cy="369332"/>
          </a:xfrm>
          <a:prstGeom prst="rect">
            <a:avLst/>
          </a:prstGeom>
          <a:noFill/>
        </p:spPr>
        <p:txBody>
          <a:bodyPr wrap="square" rtlCol="0">
            <a:spAutoFit/>
          </a:bodyPr>
          <a:lstStyle/>
          <a:p>
            <a:r>
              <a:rPr lang="en-US" dirty="0" err="1" smtClean="0"/>
              <a:t>Nói</a:t>
            </a:r>
            <a:r>
              <a:rPr lang="en-US" dirty="0" smtClean="0"/>
              <a:t> </a:t>
            </a:r>
            <a:r>
              <a:rPr lang="en-US" dirty="0" err="1" smtClean="0"/>
              <a:t>thật</a:t>
            </a:r>
            <a:r>
              <a:rPr lang="en-US" dirty="0" smtClean="0"/>
              <a:t> to </a:t>
            </a:r>
            <a:r>
              <a:rPr lang="en-US" b="1" dirty="0" smtClean="0"/>
              <a:t>10 </a:t>
            </a:r>
            <a:r>
              <a:rPr lang="en-US" b="1" dirty="0" err="1" smtClean="0"/>
              <a:t>lần</a:t>
            </a:r>
            <a:r>
              <a:rPr lang="en-US" b="1" dirty="0" smtClean="0"/>
              <a:t> </a:t>
            </a:r>
            <a:r>
              <a:rPr lang="en-US" dirty="0" smtClean="0"/>
              <a:t>2</a:t>
            </a:r>
            <a:r>
              <a:rPr lang="en-US" b="1" dirty="0" smtClean="0"/>
              <a:t> </a:t>
            </a:r>
            <a:r>
              <a:rPr lang="en-US" dirty="0" err="1" smtClean="0"/>
              <a:t>từ</a:t>
            </a:r>
            <a:r>
              <a:rPr lang="en-US" dirty="0" smtClean="0"/>
              <a:t> “Xin </a:t>
            </a:r>
            <a:r>
              <a:rPr lang="en-US" dirty="0" err="1" smtClean="0"/>
              <a:t>chào</a:t>
            </a:r>
            <a:r>
              <a:rPr lang="en-US" dirty="0" smtClean="0"/>
              <a:t>”</a:t>
            </a:r>
            <a:endParaRPr lang="en-US" dirty="0"/>
          </a:p>
        </p:txBody>
      </p:sp>
      <p:sp>
        <p:nvSpPr>
          <p:cNvPr id="18" name="Oval 17"/>
          <p:cNvSpPr/>
          <p:nvPr/>
        </p:nvSpPr>
        <p:spPr>
          <a:xfrm>
            <a:off x="648586" y="3797382"/>
            <a:ext cx="350875" cy="350875"/>
          </a:xfrm>
          <a:prstGeom prst="ellipse">
            <a:avLst/>
          </a:prstGeom>
          <a:solidFill>
            <a:srgbClr val="377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 name="Right Brace 18"/>
          <p:cNvSpPr/>
          <p:nvPr/>
        </p:nvSpPr>
        <p:spPr>
          <a:xfrm>
            <a:off x="4795284" y="2574639"/>
            <a:ext cx="414669" cy="148699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5376161" y="2882430"/>
            <a:ext cx="3263769" cy="923330"/>
          </a:xfrm>
          <a:prstGeom prst="rect">
            <a:avLst/>
          </a:prstGeom>
          <a:noFill/>
        </p:spPr>
        <p:txBody>
          <a:bodyPr wrap="square" rtlCol="0">
            <a:spAutoFit/>
          </a:bodyPr>
          <a:lstStyle/>
          <a:p>
            <a:r>
              <a:rPr lang="en-US" dirty="0" err="1" smtClean="0"/>
              <a:t>Thì</a:t>
            </a:r>
            <a:r>
              <a:rPr lang="en-US" dirty="0" smtClean="0"/>
              <a:t> </a:t>
            </a:r>
            <a:r>
              <a:rPr lang="en-US" dirty="0" err="1" smtClean="0"/>
              <a:t>có</a:t>
            </a:r>
            <a:r>
              <a:rPr lang="en-US" dirty="0" smtClean="0"/>
              <a:t> </a:t>
            </a:r>
            <a:r>
              <a:rPr lang="en-US" dirty="0" err="1" smtClean="0"/>
              <a:t>nghĩa</a:t>
            </a:r>
            <a:r>
              <a:rPr lang="en-US" dirty="0" smtClean="0"/>
              <a:t> </a:t>
            </a:r>
            <a:r>
              <a:rPr lang="en-US" dirty="0" err="1" smtClean="0"/>
              <a:t>bạn</a:t>
            </a:r>
            <a:r>
              <a:rPr lang="en-US" dirty="0" smtClean="0"/>
              <a:t> </a:t>
            </a:r>
            <a:r>
              <a:rPr lang="en-US" dirty="0" err="1" smtClean="0"/>
              <a:t>đang</a:t>
            </a:r>
            <a:r>
              <a:rPr lang="en-US" dirty="0" smtClean="0"/>
              <a:t> </a:t>
            </a:r>
            <a:r>
              <a:rPr lang="en-US" b="1" dirty="0" err="1" smtClean="0"/>
              <a:t>lặp</a:t>
            </a:r>
            <a:r>
              <a:rPr lang="en-US" b="1" dirty="0" smtClean="0"/>
              <a:t> </a:t>
            </a:r>
            <a:r>
              <a:rPr lang="en-US" b="1" dirty="0" err="1" smtClean="0"/>
              <a:t>đi</a:t>
            </a:r>
            <a:r>
              <a:rPr lang="en-US" b="1" dirty="0" smtClean="0"/>
              <a:t> </a:t>
            </a:r>
            <a:r>
              <a:rPr lang="en-US" b="1" dirty="0" err="1" smtClean="0"/>
              <a:t>lặp</a:t>
            </a:r>
            <a:r>
              <a:rPr lang="en-US" b="1" dirty="0" smtClean="0"/>
              <a:t> </a:t>
            </a:r>
            <a:r>
              <a:rPr lang="en-US" b="1" dirty="0" err="1" smtClean="0"/>
              <a:t>lại</a:t>
            </a:r>
            <a:r>
              <a:rPr lang="en-US" dirty="0" smtClean="0"/>
              <a:t> </a:t>
            </a:r>
            <a:r>
              <a:rPr lang="en-US" dirty="0" err="1" smtClean="0"/>
              <a:t>một</a:t>
            </a:r>
            <a:r>
              <a:rPr lang="en-US" dirty="0" smtClean="0"/>
              <a:t> </a:t>
            </a:r>
            <a:r>
              <a:rPr lang="en-US" dirty="0" err="1" smtClean="0"/>
              <a:t>hoặc</a:t>
            </a:r>
            <a:r>
              <a:rPr lang="en-US" dirty="0" smtClean="0"/>
              <a:t> </a:t>
            </a:r>
            <a:r>
              <a:rPr lang="en-US" dirty="0" err="1" smtClean="0"/>
              <a:t>nhiều</a:t>
            </a:r>
            <a:r>
              <a:rPr lang="en-US" dirty="0" smtClean="0"/>
              <a:t> </a:t>
            </a:r>
            <a:r>
              <a:rPr lang="en-US" dirty="0" err="1" smtClean="0"/>
              <a:t>hành</a:t>
            </a:r>
            <a:r>
              <a:rPr lang="en-US" dirty="0" smtClean="0"/>
              <a:t> </a:t>
            </a:r>
            <a:r>
              <a:rPr lang="en-US" dirty="0" err="1" smtClean="0"/>
              <a:t>động</a:t>
            </a:r>
            <a:r>
              <a:rPr lang="en-US" dirty="0" smtClean="0"/>
              <a:t> </a:t>
            </a:r>
            <a:r>
              <a:rPr lang="en-US" dirty="0" err="1" smtClean="0"/>
              <a:t>gì</a:t>
            </a:r>
            <a:r>
              <a:rPr lang="en-US" dirty="0" smtClean="0"/>
              <a:t> </a:t>
            </a:r>
            <a:r>
              <a:rPr lang="en-US" dirty="0" err="1" smtClean="0"/>
              <a:t>đó</a:t>
            </a:r>
            <a:r>
              <a:rPr lang="en-US" dirty="0" smtClean="0"/>
              <a:t>.</a:t>
            </a:r>
            <a:endParaRPr lang="en-US" b="1" dirty="0"/>
          </a:p>
        </p:txBody>
      </p:sp>
      <p:sp>
        <p:nvSpPr>
          <p:cNvPr id="21" name="TextBox 20"/>
          <p:cNvSpPr txBox="1"/>
          <p:nvPr/>
        </p:nvSpPr>
        <p:spPr>
          <a:xfrm>
            <a:off x="548981" y="4524013"/>
            <a:ext cx="7999595" cy="646331"/>
          </a:xfrm>
          <a:prstGeom prst="rect">
            <a:avLst/>
          </a:prstGeom>
          <a:noFill/>
        </p:spPr>
        <p:txBody>
          <a:bodyPr wrap="square" rtlCol="0">
            <a:spAutoFit/>
          </a:bodyPr>
          <a:lstStyle/>
          <a:p>
            <a:r>
              <a:rPr lang="en-US" dirty="0" err="1" smtClean="0"/>
              <a:t>Thì</a:t>
            </a:r>
            <a:r>
              <a:rPr lang="en-US" dirty="0" smtClean="0"/>
              <a:t> </a:t>
            </a:r>
            <a:r>
              <a:rPr lang="en-US" dirty="0" err="1" smtClean="0"/>
              <a:t>trong</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lập</a:t>
            </a:r>
            <a:r>
              <a:rPr lang="en-US" dirty="0" smtClean="0"/>
              <a:t> </a:t>
            </a:r>
            <a:r>
              <a:rPr lang="en-US" dirty="0" err="1" smtClean="0"/>
              <a:t>trình</a:t>
            </a:r>
            <a:r>
              <a:rPr lang="en-US" dirty="0" smtClean="0"/>
              <a:t>, </a:t>
            </a:r>
            <a:r>
              <a:rPr lang="en-US" dirty="0" err="1" smtClean="0"/>
              <a:t>việc</a:t>
            </a:r>
            <a:r>
              <a:rPr lang="en-US" dirty="0" smtClean="0"/>
              <a:t> </a:t>
            </a:r>
            <a:r>
              <a:rPr lang="en-US" dirty="0" err="1" smtClean="0"/>
              <a:t>lặp</a:t>
            </a:r>
            <a:r>
              <a:rPr lang="en-US" dirty="0" smtClean="0"/>
              <a:t> </a:t>
            </a:r>
            <a:r>
              <a:rPr lang="en-US" dirty="0" err="1" smtClean="0"/>
              <a:t>lại</a:t>
            </a:r>
            <a:r>
              <a:rPr lang="en-US" dirty="0" smtClean="0"/>
              <a:t> </a:t>
            </a:r>
            <a:r>
              <a:rPr lang="en-US" dirty="0" err="1" smtClean="0"/>
              <a:t>đó</a:t>
            </a:r>
            <a:r>
              <a:rPr lang="en-US" dirty="0" smtClean="0"/>
              <a:t> </a:t>
            </a:r>
            <a:r>
              <a:rPr lang="en-US" dirty="0" err="1" smtClean="0"/>
              <a:t>được</a:t>
            </a:r>
            <a:r>
              <a:rPr lang="en-US" dirty="0" smtClean="0"/>
              <a:t> </a:t>
            </a:r>
            <a:r>
              <a:rPr lang="en-US" dirty="0" err="1" smtClean="0"/>
              <a:t>viết</a:t>
            </a:r>
            <a:r>
              <a:rPr lang="en-US" dirty="0" smtClean="0"/>
              <a:t> </a:t>
            </a:r>
            <a:r>
              <a:rPr lang="en-US" dirty="0" err="1" smtClean="0"/>
              <a:t>thành</a:t>
            </a:r>
            <a:r>
              <a:rPr lang="en-US" dirty="0" smtClean="0"/>
              <a:t> </a:t>
            </a:r>
            <a:r>
              <a:rPr lang="en-US" dirty="0" err="1" smtClean="0"/>
              <a:t>câu</a:t>
            </a:r>
            <a:r>
              <a:rPr lang="en-US" dirty="0" smtClean="0"/>
              <a:t> </a:t>
            </a:r>
            <a:r>
              <a:rPr lang="en-US" dirty="0" err="1" smtClean="0"/>
              <a:t>lệnh</a:t>
            </a:r>
            <a:r>
              <a:rPr lang="en-US" dirty="0"/>
              <a:t> </a:t>
            </a:r>
            <a:r>
              <a:rPr lang="en-US" dirty="0" err="1" smtClean="0"/>
              <a:t>như</a:t>
            </a:r>
            <a:r>
              <a:rPr lang="en-US" dirty="0" smtClean="0"/>
              <a:t> </a:t>
            </a:r>
            <a:r>
              <a:rPr lang="en-US" dirty="0" err="1" smtClean="0"/>
              <a:t>là</a:t>
            </a:r>
            <a:r>
              <a:rPr lang="en-US" dirty="0" smtClean="0"/>
              <a:t> </a:t>
            </a:r>
            <a:r>
              <a:rPr lang="en-US" b="1" dirty="0" smtClean="0"/>
              <a:t>for</a:t>
            </a:r>
            <a:r>
              <a:rPr lang="en-US" dirty="0" smtClean="0"/>
              <a:t>, </a:t>
            </a:r>
            <a:r>
              <a:rPr lang="en-US" b="1" dirty="0" smtClean="0"/>
              <a:t>while</a:t>
            </a:r>
            <a:endParaRPr lang="en-US" b="1" dirty="0"/>
          </a:p>
        </p:txBody>
      </p:sp>
      <p:sp>
        <p:nvSpPr>
          <p:cNvPr id="22" name="TextBox 21"/>
          <p:cNvSpPr txBox="1"/>
          <p:nvPr/>
        </p:nvSpPr>
        <p:spPr>
          <a:xfrm>
            <a:off x="548981" y="5480943"/>
            <a:ext cx="7999595" cy="646331"/>
          </a:xfrm>
          <a:prstGeom prst="rect">
            <a:avLst/>
          </a:prstGeom>
          <a:noFill/>
        </p:spPr>
        <p:txBody>
          <a:bodyPr wrap="square" rtlCol="0">
            <a:spAutoFit/>
          </a:bodyPr>
          <a:lstStyle/>
          <a:p>
            <a:r>
              <a:rPr lang="vi-VN" b="1" dirty="0"/>
              <a:t>Vòng lặp </a:t>
            </a:r>
            <a:r>
              <a:rPr lang="vi-VN" dirty="0"/>
              <a:t>là một khái niệm trong lập trình được sử dụng để lặp lại các hành động nhiều lần, mà không cần phải viết lại các lệnh nhiều </a:t>
            </a:r>
            <a:r>
              <a:rPr lang="vi-VN" dirty="0" smtClean="0"/>
              <a:t>lần</a:t>
            </a:r>
            <a:r>
              <a:rPr lang="en-US" dirty="0" smtClean="0"/>
              <a:t>.</a:t>
            </a:r>
            <a:endParaRPr lang="en-US" b="1" dirty="0"/>
          </a:p>
        </p:txBody>
      </p:sp>
    </p:spTree>
    <p:extLst>
      <p:ext uri="{BB962C8B-B14F-4D97-AF65-F5344CB8AC3E}">
        <p14:creationId xmlns:p14="http://schemas.microsoft.com/office/powerpoint/2010/main" val="35117482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6</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Vòng</a:t>
            </a:r>
            <a:r>
              <a:rPr lang="en-US" dirty="0" smtClean="0"/>
              <a:t> </a:t>
            </a:r>
            <a:r>
              <a:rPr lang="en-US" dirty="0" err="1" smtClean="0"/>
              <a:t>lặp</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Thế</a:t>
            </a:r>
            <a:r>
              <a:rPr lang="en-US" b="1" dirty="0" smtClean="0"/>
              <a:t> </a:t>
            </a:r>
            <a:r>
              <a:rPr lang="en-US" b="1" dirty="0" err="1" smtClean="0"/>
              <a:t>nào</a:t>
            </a:r>
            <a:r>
              <a:rPr lang="en-US" b="1" dirty="0" smtClean="0"/>
              <a:t> </a:t>
            </a:r>
            <a:r>
              <a:rPr lang="en-US" b="1" dirty="0" err="1" smtClean="0"/>
              <a:t>là</a:t>
            </a:r>
            <a:r>
              <a:rPr lang="en-US" b="1" dirty="0" smtClean="0"/>
              <a:t> </a:t>
            </a:r>
            <a:r>
              <a:rPr lang="en-US" b="1" dirty="0" err="1" smtClean="0"/>
              <a:t>vòng</a:t>
            </a:r>
            <a:r>
              <a:rPr lang="en-US" b="1" dirty="0" smtClean="0"/>
              <a:t> </a:t>
            </a:r>
            <a:r>
              <a:rPr lang="en-US" b="1" dirty="0" err="1" smtClean="0"/>
              <a:t>lặp</a:t>
            </a:r>
            <a:r>
              <a:rPr lang="en-US" b="1" dirty="0" smtClean="0"/>
              <a:t> ?</a:t>
            </a:r>
            <a:endParaRPr lang="en-US" b="1" dirty="0"/>
          </a:p>
        </p:txBody>
      </p:sp>
      <p:sp>
        <p:nvSpPr>
          <p:cNvPr id="17" name="TextBox 16"/>
          <p:cNvSpPr txBox="1"/>
          <p:nvPr/>
        </p:nvSpPr>
        <p:spPr>
          <a:xfrm>
            <a:off x="1144404" y="2055601"/>
            <a:ext cx="4363261" cy="369332"/>
          </a:xfrm>
          <a:prstGeom prst="rect">
            <a:avLst/>
          </a:prstGeom>
          <a:noFill/>
        </p:spPr>
        <p:txBody>
          <a:bodyPr wrap="square" rtlCol="0">
            <a:spAutoFit/>
          </a:bodyPr>
          <a:lstStyle/>
          <a:p>
            <a:r>
              <a:rPr lang="en-US" dirty="0" err="1" smtClean="0"/>
              <a:t>Nói</a:t>
            </a:r>
            <a:r>
              <a:rPr lang="en-US" dirty="0" smtClean="0"/>
              <a:t> </a:t>
            </a:r>
            <a:r>
              <a:rPr lang="en-US" dirty="0" err="1" smtClean="0"/>
              <a:t>thật</a:t>
            </a:r>
            <a:r>
              <a:rPr lang="en-US" dirty="0" smtClean="0"/>
              <a:t> to </a:t>
            </a:r>
            <a:r>
              <a:rPr lang="en-US" b="1" dirty="0" smtClean="0"/>
              <a:t>10 </a:t>
            </a:r>
            <a:r>
              <a:rPr lang="en-US" b="1" dirty="0" err="1" smtClean="0"/>
              <a:t>lần</a:t>
            </a:r>
            <a:r>
              <a:rPr lang="en-US" b="1" dirty="0" smtClean="0"/>
              <a:t> </a:t>
            </a:r>
            <a:r>
              <a:rPr lang="en-US" dirty="0" smtClean="0"/>
              <a:t>2</a:t>
            </a:r>
            <a:r>
              <a:rPr lang="en-US" b="1" dirty="0" smtClean="0"/>
              <a:t> </a:t>
            </a:r>
            <a:r>
              <a:rPr lang="en-US" dirty="0" err="1" smtClean="0"/>
              <a:t>từ</a:t>
            </a:r>
            <a:r>
              <a:rPr lang="en-US" dirty="0" smtClean="0"/>
              <a:t> “Xin </a:t>
            </a:r>
            <a:r>
              <a:rPr lang="en-US" dirty="0" err="1" smtClean="0"/>
              <a:t>chào</a:t>
            </a:r>
            <a:r>
              <a:rPr lang="en-US" dirty="0" smtClean="0"/>
              <a:t>”</a:t>
            </a:r>
            <a:endParaRPr lang="en-US" dirty="0"/>
          </a:p>
        </p:txBody>
      </p:sp>
      <p:sp>
        <p:nvSpPr>
          <p:cNvPr id="18" name="Oval 17"/>
          <p:cNvSpPr/>
          <p:nvPr/>
        </p:nvSpPr>
        <p:spPr>
          <a:xfrm>
            <a:off x="648586" y="2055601"/>
            <a:ext cx="350875" cy="350875"/>
          </a:xfrm>
          <a:prstGeom prst="ellipse">
            <a:avLst/>
          </a:prstGeom>
          <a:solidFill>
            <a:srgbClr val="377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1" name="TextBox 20"/>
          <p:cNvSpPr txBox="1"/>
          <p:nvPr/>
        </p:nvSpPr>
        <p:spPr>
          <a:xfrm>
            <a:off x="548981" y="2604487"/>
            <a:ext cx="7999595" cy="369332"/>
          </a:xfrm>
          <a:prstGeom prst="rect">
            <a:avLst/>
          </a:prstGeom>
          <a:noFill/>
        </p:spPr>
        <p:txBody>
          <a:bodyPr wrap="square" rtlCol="0">
            <a:spAutoFit/>
          </a:bodyPr>
          <a:lstStyle/>
          <a:p>
            <a:r>
              <a:rPr lang="en-US" dirty="0" err="1" smtClean="0"/>
              <a:t>Chúng</a:t>
            </a:r>
            <a:r>
              <a:rPr lang="en-US" dirty="0" smtClean="0"/>
              <a:t> ta </a:t>
            </a:r>
            <a:r>
              <a:rPr lang="en-US" dirty="0" err="1" smtClean="0"/>
              <a:t>có</a:t>
            </a:r>
            <a:r>
              <a:rPr lang="en-US" dirty="0" smtClean="0"/>
              <a:t> </a:t>
            </a:r>
            <a:r>
              <a:rPr lang="en-US" dirty="0" err="1" smtClean="0"/>
              <a:t>thể</a:t>
            </a:r>
            <a:r>
              <a:rPr lang="en-US" dirty="0" smtClean="0"/>
              <a:t> </a:t>
            </a:r>
            <a:r>
              <a:rPr lang="en-US" dirty="0" err="1" smtClean="0"/>
              <a:t>mô</a:t>
            </a:r>
            <a:r>
              <a:rPr lang="en-US" dirty="0" smtClean="0"/>
              <a:t> </a:t>
            </a:r>
            <a:r>
              <a:rPr lang="en-US" dirty="0" err="1" smtClean="0"/>
              <a:t>tả</a:t>
            </a:r>
            <a:r>
              <a:rPr lang="en-US" dirty="0" smtClean="0"/>
              <a:t> </a:t>
            </a:r>
            <a:r>
              <a:rPr lang="en-US" dirty="0" err="1" smtClean="0"/>
              <a:t>phát</a:t>
            </a:r>
            <a:r>
              <a:rPr lang="en-US" dirty="0" smtClean="0"/>
              <a:t> </a:t>
            </a:r>
            <a:r>
              <a:rPr lang="en-US" dirty="0" err="1" smtClean="0"/>
              <a:t>biểu</a:t>
            </a:r>
            <a:r>
              <a:rPr lang="en-US" dirty="0" smtClean="0"/>
              <a:t> </a:t>
            </a:r>
            <a:r>
              <a:rPr lang="en-US" dirty="0" err="1" smtClean="0"/>
              <a:t>này</a:t>
            </a:r>
            <a:r>
              <a:rPr lang="en-US" dirty="0" smtClean="0"/>
              <a:t> </a:t>
            </a:r>
            <a:r>
              <a:rPr lang="en-US" dirty="0" err="1" smtClean="0"/>
              <a:t>trong</a:t>
            </a:r>
            <a:r>
              <a:rPr lang="en-US" dirty="0" smtClean="0"/>
              <a:t> </a:t>
            </a:r>
            <a:r>
              <a:rPr lang="en-US" dirty="0" err="1" smtClean="0"/>
              <a:t>lập</a:t>
            </a:r>
            <a:r>
              <a:rPr lang="en-US" dirty="0" smtClean="0"/>
              <a:t> </a:t>
            </a:r>
            <a:r>
              <a:rPr lang="en-US" dirty="0" err="1" smtClean="0"/>
              <a:t>trình</a:t>
            </a:r>
            <a:r>
              <a:rPr lang="en-US" dirty="0" smtClean="0"/>
              <a:t> Python </a:t>
            </a:r>
            <a:r>
              <a:rPr lang="en-US" dirty="0" err="1" smtClean="0"/>
              <a:t>như</a:t>
            </a:r>
            <a:r>
              <a:rPr lang="en-US" dirty="0" smtClean="0"/>
              <a:t> </a:t>
            </a:r>
            <a:r>
              <a:rPr lang="en-US" dirty="0" err="1" smtClean="0"/>
              <a:t>sau</a:t>
            </a:r>
            <a:r>
              <a:rPr lang="en-US" dirty="0" smtClean="0"/>
              <a:t>:</a:t>
            </a:r>
            <a:endParaRPr lang="en-US" b="1" dirty="0"/>
          </a:p>
        </p:txBody>
      </p:sp>
      <p:sp>
        <p:nvSpPr>
          <p:cNvPr id="23" name="Rectangle 22"/>
          <p:cNvSpPr/>
          <p:nvPr/>
        </p:nvSpPr>
        <p:spPr>
          <a:xfrm>
            <a:off x="648586" y="3153373"/>
            <a:ext cx="2998381" cy="331122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824023" y="3377823"/>
            <a:ext cx="2117713" cy="286232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smtClean="0">
                <a:solidFill>
                  <a:schemeClr val="accent2">
                    <a:lumMod val="75000"/>
                  </a:schemeClr>
                </a:solidFill>
              </a:rPr>
              <a:t>“Xin </a:t>
            </a:r>
            <a:r>
              <a:rPr lang="en-US" dirty="0" err="1" smtClean="0">
                <a:solidFill>
                  <a:schemeClr val="accent2">
                    <a:lumMod val="75000"/>
                  </a:schemeClr>
                </a:solidFill>
              </a:rPr>
              <a:t>chào</a:t>
            </a:r>
            <a:r>
              <a:rPr lang="en-US" dirty="0" smtClean="0">
                <a:solidFill>
                  <a:schemeClr val="accent2">
                    <a:lumMod val="75000"/>
                  </a:schemeClr>
                </a:solidFill>
              </a:rPr>
              <a:t>”</a:t>
            </a:r>
            <a:r>
              <a:rPr lang="en-US" dirty="0" smtClean="0">
                <a:solidFill>
                  <a:srgbClr val="FECC36"/>
                </a:solidFill>
              </a:rPr>
              <a:t>)</a:t>
            </a:r>
          </a:p>
          <a:p>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a:solidFill>
                  <a:schemeClr val="accent2">
                    <a:lumMod val="75000"/>
                  </a:schemeClr>
                </a:solidFill>
              </a:rPr>
              <a:t>”</a:t>
            </a:r>
            <a:r>
              <a:rPr lang="en-US" dirty="0">
                <a:solidFill>
                  <a:srgbClr val="FECC36"/>
                </a:solidFill>
              </a:rPr>
              <a:t>)</a:t>
            </a:r>
          </a:p>
          <a:p>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a:solidFill>
                  <a:schemeClr val="accent2">
                    <a:lumMod val="75000"/>
                  </a:schemeClr>
                </a:solidFill>
              </a:rPr>
              <a:t>”</a:t>
            </a:r>
            <a:r>
              <a:rPr lang="en-US" dirty="0">
                <a:solidFill>
                  <a:srgbClr val="FECC36"/>
                </a:solidFill>
              </a:rPr>
              <a:t>)</a:t>
            </a:r>
          </a:p>
          <a:p>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a:solidFill>
                  <a:schemeClr val="accent2">
                    <a:lumMod val="75000"/>
                  </a:schemeClr>
                </a:solidFill>
              </a:rPr>
              <a:t>”</a:t>
            </a:r>
            <a:r>
              <a:rPr lang="en-US" dirty="0">
                <a:solidFill>
                  <a:srgbClr val="FECC36"/>
                </a:solidFill>
              </a:rPr>
              <a:t>)</a:t>
            </a:r>
          </a:p>
          <a:p>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a:solidFill>
                  <a:schemeClr val="accent2">
                    <a:lumMod val="75000"/>
                  </a:schemeClr>
                </a:solidFill>
              </a:rPr>
              <a:t>”</a:t>
            </a:r>
            <a:r>
              <a:rPr lang="en-US" dirty="0">
                <a:solidFill>
                  <a:srgbClr val="FECC36"/>
                </a:solidFill>
              </a:rPr>
              <a:t>)</a:t>
            </a:r>
          </a:p>
          <a:p>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a:solidFill>
                  <a:schemeClr val="accent2">
                    <a:lumMod val="75000"/>
                  </a:schemeClr>
                </a:solidFill>
              </a:rPr>
              <a:t>”</a:t>
            </a:r>
            <a:r>
              <a:rPr lang="en-US" dirty="0">
                <a:solidFill>
                  <a:srgbClr val="FECC36"/>
                </a:solidFill>
              </a:rPr>
              <a:t>)</a:t>
            </a:r>
          </a:p>
          <a:p>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a:solidFill>
                  <a:schemeClr val="accent2">
                    <a:lumMod val="75000"/>
                  </a:schemeClr>
                </a:solidFill>
              </a:rPr>
              <a:t>”</a:t>
            </a:r>
            <a:r>
              <a:rPr lang="en-US" dirty="0">
                <a:solidFill>
                  <a:srgbClr val="FECC36"/>
                </a:solidFill>
              </a:rPr>
              <a:t>)</a:t>
            </a:r>
          </a:p>
          <a:p>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a:solidFill>
                  <a:schemeClr val="accent2">
                    <a:lumMod val="75000"/>
                  </a:schemeClr>
                </a:solidFill>
              </a:rPr>
              <a:t>”</a:t>
            </a:r>
            <a:r>
              <a:rPr lang="en-US" dirty="0">
                <a:solidFill>
                  <a:srgbClr val="FECC36"/>
                </a:solidFill>
              </a:rPr>
              <a:t>)</a:t>
            </a:r>
          </a:p>
          <a:p>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a:solidFill>
                  <a:schemeClr val="accent2">
                    <a:lumMod val="75000"/>
                  </a:schemeClr>
                </a:solidFill>
              </a:rPr>
              <a:t>”</a:t>
            </a:r>
            <a:r>
              <a:rPr lang="en-US" dirty="0">
                <a:solidFill>
                  <a:srgbClr val="FECC36"/>
                </a:solidFill>
              </a:rPr>
              <a:t>)</a:t>
            </a:r>
          </a:p>
          <a:p>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smtClean="0">
                <a:solidFill>
                  <a:schemeClr val="accent2">
                    <a:lumMod val="75000"/>
                  </a:schemeClr>
                </a:solidFill>
              </a:rPr>
              <a:t>”</a:t>
            </a:r>
            <a:r>
              <a:rPr lang="en-US" dirty="0" smtClean="0">
                <a:solidFill>
                  <a:srgbClr val="FECC36"/>
                </a:solidFill>
              </a:rPr>
              <a:t>)</a:t>
            </a:r>
          </a:p>
        </p:txBody>
      </p:sp>
      <p:sp>
        <p:nvSpPr>
          <p:cNvPr id="25" name="Rectangle 24"/>
          <p:cNvSpPr/>
          <p:nvPr/>
        </p:nvSpPr>
        <p:spPr>
          <a:xfrm>
            <a:off x="4025828" y="3153373"/>
            <a:ext cx="4607810" cy="100395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4226011" y="3246286"/>
            <a:ext cx="3429431" cy="646331"/>
          </a:xfrm>
          <a:prstGeom prst="rect">
            <a:avLst/>
          </a:prstGeom>
          <a:noFill/>
        </p:spPr>
        <p:txBody>
          <a:bodyPr wrap="square" rtlCol="0">
            <a:spAutoFit/>
          </a:bodyPr>
          <a:lstStyle/>
          <a:p>
            <a:r>
              <a:rPr lang="en-US" dirty="0" smtClean="0">
                <a:solidFill>
                  <a:srgbClr val="00B0F0"/>
                </a:solidFill>
              </a:rPr>
              <a:t>for</a:t>
            </a:r>
            <a:r>
              <a:rPr lang="en-US" dirty="0" smtClean="0">
                <a:solidFill>
                  <a:schemeClr val="bg1"/>
                </a:solidFill>
              </a:rPr>
              <a:t> </a:t>
            </a:r>
            <a:r>
              <a:rPr lang="en-US" dirty="0" err="1" smtClean="0">
                <a:solidFill>
                  <a:schemeClr val="bg1"/>
                </a:solidFill>
              </a:rPr>
              <a:t>i</a:t>
            </a:r>
            <a:r>
              <a:rPr lang="en-US" dirty="0" smtClean="0">
                <a:solidFill>
                  <a:schemeClr val="bg1"/>
                </a:solidFill>
              </a:rPr>
              <a:t> </a:t>
            </a:r>
            <a:r>
              <a:rPr lang="en-US" dirty="0">
                <a:solidFill>
                  <a:srgbClr val="00B0F0"/>
                </a:solidFill>
              </a:rPr>
              <a:t>in</a:t>
            </a:r>
            <a:r>
              <a:rPr lang="en-US" dirty="0">
                <a:solidFill>
                  <a:schemeClr val="bg1"/>
                </a:solidFill>
              </a:rPr>
              <a:t> </a:t>
            </a:r>
            <a:r>
              <a:rPr lang="en-US" dirty="0" smtClean="0">
                <a:solidFill>
                  <a:schemeClr val="bg1"/>
                </a:solidFill>
              </a:rPr>
              <a:t>range</a:t>
            </a:r>
            <a:r>
              <a:rPr lang="en-US" dirty="0" smtClean="0">
                <a:solidFill>
                  <a:srgbClr val="FFC000"/>
                </a:solidFill>
              </a:rPr>
              <a:t>(</a:t>
            </a:r>
            <a:r>
              <a:rPr lang="en-US" dirty="0" smtClean="0">
                <a:solidFill>
                  <a:schemeClr val="accent6">
                    <a:lumMod val="60000"/>
                    <a:lumOff val="40000"/>
                  </a:schemeClr>
                </a:solidFill>
              </a:rPr>
              <a:t>1</a:t>
            </a:r>
            <a:r>
              <a:rPr lang="en-US" dirty="0" smtClean="0">
                <a:solidFill>
                  <a:srgbClr val="FFC000"/>
                </a:solidFill>
              </a:rPr>
              <a:t>,</a:t>
            </a:r>
            <a:r>
              <a:rPr lang="en-US" dirty="0" smtClean="0">
                <a:solidFill>
                  <a:schemeClr val="accent6">
                    <a:lumMod val="60000"/>
                    <a:lumOff val="40000"/>
                  </a:schemeClr>
                </a:solidFill>
              </a:rPr>
              <a:t>11</a:t>
            </a:r>
            <a:r>
              <a:rPr lang="en-US" dirty="0" smtClean="0">
                <a:solidFill>
                  <a:srgbClr val="FFC000"/>
                </a:solidFill>
              </a:rPr>
              <a:t>) </a:t>
            </a:r>
            <a:r>
              <a:rPr lang="en-US" dirty="0" smtClean="0">
                <a:solidFill>
                  <a:schemeClr val="bg1"/>
                </a:solidFill>
              </a:rPr>
              <a:t>:</a:t>
            </a:r>
          </a:p>
          <a:p>
            <a:r>
              <a:rPr lang="en-US" dirty="0">
                <a:solidFill>
                  <a:schemeClr val="bg1"/>
                </a:solidFill>
              </a:rPr>
              <a:t> </a:t>
            </a:r>
            <a:r>
              <a:rPr lang="en-US" dirty="0" smtClean="0">
                <a:solidFill>
                  <a:schemeClr val="bg1"/>
                </a:solidFill>
              </a:rPr>
              <a:t>    </a:t>
            </a:r>
            <a:r>
              <a:rPr lang="en-US" dirty="0">
                <a:solidFill>
                  <a:schemeClr val="bg1"/>
                </a:solidFill>
              </a:rPr>
              <a:t>print</a:t>
            </a:r>
            <a:r>
              <a:rPr lang="en-US" dirty="0">
                <a:solidFill>
                  <a:srgbClr val="FECC36"/>
                </a:solidFill>
              </a:rPr>
              <a:t>(</a:t>
            </a:r>
            <a:r>
              <a:rPr lang="en-US" dirty="0">
                <a:solidFill>
                  <a:schemeClr val="accent2">
                    <a:lumMod val="75000"/>
                  </a:schemeClr>
                </a:solidFill>
              </a:rPr>
              <a:t>“Xin </a:t>
            </a:r>
            <a:r>
              <a:rPr lang="en-US" dirty="0" err="1">
                <a:solidFill>
                  <a:schemeClr val="accent2">
                    <a:lumMod val="75000"/>
                  </a:schemeClr>
                </a:solidFill>
              </a:rPr>
              <a:t>chào</a:t>
            </a:r>
            <a:r>
              <a:rPr lang="en-US" dirty="0" smtClean="0">
                <a:solidFill>
                  <a:schemeClr val="accent2">
                    <a:lumMod val="75000"/>
                  </a:schemeClr>
                </a:solidFill>
              </a:rPr>
              <a:t>”, </a:t>
            </a:r>
            <a:r>
              <a:rPr lang="en-US" dirty="0" err="1" smtClean="0">
                <a:solidFill>
                  <a:schemeClr val="bg1"/>
                </a:solidFill>
              </a:rPr>
              <a:t>i</a:t>
            </a:r>
            <a:r>
              <a:rPr lang="en-US" dirty="0" smtClean="0">
                <a:solidFill>
                  <a:srgbClr val="FECC36"/>
                </a:solidFill>
              </a:rPr>
              <a:t>)</a:t>
            </a:r>
            <a:endParaRPr lang="en-US" dirty="0">
              <a:solidFill>
                <a:srgbClr val="FECC36"/>
              </a:solidFill>
            </a:endParaRPr>
          </a:p>
        </p:txBody>
      </p:sp>
      <p:sp>
        <p:nvSpPr>
          <p:cNvPr id="27" name="TextBox 26"/>
          <p:cNvSpPr txBox="1"/>
          <p:nvPr/>
        </p:nvSpPr>
        <p:spPr>
          <a:xfrm>
            <a:off x="3983297" y="4305696"/>
            <a:ext cx="4650341" cy="923330"/>
          </a:xfrm>
          <a:prstGeom prst="rect">
            <a:avLst/>
          </a:prstGeom>
          <a:noFill/>
        </p:spPr>
        <p:txBody>
          <a:bodyPr wrap="square" rtlCol="0">
            <a:spAutoFit/>
          </a:bodyPr>
          <a:lstStyle/>
          <a:p>
            <a:r>
              <a:rPr lang="en-US" dirty="0" err="1" smtClean="0"/>
              <a:t>Thay</a:t>
            </a:r>
            <a:r>
              <a:rPr lang="en-US" dirty="0" smtClean="0"/>
              <a:t> </a:t>
            </a:r>
            <a:r>
              <a:rPr lang="en-US" dirty="0" err="1" smtClean="0"/>
              <a:t>vì</a:t>
            </a:r>
            <a:r>
              <a:rPr lang="en-US" dirty="0" smtClean="0"/>
              <a:t> </a:t>
            </a:r>
            <a:r>
              <a:rPr lang="en-US" dirty="0" err="1" smtClean="0"/>
              <a:t>dùng</a:t>
            </a:r>
            <a:r>
              <a:rPr lang="en-US" dirty="0" smtClean="0"/>
              <a:t> 10 </a:t>
            </a:r>
            <a:r>
              <a:rPr lang="en-US" dirty="0" err="1" smtClean="0"/>
              <a:t>lần</a:t>
            </a:r>
            <a:r>
              <a:rPr lang="en-US" dirty="0" smtClean="0"/>
              <a:t> </a:t>
            </a:r>
            <a:r>
              <a:rPr lang="en-US" dirty="0" err="1" smtClean="0"/>
              <a:t>lệnh</a:t>
            </a:r>
            <a:r>
              <a:rPr lang="en-US" dirty="0" smtClean="0"/>
              <a:t> print() </a:t>
            </a:r>
            <a:r>
              <a:rPr lang="en-US" dirty="0" err="1" smtClean="0"/>
              <a:t>chúng</a:t>
            </a:r>
            <a:r>
              <a:rPr lang="en-US" dirty="0" smtClean="0"/>
              <a:t> ta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1 </a:t>
            </a:r>
            <a:r>
              <a:rPr lang="en-US" dirty="0" err="1" smtClean="0"/>
              <a:t>lệnh</a:t>
            </a:r>
            <a:r>
              <a:rPr lang="en-US" dirty="0" smtClean="0"/>
              <a:t> print() </a:t>
            </a:r>
            <a:r>
              <a:rPr lang="en-US" dirty="0" err="1" smtClean="0"/>
              <a:t>kết</a:t>
            </a:r>
            <a:r>
              <a:rPr lang="en-US" dirty="0" smtClean="0"/>
              <a:t> </a:t>
            </a:r>
            <a:r>
              <a:rPr lang="en-US" dirty="0" err="1" smtClean="0"/>
              <a:t>hợp</a:t>
            </a:r>
            <a:r>
              <a:rPr lang="en-US" dirty="0" smtClean="0"/>
              <a:t> </a:t>
            </a:r>
            <a:r>
              <a:rPr lang="en-US" dirty="0" err="1" smtClean="0"/>
              <a:t>với</a:t>
            </a:r>
            <a:r>
              <a:rPr lang="en-US" dirty="0" smtClean="0"/>
              <a:t> </a:t>
            </a:r>
            <a:r>
              <a:rPr lang="en-US" dirty="0" err="1" smtClean="0"/>
              <a:t>vòng</a:t>
            </a:r>
            <a:r>
              <a:rPr lang="en-US" dirty="0" smtClean="0"/>
              <a:t> </a:t>
            </a:r>
            <a:r>
              <a:rPr lang="en-US" dirty="0" err="1" smtClean="0"/>
              <a:t>lặp</a:t>
            </a:r>
            <a:r>
              <a:rPr lang="en-US" dirty="0" smtClean="0"/>
              <a:t> for </a:t>
            </a:r>
            <a:r>
              <a:rPr lang="en-US" dirty="0" err="1" smtClean="0"/>
              <a:t>như</a:t>
            </a:r>
            <a:r>
              <a:rPr lang="en-US" dirty="0" smtClean="0"/>
              <a:t> </a:t>
            </a:r>
            <a:r>
              <a:rPr lang="en-US" dirty="0" err="1" smtClean="0"/>
              <a:t>trên</a:t>
            </a:r>
            <a:r>
              <a:rPr lang="en-US" dirty="0" smtClean="0"/>
              <a:t> </a:t>
            </a:r>
            <a:endParaRPr lang="en-US" b="1" dirty="0"/>
          </a:p>
        </p:txBody>
      </p:sp>
      <p:sp>
        <p:nvSpPr>
          <p:cNvPr id="28" name="TextBox 27"/>
          <p:cNvSpPr txBox="1"/>
          <p:nvPr/>
        </p:nvSpPr>
        <p:spPr>
          <a:xfrm>
            <a:off x="3983297" y="5400849"/>
            <a:ext cx="4650341" cy="369332"/>
          </a:xfrm>
          <a:prstGeom prst="rect">
            <a:avLst/>
          </a:prstGeom>
          <a:noFill/>
        </p:spPr>
        <p:txBody>
          <a:bodyPr wrap="square" rtlCol="0">
            <a:spAutoFit/>
          </a:bodyPr>
          <a:lstStyle/>
          <a:p>
            <a:r>
              <a:rPr lang="en-US" dirty="0" smtClean="0"/>
              <a:t>Code </a:t>
            </a:r>
            <a:r>
              <a:rPr lang="en-US" dirty="0" err="1" smtClean="0"/>
              <a:t>vì</a:t>
            </a:r>
            <a:r>
              <a:rPr lang="en-US" dirty="0" smtClean="0"/>
              <a:t> </a:t>
            </a:r>
            <a:r>
              <a:rPr lang="en-US" dirty="0" err="1" smtClean="0"/>
              <a:t>thế</a:t>
            </a:r>
            <a:r>
              <a:rPr lang="en-US" dirty="0" smtClean="0"/>
              <a:t> </a:t>
            </a:r>
            <a:r>
              <a:rPr lang="en-US" dirty="0" err="1" smtClean="0"/>
              <a:t>trở</a:t>
            </a:r>
            <a:r>
              <a:rPr lang="en-US" dirty="0" smtClean="0"/>
              <a:t> </a:t>
            </a:r>
            <a:r>
              <a:rPr lang="en-US" dirty="0" err="1" smtClean="0"/>
              <a:t>nên</a:t>
            </a:r>
            <a:r>
              <a:rPr lang="en-US" dirty="0" smtClean="0"/>
              <a:t> </a:t>
            </a:r>
            <a:r>
              <a:rPr lang="en-US" dirty="0" err="1" smtClean="0"/>
              <a:t>ngắn</a:t>
            </a:r>
            <a:r>
              <a:rPr lang="en-US" dirty="0" smtClean="0"/>
              <a:t> </a:t>
            </a:r>
            <a:r>
              <a:rPr lang="en-US" dirty="0" err="1" smtClean="0"/>
              <a:t>gọn</a:t>
            </a:r>
            <a:r>
              <a:rPr lang="en-US" dirty="0" smtClean="0"/>
              <a:t> </a:t>
            </a:r>
            <a:r>
              <a:rPr lang="en-US" dirty="0" err="1" smtClean="0"/>
              <a:t>hơn</a:t>
            </a:r>
            <a:endParaRPr lang="en-US" b="1" dirty="0"/>
          </a:p>
        </p:txBody>
      </p:sp>
    </p:spTree>
    <p:extLst>
      <p:ext uri="{BB962C8B-B14F-4D97-AF65-F5344CB8AC3E}">
        <p14:creationId xmlns:p14="http://schemas.microsoft.com/office/powerpoint/2010/main" val="38481533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7</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Vòng</a:t>
            </a:r>
            <a:r>
              <a:rPr lang="en-US" dirty="0" smtClean="0"/>
              <a:t> </a:t>
            </a:r>
            <a:r>
              <a:rPr lang="en-US" dirty="0" err="1" smtClean="0"/>
              <a:t>lặp</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Vòng</a:t>
            </a:r>
            <a:r>
              <a:rPr lang="en-US" b="1" dirty="0" smtClean="0"/>
              <a:t> </a:t>
            </a:r>
            <a:r>
              <a:rPr lang="en-US" b="1" dirty="0" err="1" smtClean="0"/>
              <a:t>lặp</a:t>
            </a:r>
            <a:r>
              <a:rPr lang="en-US" b="1" dirty="0" smtClean="0"/>
              <a:t> for</a:t>
            </a:r>
            <a:endParaRPr lang="en-US" b="1" dirty="0"/>
          </a:p>
        </p:txBody>
      </p:sp>
      <p:sp>
        <p:nvSpPr>
          <p:cNvPr id="6" name="TextBox 5"/>
          <p:cNvSpPr txBox="1"/>
          <p:nvPr/>
        </p:nvSpPr>
        <p:spPr>
          <a:xfrm>
            <a:off x="548981" y="1961567"/>
            <a:ext cx="8333421" cy="923330"/>
          </a:xfrm>
          <a:prstGeom prst="rect">
            <a:avLst/>
          </a:prstGeom>
          <a:noFill/>
        </p:spPr>
        <p:txBody>
          <a:bodyPr wrap="square" rtlCol="0">
            <a:spAutoFit/>
          </a:bodyPr>
          <a:lstStyle/>
          <a:p>
            <a:r>
              <a:rPr lang="vi-VN" dirty="0"/>
              <a:t>Vòng lặp "for" được sử dụng để </a:t>
            </a:r>
            <a:r>
              <a:rPr lang="vi-VN" b="1" dirty="0"/>
              <a:t>lặp</a:t>
            </a:r>
            <a:r>
              <a:rPr lang="vi-VN" dirty="0"/>
              <a:t> qua một tập hợp các phần tử (như danh sách, chuỗi, tuple) và thực thi một khối mã cho mỗi phần tử trong tập hợp đó. Cú pháp của vòng lặp "for" như sau:</a:t>
            </a:r>
            <a:endParaRPr lang="en-US" b="1" dirty="0"/>
          </a:p>
        </p:txBody>
      </p:sp>
      <p:sp>
        <p:nvSpPr>
          <p:cNvPr id="7" name="TextBox 6"/>
          <p:cNvSpPr txBox="1"/>
          <p:nvPr/>
        </p:nvSpPr>
        <p:spPr>
          <a:xfrm>
            <a:off x="581918" y="2980447"/>
            <a:ext cx="7988963" cy="830997"/>
          </a:xfrm>
          <a:prstGeom prst="rect">
            <a:avLst/>
          </a:prstGeom>
          <a:noFill/>
        </p:spPr>
        <p:txBody>
          <a:bodyPr wrap="square" rtlCol="0">
            <a:spAutoFit/>
          </a:bodyPr>
          <a:lstStyle/>
          <a:p>
            <a:r>
              <a:rPr lang="en-US" sz="2400" b="1" dirty="0"/>
              <a:t>for </a:t>
            </a:r>
            <a:r>
              <a:rPr lang="en-US" sz="2400" b="1" dirty="0" err="1" smtClean="0">
                <a:solidFill>
                  <a:schemeClr val="accent2">
                    <a:lumMod val="75000"/>
                  </a:schemeClr>
                </a:solidFill>
              </a:rPr>
              <a:t>phần_tử_lặp_qua</a:t>
            </a:r>
            <a:r>
              <a:rPr lang="en-US" sz="2400" b="1" dirty="0" smtClean="0"/>
              <a:t> </a:t>
            </a:r>
            <a:r>
              <a:rPr lang="en-US" sz="2400" b="1" dirty="0"/>
              <a:t>in </a:t>
            </a:r>
            <a:r>
              <a:rPr lang="en-US" sz="2400" b="1" dirty="0" err="1" smtClean="0">
                <a:solidFill>
                  <a:schemeClr val="accent2">
                    <a:lumMod val="75000"/>
                  </a:schemeClr>
                </a:solidFill>
              </a:rPr>
              <a:t>tập_hợp</a:t>
            </a:r>
            <a:r>
              <a:rPr lang="en-US" sz="2400" b="1" dirty="0" smtClean="0"/>
              <a:t>:</a:t>
            </a:r>
          </a:p>
          <a:p>
            <a:r>
              <a:rPr lang="en-US" sz="2400" b="1" dirty="0">
                <a:solidFill>
                  <a:srgbClr val="FF0000"/>
                </a:solidFill>
              </a:rPr>
              <a:t> </a:t>
            </a:r>
            <a:r>
              <a:rPr lang="en-US" sz="2400" b="1" dirty="0" smtClean="0">
                <a:solidFill>
                  <a:srgbClr val="FF0000"/>
                </a:solidFill>
              </a:rPr>
              <a:t>   </a:t>
            </a:r>
            <a:r>
              <a:rPr lang="en-US" sz="2400" b="1" dirty="0">
                <a:solidFill>
                  <a:schemeClr val="accent6">
                    <a:lumMod val="50000"/>
                  </a:schemeClr>
                </a:solidFill>
              </a:rPr>
              <a:t># </a:t>
            </a:r>
            <a:r>
              <a:rPr lang="en-US" sz="2400" b="1" dirty="0" err="1">
                <a:solidFill>
                  <a:schemeClr val="accent6">
                    <a:lumMod val="50000"/>
                  </a:schemeClr>
                </a:solidFill>
              </a:rPr>
              <a:t>Các</a:t>
            </a:r>
            <a:r>
              <a:rPr lang="en-US" sz="2400" b="1" dirty="0">
                <a:solidFill>
                  <a:schemeClr val="accent6">
                    <a:lumMod val="50000"/>
                  </a:schemeClr>
                </a:solidFill>
              </a:rPr>
              <a:t> </a:t>
            </a:r>
            <a:r>
              <a:rPr lang="en-US" sz="2400" b="1" dirty="0" err="1">
                <a:solidFill>
                  <a:schemeClr val="accent6">
                    <a:lumMod val="50000"/>
                  </a:schemeClr>
                </a:solidFill>
              </a:rPr>
              <a:t>câu</a:t>
            </a:r>
            <a:r>
              <a:rPr lang="en-US" sz="2400" b="1" dirty="0">
                <a:solidFill>
                  <a:schemeClr val="accent6">
                    <a:lumMod val="50000"/>
                  </a:schemeClr>
                </a:solidFill>
              </a:rPr>
              <a:t> </a:t>
            </a:r>
            <a:r>
              <a:rPr lang="en-US" sz="2400" b="1" dirty="0" err="1">
                <a:solidFill>
                  <a:schemeClr val="accent6">
                    <a:lumMod val="50000"/>
                  </a:schemeClr>
                </a:solidFill>
              </a:rPr>
              <a:t>lệnh</a:t>
            </a:r>
            <a:r>
              <a:rPr lang="en-US" sz="2400" b="1" dirty="0">
                <a:solidFill>
                  <a:schemeClr val="accent6">
                    <a:lumMod val="50000"/>
                  </a:schemeClr>
                </a:solidFill>
              </a:rPr>
              <a:t> </a:t>
            </a:r>
            <a:r>
              <a:rPr lang="en-US" sz="2400" b="1" dirty="0" err="1">
                <a:solidFill>
                  <a:schemeClr val="accent6">
                    <a:lumMod val="50000"/>
                  </a:schemeClr>
                </a:solidFill>
              </a:rPr>
              <a:t>thực</a:t>
            </a:r>
            <a:r>
              <a:rPr lang="en-US" sz="2400" b="1" dirty="0">
                <a:solidFill>
                  <a:schemeClr val="accent6">
                    <a:lumMod val="50000"/>
                  </a:schemeClr>
                </a:solidFill>
              </a:rPr>
              <a:t> </a:t>
            </a:r>
            <a:r>
              <a:rPr lang="en-US" sz="2400" b="1" dirty="0" err="1">
                <a:solidFill>
                  <a:schemeClr val="accent6">
                    <a:lumMod val="50000"/>
                  </a:schemeClr>
                </a:solidFill>
              </a:rPr>
              <a:t>thi</a:t>
            </a:r>
            <a:r>
              <a:rPr lang="en-US" sz="2400" b="1" dirty="0">
                <a:solidFill>
                  <a:schemeClr val="accent6">
                    <a:lumMod val="50000"/>
                  </a:schemeClr>
                </a:solidFill>
              </a:rPr>
              <a:t> </a:t>
            </a:r>
            <a:r>
              <a:rPr lang="en-US" sz="2400" b="1" dirty="0" err="1">
                <a:solidFill>
                  <a:schemeClr val="accent6">
                    <a:lumMod val="50000"/>
                  </a:schemeClr>
                </a:solidFill>
              </a:rPr>
              <a:t>cho</a:t>
            </a:r>
            <a:r>
              <a:rPr lang="en-US" sz="2400" b="1" dirty="0">
                <a:solidFill>
                  <a:schemeClr val="accent6">
                    <a:lumMod val="50000"/>
                  </a:schemeClr>
                </a:solidFill>
              </a:rPr>
              <a:t> </a:t>
            </a:r>
            <a:r>
              <a:rPr lang="en-US" sz="2400" b="1" dirty="0" err="1">
                <a:solidFill>
                  <a:schemeClr val="accent6">
                    <a:lumMod val="50000"/>
                  </a:schemeClr>
                </a:solidFill>
              </a:rPr>
              <a:t>mỗi</a:t>
            </a:r>
            <a:r>
              <a:rPr lang="en-US" sz="2400" b="1" dirty="0">
                <a:solidFill>
                  <a:schemeClr val="accent6">
                    <a:lumMod val="50000"/>
                  </a:schemeClr>
                </a:solidFill>
              </a:rPr>
              <a:t> </a:t>
            </a:r>
            <a:r>
              <a:rPr lang="en-US" sz="2400" b="1" dirty="0" err="1">
                <a:solidFill>
                  <a:schemeClr val="accent6">
                    <a:lumMod val="50000"/>
                  </a:schemeClr>
                </a:solidFill>
              </a:rPr>
              <a:t>phần</a:t>
            </a:r>
            <a:r>
              <a:rPr lang="en-US" sz="2400" b="1" dirty="0">
                <a:solidFill>
                  <a:schemeClr val="accent6">
                    <a:lumMod val="50000"/>
                  </a:schemeClr>
                </a:solidFill>
              </a:rPr>
              <a:t> </a:t>
            </a:r>
            <a:r>
              <a:rPr lang="en-US" sz="2400" b="1" dirty="0" err="1">
                <a:solidFill>
                  <a:schemeClr val="accent6">
                    <a:lumMod val="50000"/>
                  </a:schemeClr>
                </a:solidFill>
              </a:rPr>
              <a:t>tử</a:t>
            </a:r>
            <a:endParaRPr lang="en-US" sz="2400" b="1" dirty="0">
              <a:solidFill>
                <a:schemeClr val="accent6">
                  <a:lumMod val="50000"/>
                </a:schemeClr>
              </a:solidFill>
            </a:endParaRPr>
          </a:p>
        </p:txBody>
      </p:sp>
      <p:sp>
        <p:nvSpPr>
          <p:cNvPr id="8" name="TextBox 7"/>
          <p:cNvSpPr txBox="1"/>
          <p:nvPr/>
        </p:nvSpPr>
        <p:spPr>
          <a:xfrm>
            <a:off x="548981" y="4420803"/>
            <a:ext cx="8333421" cy="646331"/>
          </a:xfrm>
          <a:prstGeom prst="rect">
            <a:avLst/>
          </a:prstGeom>
          <a:noFill/>
        </p:spPr>
        <p:txBody>
          <a:bodyPr wrap="square" rtlCol="0">
            <a:spAutoFit/>
          </a:bodyPr>
          <a:lstStyle/>
          <a:p>
            <a:r>
              <a:rPr lang="en-US" b="1" dirty="0" err="1" smtClean="0"/>
              <a:t>Tập_hợp</a:t>
            </a:r>
            <a:r>
              <a:rPr lang="en-US" b="1" dirty="0" smtClean="0"/>
              <a:t>: </a:t>
            </a:r>
            <a:r>
              <a:rPr lang="vi-VN" dirty="0"/>
              <a:t>là một tập hợp có thể lặp qua, chẳng hạn như danh sách, chuỗi, hoặc tuple</a:t>
            </a:r>
            <a:endParaRPr lang="en-US" b="1" dirty="0"/>
          </a:p>
        </p:txBody>
      </p:sp>
      <p:sp>
        <p:nvSpPr>
          <p:cNvPr id="9" name="TextBox 8"/>
          <p:cNvSpPr txBox="1"/>
          <p:nvPr/>
        </p:nvSpPr>
        <p:spPr>
          <a:xfrm>
            <a:off x="548981" y="4026004"/>
            <a:ext cx="8333421" cy="369332"/>
          </a:xfrm>
          <a:prstGeom prst="rect">
            <a:avLst/>
          </a:prstGeom>
          <a:noFill/>
        </p:spPr>
        <p:txBody>
          <a:bodyPr wrap="square" rtlCol="0">
            <a:spAutoFit/>
          </a:bodyPr>
          <a:lstStyle/>
          <a:p>
            <a:r>
              <a:rPr lang="en-US" b="1" dirty="0" err="1" smtClean="0"/>
              <a:t>Phần_tử_lặp_qua</a:t>
            </a:r>
            <a:r>
              <a:rPr lang="en-US" b="1" dirty="0" smtClean="0"/>
              <a:t>: </a:t>
            </a:r>
            <a:r>
              <a:rPr lang="vi-VN" dirty="0"/>
              <a:t>là biến lưu trữ giá trị của phần tử trong mỗi lần lặp</a:t>
            </a:r>
            <a:endParaRPr lang="en-US" b="1" dirty="0"/>
          </a:p>
        </p:txBody>
      </p:sp>
      <p:sp>
        <p:nvSpPr>
          <p:cNvPr id="10" name="Rectangle 9"/>
          <p:cNvSpPr/>
          <p:nvPr/>
        </p:nvSpPr>
        <p:spPr>
          <a:xfrm>
            <a:off x="548981" y="5200449"/>
            <a:ext cx="7988963" cy="117050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49165" y="5293362"/>
            <a:ext cx="5226333" cy="923330"/>
          </a:xfrm>
          <a:prstGeom prst="rect">
            <a:avLst/>
          </a:prstGeom>
          <a:noFill/>
        </p:spPr>
        <p:txBody>
          <a:bodyPr wrap="square" rtlCol="0">
            <a:spAutoFit/>
          </a:bodyPr>
          <a:lstStyle/>
          <a:p>
            <a:r>
              <a:rPr lang="en-US" dirty="0" smtClean="0">
                <a:solidFill>
                  <a:schemeClr val="bg1"/>
                </a:solidFill>
              </a:rPr>
              <a:t>x </a:t>
            </a:r>
            <a:r>
              <a:rPr lang="en-US" dirty="0">
                <a:solidFill>
                  <a:schemeClr val="bg1"/>
                </a:solidFill>
              </a:rPr>
              <a:t>= </a:t>
            </a:r>
            <a:r>
              <a:rPr lang="en-US" dirty="0" smtClean="0">
                <a:solidFill>
                  <a:schemeClr val="bg1"/>
                </a:solidFill>
              </a:rPr>
              <a:t>range</a:t>
            </a:r>
            <a:r>
              <a:rPr lang="en-US" dirty="0" smtClean="0">
                <a:solidFill>
                  <a:srgbClr val="FFC000"/>
                </a:solidFill>
              </a:rPr>
              <a:t>(</a:t>
            </a:r>
            <a:r>
              <a:rPr lang="en-US" dirty="0" smtClean="0">
                <a:solidFill>
                  <a:schemeClr val="accent6">
                    <a:lumMod val="60000"/>
                    <a:lumOff val="40000"/>
                  </a:schemeClr>
                </a:solidFill>
              </a:rPr>
              <a:t>1</a:t>
            </a:r>
            <a:r>
              <a:rPr lang="en-US" dirty="0" smtClean="0">
                <a:solidFill>
                  <a:srgbClr val="FFC000"/>
                </a:solidFill>
              </a:rPr>
              <a:t>,</a:t>
            </a:r>
            <a:r>
              <a:rPr lang="en-US" dirty="0" smtClean="0">
                <a:solidFill>
                  <a:schemeClr val="accent6">
                    <a:lumMod val="60000"/>
                    <a:lumOff val="40000"/>
                  </a:schemeClr>
                </a:solidFill>
              </a:rPr>
              <a:t>6</a:t>
            </a:r>
            <a:r>
              <a:rPr lang="en-US" dirty="0" smtClean="0">
                <a:solidFill>
                  <a:srgbClr val="FFC000"/>
                </a:solidFill>
              </a:rPr>
              <a:t>)</a:t>
            </a:r>
            <a:r>
              <a:rPr lang="en-US" dirty="0" smtClean="0">
                <a:solidFill>
                  <a:schemeClr val="accent2">
                    <a:lumMod val="75000"/>
                  </a:schemeClr>
                </a:solidFill>
              </a:rPr>
              <a:t> </a:t>
            </a:r>
          </a:p>
          <a:p>
            <a:r>
              <a:rPr lang="en-US" dirty="0" smtClean="0">
                <a:solidFill>
                  <a:srgbClr val="00B0F0"/>
                </a:solidFill>
              </a:rPr>
              <a:t>for</a:t>
            </a:r>
            <a:r>
              <a:rPr lang="en-US" dirty="0" smtClean="0">
                <a:solidFill>
                  <a:schemeClr val="bg1"/>
                </a:solidFill>
              </a:rPr>
              <a:t> </a:t>
            </a:r>
            <a:r>
              <a:rPr lang="en-US" dirty="0" err="1" smtClean="0">
                <a:solidFill>
                  <a:schemeClr val="bg1"/>
                </a:solidFill>
              </a:rPr>
              <a:t>i</a:t>
            </a:r>
            <a:r>
              <a:rPr lang="en-US" dirty="0" smtClean="0">
                <a:solidFill>
                  <a:schemeClr val="bg1"/>
                </a:solidFill>
              </a:rPr>
              <a:t> </a:t>
            </a:r>
            <a:r>
              <a:rPr lang="en-US" dirty="0">
                <a:solidFill>
                  <a:srgbClr val="00B0F0"/>
                </a:solidFill>
              </a:rPr>
              <a:t>in</a:t>
            </a:r>
            <a:r>
              <a:rPr lang="en-US" dirty="0">
                <a:solidFill>
                  <a:schemeClr val="bg1"/>
                </a:solidFill>
              </a:rPr>
              <a:t> </a:t>
            </a:r>
            <a:r>
              <a:rPr lang="en-US" dirty="0" smtClean="0">
                <a:solidFill>
                  <a:schemeClr val="bg1"/>
                </a:solidFill>
              </a:rPr>
              <a:t>x:</a:t>
            </a:r>
          </a:p>
          <a:p>
            <a:r>
              <a:rPr lang="en-US" dirty="0">
                <a:solidFill>
                  <a:schemeClr val="bg1"/>
                </a:solidFill>
              </a:rPr>
              <a:t> </a:t>
            </a:r>
            <a:r>
              <a:rPr lang="en-US" dirty="0" smtClean="0">
                <a:solidFill>
                  <a:schemeClr val="bg1"/>
                </a:solidFill>
              </a:rPr>
              <a:t>    print</a:t>
            </a:r>
            <a:r>
              <a:rPr lang="en-US" dirty="0" smtClean="0">
                <a:solidFill>
                  <a:srgbClr val="FECC36"/>
                </a:solidFill>
              </a:rPr>
              <a:t>(</a:t>
            </a:r>
            <a:r>
              <a:rPr lang="en-US" dirty="0" err="1" smtClean="0">
                <a:solidFill>
                  <a:schemeClr val="bg1"/>
                </a:solidFill>
              </a:rPr>
              <a:t>i</a:t>
            </a:r>
            <a:r>
              <a:rPr lang="en-US" dirty="0" smtClean="0">
                <a:solidFill>
                  <a:srgbClr val="FECC36"/>
                </a:solidFill>
              </a:rPr>
              <a:t>)</a:t>
            </a:r>
          </a:p>
        </p:txBody>
      </p:sp>
    </p:spTree>
    <p:extLst>
      <p:ext uri="{BB962C8B-B14F-4D97-AF65-F5344CB8AC3E}">
        <p14:creationId xmlns:p14="http://schemas.microsoft.com/office/powerpoint/2010/main" val="31978952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8</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Vòng</a:t>
            </a:r>
            <a:r>
              <a:rPr lang="en-US" dirty="0" smtClean="0"/>
              <a:t> </a:t>
            </a:r>
            <a:r>
              <a:rPr lang="en-US" dirty="0" err="1" smtClean="0"/>
              <a:t>lặp</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r>
              <a:rPr lang="en-US" b="1" dirty="0" smtClean="0"/>
              <a:t> </a:t>
            </a:r>
            <a:r>
              <a:rPr lang="en-US" b="1" dirty="0" err="1" smtClean="0"/>
              <a:t>về</a:t>
            </a:r>
            <a:r>
              <a:rPr lang="en-US" b="1" dirty="0" smtClean="0"/>
              <a:t> </a:t>
            </a:r>
            <a:r>
              <a:rPr lang="en-US" b="1" dirty="0" err="1" smtClean="0"/>
              <a:t>Vòng</a:t>
            </a:r>
            <a:r>
              <a:rPr lang="en-US" b="1" dirty="0" smtClean="0"/>
              <a:t> </a:t>
            </a:r>
            <a:r>
              <a:rPr lang="en-US" b="1" dirty="0" err="1" smtClean="0"/>
              <a:t>lặp</a:t>
            </a:r>
            <a:r>
              <a:rPr lang="en-US" b="1" dirty="0" smtClean="0"/>
              <a:t> for</a:t>
            </a:r>
            <a:endParaRPr lang="en-US" b="1" dirty="0"/>
          </a:p>
        </p:txBody>
      </p:sp>
      <p:sp>
        <p:nvSpPr>
          <p:cNvPr id="10" name="Rectangle 9"/>
          <p:cNvSpPr/>
          <p:nvPr/>
        </p:nvSpPr>
        <p:spPr>
          <a:xfrm>
            <a:off x="548981" y="2485194"/>
            <a:ext cx="3076721" cy="89595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49165" y="2578107"/>
            <a:ext cx="2642621" cy="646331"/>
          </a:xfrm>
          <a:prstGeom prst="rect">
            <a:avLst/>
          </a:prstGeom>
          <a:noFill/>
        </p:spPr>
        <p:txBody>
          <a:bodyPr wrap="square" rtlCol="0">
            <a:spAutoFit/>
          </a:bodyPr>
          <a:lstStyle/>
          <a:p>
            <a:r>
              <a:rPr lang="en-US" dirty="0" smtClean="0">
                <a:solidFill>
                  <a:srgbClr val="00B0F0"/>
                </a:solidFill>
              </a:rPr>
              <a:t>for</a:t>
            </a:r>
            <a:r>
              <a:rPr lang="en-US" dirty="0" smtClean="0">
                <a:solidFill>
                  <a:schemeClr val="bg1"/>
                </a:solidFill>
              </a:rPr>
              <a:t> </a:t>
            </a:r>
            <a:r>
              <a:rPr lang="en-US" dirty="0" err="1" smtClean="0">
                <a:solidFill>
                  <a:schemeClr val="bg1"/>
                </a:solidFill>
              </a:rPr>
              <a:t>i</a:t>
            </a:r>
            <a:r>
              <a:rPr lang="en-US" dirty="0" smtClean="0">
                <a:solidFill>
                  <a:schemeClr val="bg1"/>
                </a:solidFill>
              </a:rPr>
              <a:t> </a:t>
            </a:r>
            <a:r>
              <a:rPr lang="en-US" dirty="0" smtClean="0">
                <a:solidFill>
                  <a:srgbClr val="00B0F0"/>
                </a:solidFill>
              </a:rPr>
              <a:t>in</a:t>
            </a:r>
            <a:r>
              <a:rPr lang="en-US" dirty="0" smtClean="0">
                <a:solidFill>
                  <a:schemeClr val="bg1"/>
                </a:solidFill>
              </a:rPr>
              <a:t> range</a:t>
            </a:r>
            <a:r>
              <a:rPr lang="en-US" dirty="0" smtClean="0">
                <a:solidFill>
                  <a:srgbClr val="FFC500"/>
                </a:solidFill>
              </a:rPr>
              <a:t>(</a:t>
            </a:r>
            <a:r>
              <a:rPr lang="en-US" dirty="0" smtClean="0">
                <a:solidFill>
                  <a:schemeClr val="accent6">
                    <a:lumMod val="60000"/>
                    <a:lumOff val="40000"/>
                  </a:schemeClr>
                </a:solidFill>
              </a:rPr>
              <a:t>1</a:t>
            </a:r>
            <a:r>
              <a:rPr lang="en-US" dirty="0" smtClean="0">
                <a:solidFill>
                  <a:schemeClr val="bg1"/>
                </a:solidFill>
              </a:rPr>
              <a:t>, </a:t>
            </a:r>
            <a:r>
              <a:rPr lang="en-US" dirty="0" smtClean="0">
                <a:solidFill>
                  <a:schemeClr val="accent6">
                    <a:lumMod val="60000"/>
                    <a:lumOff val="40000"/>
                  </a:schemeClr>
                </a:solidFill>
              </a:rPr>
              <a:t>5</a:t>
            </a:r>
            <a:r>
              <a:rPr lang="en-US" dirty="0" smtClean="0">
                <a:solidFill>
                  <a:srgbClr val="FFC500"/>
                </a:solidFill>
              </a:rPr>
              <a:t>)</a:t>
            </a:r>
            <a:r>
              <a:rPr lang="en-US" dirty="0" smtClean="0">
                <a:solidFill>
                  <a:schemeClr val="bg1"/>
                </a:solidFill>
              </a:rPr>
              <a:t>:</a:t>
            </a:r>
          </a:p>
          <a:p>
            <a:r>
              <a:rPr lang="en-US" dirty="0" smtClean="0">
                <a:solidFill>
                  <a:schemeClr val="bg1"/>
                </a:solidFill>
              </a:rPr>
              <a:t>     print</a:t>
            </a:r>
            <a:r>
              <a:rPr lang="en-US" dirty="0" smtClean="0">
                <a:solidFill>
                  <a:srgbClr val="FECC36"/>
                </a:solidFill>
              </a:rPr>
              <a:t>(</a:t>
            </a:r>
            <a:r>
              <a:rPr lang="en-US" dirty="0" err="1" smtClean="0">
                <a:solidFill>
                  <a:schemeClr val="bg1"/>
                </a:solidFill>
              </a:rPr>
              <a:t>i</a:t>
            </a:r>
            <a:r>
              <a:rPr lang="en-US" dirty="0" smtClean="0">
                <a:solidFill>
                  <a:srgbClr val="FECC36"/>
                </a:solidFill>
              </a:rPr>
              <a:t>)</a:t>
            </a:r>
          </a:p>
        </p:txBody>
      </p:sp>
      <p:sp>
        <p:nvSpPr>
          <p:cNvPr id="12" name="TextBox 11"/>
          <p:cNvSpPr txBox="1"/>
          <p:nvPr/>
        </p:nvSpPr>
        <p:spPr>
          <a:xfrm>
            <a:off x="423469" y="1988742"/>
            <a:ext cx="3202234" cy="369332"/>
          </a:xfrm>
          <a:prstGeom prst="rect">
            <a:avLst/>
          </a:prstGeom>
          <a:noFill/>
        </p:spPr>
        <p:txBody>
          <a:bodyPr wrap="square" rtlCol="0">
            <a:spAutoFit/>
          </a:bodyPr>
          <a:lstStyle/>
          <a:p>
            <a:r>
              <a:rPr lang="en-US" dirty="0" err="1" smtClean="0"/>
              <a:t>Sử</a:t>
            </a:r>
            <a:r>
              <a:rPr lang="en-US" dirty="0" smtClean="0"/>
              <a:t> </a:t>
            </a:r>
            <a:r>
              <a:rPr lang="en-US" dirty="0" err="1" smtClean="0"/>
              <a:t>dụng</a:t>
            </a:r>
            <a:r>
              <a:rPr lang="en-US" dirty="0" smtClean="0"/>
              <a:t> </a:t>
            </a:r>
            <a:r>
              <a:rPr lang="en-US" dirty="0" err="1" smtClean="0"/>
              <a:t>với</a:t>
            </a:r>
            <a:r>
              <a:rPr lang="en-US" dirty="0" smtClean="0"/>
              <a:t> </a:t>
            </a:r>
            <a:r>
              <a:rPr lang="en-US" dirty="0" err="1" smtClean="0"/>
              <a:t>hàm</a:t>
            </a:r>
            <a:r>
              <a:rPr lang="en-US" dirty="0" smtClean="0"/>
              <a:t> </a:t>
            </a:r>
            <a:r>
              <a:rPr lang="en-US" b="1" dirty="0" smtClean="0"/>
              <a:t>range()</a:t>
            </a:r>
            <a:endParaRPr lang="en-US" b="1" dirty="0"/>
          </a:p>
        </p:txBody>
      </p:sp>
      <p:sp>
        <p:nvSpPr>
          <p:cNvPr id="13" name="Rectangle 12"/>
          <p:cNvSpPr/>
          <p:nvPr/>
        </p:nvSpPr>
        <p:spPr>
          <a:xfrm>
            <a:off x="4682725" y="2485194"/>
            <a:ext cx="3076721" cy="89595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882909" y="2578107"/>
            <a:ext cx="2642621" cy="646331"/>
          </a:xfrm>
          <a:prstGeom prst="rect">
            <a:avLst/>
          </a:prstGeom>
          <a:noFill/>
        </p:spPr>
        <p:txBody>
          <a:bodyPr wrap="square" rtlCol="0">
            <a:spAutoFit/>
          </a:bodyPr>
          <a:lstStyle/>
          <a:p>
            <a:r>
              <a:rPr lang="en-US" dirty="0" smtClean="0">
                <a:solidFill>
                  <a:srgbClr val="00B0F0"/>
                </a:solidFill>
              </a:rPr>
              <a:t>for</a:t>
            </a:r>
            <a:r>
              <a:rPr lang="en-US" dirty="0" smtClean="0">
                <a:solidFill>
                  <a:schemeClr val="bg1"/>
                </a:solidFill>
              </a:rPr>
              <a:t> x </a:t>
            </a:r>
            <a:r>
              <a:rPr lang="en-US" dirty="0" smtClean="0">
                <a:solidFill>
                  <a:srgbClr val="00B0F0"/>
                </a:solidFill>
              </a:rPr>
              <a:t>in</a:t>
            </a:r>
            <a:r>
              <a:rPr lang="en-US" dirty="0" smtClean="0">
                <a:solidFill>
                  <a:schemeClr val="bg1"/>
                </a:solidFill>
              </a:rPr>
              <a:t> </a:t>
            </a:r>
            <a:r>
              <a:rPr lang="en-US" dirty="0" smtClean="0">
                <a:solidFill>
                  <a:schemeClr val="accent2">
                    <a:lumMod val="75000"/>
                  </a:schemeClr>
                </a:solidFill>
              </a:rPr>
              <a:t>“banana”</a:t>
            </a:r>
            <a:r>
              <a:rPr lang="en-US" dirty="0" smtClean="0">
                <a:solidFill>
                  <a:schemeClr val="bg1"/>
                </a:solidFill>
              </a:rPr>
              <a:t>:</a:t>
            </a:r>
          </a:p>
          <a:p>
            <a:r>
              <a:rPr lang="en-US" dirty="0" smtClean="0">
                <a:solidFill>
                  <a:schemeClr val="bg1"/>
                </a:solidFill>
              </a:rPr>
              <a:t>     print</a:t>
            </a:r>
            <a:r>
              <a:rPr lang="en-US" dirty="0" smtClean="0">
                <a:solidFill>
                  <a:srgbClr val="FECC36"/>
                </a:solidFill>
              </a:rPr>
              <a:t>(</a:t>
            </a:r>
            <a:r>
              <a:rPr lang="en-US" dirty="0">
                <a:solidFill>
                  <a:schemeClr val="bg1"/>
                </a:solidFill>
              </a:rPr>
              <a:t>x</a:t>
            </a:r>
            <a:r>
              <a:rPr lang="en-US" dirty="0" smtClean="0">
                <a:solidFill>
                  <a:srgbClr val="FECC36"/>
                </a:solidFill>
              </a:rPr>
              <a:t>)</a:t>
            </a:r>
          </a:p>
        </p:txBody>
      </p:sp>
      <p:sp>
        <p:nvSpPr>
          <p:cNvPr id="15" name="TextBox 14"/>
          <p:cNvSpPr txBox="1"/>
          <p:nvPr/>
        </p:nvSpPr>
        <p:spPr>
          <a:xfrm>
            <a:off x="4565767" y="1988742"/>
            <a:ext cx="2585546" cy="369332"/>
          </a:xfrm>
          <a:prstGeom prst="rect">
            <a:avLst/>
          </a:prstGeom>
          <a:noFill/>
        </p:spPr>
        <p:txBody>
          <a:bodyPr wrap="square" rtlCol="0">
            <a:spAutoFit/>
          </a:bodyPr>
          <a:lstStyle/>
          <a:p>
            <a:r>
              <a:rPr lang="en-US" dirty="0" err="1" smtClean="0"/>
              <a:t>Lặp</a:t>
            </a:r>
            <a:r>
              <a:rPr lang="en-US" dirty="0" smtClean="0"/>
              <a:t> qua </a:t>
            </a:r>
            <a:r>
              <a:rPr lang="en-US" dirty="0" err="1" smtClean="0"/>
              <a:t>một</a:t>
            </a:r>
            <a:r>
              <a:rPr lang="en-US" dirty="0" smtClean="0"/>
              <a:t> string</a:t>
            </a:r>
            <a:endParaRPr lang="en-US" b="1" dirty="0"/>
          </a:p>
        </p:txBody>
      </p:sp>
    </p:spTree>
    <p:extLst>
      <p:ext uri="{BB962C8B-B14F-4D97-AF65-F5344CB8AC3E}">
        <p14:creationId xmlns:p14="http://schemas.microsoft.com/office/powerpoint/2010/main" val="23568228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9</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Vòng</a:t>
            </a:r>
            <a:r>
              <a:rPr lang="en-US" dirty="0" smtClean="0"/>
              <a:t> </a:t>
            </a:r>
            <a:r>
              <a:rPr lang="en-US" dirty="0" err="1" smtClean="0"/>
              <a:t>lặp</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Vòng</a:t>
            </a:r>
            <a:r>
              <a:rPr lang="en-US" b="1" dirty="0" smtClean="0"/>
              <a:t> </a:t>
            </a:r>
            <a:r>
              <a:rPr lang="en-US" b="1" dirty="0" err="1" smtClean="0"/>
              <a:t>lặp</a:t>
            </a:r>
            <a:r>
              <a:rPr lang="en-US" b="1" dirty="0" smtClean="0"/>
              <a:t> while</a:t>
            </a:r>
            <a:endParaRPr lang="en-US" b="1" dirty="0"/>
          </a:p>
        </p:txBody>
      </p:sp>
      <p:sp>
        <p:nvSpPr>
          <p:cNvPr id="18" name="TextBox 17"/>
          <p:cNvSpPr txBox="1"/>
          <p:nvPr/>
        </p:nvSpPr>
        <p:spPr>
          <a:xfrm>
            <a:off x="548981" y="1988742"/>
            <a:ext cx="8207908" cy="646331"/>
          </a:xfrm>
          <a:prstGeom prst="rect">
            <a:avLst/>
          </a:prstGeom>
          <a:noFill/>
        </p:spPr>
        <p:txBody>
          <a:bodyPr wrap="square" rtlCol="0">
            <a:spAutoFit/>
          </a:bodyPr>
          <a:lstStyle/>
          <a:p>
            <a:r>
              <a:rPr lang="vi-VN" dirty="0"/>
              <a:t>Vòng lặp "while" được sử dụng để lặp lại một khối mã miễn là điều kiện </a:t>
            </a:r>
            <a:r>
              <a:rPr lang="vi-VN" b="1" dirty="0"/>
              <a:t>đúng</a:t>
            </a:r>
            <a:r>
              <a:rPr lang="vi-VN" dirty="0"/>
              <a:t> (True). Cú pháp của vòng lặp "while" như sau:</a:t>
            </a:r>
            <a:endParaRPr lang="en-US" b="1" dirty="0"/>
          </a:p>
        </p:txBody>
      </p:sp>
      <p:sp>
        <p:nvSpPr>
          <p:cNvPr id="21" name="TextBox 20"/>
          <p:cNvSpPr txBox="1"/>
          <p:nvPr/>
        </p:nvSpPr>
        <p:spPr>
          <a:xfrm>
            <a:off x="581918" y="2792133"/>
            <a:ext cx="7988963" cy="830997"/>
          </a:xfrm>
          <a:prstGeom prst="rect">
            <a:avLst/>
          </a:prstGeom>
          <a:noFill/>
        </p:spPr>
        <p:txBody>
          <a:bodyPr wrap="square" rtlCol="0">
            <a:spAutoFit/>
          </a:bodyPr>
          <a:lstStyle/>
          <a:p>
            <a:r>
              <a:rPr lang="en-US" sz="2400" b="1" dirty="0" smtClean="0"/>
              <a:t>while </a:t>
            </a:r>
            <a:r>
              <a:rPr lang="en-US" sz="2400" b="1" dirty="0" smtClean="0">
                <a:solidFill>
                  <a:schemeClr val="accent2">
                    <a:lumMod val="75000"/>
                  </a:schemeClr>
                </a:solidFill>
              </a:rPr>
              <a:t>&lt;điều kiện kiểm tra&gt;</a:t>
            </a:r>
            <a:r>
              <a:rPr lang="en-US" sz="2400" b="1" dirty="0" smtClean="0"/>
              <a:t>:</a:t>
            </a:r>
          </a:p>
          <a:p>
            <a:r>
              <a:rPr lang="en-US" sz="2400" b="1" dirty="0">
                <a:solidFill>
                  <a:srgbClr val="FF0000"/>
                </a:solidFill>
              </a:rPr>
              <a:t> </a:t>
            </a:r>
            <a:r>
              <a:rPr lang="en-US" sz="2400" b="1" dirty="0" smtClean="0">
                <a:solidFill>
                  <a:srgbClr val="FF0000"/>
                </a:solidFill>
              </a:rPr>
              <a:t>   </a:t>
            </a:r>
            <a:r>
              <a:rPr lang="en-US" sz="2400" b="1" dirty="0">
                <a:solidFill>
                  <a:schemeClr val="accent6">
                    <a:lumMod val="50000"/>
                  </a:schemeClr>
                </a:solidFill>
              </a:rPr>
              <a:t># Các câu lệnh thực thi </a:t>
            </a:r>
            <a:r>
              <a:rPr lang="en-US" sz="2400" b="1" dirty="0" smtClean="0">
                <a:solidFill>
                  <a:schemeClr val="accent6">
                    <a:lumMod val="50000"/>
                  </a:schemeClr>
                </a:solidFill>
              </a:rPr>
              <a:t>khi điều kiện đúng</a:t>
            </a:r>
            <a:endParaRPr lang="en-US" sz="2400" b="1" dirty="0">
              <a:solidFill>
                <a:schemeClr val="accent6">
                  <a:lumMod val="50000"/>
                </a:schemeClr>
              </a:solidFill>
            </a:endParaRPr>
          </a:p>
        </p:txBody>
      </p:sp>
      <p:sp>
        <p:nvSpPr>
          <p:cNvPr id="22" name="TextBox 21"/>
          <p:cNvSpPr txBox="1"/>
          <p:nvPr/>
        </p:nvSpPr>
        <p:spPr>
          <a:xfrm>
            <a:off x="548981" y="3884121"/>
            <a:ext cx="8333421" cy="646331"/>
          </a:xfrm>
          <a:prstGeom prst="rect">
            <a:avLst/>
          </a:prstGeom>
          <a:noFill/>
        </p:spPr>
        <p:txBody>
          <a:bodyPr wrap="square" rtlCol="0">
            <a:spAutoFit/>
          </a:bodyPr>
          <a:lstStyle/>
          <a:p>
            <a:r>
              <a:rPr lang="en-US" b="1" dirty="0"/>
              <a:t>"condition" </a:t>
            </a:r>
            <a:r>
              <a:rPr lang="en-US" dirty="0" err="1"/>
              <a:t>là</a:t>
            </a:r>
            <a:r>
              <a:rPr lang="en-US" dirty="0"/>
              <a:t> </a:t>
            </a:r>
            <a:r>
              <a:rPr lang="en-US" dirty="0" err="1"/>
              <a:t>một</a:t>
            </a:r>
            <a:r>
              <a:rPr lang="en-US" dirty="0"/>
              <a:t> </a:t>
            </a:r>
            <a:r>
              <a:rPr lang="en-US" dirty="0" err="1"/>
              <a:t>biểu</a:t>
            </a:r>
            <a:r>
              <a:rPr lang="en-US" dirty="0"/>
              <a:t> </a:t>
            </a:r>
            <a:r>
              <a:rPr lang="en-US" dirty="0" err="1"/>
              <a:t>thức</a:t>
            </a:r>
            <a:r>
              <a:rPr lang="en-US" dirty="0"/>
              <a:t> </a:t>
            </a:r>
            <a:r>
              <a:rPr lang="en-US" dirty="0" err="1"/>
              <a:t>hoặc</a:t>
            </a:r>
            <a:r>
              <a:rPr lang="en-US" dirty="0"/>
              <a:t> </a:t>
            </a:r>
            <a:r>
              <a:rPr lang="en-US" dirty="0" err="1"/>
              <a:t>một</a:t>
            </a:r>
            <a:r>
              <a:rPr lang="en-US" dirty="0"/>
              <a:t> </a:t>
            </a:r>
            <a:r>
              <a:rPr lang="en-US" dirty="0" err="1"/>
              <a:t>điều</a:t>
            </a:r>
            <a:r>
              <a:rPr lang="en-US" dirty="0"/>
              <a:t> </a:t>
            </a:r>
            <a:r>
              <a:rPr lang="en-US" dirty="0" err="1"/>
              <a:t>kiện</a:t>
            </a:r>
            <a:r>
              <a:rPr lang="en-US" dirty="0"/>
              <a:t> logic. </a:t>
            </a:r>
            <a:r>
              <a:rPr lang="en-US" dirty="0" err="1"/>
              <a:t>Vòng</a:t>
            </a:r>
            <a:r>
              <a:rPr lang="en-US" dirty="0"/>
              <a:t> </a:t>
            </a:r>
            <a:r>
              <a:rPr lang="en-US" dirty="0" err="1"/>
              <a:t>lặp</a:t>
            </a:r>
            <a:r>
              <a:rPr lang="en-US" dirty="0"/>
              <a:t> </a:t>
            </a:r>
            <a:r>
              <a:rPr lang="en-US" dirty="0" err="1"/>
              <a:t>sẽ</a:t>
            </a:r>
            <a:r>
              <a:rPr lang="en-US" dirty="0"/>
              <a:t> </a:t>
            </a:r>
            <a:r>
              <a:rPr lang="en-US" dirty="0" err="1"/>
              <a:t>tiếp</a:t>
            </a:r>
            <a:r>
              <a:rPr lang="en-US" dirty="0"/>
              <a:t> </a:t>
            </a:r>
            <a:r>
              <a:rPr lang="en-US" dirty="0" err="1"/>
              <a:t>tục</a:t>
            </a:r>
            <a:r>
              <a:rPr lang="en-US" dirty="0"/>
              <a:t> </a:t>
            </a:r>
            <a:r>
              <a:rPr lang="en-US" dirty="0" err="1"/>
              <a:t>lặp</a:t>
            </a:r>
            <a:r>
              <a:rPr lang="en-US" dirty="0"/>
              <a:t> </a:t>
            </a:r>
            <a:r>
              <a:rPr lang="en-US" dirty="0" err="1"/>
              <a:t>lại</a:t>
            </a:r>
            <a:r>
              <a:rPr lang="en-US" dirty="0"/>
              <a:t> </a:t>
            </a:r>
            <a:r>
              <a:rPr lang="en-US" dirty="0" err="1"/>
              <a:t>cho</a:t>
            </a:r>
            <a:r>
              <a:rPr lang="en-US" dirty="0"/>
              <a:t> </a:t>
            </a:r>
            <a:r>
              <a:rPr lang="en-US" dirty="0" err="1"/>
              <a:t>đến</a:t>
            </a:r>
            <a:r>
              <a:rPr lang="en-US" dirty="0"/>
              <a:t> </a:t>
            </a:r>
            <a:r>
              <a:rPr lang="en-US" dirty="0" err="1"/>
              <a:t>khi</a:t>
            </a:r>
            <a:r>
              <a:rPr lang="en-US" dirty="0"/>
              <a:t> </a:t>
            </a:r>
            <a:r>
              <a:rPr lang="en-US" dirty="0" err="1"/>
              <a:t>điều</a:t>
            </a:r>
            <a:r>
              <a:rPr lang="en-US" dirty="0"/>
              <a:t> </a:t>
            </a:r>
            <a:r>
              <a:rPr lang="en-US" dirty="0" err="1"/>
              <a:t>kiện</a:t>
            </a:r>
            <a:r>
              <a:rPr lang="en-US" dirty="0"/>
              <a:t> </a:t>
            </a:r>
            <a:r>
              <a:rPr lang="en-US" dirty="0" err="1"/>
              <a:t>này</a:t>
            </a:r>
            <a:r>
              <a:rPr lang="en-US" dirty="0"/>
              <a:t> </a:t>
            </a:r>
            <a:r>
              <a:rPr lang="en-US" dirty="0" err="1"/>
              <a:t>trở</a:t>
            </a:r>
            <a:r>
              <a:rPr lang="en-US" dirty="0"/>
              <a:t> </a:t>
            </a:r>
            <a:r>
              <a:rPr lang="en-US" dirty="0" err="1"/>
              <a:t>thành</a:t>
            </a:r>
            <a:r>
              <a:rPr lang="en-US" dirty="0"/>
              <a:t> </a:t>
            </a:r>
            <a:r>
              <a:rPr lang="en-US" dirty="0" err="1"/>
              <a:t>sai</a:t>
            </a:r>
            <a:r>
              <a:rPr lang="en-US" dirty="0"/>
              <a:t> (False).</a:t>
            </a:r>
            <a:endParaRPr lang="en-US" b="1" dirty="0"/>
          </a:p>
        </p:txBody>
      </p:sp>
      <p:sp>
        <p:nvSpPr>
          <p:cNvPr id="23" name="Rectangle 22"/>
          <p:cNvSpPr/>
          <p:nvPr/>
        </p:nvSpPr>
        <p:spPr>
          <a:xfrm>
            <a:off x="687205" y="4781645"/>
            <a:ext cx="3310637" cy="143182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887389" y="4874558"/>
            <a:ext cx="3206146" cy="1200329"/>
          </a:xfrm>
          <a:prstGeom prst="rect">
            <a:avLst/>
          </a:prstGeom>
          <a:noFill/>
        </p:spPr>
        <p:txBody>
          <a:bodyPr wrap="square" rtlCol="0">
            <a:spAutoFit/>
          </a:bodyPr>
          <a:lstStyle/>
          <a:p>
            <a:r>
              <a:rPr lang="en-US" dirty="0">
                <a:solidFill>
                  <a:schemeClr val="bg1"/>
                </a:solidFill>
              </a:rPr>
              <a:t>count = </a:t>
            </a:r>
            <a:r>
              <a:rPr lang="en-US" dirty="0">
                <a:solidFill>
                  <a:schemeClr val="accent6">
                    <a:lumMod val="60000"/>
                    <a:lumOff val="40000"/>
                  </a:schemeClr>
                </a:solidFill>
              </a:rPr>
              <a:t>0</a:t>
            </a:r>
            <a:r>
              <a:rPr lang="en-US" dirty="0">
                <a:solidFill>
                  <a:schemeClr val="bg1"/>
                </a:solidFill>
              </a:rPr>
              <a:t> </a:t>
            </a:r>
            <a:endParaRPr lang="en-US" dirty="0" smtClean="0">
              <a:solidFill>
                <a:schemeClr val="bg1"/>
              </a:solidFill>
            </a:endParaRPr>
          </a:p>
          <a:p>
            <a:r>
              <a:rPr lang="en-US" dirty="0" smtClean="0">
                <a:solidFill>
                  <a:srgbClr val="00B0F0"/>
                </a:solidFill>
              </a:rPr>
              <a:t>while</a:t>
            </a:r>
            <a:r>
              <a:rPr lang="en-US" dirty="0" smtClean="0">
                <a:solidFill>
                  <a:schemeClr val="bg1"/>
                </a:solidFill>
              </a:rPr>
              <a:t> </a:t>
            </a:r>
            <a:r>
              <a:rPr lang="en-US" dirty="0">
                <a:solidFill>
                  <a:schemeClr val="bg1"/>
                </a:solidFill>
              </a:rPr>
              <a:t>count &lt; </a:t>
            </a:r>
            <a:r>
              <a:rPr lang="en-US" dirty="0">
                <a:solidFill>
                  <a:schemeClr val="accent6">
                    <a:lumMod val="60000"/>
                    <a:lumOff val="40000"/>
                  </a:schemeClr>
                </a:solidFill>
              </a:rPr>
              <a:t>5</a:t>
            </a:r>
            <a:r>
              <a:rPr lang="en-US" dirty="0">
                <a:solidFill>
                  <a:schemeClr val="bg1"/>
                </a:solidFill>
              </a:rPr>
              <a:t>: </a:t>
            </a:r>
            <a:endParaRPr lang="en-US" dirty="0" smtClean="0">
              <a:solidFill>
                <a:schemeClr val="bg1"/>
              </a:solidFill>
            </a:endParaRPr>
          </a:p>
          <a:p>
            <a:r>
              <a:rPr lang="en-US" dirty="0">
                <a:solidFill>
                  <a:schemeClr val="bg1"/>
                </a:solidFill>
              </a:rPr>
              <a:t> </a:t>
            </a:r>
            <a:r>
              <a:rPr lang="en-US" dirty="0" smtClean="0">
                <a:solidFill>
                  <a:schemeClr val="bg1"/>
                </a:solidFill>
              </a:rPr>
              <a:t>        print</a:t>
            </a:r>
            <a:r>
              <a:rPr lang="en-US" dirty="0" smtClean="0">
                <a:solidFill>
                  <a:srgbClr val="FFC000"/>
                </a:solidFill>
              </a:rPr>
              <a:t>(</a:t>
            </a:r>
            <a:r>
              <a:rPr lang="en-US" dirty="0" smtClean="0">
                <a:solidFill>
                  <a:schemeClr val="bg1"/>
                </a:solidFill>
              </a:rPr>
              <a:t>count</a:t>
            </a:r>
            <a:r>
              <a:rPr lang="en-US" dirty="0">
                <a:solidFill>
                  <a:srgbClr val="FFC000"/>
                </a:solidFill>
              </a:rPr>
              <a:t>)</a:t>
            </a:r>
            <a:r>
              <a:rPr lang="en-US" dirty="0">
                <a:solidFill>
                  <a:schemeClr val="bg1"/>
                </a:solidFill>
              </a:rPr>
              <a:t> </a:t>
            </a:r>
            <a:endParaRPr lang="en-US" dirty="0" smtClean="0">
              <a:solidFill>
                <a:schemeClr val="bg1"/>
              </a:solidFill>
            </a:endParaRPr>
          </a:p>
          <a:p>
            <a:r>
              <a:rPr lang="en-US" dirty="0">
                <a:solidFill>
                  <a:schemeClr val="bg1"/>
                </a:solidFill>
              </a:rPr>
              <a:t> </a:t>
            </a:r>
            <a:r>
              <a:rPr lang="en-US" dirty="0" smtClean="0">
                <a:solidFill>
                  <a:schemeClr val="bg1"/>
                </a:solidFill>
              </a:rPr>
              <a:t>        count </a:t>
            </a:r>
            <a:r>
              <a:rPr lang="en-US" dirty="0">
                <a:solidFill>
                  <a:schemeClr val="bg1"/>
                </a:solidFill>
              </a:rPr>
              <a:t>+= </a:t>
            </a:r>
            <a:r>
              <a:rPr lang="en-US" dirty="0">
                <a:solidFill>
                  <a:schemeClr val="accent6">
                    <a:lumMod val="60000"/>
                    <a:lumOff val="40000"/>
                  </a:schemeClr>
                </a:solidFill>
              </a:rPr>
              <a:t>1</a:t>
            </a:r>
            <a:endParaRPr lang="en-US" dirty="0" smtClean="0">
              <a:solidFill>
                <a:schemeClr val="accent6">
                  <a:lumMod val="60000"/>
                  <a:lumOff val="40000"/>
                </a:schemeClr>
              </a:solidFill>
            </a:endParaRPr>
          </a:p>
        </p:txBody>
      </p:sp>
      <p:sp>
        <p:nvSpPr>
          <p:cNvPr id="25" name="TextBox 24"/>
          <p:cNvSpPr txBox="1"/>
          <p:nvPr/>
        </p:nvSpPr>
        <p:spPr>
          <a:xfrm>
            <a:off x="4249111" y="4753072"/>
            <a:ext cx="4321769" cy="1477328"/>
          </a:xfrm>
          <a:prstGeom prst="rect">
            <a:avLst/>
          </a:prstGeom>
          <a:noFill/>
        </p:spPr>
        <p:txBody>
          <a:bodyPr wrap="square" rtlCol="0">
            <a:spAutoFit/>
          </a:bodyPr>
          <a:lstStyle/>
          <a:p>
            <a:r>
              <a:rPr lang="vi-VN" dirty="0"/>
              <a:t>vòng lặp "while" được sử dụng để lặp lại việc in ra giá trị của biến "count" từ 0 đến 4. Mỗi lần lặp, giá trị của "count" được tăng lên 1 và điều kiện "count &lt; 5" được kiểm tra</a:t>
            </a:r>
            <a:endParaRPr lang="en-US" b="1" dirty="0"/>
          </a:p>
        </p:txBody>
      </p:sp>
    </p:spTree>
    <p:extLst>
      <p:ext uri="{BB962C8B-B14F-4D97-AF65-F5344CB8AC3E}">
        <p14:creationId xmlns:p14="http://schemas.microsoft.com/office/powerpoint/2010/main" val="18916905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10</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Vòng</a:t>
            </a:r>
            <a:r>
              <a:rPr lang="en-US" dirty="0" smtClean="0"/>
              <a:t> </a:t>
            </a:r>
            <a:r>
              <a:rPr lang="en-US" dirty="0" err="1" smtClean="0"/>
              <a:t>lặp</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Điều</a:t>
            </a:r>
            <a:r>
              <a:rPr lang="en-US" b="1" dirty="0" smtClean="0"/>
              <a:t> </a:t>
            </a:r>
            <a:r>
              <a:rPr lang="en-US" b="1" dirty="0" err="1" smtClean="0"/>
              <a:t>kiện</a:t>
            </a:r>
            <a:r>
              <a:rPr lang="en-US" b="1" dirty="0" smtClean="0"/>
              <a:t> </a:t>
            </a:r>
            <a:r>
              <a:rPr lang="en-US" b="1" dirty="0" err="1" smtClean="0"/>
              <a:t>dừng</a:t>
            </a:r>
            <a:r>
              <a:rPr lang="en-US" b="1" dirty="0" smtClean="0"/>
              <a:t> </a:t>
            </a:r>
            <a:r>
              <a:rPr lang="en-US" b="1" dirty="0" err="1" smtClean="0"/>
              <a:t>vòng</a:t>
            </a:r>
            <a:r>
              <a:rPr lang="en-US" b="1" dirty="0" smtClean="0"/>
              <a:t> </a:t>
            </a:r>
            <a:r>
              <a:rPr lang="en-US" b="1" dirty="0" err="1" smtClean="0"/>
              <a:t>lặp</a:t>
            </a:r>
            <a:endParaRPr lang="en-US" b="1" dirty="0"/>
          </a:p>
        </p:txBody>
      </p:sp>
      <p:sp>
        <p:nvSpPr>
          <p:cNvPr id="6" name="TextBox 5"/>
          <p:cNvSpPr txBox="1"/>
          <p:nvPr/>
        </p:nvSpPr>
        <p:spPr>
          <a:xfrm>
            <a:off x="548981" y="1988742"/>
            <a:ext cx="8207908" cy="1200329"/>
          </a:xfrm>
          <a:prstGeom prst="rect">
            <a:avLst/>
          </a:prstGeom>
          <a:noFill/>
        </p:spPr>
        <p:txBody>
          <a:bodyPr wrap="square" rtlCol="0">
            <a:spAutoFit/>
          </a:bodyPr>
          <a:lstStyle/>
          <a:p>
            <a:r>
              <a:rPr lang="vi-VN" dirty="0"/>
              <a:t>Trong vòng lặp "while", điều kiện đúng (True) được kiểm tra ở đầu mỗi lần lặp. Nếu điều kiện đúng từ đầu, vòng lặp sẽ </a:t>
            </a:r>
            <a:r>
              <a:rPr lang="en-US" b="1" dirty="0" smtClean="0"/>
              <a:t>luôn</a:t>
            </a:r>
            <a:r>
              <a:rPr lang="vi-VN" dirty="0" smtClean="0"/>
              <a:t> </a:t>
            </a:r>
            <a:r>
              <a:rPr lang="vi-VN" dirty="0"/>
              <a:t>được thực thi. Điều này có thể gây ra vòng lặp vô hạn nếu không có một cơ chế nào đảm bảo điều kiện sẽ trở thành sai (False) tại một thời điểm nào đó</a:t>
            </a:r>
            <a:endParaRPr lang="en-US" b="1" dirty="0"/>
          </a:p>
        </p:txBody>
      </p:sp>
      <p:sp>
        <p:nvSpPr>
          <p:cNvPr id="7" name="Rectangle 6"/>
          <p:cNvSpPr/>
          <p:nvPr/>
        </p:nvSpPr>
        <p:spPr>
          <a:xfrm>
            <a:off x="623411" y="3533269"/>
            <a:ext cx="2810906" cy="129391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23594" y="3626182"/>
            <a:ext cx="2089727" cy="923330"/>
          </a:xfrm>
          <a:prstGeom prst="rect">
            <a:avLst/>
          </a:prstGeom>
          <a:noFill/>
        </p:spPr>
        <p:txBody>
          <a:bodyPr wrap="square" rtlCol="0">
            <a:spAutoFit/>
          </a:bodyPr>
          <a:lstStyle/>
          <a:p>
            <a:r>
              <a:rPr lang="en-US" dirty="0">
                <a:solidFill>
                  <a:schemeClr val="bg1"/>
                </a:solidFill>
              </a:rPr>
              <a:t>count = </a:t>
            </a:r>
            <a:r>
              <a:rPr lang="en-US" dirty="0" smtClean="0">
                <a:solidFill>
                  <a:schemeClr val="accent6">
                    <a:lumMod val="60000"/>
                    <a:lumOff val="40000"/>
                  </a:schemeClr>
                </a:solidFill>
              </a:rPr>
              <a:t>5</a:t>
            </a:r>
            <a:r>
              <a:rPr lang="en-US" dirty="0" smtClean="0">
                <a:solidFill>
                  <a:schemeClr val="bg1"/>
                </a:solidFill>
              </a:rPr>
              <a:t> </a:t>
            </a:r>
          </a:p>
          <a:p>
            <a:r>
              <a:rPr lang="en-US" dirty="0" smtClean="0">
                <a:solidFill>
                  <a:srgbClr val="00B0F0"/>
                </a:solidFill>
              </a:rPr>
              <a:t>while</a:t>
            </a:r>
            <a:r>
              <a:rPr lang="en-US" dirty="0" smtClean="0">
                <a:solidFill>
                  <a:schemeClr val="bg1"/>
                </a:solidFill>
              </a:rPr>
              <a:t> </a:t>
            </a:r>
            <a:r>
              <a:rPr lang="en-US" dirty="0">
                <a:solidFill>
                  <a:schemeClr val="bg1"/>
                </a:solidFill>
              </a:rPr>
              <a:t>count </a:t>
            </a:r>
            <a:r>
              <a:rPr lang="en-US" dirty="0" smtClean="0">
                <a:solidFill>
                  <a:schemeClr val="bg1"/>
                </a:solidFill>
              </a:rPr>
              <a:t>&gt; </a:t>
            </a:r>
            <a:r>
              <a:rPr lang="en-US" dirty="0" smtClean="0">
                <a:solidFill>
                  <a:schemeClr val="accent6">
                    <a:lumMod val="60000"/>
                    <a:lumOff val="40000"/>
                  </a:schemeClr>
                </a:solidFill>
              </a:rPr>
              <a:t>0</a:t>
            </a:r>
            <a:r>
              <a:rPr lang="en-US" dirty="0" smtClean="0">
                <a:solidFill>
                  <a:schemeClr val="bg1"/>
                </a:solidFill>
              </a:rPr>
              <a:t>: </a:t>
            </a:r>
          </a:p>
          <a:p>
            <a:r>
              <a:rPr lang="en-US" dirty="0">
                <a:solidFill>
                  <a:schemeClr val="bg1"/>
                </a:solidFill>
              </a:rPr>
              <a:t> </a:t>
            </a:r>
            <a:r>
              <a:rPr lang="en-US" dirty="0" smtClean="0">
                <a:solidFill>
                  <a:schemeClr val="bg1"/>
                </a:solidFill>
              </a:rPr>
              <a:t>        print</a:t>
            </a:r>
            <a:r>
              <a:rPr lang="en-US" dirty="0" smtClean="0">
                <a:solidFill>
                  <a:srgbClr val="FFC000"/>
                </a:solidFill>
              </a:rPr>
              <a:t>(</a:t>
            </a:r>
            <a:r>
              <a:rPr lang="en-US" dirty="0" smtClean="0">
                <a:solidFill>
                  <a:schemeClr val="bg1"/>
                </a:solidFill>
              </a:rPr>
              <a:t>count</a:t>
            </a:r>
            <a:r>
              <a:rPr lang="en-US" dirty="0">
                <a:solidFill>
                  <a:srgbClr val="FFC000"/>
                </a:solidFill>
              </a:rPr>
              <a:t>)</a:t>
            </a:r>
            <a:r>
              <a:rPr lang="en-US" dirty="0">
                <a:solidFill>
                  <a:schemeClr val="bg1"/>
                </a:solidFill>
              </a:rPr>
              <a:t> </a:t>
            </a:r>
            <a:endParaRPr lang="en-US" dirty="0" smtClean="0">
              <a:solidFill>
                <a:schemeClr val="bg1"/>
              </a:solidFill>
            </a:endParaRPr>
          </a:p>
        </p:txBody>
      </p:sp>
      <p:sp>
        <p:nvSpPr>
          <p:cNvPr id="9" name="TextBox 8"/>
          <p:cNvSpPr txBox="1"/>
          <p:nvPr/>
        </p:nvSpPr>
        <p:spPr>
          <a:xfrm>
            <a:off x="3634500" y="3450115"/>
            <a:ext cx="4873623" cy="1477328"/>
          </a:xfrm>
          <a:prstGeom prst="rect">
            <a:avLst/>
          </a:prstGeom>
          <a:noFill/>
        </p:spPr>
        <p:txBody>
          <a:bodyPr wrap="square" rtlCol="0">
            <a:spAutoFit/>
          </a:bodyPr>
          <a:lstStyle/>
          <a:p>
            <a:r>
              <a:rPr lang="en-US" dirty="0" err="1"/>
              <a:t>V</a:t>
            </a:r>
            <a:r>
              <a:rPr lang="en-US" dirty="0" err="1" smtClean="0"/>
              <a:t>òng</a:t>
            </a:r>
            <a:r>
              <a:rPr lang="en-US" dirty="0" smtClean="0"/>
              <a:t> </a:t>
            </a:r>
            <a:r>
              <a:rPr lang="en-US" dirty="0" err="1"/>
              <a:t>lặp</a:t>
            </a:r>
            <a:r>
              <a:rPr lang="en-US" dirty="0"/>
              <a:t> </a:t>
            </a:r>
            <a:r>
              <a:rPr lang="en-US" dirty="0" err="1"/>
              <a:t>sẽ</a:t>
            </a:r>
            <a:r>
              <a:rPr lang="en-US" dirty="0"/>
              <a:t> </a:t>
            </a:r>
            <a:r>
              <a:rPr lang="en-US" dirty="0" err="1"/>
              <a:t>không</a:t>
            </a:r>
            <a:r>
              <a:rPr lang="en-US" dirty="0"/>
              <a:t> </a:t>
            </a:r>
            <a:r>
              <a:rPr lang="en-US" dirty="0" err="1"/>
              <a:t>bao</a:t>
            </a:r>
            <a:r>
              <a:rPr lang="en-US" dirty="0"/>
              <a:t> </a:t>
            </a:r>
            <a:r>
              <a:rPr lang="en-US" dirty="0" err="1"/>
              <a:t>giờ</a:t>
            </a:r>
            <a:r>
              <a:rPr lang="en-US" dirty="0"/>
              <a:t> </a:t>
            </a:r>
            <a:r>
              <a:rPr lang="en-US" dirty="0" err="1"/>
              <a:t>kết</a:t>
            </a:r>
            <a:r>
              <a:rPr lang="en-US" dirty="0"/>
              <a:t> </a:t>
            </a:r>
            <a:r>
              <a:rPr lang="en-US" dirty="0" err="1"/>
              <a:t>thúc</a:t>
            </a:r>
            <a:r>
              <a:rPr lang="en-US" dirty="0"/>
              <a:t> </a:t>
            </a:r>
            <a:r>
              <a:rPr lang="en-US" dirty="0" err="1"/>
              <a:t>vì</a:t>
            </a:r>
            <a:r>
              <a:rPr lang="en-US" dirty="0"/>
              <a:t> </a:t>
            </a:r>
            <a:r>
              <a:rPr lang="en-US" dirty="0" err="1"/>
              <a:t>điều</a:t>
            </a:r>
            <a:r>
              <a:rPr lang="en-US" dirty="0"/>
              <a:t> </a:t>
            </a:r>
            <a:r>
              <a:rPr lang="en-US" dirty="0" err="1"/>
              <a:t>kiện</a:t>
            </a:r>
            <a:r>
              <a:rPr lang="en-US" dirty="0"/>
              <a:t> "count &gt; 0" </a:t>
            </a:r>
            <a:r>
              <a:rPr lang="en-US" dirty="0" err="1"/>
              <a:t>luôn</a:t>
            </a:r>
            <a:r>
              <a:rPr lang="en-US" dirty="0"/>
              <a:t> </a:t>
            </a:r>
            <a:r>
              <a:rPr lang="en-US" dirty="0" err="1"/>
              <a:t>đúng</a:t>
            </a:r>
            <a:r>
              <a:rPr lang="en-US" dirty="0"/>
              <a:t>. </a:t>
            </a:r>
            <a:r>
              <a:rPr lang="en-US" dirty="0" err="1">
                <a:solidFill>
                  <a:srgbClr val="FF0000"/>
                </a:solidFill>
              </a:rPr>
              <a:t>Để</a:t>
            </a:r>
            <a:r>
              <a:rPr lang="en-US" dirty="0">
                <a:solidFill>
                  <a:srgbClr val="FF0000"/>
                </a:solidFill>
              </a:rPr>
              <a:t> </a:t>
            </a:r>
            <a:r>
              <a:rPr lang="en-US" dirty="0" err="1">
                <a:solidFill>
                  <a:srgbClr val="FF0000"/>
                </a:solidFill>
              </a:rPr>
              <a:t>tránh</a:t>
            </a:r>
            <a:r>
              <a:rPr lang="en-US" dirty="0">
                <a:solidFill>
                  <a:srgbClr val="FF0000"/>
                </a:solidFill>
              </a:rPr>
              <a:t> </a:t>
            </a:r>
            <a:r>
              <a:rPr lang="en-US" dirty="0" err="1">
                <a:solidFill>
                  <a:srgbClr val="FF0000"/>
                </a:solidFill>
              </a:rPr>
              <a:t>vòng</a:t>
            </a:r>
            <a:r>
              <a:rPr lang="en-US" dirty="0">
                <a:solidFill>
                  <a:srgbClr val="FF0000"/>
                </a:solidFill>
              </a:rPr>
              <a:t> </a:t>
            </a:r>
            <a:r>
              <a:rPr lang="en-US" dirty="0" err="1">
                <a:solidFill>
                  <a:srgbClr val="FF0000"/>
                </a:solidFill>
              </a:rPr>
              <a:t>lặp</a:t>
            </a:r>
            <a:r>
              <a:rPr lang="en-US" dirty="0">
                <a:solidFill>
                  <a:srgbClr val="FF0000"/>
                </a:solidFill>
              </a:rPr>
              <a:t> </a:t>
            </a:r>
            <a:r>
              <a:rPr lang="en-US" dirty="0" err="1">
                <a:solidFill>
                  <a:srgbClr val="FF0000"/>
                </a:solidFill>
              </a:rPr>
              <a:t>vô</a:t>
            </a:r>
            <a:r>
              <a:rPr lang="en-US" dirty="0">
                <a:solidFill>
                  <a:srgbClr val="FF0000"/>
                </a:solidFill>
              </a:rPr>
              <a:t> </a:t>
            </a:r>
            <a:r>
              <a:rPr lang="en-US" dirty="0" err="1">
                <a:solidFill>
                  <a:srgbClr val="FF0000"/>
                </a:solidFill>
              </a:rPr>
              <a:t>hạn</a:t>
            </a:r>
            <a:r>
              <a:rPr lang="en-US" dirty="0"/>
              <a:t>, </a:t>
            </a:r>
            <a:r>
              <a:rPr lang="en-US" dirty="0" err="1"/>
              <a:t>chúng</a:t>
            </a:r>
            <a:r>
              <a:rPr lang="en-US" dirty="0"/>
              <a:t> ta </a:t>
            </a:r>
            <a:r>
              <a:rPr lang="en-US" dirty="0" err="1"/>
              <a:t>cần</a:t>
            </a:r>
            <a:r>
              <a:rPr lang="en-US" dirty="0"/>
              <a:t> </a:t>
            </a:r>
            <a:r>
              <a:rPr lang="en-US" dirty="0" err="1"/>
              <a:t>đảm</a:t>
            </a:r>
            <a:r>
              <a:rPr lang="en-US" dirty="0"/>
              <a:t> </a:t>
            </a:r>
            <a:r>
              <a:rPr lang="en-US" dirty="0" err="1"/>
              <a:t>bảo</a:t>
            </a:r>
            <a:r>
              <a:rPr lang="en-US" dirty="0"/>
              <a:t> </a:t>
            </a:r>
            <a:r>
              <a:rPr lang="en-US" dirty="0" err="1"/>
              <a:t>rằng</a:t>
            </a:r>
            <a:r>
              <a:rPr lang="en-US" dirty="0"/>
              <a:t> </a:t>
            </a:r>
            <a:r>
              <a:rPr lang="en-US" dirty="0" err="1"/>
              <a:t>điều</a:t>
            </a:r>
            <a:r>
              <a:rPr lang="en-US" dirty="0"/>
              <a:t> </a:t>
            </a:r>
            <a:r>
              <a:rPr lang="en-US" dirty="0" err="1"/>
              <a:t>kiện</a:t>
            </a:r>
            <a:r>
              <a:rPr lang="en-US" dirty="0"/>
              <a:t> </a:t>
            </a:r>
            <a:r>
              <a:rPr lang="en-US" dirty="0" err="1"/>
              <a:t>cuối</a:t>
            </a:r>
            <a:r>
              <a:rPr lang="en-US" dirty="0"/>
              <a:t> </a:t>
            </a:r>
            <a:r>
              <a:rPr lang="en-US" dirty="0" err="1"/>
              <a:t>cùng</a:t>
            </a:r>
            <a:r>
              <a:rPr lang="en-US" dirty="0"/>
              <a:t> </a:t>
            </a:r>
            <a:r>
              <a:rPr lang="en-US" dirty="0" err="1"/>
              <a:t>sẽ</a:t>
            </a:r>
            <a:r>
              <a:rPr lang="en-US" dirty="0"/>
              <a:t> </a:t>
            </a:r>
            <a:r>
              <a:rPr lang="en-US" dirty="0" err="1"/>
              <a:t>trở</a:t>
            </a:r>
            <a:r>
              <a:rPr lang="en-US" dirty="0"/>
              <a:t> </a:t>
            </a:r>
            <a:r>
              <a:rPr lang="en-US" dirty="0" err="1"/>
              <a:t>thành</a:t>
            </a:r>
            <a:r>
              <a:rPr lang="en-US" dirty="0"/>
              <a:t> </a:t>
            </a:r>
            <a:r>
              <a:rPr lang="en-US" dirty="0" err="1">
                <a:solidFill>
                  <a:srgbClr val="FF0000"/>
                </a:solidFill>
              </a:rPr>
              <a:t>sai</a:t>
            </a:r>
            <a:r>
              <a:rPr lang="en-US" dirty="0"/>
              <a:t> </a:t>
            </a:r>
            <a:r>
              <a:rPr lang="en-US" dirty="0" err="1"/>
              <a:t>tại</a:t>
            </a:r>
            <a:r>
              <a:rPr lang="en-US" dirty="0"/>
              <a:t> </a:t>
            </a:r>
            <a:r>
              <a:rPr lang="en-US" dirty="0" err="1"/>
              <a:t>một</a:t>
            </a:r>
            <a:r>
              <a:rPr lang="en-US" dirty="0"/>
              <a:t> </a:t>
            </a:r>
            <a:r>
              <a:rPr lang="en-US" dirty="0" err="1"/>
              <a:t>điểm</a:t>
            </a:r>
            <a:r>
              <a:rPr lang="en-US" dirty="0"/>
              <a:t> </a:t>
            </a:r>
            <a:r>
              <a:rPr lang="en-US" dirty="0" err="1"/>
              <a:t>nào</a:t>
            </a:r>
            <a:r>
              <a:rPr lang="en-US" dirty="0"/>
              <a:t> </a:t>
            </a:r>
            <a:r>
              <a:rPr lang="en-US" dirty="0" err="1"/>
              <a:t>đó</a:t>
            </a:r>
            <a:r>
              <a:rPr lang="en-US" dirty="0"/>
              <a:t> </a:t>
            </a:r>
            <a:r>
              <a:rPr lang="en-US" dirty="0" err="1"/>
              <a:t>trong</a:t>
            </a:r>
            <a:r>
              <a:rPr lang="en-US" dirty="0"/>
              <a:t> </a:t>
            </a:r>
            <a:r>
              <a:rPr lang="en-US" dirty="0" err="1"/>
              <a:t>vòng</a:t>
            </a:r>
            <a:r>
              <a:rPr lang="en-US" dirty="0"/>
              <a:t> </a:t>
            </a:r>
            <a:r>
              <a:rPr lang="en-US" dirty="0" err="1"/>
              <a:t>lặp</a:t>
            </a:r>
            <a:endParaRPr lang="en-US" b="1" dirty="0"/>
          </a:p>
        </p:txBody>
      </p:sp>
    </p:spTree>
    <p:extLst>
      <p:ext uri="{BB962C8B-B14F-4D97-AF65-F5344CB8AC3E}">
        <p14:creationId xmlns:p14="http://schemas.microsoft.com/office/powerpoint/2010/main" val="1467028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11</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Vòng</a:t>
            </a:r>
            <a:r>
              <a:rPr lang="en-US" dirty="0" smtClean="0"/>
              <a:t> </a:t>
            </a:r>
            <a:r>
              <a:rPr lang="en-US" dirty="0" err="1" smtClean="0"/>
              <a:t>lặp</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dirty="0" err="1"/>
              <a:t>Vòng</a:t>
            </a:r>
            <a:r>
              <a:rPr lang="en-US" dirty="0"/>
              <a:t> </a:t>
            </a:r>
            <a:r>
              <a:rPr lang="en-US" dirty="0" err="1"/>
              <a:t>lặp</a:t>
            </a:r>
            <a:r>
              <a:rPr lang="en-US" dirty="0"/>
              <a:t> </a:t>
            </a:r>
            <a:r>
              <a:rPr lang="en-US" dirty="0" err="1"/>
              <a:t>với</a:t>
            </a:r>
            <a:r>
              <a:rPr lang="en-US" dirty="0"/>
              <a:t> </a:t>
            </a:r>
            <a:r>
              <a:rPr lang="en-US" dirty="0" err="1"/>
              <a:t>câu</a:t>
            </a:r>
            <a:r>
              <a:rPr lang="en-US" dirty="0"/>
              <a:t> </a:t>
            </a:r>
            <a:r>
              <a:rPr lang="en-US" dirty="0" err="1"/>
              <a:t>lệnh</a:t>
            </a:r>
            <a:r>
              <a:rPr lang="en-US" dirty="0"/>
              <a:t> </a:t>
            </a:r>
            <a:r>
              <a:rPr lang="en-US" b="1" dirty="0"/>
              <a:t>break </a:t>
            </a:r>
            <a:r>
              <a:rPr lang="en-US" dirty="0" err="1"/>
              <a:t>và</a:t>
            </a:r>
            <a:r>
              <a:rPr lang="en-US" b="1" dirty="0"/>
              <a:t> continue</a:t>
            </a:r>
            <a:r>
              <a:rPr lang="en-US" dirty="0"/>
              <a:t>  </a:t>
            </a:r>
            <a:endParaRPr lang="en-US" b="1" dirty="0"/>
          </a:p>
        </p:txBody>
      </p:sp>
      <p:sp>
        <p:nvSpPr>
          <p:cNvPr id="7" name="Rectangle 6"/>
          <p:cNvSpPr/>
          <p:nvPr/>
        </p:nvSpPr>
        <p:spPr>
          <a:xfrm>
            <a:off x="623411" y="2578769"/>
            <a:ext cx="4269866" cy="162222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74221" y="2619344"/>
            <a:ext cx="3904871" cy="1200329"/>
          </a:xfrm>
          <a:prstGeom prst="rect">
            <a:avLst/>
          </a:prstGeom>
          <a:noFill/>
        </p:spPr>
        <p:txBody>
          <a:bodyPr wrap="square" rtlCol="0">
            <a:spAutoFit/>
          </a:bodyPr>
          <a:lstStyle/>
          <a:p>
            <a:r>
              <a:rPr lang="en-US" dirty="0" smtClean="0">
                <a:solidFill>
                  <a:srgbClr val="00B0F0"/>
                </a:solidFill>
              </a:rPr>
              <a:t>for</a:t>
            </a:r>
            <a:r>
              <a:rPr lang="en-US" dirty="0">
                <a:solidFill>
                  <a:schemeClr val="bg1"/>
                </a:solidFill>
              </a:rPr>
              <a:t> x </a:t>
            </a:r>
            <a:r>
              <a:rPr lang="en-US" dirty="0">
                <a:solidFill>
                  <a:srgbClr val="00B0F0"/>
                </a:solidFill>
              </a:rPr>
              <a:t>in</a:t>
            </a:r>
            <a:r>
              <a:rPr lang="en-US" dirty="0">
                <a:solidFill>
                  <a:schemeClr val="bg1"/>
                </a:solidFill>
              </a:rPr>
              <a:t> </a:t>
            </a:r>
            <a:r>
              <a:rPr lang="en-US" dirty="0" smtClean="0">
                <a:solidFill>
                  <a:schemeClr val="bg1"/>
                </a:solidFill>
              </a:rPr>
              <a:t>range(</a:t>
            </a:r>
            <a:r>
              <a:rPr lang="en-US" dirty="0" smtClean="0">
                <a:solidFill>
                  <a:schemeClr val="accent6">
                    <a:lumMod val="60000"/>
                    <a:lumOff val="40000"/>
                  </a:schemeClr>
                </a:solidFill>
              </a:rPr>
              <a:t>1</a:t>
            </a:r>
            <a:r>
              <a:rPr lang="en-US" dirty="0" smtClean="0">
                <a:solidFill>
                  <a:schemeClr val="bg1"/>
                </a:solidFill>
              </a:rPr>
              <a:t>,</a:t>
            </a:r>
            <a:r>
              <a:rPr lang="en-US" dirty="0" smtClean="0">
                <a:solidFill>
                  <a:schemeClr val="accent6">
                    <a:lumMod val="60000"/>
                    <a:lumOff val="40000"/>
                  </a:schemeClr>
                </a:solidFill>
              </a:rPr>
              <a:t>5</a:t>
            </a:r>
            <a:r>
              <a:rPr lang="en-US" dirty="0" smtClean="0">
                <a:solidFill>
                  <a:schemeClr val="bg1"/>
                </a:solidFill>
              </a:rPr>
              <a:t>):</a:t>
            </a:r>
            <a:r>
              <a:rPr lang="en-US" dirty="0">
                <a:solidFill>
                  <a:schemeClr val="bg1"/>
                </a:solidFill>
              </a:rPr>
              <a:t/>
            </a:r>
            <a:br>
              <a:rPr lang="en-US" dirty="0">
                <a:solidFill>
                  <a:schemeClr val="bg1"/>
                </a:solidFill>
              </a:rPr>
            </a:br>
            <a:r>
              <a:rPr lang="en-US" dirty="0" smtClean="0">
                <a:solidFill>
                  <a:schemeClr val="bg1"/>
                </a:solidFill>
              </a:rPr>
              <a:t>  </a:t>
            </a:r>
            <a:r>
              <a:rPr lang="en-US" dirty="0" smtClean="0">
                <a:solidFill>
                  <a:srgbClr val="00B0F0"/>
                </a:solidFill>
              </a:rPr>
              <a:t>if</a:t>
            </a:r>
            <a:r>
              <a:rPr lang="en-US" dirty="0">
                <a:solidFill>
                  <a:schemeClr val="bg1"/>
                </a:solidFill>
              </a:rPr>
              <a:t> x == </a:t>
            </a:r>
            <a:r>
              <a:rPr lang="en-US" dirty="0" smtClean="0">
                <a:solidFill>
                  <a:schemeClr val="accent2"/>
                </a:solidFill>
              </a:rPr>
              <a:t>2</a:t>
            </a:r>
            <a:r>
              <a:rPr lang="en-US" dirty="0" smtClean="0">
                <a:solidFill>
                  <a:schemeClr val="bg1"/>
                </a:solidFill>
              </a:rPr>
              <a:t>:</a:t>
            </a:r>
            <a:r>
              <a:rPr lang="en-US" dirty="0">
                <a:solidFill>
                  <a:schemeClr val="bg1"/>
                </a:solidFill>
              </a:rPr>
              <a:t/>
            </a:r>
            <a:br>
              <a:rPr lang="en-US" dirty="0">
                <a:solidFill>
                  <a:schemeClr val="bg1"/>
                </a:solidFill>
              </a:rPr>
            </a:br>
            <a:r>
              <a:rPr lang="en-US" dirty="0">
                <a:solidFill>
                  <a:schemeClr val="bg1"/>
                </a:solidFill>
              </a:rPr>
              <a:t>    </a:t>
            </a:r>
            <a:r>
              <a:rPr lang="en-US" dirty="0" smtClean="0">
                <a:solidFill>
                  <a:schemeClr val="bg1"/>
                </a:solidFill>
              </a:rPr>
              <a:t> </a:t>
            </a:r>
            <a:r>
              <a:rPr lang="en-US" dirty="0">
                <a:solidFill>
                  <a:schemeClr val="bg1"/>
                </a:solidFill>
              </a:rPr>
              <a:t> </a:t>
            </a:r>
            <a:r>
              <a:rPr lang="en-US" dirty="0" smtClean="0">
                <a:solidFill>
                  <a:schemeClr val="bg1"/>
                </a:solidFill>
              </a:rPr>
              <a:t> </a:t>
            </a:r>
            <a:r>
              <a:rPr lang="en-US" dirty="0" smtClean="0">
                <a:solidFill>
                  <a:srgbClr val="00B0F0"/>
                </a:solidFill>
              </a:rPr>
              <a:t>break</a:t>
            </a:r>
          </a:p>
          <a:p>
            <a:r>
              <a:rPr lang="en-US" dirty="0">
                <a:solidFill>
                  <a:srgbClr val="00B0F0"/>
                </a:solidFill>
              </a:rPr>
              <a:t> </a:t>
            </a:r>
            <a:r>
              <a:rPr lang="en-US" dirty="0" smtClean="0">
                <a:solidFill>
                  <a:srgbClr val="00B0F0"/>
                </a:solidFill>
              </a:rPr>
              <a:t> </a:t>
            </a:r>
            <a:r>
              <a:rPr lang="en-US" dirty="0" smtClean="0">
                <a:solidFill>
                  <a:schemeClr val="bg1"/>
                </a:solidFill>
              </a:rPr>
              <a:t>print</a:t>
            </a:r>
            <a:r>
              <a:rPr lang="en-US" dirty="0" smtClean="0">
                <a:solidFill>
                  <a:srgbClr val="FFC500"/>
                </a:solidFill>
              </a:rPr>
              <a:t>(</a:t>
            </a:r>
            <a:r>
              <a:rPr lang="en-US" dirty="0" smtClean="0">
                <a:solidFill>
                  <a:schemeClr val="bg1"/>
                </a:solidFill>
              </a:rPr>
              <a:t>x</a:t>
            </a:r>
            <a:r>
              <a:rPr lang="en-US" dirty="0">
                <a:solidFill>
                  <a:srgbClr val="FFC500"/>
                </a:solidFill>
              </a:rPr>
              <a:t>)</a:t>
            </a:r>
            <a:endParaRPr lang="en-US" dirty="0" smtClean="0">
              <a:solidFill>
                <a:srgbClr val="00B0F0"/>
              </a:solidFill>
            </a:endParaRPr>
          </a:p>
        </p:txBody>
      </p:sp>
      <p:sp>
        <p:nvSpPr>
          <p:cNvPr id="9" name="TextBox 8"/>
          <p:cNvSpPr txBox="1"/>
          <p:nvPr/>
        </p:nvSpPr>
        <p:spPr>
          <a:xfrm>
            <a:off x="5044088" y="2819399"/>
            <a:ext cx="3712802" cy="1077218"/>
          </a:xfrm>
          <a:prstGeom prst="rect">
            <a:avLst/>
          </a:prstGeom>
          <a:noFill/>
        </p:spPr>
        <p:txBody>
          <a:bodyPr wrap="square" rtlCol="0">
            <a:spAutoFit/>
          </a:bodyPr>
          <a:lstStyle/>
          <a:p>
            <a:r>
              <a:rPr lang="en-US" sz="1600" i="1" dirty="0" err="1" smtClean="0"/>
              <a:t>Trong</a:t>
            </a:r>
            <a:r>
              <a:rPr lang="en-US" sz="1600" i="1" dirty="0" smtClean="0"/>
              <a:t> </a:t>
            </a:r>
            <a:r>
              <a:rPr lang="en-US" sz="1600" i="1" dirty="0" err="1" smtClean="0"/>
              <a:t>ví</a:t>
            </a:r>
            <a:r>
              <a:rPr lang="en-US" sz="1600" i="1" dirty="0" smtClean="0"/>
              <a:t> </a:t>
            </a:r>
            <a:r>
              <a:rPr lang="en-US" sz="1600" i="1" dirty="0" err="1" smtClean="0"/>
              <a:t>dụ</a:t>
            </a:r>
            <a:r>
              <a:rPr lang="en-US" sz="1600" i="1" dirty="0" smtClean="0"/>
              <a:t> </a:t>
            </a:r>
            <a:r>
              <a:rPr lang="en-US" sz="1600" i="1" dirty="0" err="1" smtClean="0"/>
              <a:t>này</a:t>
            </a:r>
            <a:r>
              <a:rPr lang="en-US" sz="1600" i="1" dirty="0" smtClean="0"/>
              <a:t>. </a:t>
            </a:r>
            <a:r>
              <a:rPr lang="en-US" sz="1600" i="1" dirty="0" err="1" smtClean="0"/>
              <a:t>Nếu</a:t>
            </a:r>
            <a:r>
              <a:rPr lang="en-US" sz="1600" i="1" dirty="0" smtClean="0"/>
              <a:t> </a:t>
            </a:r>
            <a:r>
              <a:rPr lang="en-US" sz="1600" i="1" dirty="0" err="1" smtClean="0"/>
              <a:t>vòng</a:t>
            </a:r>
            <a:r>
              <a:rPr lang="en-US" sz="1600" i="1" dirty="0" smtClean="0"/>
              <a:t> </a:t>
            </a:r>
            <a:r>
              <a:rPr lang="en-US" sz="1600" i="1" dirty="0" err="1" smtClean="0"/>
              <a:t>lặp</a:t>
            </a:r>
            <a:r>
              <a:rPr lang="en-US" sz="1600" i="1" dirty="0" smtClean="0"/>
              <a:t> </a:t>
            </a:r>
            <a:r>
              <a:rPr lang="en-US" sz="1600" i="1" dirty="0" err="1" smtClean="0"/>
              <a:t>duyệt</a:t>
            </a:r>
            <a:r>
              <a:rPr lang="en-US" sz="1600" i="1" dirty="0" smtClean="0"/>
              <a:t> qua </a:t>
            </a:r>
            <a:r>
              <a:rPr lang="en-US" sz="1600" i="1" dirty="0" err="1" smtClean="0"/>
              <a:t>đến</a:t>
            </a:r>
            <a:r>
              <a:rPr lang="en-US" sz="1600" i="1" dirty="0" smtClean="0"/>
              <a:t> </a:t>
            </a:r>
            <a:r>
              <a:rPr lang="en-US" sz="1600" i="1" dirty="0" err="1" smtClean="0"/>
              <a:t>phần</a:t>
            </a:r>
            <a:r>
              <a:rPr lang="en-US" sz="1600" i="1" dirty="0" smtClean="0"/>
              <a:t> </a:t>
            </a:r>
            <a:r>
              <a:rPr lang="en-US" sz="1600" i="1" dirty="0" err="1" smtClean="0"/>
              <a:t>tử</a:t>
            </a:r>
            <a:r>
              <a:rPr lang="en-US" sz="1600" i="1" dirty="0" smtClean="0"/>
              <a:t> x. Nếu x bằng 2 thì câu lệnh </a:t>
            </a:r>
            <a:r>
              <a:rPr lang="en-US" sz="1600" b="1" i="1" dirty="0" smtClean="0">
                <a:solidFill>
                  <a:srgbClr val="FF0000"/>
                </a:solidFill>
              </a:rPr>
              <a:t>break</a:t>
            </a:r>
            <a:r>
              <a:rPr lang="en-US" sz="1600" i="1" dirty="0" smtClean="0">
                <a:solidFill>
                  <a:srgbClr val="FF0000"/>
                </a:solidFill>
              </a:rPr>
              <a:t> </a:t>
            </a:r>
            <a:r>
              <a:rPr lang="en-US" sz="1600" i="1" dirty="0" smtClean="0"/>
              <a:t>được thực thi, thoát khỏi vòng lặp</a:t>
            </a:r>
            <a:endParaRPr lang="en-US" sz="1600" b="1" i="1" dirty="0"/>
          </a:p>
        </p:txBody>
      </p:sp>
      <p:sp>
        <p:nvSpPr>
          <p:cNvPr id="10" name="Rectangle 9"/>
          <p:cNvSpPr/>
          <p:nvPr/>
        </p:nvSpPr>
        <p:spPr>
          <a:xfrm>
            <a:off x="623411" y="4809516"/>
            <a:ext cx="4269866" cy="162222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74221" y="4850091"/>
            <a:ext cx="3904871" cy="1200329"/>
          </a:xfrm>
          <a:prstGeom prst="rect">
            <a:avLst/>
          </a:prstGeom>
          <a:noFill/>
        </p:spPr>
        <p:txBody>
          <a:bodyPr wrap="square" rtlCol="0">
            <a:spAutoFit/>
          </a:bodyPr>
          <a:lstStyle/>
          <a:p>
            <a:r>
              <a:rPr lang="en-US" dirty="0" smtClean="0">
                <a:solidFill>
                  <a:srgbClr val="00B0F0"/>
                </a:solidFill>
              </a:rPr>
              <a:t>for</a:t>
            </a:r>
            <a:r>
              <a:rPr lang="en-US" dirty="0">
                <a:solidFill>
                  <a:schemeClr val="bg1"/>
                </a:solidFill>
              </a:rPr>
              <a:t> x </a:t>
            </a:r>
            <a:r>
              <a:rPr lang="en-US" dirty="0">
                <a:solidFill>
                  <a:srgbClr val="00B0F0"/>
                </a:solidFill>
              </a:rPr>
              <a:t>in</a:t>
            </a:r>
            <a:r>
              <a:rPr lang="en-US" dirty="0">
                <a:solidFill>
                  <a:schemeClr val="bg1"/>
                </a:solidFill>
              </a:rPr>
              <a:t>  </a:t>
            </a:r>
            <a:r>
              <a:rPr lang="en-US" dirty="0" smtClean="0">
                <a:solidFill>
                  <a:schemeClr val="bg1"/>
                </a:solidFill>
              </a:rPr>
              <a:t>range(</a:t>
            </a:r>
            <a:r>
              <a:rPr lang="en-US" dirty="0" smtClean="0">
                <a:solidFill>
                  <a:schemeClr val="accent6">
                    <a:lumMod val="60000"/>
                    <a:lumOff val="40000"/>
                  </a:schemeClr>
                </a:solidFill>
              </a:rPr>
              <a:t>1</a:t>
            </a:r>
            <a:r>
              <a:rPr lang="en-US" dirty="0" smtClean="0">
                <a:solidFill>
                  <a:schemeClr val="bg1"/>
                </a:solidFill>
              </a:rPr>
              <a:t>,</a:t>
            </a:r>
            <a:r>
              <a:rPr lang="en-US" dirty="0" smtClean="0">
                <a:solidFill>
                  <a:schemeClr val="accent6">
                    <a:lumMod val="60000"/>
                    <a:lumOff val="40000"/>
                  </a:schemeClr>
                </a:solidFill>
              </a:rPr>
              <a:t>5)</a:t>
            </a:r>
            <a:r>
              <a:rPr lang="en-US" dirty="0" smtClean="0">
                <a:solidFill>
                  <a:schemeClr val="bg1"/>
                </a:solidFill>
              </a:rPr>
              <a:t>:</a:t>
            </a:r>
            <a:r>
              <a:rPr lang="en-US" dirty="0">
                <a:solidFill>
                  <a:schemeClr val="bg1"/>
                </a:solidFill>
              </a:rPr>
              <a:t/>
            </a:r>
            <a:br>
              <a:rPr lang="en-US" dirty="0">
                <a:solidFill>
                  <a:schemeClr val="bg1"/>
                </a:solidFill>
              </a:rPr>
            </a:br>
            <a:r>
              <a:rPr lang="en-US" dirty="0">
                <a:solidFill>
                  <a:schemeClr val="bg1"/>
                </a:solidFill>
              </a:rPr>
              <a:t> </a:t>
            </a:r>
            <a:r>
              <a:rPr lang="en-US" dirty="0" smtClean="0">
                <a:solidFill>
                  <a:schemeClr val="bg1"/>
                </a:solidFill>
              </a:rPr>
              <a:t>  </a:t>
            </a:r>
            <a:r>
              <a:rPr lang="en-US" dirty="0">
                <a:solidFill>
                  <a:schemeClr val="bg1"/>
                </a:solidFill>
              </a:rPr>
              <a:t> </a:t>
            </a:r>
            <a:r>
              <a:rPr lang="en-US" dirty="0" smtClean="0">
                <a:solidFill>
                  <a:srgbClr val="00B0F0"/>
                </a:solidFill>
              </a:rPr>
              <a:t>if</a:t>
            </a:r>
            <a:r>
              <a:rPr lang="en-US" dirty="0" smtClean="0">
                <a:solidFill>
                  <a:schemeClr val="bg1"/>
                </a:solidFill>
              </a:rPr>
              <a:t> x </a:t>
            </a:r>
            <a:r>
              <a:rPr lang="en-US" dirty="0">
                <a:solidFill>
                  <a:schemeClr val="bg1"/>
                </a:solidFill>
              </a:rPr>
              <a:t>== </a:t>
            </a:r>
            <a:r>
              <a:rPr lang="en-US" dirty="0" smtClean="0">
                <a:solidFill>
                  <a:schemeClr val="accent2"/>
                </a:solidFill>
              </a:rPr>
              <a:t>2:</a:t>
            </a:r>
            <a:r>
              <a:rPr lang="en-US" dirty="0">
                <a:solidFill>
                  <a:schemeClr val="bg1"/>
                </a:solidFill>
              </a:rPr>
              <a:t/>
            </a:r>
            <a:br>
              <a:rPr lang="en-US" dirty="0">
                <a:solidFill>
                  <a:schemeClr val="bg1"/>
                </a:solidFill>
              </a:rPr>
            </a:br>
            <a:r>
              <a:rPr lang="en-US" dirty="0">
                <a:solidFill>
                  <a:schemeClr val="bg1"/>
                </a:solidFill>
              </a:rPr>
              <a:t>     </a:t>
            </a:r>
            <a:r>
              <a:rPr lang="en-US" dirty="0" smtClean="0">
                <a:solidFill>
                  <a:schemeClr val="bg1"/>
                </a:solidFill>
              </a:rPr>
              <a:t> </a:t>
            </a:r>
            <a:r>
              <a:rPr lang="en-US" dirty="0" smtClean="0">
                <a:solidFill>
                  <a:srgbClr val="00B0F0"/>
                </a:solidFill>
              </a:rPr>
              <a:t>continue</a:t>
            </a:r>
          </a:p>
          <a:p>
            <a:r>
              <a:rPr lang="en-US" dirty="0">
                <a:solidFill>
                  <a:schemeClr val="bg1"/>
                </a:solidFill>
              </a:rPr>
              <a:t> </a:t>
            </a:r>
            <a:r>
              <a:rPr lang="en-US" dirty="0" smtClean="0">
                <a:solidFill>
                  <a:schemeClr val="bg1"/>
                </a:solidFill>
              </a:rPr>
              <a:t>  print</a:t>
            </a:r>
            <a:r>
              <a:rPr lang="en-US" dirty="0" smtClean="0">
                <a:solidFill>
                  <a:srgbClr val="FFC500"/>
                </a:solidFill>
              </a:rPr>
              <a:t>(</a:t>
            </a:r>
            <a:r>
              <a:rPr lang="en-US" dirty="0" smtClean="0">
                <a:solidFill>
                  <a:schemeClr val="bg1"/>
                </a:solidFill>
              </a:rPr>
              <a:t>x</a:t>
            </a:r>
            <a:r>
              <a:rPr lang="en-US" dirty="0">
                <a:solidFill>
                  <a:srgbClr val="FFC500"/>
                </a:solidFill>
              </a:rPr>
              <a:t>)</a:t>
            </a:r>
            <a:endParaRPr lang="en-US" dirty="0" smtClean="0">
              <a:solidFill>
                <a:srgbClr val="00B0F0"/>
              </a:solidFill>
            </a:endParaRPr>
          </a:p>
        </p:txBody>
      </p:sp>
      <p:sp>
        <p:nvSpPr>
          <p:cNvPr id="13" name="TextBox 12"/>
          <p:cNvSpPr txBox="1"/>
          <p:nvPr/>
        </p:nvSpPr>
        <p:spPr>
          <a:xfrm>
            <a:off x="548981" y="2105119"/>
            <a:ext cx="7068814" cy="369332"/>
          </a:xfrm>
          <a:prstGeom prst="rect">
            <a:avLst/>
          </a:prstGeom>
          <a:noFill/>
        </p:spPr>
        <p:txBody>
          <a:bodyPr wrap="square" rtlCol="0">
            <a:spAutoFit/>
          </a:bodyPr>
          <a:lstStyle/>
          <a:p>
            <a:r>
              <a:rPr lang="en-US" dirty="0" err="1" smtClean="0"/>
              <a:t>Câu</a:t>
            </a:r>
            <a:r>
              <a:rPr lang="en-US" dirty="0" smtClean="0"/>
              <a:t> </a:t>
            </a:r>
            <a:r>
              <a:rPr lang="en-US" dirty="0" err="1" smtClean="0"/>
              <a:t>lệnh</a:t>
            </a:r>
            <a:r>
              <a:rPr lang="en-US" dirty="0" smtClean="0"/>
              <a:t> </a:t>
            </a:r>
            <a:r>
              <a:rPr lang="en-US" b="1" dirty="0"/>
              <a:t>break </a:t>
            </a:r>
            <a:r>
              <a:rPr lang="en-US" dirty="0" err="1" smtClean="0"/>
              <a:t>dừng</a:t>
            </a:r>
            <a:r>
              <a:rPr lang="en-US" dirty="0" smtClean="0"/>
              <a:t> </a:t>
            </a:r>
            <a:r>
              <a:rPr lang="en-US" dirty="0" err="1" smtClean="0"/>
              <a:t>vòng</a:t>
            </a:r>
            <a:r>
              <a:rPr lang="en-US" dirty="0" smtClean="0"/>
              <a:t> </a:t>
            </a:r>
            <a:r>
              <a:rPr lang="en-US" dirty="0" err="1" smtClean="0"/>
              <a:t>lặp</a:t>
            </a:r>
            <a:r>
              <a:rPr lang="en-US" dirty="0" smtClean="0"/>
              <a:t> </a:t>
            </a:r>
            <a:r>
              <a:rPr lang="en-US" dirty="0" err="1" smtClean="0"/>
              <a:t>và</a:t>
            </a:r>
            <a:r>
              <a:rPr lang="en-US" dirty="0" smtClean="0"/>
              <a:t> </a:t>
            </a:r>
            <a:r>
              <a:rPr lang="en-US" dirty="0" err="1" smtClean="0"/>
              <a:t>bỏ</a:t>
            </a:r>
            <a:r>
              <a:rPr lang="en-US" dirty="0" smtClean="0"/>
              <a:t> qua </a:t>
            </a:r>
            <a:r>
              <a:rPr lang="en-US" dirty="0" err="1" smtClean="0"/>
              <a:t>câu</a:t>
            </a:r>
            <a:r>
              <a:rPr lang="en-US" dirty="0" smtClean="0"/>
              <a:t> </a:t>
            </a:r>
            <a:r>
              <a:rPr lang="en-US" dirty="0" err="1" smtClean="0"/>
              <a:t>lệnh</a:t>
            </a:r>
            <a:r>
              <a:rPr lang="en-US" dirty="0" smtClean="0"/>
              <a:t> </a:t>
            </a:r>
            <a:r>
              <a:rPr lang="en-US" dirty="0" err="1" smtClean="0"/>
              <a:t>phía</a:t>
            </a:r>
            <a:r>
              <a:rPr lang="en-US" dirty="0" smtClean="0"/>
              <a:t> </a:t>
            </a:r>
            <a:r>
              <a:rPr lang="en-US" dirty="0" err="1" smtClean="0"/>
              <a:t>sau</a:t>
            </a:r>
            <a:r>
              <a:rPr lang="en-US" dirty="0" smtClean="0"/>
              <a:t> </a:t>
            </a:r>
            <a:r>
              <a:rPr lang="en-US" dirty="0" err="1" smtClean="0"/>
              <a:t>nó</a:t>
            </a:r>
            <a:endParaRPr lang="en-US" b="1" dirty="0"/>
          </a:p>
        </p:txBody>
      </p:sp>
      <p:sp>
        <p:nvSpPr>
          <p:cNvPr id="14" name="TextBox 13"/>
          <p:cNvSpPr txBox="1"/>
          <p:nvPr/>
        </p:nvSpPr>
        <p:spPr>
          <a:xfrm>
            <a:off x="548981" y="4376441"/>
            <a:ext cx="8110312" cy="369332"/>
          </a:xfrm>
          <a:prstGeom prst="rect">
            <a:avLst/>
          </a:prstGeom>
          <a:noFill/>
        </p:spPr>
        <p:txBody>
          <a:bodyPr wrap="square" rtlCol="0">
            <a:spAutoFit/>
          </a:bodyPr>
          <a:lstStyle/>
          <a:p>
            <a:r>
              <a:rPr lang="en-US" dirty="0" err="1" smtClean="0"/>
              <a:t>Câu</a:t>
            </a:r>
            <a:r>
              <a:rPr lang="en-US" dirty="0" smtClean="0"/>
              <a:t> </a:t>
            </a:r>
            <a:r>
              <a:rPr lang="en-US" dirty="0" err="1" smtClean="0"/>
              <a:t>lệnh</a:t>
            </a:r>
            <a:r>
              <a:rPr lang="en-US" dirty="0" smtClean="0"/>
              <a:t> </a:t>
            </a:r>
            <a:r>
              <a:rPr lang="en-US" b="1" dirty="0" smtClean="0"/>
              <a:t>continue </a:t>
            </a:r>
            <a:r>
              <a:rPr lang="en-US" dirty="0" err="1" smtClean="0"/>
              <a:t>tiếp</a:t>
            </a:r>
            <a:r>
              <a:rPr lang="en-US" dirty="0" smtClean="0"/>
              <a:t> </a:t>
            </a:r>
            <a:r>
              <a:rPr lang="en-US" dirty="0" err="1" smtClean="0"/>
              <a:t>tục</a:t>
            </a:r>
            <a:r>
              <a:rPr lang="en-US" dirty="0" smtClean="0"/>
              <a:t> </a:t>
            </a:r>
            <a:r>
              <a:rPr lang="en-US" dirty="0" err="1" smtClean="0"/>
              <a:t>vòng</a:t>
            </a:r>
            <a:r>
              <a:rPr lang="en-US" dirty="0" smtClean="0"/>
              <a:t> </a:t>
            </a:r>
            <a:r>
              <a:rPr lang="en-US" dirty="0" err="1" smtClean="0"/>
              <a:t>lặp</a:t>
            </a:r>
            <a:r>
              <a:rPr lang="en-US" dirty="0" smtClean="0"/>
              <a:t> </a:t>
            </a:r>
            <a:r>
              <a:rPr lang="en-US" dirty="0" err="1" smtClean="0"/>
              <a:t>và</a:t>
            </a:r>
            <a:r>
              <a:rPr lang="en-US" dirty="0" smtClean="0"/>
              <a:t> </a:t>
            </a:r>
            <a:r>
              <a:rPr lang="en-US" dirty="0" err="1" smtClean="0"/>
              <a:t>bỏ</a:t>
            </a:r>
            <a:r>
              <a:rPr lang="en-US" dirty="0" smtClean="0"/>
              <a:t> qua </a:t>
            </a:r>
            <a:r>
              <a:rPr lang="en-US" dirty="0" err="1" smtClean="0"/>
              <a:t>câu</a:t>
            </a:r>
            <a:r>
              <a:rPr lang="en-US" dirty="0" smtClean="0"/>
              <a:t> </a:t>
            </a:r>
            <a:r>
              <a:rPr lang="en-US" dirty="0" err="1" smtClean="0"/>
              <a:t>lệnh</a:t>
            </a:r>
            <a:r>
              <a:rPr lang="en-US" dirty="0" smtClean="0"/>
              <a:t> </a:t>
            </a:r>
            <a:r>
              <a:rPr lang="en-US" dirty="0" err="1" smtClean="0"/>
              <a:t>phía</a:t>
            </a:r>
            <a:r>
              <a:rPr lang="en-US" dirty="0" smtClean="0"/>
              <a:t> </a:t>
            </a:r>
            <a:r>
              <a:rPr lang="en-US" dirty="0" err="1" smtClean="0"/>
              <a:t>sau</a:t>
            </a:r>
            <a:r>
              <a:rPr lang="en-US" dirty="0" smtClean="0"/>
              <a:t> </a:t>
            </a:r>
            <a:r>
              <a:rPr lang="en-US" dirty="0" err="1" smtClean="0"/>
              <a:t>nó</a:t>
            </a:r>
            <a:endParaRPr lang="en-US" b="1" dirty="0"/>
          </a:p>
        </p:txBody>
      </p:sp>
      <p:sp>
        <p:nvSpPr>
          <p:cNvPr id="15" name="TextBox 14"/>
          <p:cNvSpPr txBox="1"/>
          <p:nvPr/>
        </p:nvSpPr>
        <p:spPr>
          <a:xfrm>
            <a:off x="5044088" y="5093043"/>
            <a:ext cx="3712802" cy="1077218"/>
          </a:xfrm>
          <a:prstGeom prst="rect">
            <a:avLst/>
          </a:prstGeom>
          <a:noFill/>
        </p:spPr>
        <p:txBody>
          <a:bodyPr wrap="square" rtlCol="0">
            <a:spAutoFit/>
          </a:bodyPr>
          <a:lstStyle/>
          <a:p>
            <a:r>
              <a:rPr lang="en-US" sz="1600" i="1" dirty="0" err="1" smtClean="0"/>
              <a:t>Trong</a:t>
            </a:r>
            <a:r>
              <a:rPr lang="en-US" sz="1600" i="1" dirty="0" smtClean="0"/>
              <a:t> </a:t>
            </a:r>
            <a:r>
              <a:rPr lang="en-US" sz="1600" i="1" dirty="0" err="1" smtClean="0"/>
              <a:t>ví</a:t>
            </a:r>
            <a:r>
              <a:rPr lang="en-US" sz="1600" i="1" dirty="0" smtClean="0"/>
              <a:t> </a:t>
            </a:r>
            <a:r>
              <a:rPr lang="en-US" sz="1600" i="1" dirty="0" err="1" smtClean="0"/>
              <a:t>dụ</a:t>
            </a:r>
            <a:r>
              <a:rPr lang="en-US" sz="1600" i="1" dirty="0" smtClean="0"/>
              <a:t> </a:t>
            </a:r>
            <a:r>
              <a:rPr lang="en-US" sz="1600" i="1" dirty="0" err="1" smtClean="0"/>
              <a:t>này</a:t>
            </a:r>
            <a:r>
              <a:rPr lang="en-US" sz="1600" i="1" dirty="0" smtClean="0"/>
              <a:t>. </a:t>
            </a:r>
            <a:r>
              <a:rPr lang="en-US" sz="1600" i="1" dirty="0" err="1" smtClean="0"/>
              <a:t>Nếu</a:t>
            </a:r>
            <a:r>
              <a:rPr lang="en-US" sz="1600" i="1" dirty="0" smtClean="0"/>
              <a:t> </a:t>
            </a:r>
            <a:r>
              <a:rPr lang="en-US" sz="1600" i="1" dirty="0" err="1" smtClean="0"/>
              <a:t>vòng</a:t>
            </a:r>
            <a:r>
              <a:rPr lang="en-US" sz="1600" i="1" dirty="0" smtClean="0"/>
              <a:t> </a:t>
            </a:r>
            <a:r>
              <a:rPr lang="en-US" sz="1600" i="1" dirty="0" err="1" smtClean="0"/>
              <a:t>lặp</a:t>
            </a:r>
            <a:r>
              <a:rPr lang="en-US" sz="1600" i="1" dirty="0" smtClean="0"/>
              <a:t> </a:t>
            </a:r>
            <a:r>
              <a:rPr lang="en-US" sz="1600" i="1" dirty="0" err="1" smtClean="0"/>
              <a:t>duyệt</a:t>
            </a:r>
            <a:r>
              <a:rPr lang="en-US" sz="1600" i="1" dirty="0" smtClean="0"/>
              <a:t> qua </a:t>
            </a:r>
            <a:r>
              <a:rPr lang="en-US" sz="1600" i="1" dirty="0" err="1" smtClean="0"/>
              <a:t>đến</a:t>
            </a:r>
            <a:r>
              <a:rPr lang="en-US" sz="1600" i="1" dirty="0" smtClean="0"/>
              <a:t> </a:t>
            </a:r>
            <a:r>
              <a:rPr lang="en-US" sz="1600" i="1" dirty="0" err="1" smtClean="0"/>
              <a:t>phần</a:t>
            </a:r>
            <a:r>
              <a:rPr lang="en-US" sz="1600" i="1" dirty="0" smtClean="0"/>
              <a:t> </a:t>
            </a:r>
            <a:r>
              <a:rPr lang="en-US" sz="1600" i="1" dirty="0" err="1" smtClean="0"/>
              <a:t>tử</a:t>
            </a:r>
            <a:r>
              <a:rPr lang="en-US" sz="1600" i="1" dirty="0" smtClean="0"/>
              <a:t> x. Nếu x bằng 2 thì câu lệnh </a:t>
            </a:r>
            <a:r>
              <a:rPr lang="en-US" sz="1600" b="1" i="1" dirty="0" smtClean="0">
                <a:solidFill>
                  <a:srgbClr val="FF0000"/>
                </a:solidFill>
              </a:rPr>
              <a:t>continue </a:t>
            </a:r>
            <a:r>
              <a:rPr lang="en-US" sz="1600" i="1" dirty="0" smtClean="0"/>
              <a:t>được thực thi, lặp tiếp phần tử tiếp theo.</a:t>
            </a:r>
            <a:endParaRPr lang="en-US" sz="1600" b="1" i="1" dirty="0"/>
          </a:p>
        </p:txBody>
      </p:sp>
    </p:spTree>
    <p:extLst>
      <p:ext uri="{BB962C8B-B14F-4D97-AF65-F5344CB8AC3E}">
        <p14:creationId xmlns:p14="http://schemas.microsoft.com/office/powerpoint/2010/main" val="33175517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12</a:t>
            </a:fld>
            <a:endParaRPr lang="en-US"/>
          </a:p>
        </p:txBody>
      </p:sp>
      <p:sp>
        <p:nvSpPr>
          <p:cNvPr id="3" name="Text Placeholder 2"/>
          <p:cNvSpPr>
            <a:spLocks noGrp="1"/>
          </p:cNvSpPr>
          <p:nvPr>
            <p:ph type="body" sz="quarter" idx="13"/>
          </p:nvPr>
        </p:nvSpPr>
        <p:spPr/>
        <p:txBody>
          <a:bodyPr/>
          <a:lstStyle/>
          <a:p>
            <a:r>
              <a:rPr lang="en-US" dirty="0" smtClean="0"/>
              <a:t>3.4 </a:t>
            </a:r>
            <a:r>
              <a:rPr lang="en-US" dirty="0" err="1" smtClean="0"/>
              <a:t>Vòng</a:t>
            </a:r>
            <a:r>
              <a:rPr lang="en-US" dirty="0" smtClean="0"/>
              <a:t> </a:t>
            </a:r>
            <a:r>
              <a:rPr lang="en-US" dirty="0" err="1" smtClean="0"/>
              <a:t>lặp</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Nguồn</a:t>
            </a:r>
            <a:r>
              <a:rPr lang="en-US" b="1" dirty="0" smtClean="0"/>
              <a:t> </a:t>
            </a:r>
            <a:r>
              <a:rPr lang="en-US" b="1" dirty="0" err="1" smtClean="0"/>
              <a:t>tham</a:t>
            </a:r>
            <a:r>
              <a:rPr lang="en-US" b="1" dirty="0" smtClean="0"/>
              <a:t> </a:t>
            </a:r>
            <a:r>
              <a:rPr lang="en-US" b="1" dirty="0" err="1" smtClean="0"/>
              <a:t>chiếu</a:t>
            </a:r>
            <a:endParaRPr lang="en-US" b="1" dirty="0"/>
          </a:p>
        </p:txBody>
      </p:sp>
      <p:sp>
        <p:nvSpPr>
          <p:cNvPr id="12" name="TextBox 11"/>
          <p:cNvSpPr txBox="1"/>
          <p:nvPr/>
        </p:nvSpPr>
        <p:spPr>
          <a:xfrm>
            <a:off x="999461" y="2085482"/>
            <a:ext cx="5603356" cy="369332"/>
          </a:xfrm>
          <a:prstGeom prst="rect">
            <a:avLst/>
          </a:prstGeom>
          <a:noFill/>
        </p:spPr>
        <p:txBody>
          <a:bodyPr wrap="square" rtlCol="0">
            <a:spAutoFit/>
          </a:bodyPr>
          <a:lstStyle/>
          <a:p>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Range</a:t>
            </a:r>
            <a:endParaRPr lang="en-US" dirty="0"/>
          </a:p>
        </p:txBody>
      </p:sp>
      <p:sp>
        <p:nvSpPr>
          <p:cNvPr id="13" name="Diamond 12"/>
          <p:cNvSpPr/>
          <p:nvPr/>
        </p:nvSpPr>
        <p:spPr>
          <a:xfrm>
            <a:off x="731689" y="2177815"/>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999460" y="2491826"/>
            <a:ext cx="7337231" cy="369332"/>
          </a:xfrm>
          <a:prstGeom prst="rect">
            <a:avLst/>
          </a:prstGeom>
          <a:noFill/>
        </p:spPr>
        <p:txBody>
          <a:bodyPr wrap="square" rtlCol="0">
            <a:spAutoFit/>
          </a:bodyPr>
          <a:lstStyle/>
          <a:p>
            <a:r>
              <a:rPr lang="en-US" dirty="0" smtClean="0">
                <a:hlinkClick r:id="rId3"/>
              </a:rPr>
              <a:t>https://www.w3schools.com/python/ref_func_range.asp</a:t>
            </a:r>
            <a:endParaRPr lang="en-US" dirty="0"/>
          </a:p>
        </p:txBody>
      </p:sp>
      <p:sp>
        <p:nvSpPr>
          <p:cNvPr id="16" name="TextBox 15"/>
          <p:cNvSpPr txBox="1"/>
          <p:nvPr/>
        </p:nvSpPr>
        <p:spPr>
          <a:xfrm>
            <a:off x="999461" y="3078490"/>
            <a:ext cx="5603356" cy="369332"/>
          </a:xfrm>
          <a:prstGeom prst="rect">
            <a:avLst/>
          </a:prstGeom>
          <a:noFill/>
        </p:spPr>
        <p:txBody>
          <a:bodyPr wrap="square" rtlCol="0">
            <a:spAutoFit/>
          </a:bodyPr>
          <a:lstStyle/>
          <a:p>
            <a:r>
              <a:rPr lang="en-US" dirty="0" err="1" smtClean="0"/>
              <a:t>Vòng</a:t>
            </a:r>
            <a:r>
              <a:rPr lang="en-US" dirty="0" smtClean="0"/>
              <a:t> </a:t>
            </a:r>
            <a:r>
              <a:rPr lang="en-US" dirty="0" err="1" smtClean="0"/>
              <a:t>lặp</a:t>
            </a:r>
            <a:r>
              <a:rPr lang="en-US" dirty="0" smtClean="0"/>
              <a:t> for</a:t>
            </a:r>
            <a:endParaRPr lang="en-US" dirty="0"/>
          </a:p>
        </p:txBody>
      </p:sp>
      <p:sp>
        <p:nvSpPr>
          <p:cNvPr id="17" name="Diamond 16"/>
          <p:cNvSpPr/>
          <p:nvPr/>
        </p:nvSpPr>
        <p:spPr>
          <a:xfrm>
            <a:off x="731689" y="3170823"/>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99460" y="3504584"/>
            <a:ext cx="7337231" cy="369332"/>
          </a:xfrm>
          <a:prstGeom prst="rect">
            <a:avLst/>
          </a:prstGeom>
          <a:noFill/>
        </p:spPr>
        <p:txBody>
          <a:bodyPr wrap="square" rtlCol="0">
            <a:spAutoFit/>
          </a:bodyPr>
          <a:lstStyle/>
          <a:p>
            <a:r>
              <a:rPr lang="en-US" dirty="0">
                <a:hlinkClick r:id="rId4"/>
              </a:rPr>
              <a:t>https://www.w3schools.com/python/python_for_loops.asp</a:t>
            </a:r>
            <a:endParaRPr lang="en-US" dirty="0"/>
          </a:p>
        </p:txBody>
      </p:sp>
      <p:sp>
        <p:nvSpPr>
          <p:cNvPr id="19" name="TextBox 18"/>
          <p:cNvSpPr txBox="1"/>
          <p:nvPr/>
        </p:nvSpPr>
        <p:spPr>
          <a:xfrm>
            <a:off x="999461" y="4050555"/>
            <a:ext cx="5603356" cy="369332"/>
          </a:xfrm>
          <a:prstGeom prst="rect">
            <a:avLst/>
          </a:prstGeom>
          <a:noFill/>
        </p:spPr>
        <p:txBody>
          <a:bodyPr wrap="square" rtlCol="0">
            <a:spAutoFit/>
          </a:bodyPr>
          <a:lstStyle/>
          <a:p>
            <a:r>
              <a:rPr lang="en-US" dirty="0" err="1" smtClean="0"/>
              <a:t>Vòng</a:t>
            </a:r>
            <a:r>
              <a:rPr lang="en-US" dirty="0" smtClean="0"/>
              <a:t> </a:t>
            </a:r>
            <a:r>
              <a:rPr lang="en-US" dirty="0" err="1" smtClean="0"/>
              <a:t>lặp</a:t>
            </a:r>
            <a:r>
              <a:rPr lang="en-US" dirty="0" smtClean="0"/>
              <a:t> While</a:t>
            </a:r>
            <a:endParaRPr lang="en-US" dirty="0"/>
          </a:p>
        </p:txBody>
      </p:sp>
      <p:sp>
        <p:nvSpPr>
          <p:cNvPr id="20" name="Diamond 19"/>
          <p:cNvSpPr/>
          <p:nvPr/>
        </p:nvSpPr>
        <p:spPr>
          <a:xfrm>
            <a:off x="731689" y="4142888"/>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999460" y="4476649"/>
            <a:ext cx="7337231" cy="369332"/>
          </a:xfrm>
          <a:prstGeom prst="rect">
            <a:avLst/>
          </a:prstGeom>
          <a:noFill/>
        </p:spPr>
        <p:txBody>
          <a:bodyPr wrap="square" rtlCol="0">
            <a:spAutoFit/>
          </a:bodyPr>
          <a:lstStyle/>
          <a:p>
            <a:r>
              <a:rPr lang="en-US" dirty="0">
                <a:hlinkClick r:id="rId5"/>
              </a:rPr>
              <a:t>https://www.w3schools.com/python/python_while_loops.asp</a:t>
            </a:r>
            <a:endParaRPr lang="en-US" dirty="0"/>
          </a:p>
        </p:txBody>
      </p:sp>
    </p:spTree>
    <p:extLst>
      <p:ext uri="{BB962C8B-B14F-4D97-AF65-F5344CB8AC3E}">
        <p14:creationId xmlns:p14="http://schemas.microsoft.com/office/powerpoint/2010/main" val="16031705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a:spLocks/>
          </p:cNvSpPr>
          <p:nvPr/>
        </p:nvSpPr>
        <p:spPr>
          <a:xfrm>
            <a:off x="1571538" y="986929"/>
            <a:ext cx="3840434" cy="424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err="1" smtClean="0">
                <a:solidFill>
                  <a:schemeClr val="bg1"/>
                </a:solidFill>
              </a:rPr>
              <a:t>Tổng</a:t>
            </a:r>
            <a:r>
              <a:rPr lang="en-US" b="1" dirty="0" smtClean="0">
                <a:solidFill>
                  <a:schemeClr val="bg1"/>
                </a:solidFill>
              </a:rPr>
              <a:t> </a:t>
            </a:r>
            <a:r>
              <a:rPr lang="en-US" b="1" dirty="0" err="1" smtClean="0">
                <a:solidFill>
                  <a:schemeClr val="bg1"/>
                </a:solidFill>
              </a:rPr>
              <a:t>kết</a:t>
            </a:r>
            <a:r>
              <a:rPr lang="en-US" b="1" dirty="0" smtClean="0">
                <a:solidFill>
                  <a:schemeClr val="bg1"/>
                </a:solidFill>
              </a:rPr>
              <a:t> </a:t>
            </a:r>
            <a:r>
              <a:rPr lang="en-US" b="1" dirty="0" err="1" smtClean="0">
                <a:solidFill>
                  <a:schemeClr val="bg1"/>
                </a:solidFill>
              </a:rPr>
              <a:t>lại</a:t>
            </a:r>
            <a:r>
              <a:rPr lang="en-US" b="1" dirty="0" smtClean="0">
                <a:solidFill>
                  <a:schemeClr val="bg1"/>
                </a:solidFill>
              </a:rPr>
              <a:t> </a:t>
            </a:r>
            <a:r>
              <a:rPr lang="en-US" b="1" err="1" smtClean="0">
                <a:solidFill>
                  <a:schemeClr val="bg1"/>
                </a:solidFill>
              </a:rPr>
              <a:t>bài</a:t>
            </a:r>
            <a:r>
              <a:rPr lang="en-US" b="1" smtClean="0">
                <a:solidFill>
                  <a:schemeClr val="bg1"/>
                </a:solidFill>
              </a:rPr>
              <a:t> </a:t>
            </a:r>
            <a:r>
              <a:rPr lang="en-US" b="1" smtClean="0">
                <a:solidFill>
                  <a:schemeClr val="bg1"/>
                </a:solidFill>
              </a:rPr>
              <a:t>4</a:t>
            </a:r>
            <a:endParaRPr lang="en-US" b="1" dirty="0">
              <a:solidFill>
                <a:schemeClr val="bg1"/>
              </a:solidFill>
            </a:endParaRPr>
          </a:p>
        </p:txBody>
      </p:sp>
      <p:sp>
        <p:nvSpPr>
          <p:cNvPr id="5" name="Oval 4"/>
          <p:cNvSpPr/>
          <p:nvPr/>
        </p:nvSpPr>
        <p:spPr>
          <a:xfrm>
            <a:off x="1731027" y="1822655"/>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1</a:t>
            </a:r>
            <a:endParaRPr lang="en-US" b="1" dirty="0">
              <a:solidFill>
                <a:srgbClr val="60B659"/>
              </a:solidFill>
            </a:endParaRPr>
          </a:p>
        </p:txBody>
      </p:sp>
      <p:sp>
        <p:nvSpPr>
          <p:cNvPr id="6" name="Oval 5"/>
          <p:cNvSpPr/>
          <p:nvPr/>
        </p:nvSpPr>
        <p:spPr>
          <a:xfrm>
            <a:off x="1731027" y="265975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2</a:t>
            </a:r>
          </a:p>
        </p:txBody>
      </p:sp>
      <p:sp>
        <p:nvSpPr>
          <p:cNvPr id="7" name="Oval 6"/>
          <p:cNvSpPr/>
          <p:nvPr/>
        </p:nvSpPr>
        <p:spPr>
          <a:xfrm>
            <a:off x="1731027" y="3455142"/>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3</a:t>
            </a:r>
          </a:p>
        </p:txBody>
      </p:sp>
      <p:cxnSp>
        <p:nvCxnSpPr>
          <p:cNvPr id="16" name="Straight Connector 15"/>
          <p:cNvCxnSpPr/>
          <p:nvPr/>
        </p:nvCxnSpPr>
        <p:spPr>
          <a:xfrm>
            <a:off x="1731027" y="1528857"/>
            <a:ext cx="61476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286000" y="1830579"/>
            <a:ext cx="5178056"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range()</a:t>
            </a:r>
            <a:endParaRPr lang="en-US" dirty="0">
              <a:solidFill>
                <a:schemeClr val="bg1"/>
              </a:solidFill>
            </a:endParaRPr>
          </a:p>
        </p:txBody>
      </p:sp>
      <p:sp>
        <p:nvSpPr>
          <p:cNvPr id="23" name="TextBox 22"/>
          <p:cNvSpPr txBox="1"/>
          <p:nvPr/>
        </p:nvSpPr>
        <p:spPr>
          <a:xfrm>
            <a:off x="2286000" y="3516743"/>
            <a:ext cx="5816008"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vòng</a:t>
            </a:r>
            <a:r>
              <a:rPr lang="en-US" dirty="0" smtClean="0">
                <a:solidFill>
                  <a:schemeClr val="bg1"/>
                </a:solidFill>
              </a:rPr>
              <a:t> </a:t>
            </a:r>
            <a:r>
              <a:rPr lang="en-US" dirty="0" err="1" smtClean="0">
                <a:solidFill>
                  <a:schemeClr val="bg1"/>
                </a:solidFill>
              </a:rPr>
              <a:t>lặp</a:t>
            </a:r>
            <a:r>
              <a:rPr lang="en-US" dirty="0" smtClean="0">
                <a:solidFill>
                  <a:schemeClr val="bg1"/>
                </a:solidFill>
              </a:rPr>
              <a:t> for </a:t>
            </a:r>
            <a:r>
              <a:rPr lang="en-US" dirty="0" err="1" smtClean="0">
                <a:solidFill>
                  <a:schemeClr val="bg1"/>
                </a:solidFill>
              </a:rPr>
              <a:t>trong</a:t>
            </a:r>
            <a:r>
              <a:rPr lang="en-US" dirty="0" smtClean="0">
                <a:solidFill>
                  <a:schemeClr val="bg1"/>
                </a:solidFill>
              </a:rPr>
              <a:t> Python</a:t>
            </a:r>
            <a:endParaRPr lang="en-US" dirty="0">
              <a:solidFill>
                <a:schemeClr val="bg1"/>
              </a:solidFill>
            </a:endParaRPr>
          </a:p>
        </p:txBody>
      </p:sp>
      <p:sp>
        <p:nvSpPr>
          <p:cNvPr id="24" name="TextBox 23"/>
          <p:cNvSpPr txBox="1"/>
          <p:nvPr/>
        </p:nvSpPr>
        <p:spPr>
          <a:xfrm>
            <a:off x="2285999" y="2694676"/>
            <a:ext cx="5816009"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vòng</a:t>
            </a:r>
            <a:r>
              <a:rPr lang="en-US" dirty="0" smtClean="0">
                <a:solidFill>
                  <a:schemeClr val="bg1"/>
                </a:solidFill>
              </a:rPr>
              <a:t> </a:t>
            </a:r>
            <a:r>
              <a:rPr lang="en-US" dirty="0" err="1" smtClean="0">
                <a:solidFill>
                  <a:schemeClr val="bg1"/>
                </a:solidFill>
              </a:rPr>
              <a:t>lặp</a:t>
            </a:r>
            <a:r>
              <a:rPr lang="en-US" dirty="0" smtClean="0">
                <a:solidFill>
                  <a:schemeClr val="bg1"/>
                </a:solidFill>
              </a:rPr>
              <a:t> while </a:t>
            </a:r>
            <a:r>
              <a:rPr lang="en-US" dirty="0" err="1" smtClean="0">
                <a:solidFill>
                  <a:schemeClr val="bg1"/>
                </a:solidFill>
              </a:rPr>
              <a:t>trong</a:t>
            </a:r>
            <a:r>
              <a:rPr lang="en-US" dirty="0" smtClean="0">
                <a:solidFill>
                  <a:schemeClr val="bg1"/>
                </a:solidFill>
              </a:rPr>
              <a:t> Python</a:t>
            </a:r>
            <a:endParaRPr lang="en-US" dirty="0">
              <a:solidFill>
                <a:schemeClr val="bg1"/>
              </a:solidFill>
            </a:endParaRPr>
          </a:p>
        </p:txBody>
      </p:sp>
    </p:spTree>
    <p:extLst>
      <p:ext uri="{BB962C8B-B14F-4D97-AF65-F5344CB8AC3E}">
        <p14:creationId xmlns:p14="http://schemas.microsoft.com/office/powerpoint/2010/main" val="26719927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1290</TotalTime>
  <Words>1216</Words>
  <Application>Microsoft Office PowerPoint</Application>
  <PresentationFormat>On-screen Show (4:3)</PresentationFormat>
  <Paragraphs>144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Nobj</dc:creator>
  <cp:lastModifiedBy>Microsoft account</cp:lastModifiedBy>
  <cp:revision>543</cp:revision>
  <dcterms:created xsi:type="dcterms:W3CDTF">2023-04-21T02:43:36Z</dcterms:created>
  <dcterms:modified xsi:type="dcterms:W3CDTF">2025-10-30T02:12:13Z</dcterms:modified>
</cp:coreProperties>
</file>